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56"/>
  </p:notesMasterIdLst>
  <p:sldIdLst>
    <p:sldId id="256" r:id="rId3"/>
    <p:sldId id="300" r:id="rId4"/>
    <p:sldId id="302" r:id="rId5"/>
    <p:sldId id="257" r:id="rId6"/>
    <p:sldId id="303" r:id="rId7"/>
    <p:sldId id="259" r:id="rId8"/>
    <p:sldId id="304" r:id="rId9"/>
    <p:sldId id="260" r:id="rId10"/>
    <p:sldId id="306" r:id="rId11"/>
    <p:sldId id="307" r:id="rId12"/>
    <p:sldId id="317" r:id="rId13"/>
    <p:sldId id="318" r:id="rId14"/>
    <p:sldId id="285" r:id="rId15"/>
    <p:sldId id="288" r:id="rId16"/>
    <p:sldId id="290" r:id="rId17"/>
    <p:sldId id="298" r:id="rId18"/>
    <p:sldId id="308" r:id="rId19"/>
    <p:sldId id="311" r:id="rId20"/>
    <p:sldId id="312" r:id="rId21"/>
    <p:sldId id="313" r:id="rId22"/>
    <p:sldId id="346" r:id="rId23"/>
    <p:sldId id="349" r:id="rId24"/>
    <p:sldId id="347" r:id="rId25"/>
    <p:sldId id="348" r:id="rId26"/>
    <p:sldId id="350" r:id="rId27"/>
    <p:sldId id="351" r:id="rId28"/>
    <p:sldId id="353" r:id="rId29"/>
    <p:sldId id="354" r:id="rId30"/>
    <p:sldId id="356" r:id="rId31"/>
    <p:sldId id="309" r:id="rId32"/>
    <p:sldId id="315" r:id="rId33"/>
    <p:sldId id="316" r:id="rId34"/>
    <p:sldId id="345" r:id="rId35"/>
    <p:sldId id="310" r:id="rId36"/>
    <p:sldId id="342" r:id="rId37"/>
    <p:sldId id="344" r:id="rId38"/>
    <p:sldId id="343" r:id="rId39"/>
    <p:sldId id="320" r:id="rId40"/>
    <p:sldId id="321" r:id="rId41"/>
    <p:sldId id="323" r:id="rId42"/>
    <p:sldId id="324" r:id="rId43"/>
    <p:sldId id="326" r:id="rId44"/>
    <p:sldId id="327" r:id="rId45"/>
    <p:sldId id="329" r:id="rId46"/>
    <p:sldId id="330" r:id="rId47"/>
    <p:sldId id="332" r:id="rId48"/>
    <p:sldId id="333" r:id="rId49"/>
    <p:sldId id="338" r:id="rId50"/>
    <p:sldId id="339" r:id="rId51"/>
    <p:sldId id="335" r:id="rId52"/>
    <p:sldId id="336" r:id="rId53"/>
    <p:sldId id="340" r:id="rId54"/>
    <p:sldId id="341" r:id="rId5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564C95-9487-4AE2-AC47-0BA7B00E9BC9}" v="1003" dt="2026-03-05T09:10:41.5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98" autoAdjust="0"/>
    <p:restoredTop sz="88615" autoAdjust="0"/>
  </p:normalViewPr>
  <p:slideViewPr>
    <p:cSldViewPr snapToGrid="0" snapToObjects="1">
      <p:cViewPr varScale="1">
        <p:scale>
          <a:sx n="94" d="100"/>
          <a:sy n="94" d="100"/>
        </p:scale>
        <p:origin x="2148" y="90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microsoft.com/office/2016/11/relationships/changesInfo" Target="changesInfos/changesInfo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s-Jakob Kjer Møller" userId="ecba9b24-e9b5-4d68-b011-18c0f20b3743" providerId="ADAL" clId="{A6A2CB1A-029F-4BB2-8E68-B062D13FD1D3}"/>
    <pc:docChg chg="undo custSel addSld delSld modSld sldOrd">
      <pc:chgData name="Jens-Jakob Kjer Møller" userId="ecba9b24-e9b5-4d68-b011-18c0f20b3743" providerId="ADAL" clId="{A6A2CB1A-029F-4BB2-8E68-B062D13FD1D3}" dt="2026-03-05T09:12:14.561" v="1188" actId="20577"/>
      <pc:docMkLst>
        <pc:docMk/>
      </pc:docMkLst>
      <pc:sldChg chg="modSp mod">
        <pc:chgData name="Jens-Jakob Kjer Møller" userId="ecba9b24-e9b5-4d68-b011-18c0f20b3743" providerId="ADAL" clId="{A6A2CB1A-029F-4BB2-8E68-B062D13FD1D3}" dt="2026-03-05T09:12:14.561" v="1188" actId="20577"/>
        <pc:sldMkLst>
          <pc:docMk/>
          <pc:sldMk cId="0" sldId="256"/>
        </pc:sldMkLst>
        <pc:spChg chg="mod">
          <ac:chgData name="Jens-Jakob Kjer Møller" userId="ecba9b24-e9b5-4d68-b011-18c0f20b3743" providerId="ADAL" clId="{A6A2CB1A-029F-4BB2-8E68-B062D13FD1D3}" dt="2026-03-05T09:11:15.427" v="1186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Jens-Jakob Kjer Møller" userId="ecba9b24-e9b5-4d68-b011-18c0f20b3743" providerId="ADAL" clId="{A6A2CB1A-029F-4BB2-8E68-B062D13FD1D3}" dt="2026-03-05T09:12:14.561" v="1188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">
        <pc:chgData name="Jens-Jakob Kjer Møller" userId="ecba9b24-e9b5-4d68-b011-18c0f20b3743" providerId="ADAL" clId="{A6A2CB1A-029F-4BB2-8E68-B062D13FD1D3}" dt="2026-03-05T09:10:41.508" v="1184" actId="20577"/>
        <pc:sldMkLst>
          <pc:docMk/>
          <pc:sldMk cId="0" sldId="257"/>
        </pc:sldMkLst>
        <pc:spChg chg="mod">
          <ac:chgData name="Jens-Jakob Kjer Møller" userId="ecba9b24-e9b5-4d68-b011-18c0f20b3743" providerId="ADAL" clId="{A6A2CB1A-029F-4BB2-8E68-B062D13FD1D3}" dt="2026-03-05T09:10:41.508" v="1184" actId="20577"/>
          <ac:spMkLst>
            <pc:docMk/>
            <pc:sldMk cId="0" sldId="257"/>
            <ac:spMk id="3" creationId="{00000000-0000-0000-0000-000000000000}"/>
          </ac:spMkLst>
        </pc:spChg>
      </pc:sldChg>
      <pc:sldChg chg="add del">
        <pc:chgData name="Jens-Jakob Kjer Møller" userId="ecba9b24-e9b5-4d68-b011-18c0f20b3743" providerId="ADAL" clId="{A6A2CB1A-029F-4BB2-8E68-B062D13FD1D3}" dt="2026-03-05T07:57:58.371" v="1100" actId="47"/>
        <pc:sldMkLst>
          <pc:docMk/>
          <pc:sldMk cId="0" sldId="272"/>
        </pc:sldMkLst>
      </pc:sldChg>
      <pc:sldChg chg="ord">
        <pc:chgData name="Jens-Jakob Kjer Møller" userId="ecba9b24-e9b5-4d68-b011-18c0f20b3743" providerId="ADAL" clId="{A6A2CB1A-029F-4BB2-8E68-B062D13FD1D3}" dt="2026-03-05T09:10:22.473" v="1157"/>
        <pc:sldMkLst>
          <pc:docMk/>
          <pc:sldMk cId="3616991409" sldId="300"/>
        </pc:sldMkLst>
      </pc:sldChg>
      <pc:sldChg chg="modSp">
        <pc:chgData name="Jens-Jakob Kjer Møller" userId="ecba9b24-e9b5-4d68-b011-18c0f20b3743" providerId="ADAL" clId="{A6A2CB1A-029F-4BB2-8E68-B062D13FD1D3}" dt="2026-03-05T07:25:33.210" v="58" actId="20577"/>
        <pc:sldMkLst>
          <pc:docMk/>
          <pc:sldMk cId="1298153779" sldId="313"/>
        </pc:sldMkLst>
        <pc:spChg chg="mod">
          <ac:chgData name="Jens-Jakob Kjer Møller" userId="ecba9b24-e9b5-4d68-b011-18c0f20b3743" providerId="ADAL" clId="{A6A2CB1A-029F-4BB2-8E68-B062D13FD1D3}" dt="2026-03-05T07:25:33.210" v="58" actId="20577"/>
          <ac:spMkLst>
            <pc:docMk/>
            <pc:sldMk cId="1298153779" sldId="313"/>
            <ac:spMk id="3" creationId="{00000000-0000-0000-0000-000000000000}"/>
          </ac:spMkLst>
        </pc:spChg>
      </pc:sldChg>
      <pc:sldChg chg="modSp add mod modAnim">
        <pc:chgData name="Jens-Jakob Kjer Møller" userId="ecba9b24-e9b5-4d68-b011-18c0f20b3743" providerId="ADAL" clId="{A6A2CB1A-029F-4BB2-8E68-B062D13FD1D3}" dt="2026-03-05T07:37:35.777" v="560" actId="20577"/>
        <pc:sldMkLst>
          <pc:docMk/>
          <pc:sldMk cId="2467417703" sldId="346"/>
        </pc:sldMkLst>
        <pc:spChg chg="mod">
          <ac:chgData name="Jens-Jakob Kjer Møller" userId="ecba9b24-e9b5-4d68-b011-18c0f20b3743" providerId="ADAL" clId="{A6A2CB1A-029F-4BB2-8E68-B062D13FD1D3}" dt="2026-03-05T07:25:20.969" v="44" actId="20577"/>
          <ac:spMkLst>
            <pc:docMk/>
            <pc:sldMk cId="2467417703" sldId="346"/>
            <ac:spMk id="2" creationId="{91A35F7F-87E6-DC75-6E25-C738B66F1980}"/>
          </ac:spMkLst>
        </pc:spChg>
        <pc:spChg chg="mod">
          <ac:chgData name="Jens-Jakob Kjer Møller" userId="ecba9b24-e9b5-4d68-b011-18c0f20b3743" providerId="ADAL" clId="{A6A2CB1A-029F-4BB2-8E68-B062D13FD1D3}" dt="2026-03-05T07:37:35.777" v="560" actId="20577"/>
          <ac:spMkLst>
            <pc:docMk/>
            <pc:sldMk cId="2467417703" sldId="346"/>
            <ac:spMk id="3" creationId="{93D8A824-1906-7352-6B8C-6DEB89012385}"/>
          </ac:spMkLst>
        </pc:spChg>
      </pc:sldChg>
      <pc:sldChg chg="addSp modSp add mod modAnim">
        <pc:chgData name="Jens-Jakob Kjer Møller" userId="ecba9b24-e9b5-4d68-b011-18c0f20b3743" providerId="ADAL" clId="{A6A2CB1A-029F-4BB2-8E68-B062D13FD1D3}" dt="2026-03-05T07:40:45.916" v="627" actId="20577"/>
        <pc:sldMkLst>
          <pc:docMk/>
          <pc:sldMk cId="857062331" sldId="347"/>
        </pc:sldMkLst>
        <pc:spChg chg="mod">
          <ac:chgData name="Jens-Jakob Kjer Møller" userId="ecba9b24-e9b5-4d68-b011-18c0f20b3743" providerId="ADAL" clId="{A6A2CB1A-029F-4BB2-8E68-B062D13FD1D3}" dt="2026-03-05T07:25:52.163" v="68" actId="20577"/>
          <ac:spMkLst>
            <pc:docMk/>
            <pc:sldMk cId="857062331" sldId="347"/>
            <ac:spMk id="2" creationId="{A2FDA657-D55E-486C-1A1E-A879889680AA}"/>
          </ac:spMkLst>
        </pc:spChg>
        <pc:spChg chg="mod">
          <ac:chgData name="Jens-Jakob Kjer Møller" userId="ecba9b24-e9b5-4d68-b011-18c0f20b3743" providerId="ADAL" clId="{A6A2CB1A-029F-4BB2-8E68-B062D13FD1D3}" dt="2026-03-05T07:40:45.916" v="627" actId="20577"/>
          <ac:spMkLst>
            <pc:docMk/>
            <pc:sldMk cId="857062331" sldId="347"/>
            <ac:spMk id="3" creationId="{C272DFC2-5488-DF5D-6F07-3831A43F71FB}"/>
          </ac:spMkLst>
        </pc:spChg>
        <pc:graphicFrameChg chg="add mod">
          <ac:chgData name="Jens-Jakob Kjer Møller" userId="ecba9b24-e9b5-4d68-b011-18c0f20b3743" providerId="ADAL" clId="{A6A2CB1A-029F-4BB2-8E68-B062D13FD1D3}" dt="2026-03-05T07:28:39.442" v="168" actId="1076"/>
          <ac:graphicFrameMkLst>
            <pc:docMk/>
            <pc:sldMk cId="857062331" sldId="347"/>
            <ac:graphicFrameMk id="4" creationId="{052EBC8E-BD6C-BFDE-C80D-39747B755272}"/>
          </ac:graphicFrameMkLst>
        </pc:graphicFrameChg>
      </pc:sldChg>
      <pc:sldChg chg="modSp add mod modAnim">
        <pc:chgData name="Jens-Jakob Kjer Møller" userId="ecba9b24-e9b5-4d68-b011-18c0f20b3743" providerId="ADAL" clId="{A6A2CB1A-029F-4BB2-8E68-B062D13FD1D3}" dt="2026-03-05T07:34:52.674" v="484" actId="20577"/>
        <pc:sldMkLst>
          <pc:docMk/>
          <pc:sldMk cId="3284090404" sldId="348"/>
        </pc:sldMkLst>
        <pc:spChg chg="mod">
          <ac:chgData name="Jens-Jakob Kjer Møller" userId="ecba9b24-e9b5-4d68-b011-18c0f20b3743" providerId="ADAL" clId="{A6A2CB1A-029F-4BB2-8E68-B062D13FD1D3}" dt="2026-03-05T07:34:52.674" v="484" actId="20577"/>
          <ac:spMkLst>
            <pc:docMk/>
            <pc:sldMk cId="3284090404" sldId="348"/>
            <ac:spMk id="3" creationId="{FE0772AD-7989-00BC-67B3-7E9CDA9AC147}"/>
          </ac:spMkLst>
        </pc:spChg>
      </pc:sldChg>
      <pc:sldChg chg="addSp delSp modSp add mod ord modAnim">
        <pc:chgData name="Jens-Jakob Kjer Møller" userId="ecba9b24-e9b5-4d68-b011-18c0f20b3743" providerId="ADAL" clId="{A6A2CB1A-029F-4BB2-8E68-B062D13FD1D3}" dt="2026-03-05T07:33:42.899" v="375"/>
        <pc:sldMkLst>
          <pc:docMk/>
          <pc:sldMk cId="2939335842" sldId="349"/>
        </pc:sldMkLst>
        <pc:spChg chg="mod">
          <ac:chgData name="Jens-Jakob Kjer Møller" userId="ecba9b24-e9b5-4d68-b011-18c0f20b3743" providerId="ADAL" clId="{A6A2CB1A-029F-4BB2-8E68-B062D13FD1D3}" dt="2026-03-05T07:33:19.558" v="371" actId="20577"/>
          <ac:spMkLst>
            <pc:docMk/>
            <pc:sldMk cId="2939335842" sldId="349"/>
            <ac:spMk id="3" creationId="{20C6F2EA-3FA0-CBA2-E9D8-83FD1404F1B0}"/>
          </ac:spMkLst>
        </pc:spChg>
        <pc:spChg chg="add del mod">
          <ac:chgData name="Jens-Jakob Kjer Møller" userId="ecba9b24-e9b5-4d68-b011-18c0f20b3743" providerId="ADAL" clId="{A6A2CB1A-029F-4BB2-8E68-B062D13FD1D3}" dt="2026-03-05T07:33:38.406" v="373"/>
          <ac:spMkLst>
            <pc:docMk/>
            <pc:sldMk cId="2939335842" sldId="349"/>
            <ac:spMk id="5" creationId="{A928EC9A-51D9-51FD-85D9-4BE496492FE6}"/>
          </ac:spMkLst>
        </pc:spChg>
        <pc:spChg chg="add">
          <ac:chgData name="Jens-Jakob Kjer Møller" userId="ecba9b24-e9b5-4d68-b011-18c0f20b3743" providerId="ADAL" clId="{A6A2CB1A-029F-4BB2-8E68-B062D13FD1D3}" dt="2026-03-05T07:32:22.380" v="326"/>
          <ac:spMkLst>
            <pc:docMk/>
            <pc:sldMk cId="2939335842" sldId="349"/>
            <ac:spMk id="6" creationId="{C4D2CE37-FBBD-EF89-0B76-4AFD20CB49F8}"/>
          </ac:spMkLst>
        </pc:spChg>
      </pc:sldChg>
      <pc:sldChg chg="modSp add mod">
        <pc:chgData name="Jens-Jakob Kjer Møller" userId="ecba9b24-e9b5-4d68-b011-18c0f20b3743" providerId="ADAL" clId="{A6A2CB1A-029F-4BB2-8E68-B062D13FD1D3}" dt="2026-03-05T07:37:14.284" v="498" actId="20577"/>
        <pc:sldMkLst>
          <pc:docMk/>
          <pc:sldMk cId="1910662785" sldId="350"/>
        </pc:sldMkLst>
        <pc:spChg chg="mod">
          <ac:chgData name="Jens-Jakob Kjer Møller" userId="ecba9b24-e9b5-4d68-b011-18c0f20b3743" providerId="ADAL" clId="{A6A2CB1A-029F-4BB2-8E68-B062D13FD1D3}" dt="2026-03-05T07:37:14.284" v="498" actId="20577"/>
          <ac:spMkLst>
            <pc:docMk/>
            <pc:sldMk cId="1910662785" sldId="350"/>
            <ac:spMk id="2" creationId="{335DDF86-F8A5-AF7E-EA21-699558ACDC51}"/>
          </ac:spMkLst>
        </pc:spChg>
      </pc:sldChg>
      <pc:sldChg chg="modSp add mod ord">
        <pc:chgData name="Jens-Jakob Kjer Møller" userId="ecba9b24-e9b5-4d68-b011-18c0f20b3743" providerId="ADAL" clId="{A6A2CB1A-029F-4BB2-8E68-B062D13FD1D3}" dt="2026-03-05T07:42:04.843" v="676"/>
        <pc:sldMkLst>
          <pc:docMk/>
          <pc:sldMk cId="245547266" sldId="351"/>
        </pc:sldMkLst>
        <pc:spChg chg="mod">
          <ac:chgData name="Jens-Jakob Kjer Møller" userId="ecba9b24-e9b5-4d68-b011-18c0f20b3743" providerId="ADAL" clId="{A6A2CB1A-029F-4BB2-8E68-B062D13FD1D3}" dt="2026-03-05T07:39:37.753" v="590" actId="404"/>
          <ac:spMkLst>
            <pc:docMk/>
            <pc:sldMk cId="245547266" sldId="351"/>
            <ac:spMk id="3" creationId="{93A1B8A3-61A0-4679-42C6-AFF86BE32F9C}"/>
          </ac:spMkLst>
        </pc:spChg>
      </pc:sldChg>
      <pc:sldChg chg="add del">
        <pc:chgData name="Jens-Jakob Kjer Møller" userId="ecba9b24-e9b5-4d68-b011-18c0f20b3743" providerId="ADAL" clId="{A6A2CB1A-029F-4BB2-8E68-B062D13FD1D3}" dt="2026-03-05T07:41:22.170" v="630" actId="47"/>
        <pc:sldMkLst>
          <pc:docMk/>
          <pc:sldMk cId="1929665059" sldId="352"/>
        </pc:sldMkLst>
      </pc:sldChg>
      <pc:sldChg chg="modSp add mod modAnim">
        <pc:chgData name="Jens-Jakob Kjer Møller" userId="ecba9b24-e9b5-4d68-b011-18c0f20b3743" providerId="ADAL" clId="{A6A2CB1A-029F-4BB2-8E68-B062D13FD1D3}" dt="2026-03-05T07:45:25.302" v="755" actId="20577"/>
        <pc:sldMkLst>
          <pc:docMk/>
          <pc:sldMk cId="1418189125" sldId="353"/>
        </pc:sldMkLst>
        <pc:spChg chg="mod">
          <ac:chgData name="Jens-Jakob Kjer Møller" userId="ecba9b24-e9b5-4d68-b011-18c0f20b3743" providerId="ADAL" clId="{A6A2CB1A-029F-4BB2-8E68-B062D13FD1D3}" dt="2026-03-05T07:41:27.489" v="643" actId="20577"/>
          <ac:spMkLst>
            <pc:docMk/>
            <pc:sldMk cId="1418189125" sldId="353"/>
            <ac:spMk id="2" creationId="{3D07612A-067B-D8EE-7AF2-CCAC4F5891D6}"/>
          </ac:spMkLst>
        </pc:spChg>
        <pc:spChg chg="mod">
          <ac:chgData name="Jens-Jakob Kjer Møller" userId="ecba9b24-e9b5-4d68-b011-18c0f20b3743" providerId="ADAL" clId="{A6A2CB1A-029F-4BB2-8E68-B062D13FD1D3}" dt="2026-03-05T07:45:25.302" v="755" actId="20577"/>
          <ac:spMkLst>
            <pc:docMk/>
            <pc:sldMk cId="1418189125" sldId="353"/>
            <ac:spMk id="3" creationId="{E4472A20-4D6D-2040-03A2-47B27A033250}"/>
          </ac:spMkLst>
        </pc:spChg>
      </pc:sldChg>
      <pc:sldChg chg="modSp add mod">
        <pc:chgData name="Jens-Jakob Kjer Møller" userId="ecba9b24-e9b5-4d68-b011-18c0f20b3743" providerId="ADAL" clId="{A6A2CB1A-029F-4BB2-8E68-B062D13FD1D3}" dt="2026-03-05T07:47:25.325" v="830" actId="20577"/>
        <pc:sldMkLst>
          <pc:docMk/>
          <pc:sldMk cId="1155158243" sldId="354"/>
        </pc:sldMkLst>
        <pc:spChg chg="mod">
          <ac:chgData name="Jens-Jakob Kjer Møller" userId="ecba9b24-e9b5-4d68-b011-18c0f20b3743" providerId="ADAL" clId="{A6A2CB1A-029F-4BB2-8E68-B062D13FD1D3}" dt="2026-03-05T07:47:25.325" v="830" actId="20577"/>
          <ac:spMkLst>
            <pc:docMk/>
            <pc:sldMk cId="1155158243" sldId="354"/>
            <ac:spMk id="3" creationId="{624D194F-E841-8057-8683-513D4B7D29BE}"/>
          </ac:spMkLst>
        </pc:spChg>
      </pc:sldChg>
      <pc:sldChg chg="add del">
        <pc:chgData name="Jens-Jakob Kjer Møller" userId="ecba9b24-e9b5-4d68-b011-18c0f20b3743" providerId="ADAL" clId="{A6A2CB1A-029F-4BB2-8E68-B062D13FD1D3}" dt="2026-03-05T07:47:45.952" v="833" actId="47"/>
        <pc:sldMkLst>
          <pc:docMk/>
          <pc:sldMk cId="3208778872" sldId="355"/>
        </pc:sldMkLst>
      </pc:sldChg>
      <pc:sldChg chg="modSp add modAnim">
        <pc:chgData name="Jens-Jakob Kjer Møller" userId="ecba9b24-e9b5-4d68-b011-18c0f20b3743" providerId="ADAL" clId="{A6A2CB1A-029F-4BB2-8E68-B062D13FD1D3}" dt="2026-03-05T08:01:12.270" v="1155" actId="20577"/>
        <pc:sldMkLst>
          <pc:docMk/>
          <pc:sldMk cId="672961202" sldId="356"/>
        </pc:sldMkLst>
        <pc:spChg chg="mod">
          <ac:chgData name="Jens-Jakob Kjer Møller" userId="ecba9b24-e9b5-4d68-b011-18c0f20b3743" providerId="ADAL" clId="{A6A2CB1A-029F-4BB2-8E68-B062D13FD1D3}" dt="2026-03-05T08:01:12.270" v="1155" actId="20577"/>
          <ac:spMkLst>
            <pc:docMk/>
            <pc:sldMk cId="672961202" sldId="356"/>
            <ac:spMk id="3" creationId="{0E3815BC-36FB-0AA9-094B-59862ED0B43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5C45D-6391-427E-BBD3-EEBD617DA769}" type="datetimeFigureOut">
              <a:rPr lang="da-DK" smtClean="0"/>
              <a:t>05-03-2026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8F6AF-EAEC-49CD-BCF9-9287B7AD86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68283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Biologisk plausibilitet: styrketræning</a:t>
            </a:r>
            <a:r>
              <a:rPr lang="da-DK" baseline="0" dirty="0"/>
              <a:t> og køn (hormoner), effekt af medicin på symptom (vægt)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68F6AF-EAEC-49CD-BCF9-9287B7AD8674}" type="slidenum">
              <a:rPr lang="da-DK" smtClean="0"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82692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68F6AF-EAEC-49CD-BCF9-9287B7AD8674}" type="slidenum">
              <a:rPr lang="da-DK" smtClean="0"/>
              <a:t>19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87852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68F6AF-EAEC-49CD-BCF9-9287B7AD8674}" type="slidenum">
              <a:rPr lang="da-DK" smtClean="0"/>
              <a:t>20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13942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1AAC8-26B4-43A0-5967-8B96E2C04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48E13084-D4D1-EFFD-7A05-24CC6A7E6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B943DBA1-7A51-D20E-A6E8-5DBA73AE9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98B1704-9D4B-AC44-EC9B-CF3BD4C8F0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68F6AF-EAEC-49CD-BCF9-9287B7AD8674}" type="slidenum">
              <a:rPr lang="da-DK" smtClean="0"/>
              <a:t>21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89123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2F494-2866-E8E1-4D57-08640803B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B7E72394-295C-32DA-6640-269CFE84B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727C7DF9-F8EF-DDF0-4FC4-233EEA593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75D71F1-B375-9565-0B10-08F1AF21D1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68F6AF-EAEC-49CD-BCF9-9287B7AD8674}" type="slidenum">
              <a:rPr lang="da-DK" smtClean="0"/>
              <a:t>22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34365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BC59E-5A34-A1E7-C5E1-006659EBC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3DE10F4A-2D07-F910-252C-F7F247067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40E18655-BDEE-937C-2640-EB8F9A170E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FCF0C07-BFDC-EBF8-EBC4-C5D9748AE5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68F6AF-EAEC-49CD-BCF9-9287B7AD8674}" type="slidenum">
              <a:rPr lang="da-DK" smtClean="0"/>
              <a:t>23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70777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E6FB3-E86C-2B77-0F84-FAB43983B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EAA8EACF-F457-9E19-2E28-01C5AFFA1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576CD031-F306-4B4E-7F52-F46E7049B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37D3850-3624-F8AC-9622-82C66F6051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68F6AF-EAEC-49CD-BCF9-9287B7AD8674}" type="slidenum">
              <a:rPr lang="da-DK" smtClean="0"/>
              <a:t>24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78630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D4352-E5F0-DD38-AC2F-976A130B3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B88818E9-F133-FA74-356A-B21619A50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EE8BCEF8-714F-4562-2696-2B264F5E8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4EAE583-703E-4027-DE7E-38894AED27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68F6AF-EAEC-49CD-BCF9-9287B7AD8674}" type="slidenum">
              <a:rPr lang="da-DK" smtClean="0"/>
              <a:t>25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700451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F970C-D3E3-2D47-131E-002703FC2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53FCD07A-7313-707F-116C-7C9C5C0EA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573F0FD2-52D4-016C-D16A-5E53C1BF1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EB3D178-7A99-D3FE-7E98-130F0E9B0A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68F6AF-EAEC-49CD-BCF9-9287B7AD8674}" type="slidenum">
              <a:rPr lang="da-DK" smtClean="0"/>
              <a:t>26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4239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B0C60-14C3-8E3A-59F4-709A19CCF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1D17B8A5-4019-095F-3F0D-7FEB9E6AE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1B1A1B8C-C7D4-3380-A5FB-9DDFAD5F3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C98901E-0571-7A04-DD1A-193AB26430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68F6AF-EAEC-49CD-BCF9-9287B7AD8674}" type="slidenum">
              <a:rPr lang="da-DK" smtClean="0"/>
              <a:t>27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44679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F46BA-AFE0-259B-5A1E-B5B866DBE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619D46A6-1B0D-9F18-A6C5-DCEC661D7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E36B9E74-9323-246A-FA1F-C682CB6C8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89FF456-0C52-010E-E24A-DC88E32DA4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68F6AF-EAEC-49CD-BCF9-9287B7AD8674}" type="slidenum">
              <a:rPr lang="da-DK" smtClean="0"/>
              <a:t>28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1088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75EF9-3F24-DDF3-02FF-5489535AA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9FD5E829-5BB7-C6A4-047D-07FC154C25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667242A8-23E5-D36E-0ED9-6D4D1828F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1CD193B-CBE2-D7CD-F560-76E61AC687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68F6AF-EAEC-49CD-BCF9-9287B7AD8674}" type="slidenum">
              <a:rPr lang="da-DK" smtClean="0"/>
              <a:t>29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989265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68F6AF-EAEC-49CD-BCF9-9287B7AD8674}" type="slidenum">
              <a:rPr lang="da-DK" smtClean="0"/>
              <a:t>31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796566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68F6AF-EAEC-49CD-BCF9-9287B7AD8674}" type="slidenum">
              <a:rPr lang="da-DK" smtClean="0"/>
              <a:t>32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854725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68F6AF-EAEC-49CD-BCF9-9287B7AD8674}" type="slidenum">
              <a:rPr lang="da-DK" smtClean="0"/>
              <a:t>33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19929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49F7C-0E64-4455-853A-2B4AFAB52973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994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CE7B9-3F96-479E-ADDD-DD8E692AA5D6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484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7A61-91AB-4D8A-A722-956D266209AB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1709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F5005-ECA5-4CA3-89EA-8AB31B079EA7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55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5828A-6B9C-4BE2-8534-947BC2A02848}" type="datetime1">
              <a:rPr lang="en-US" smtClean="0"/>
              <a:t>3/5/2026</a:t>
            </a:fld>
            <a:endParaRPr lang="en-US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0612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F7FD-0AF4-45D6-826C-D3924B960E44}" type="datetime1">
              <a:rPr lang="en-US" smtClean="0"/>
              <a:t>3/5/2026</a:t>
            </a:fld>
            <a:endParaRPr lang="en-US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277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05F4-383F-4BFA-B4D5-AE8B825F984D}" type="datetime1">
              <a:rPr lang="en-US" smtClean="0"/>
              <a:t>3/5/2026</a:t>
            </a:fld>
            <a:endParaRPr lang="en-US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2679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C2BA-6F5F-4F47-880F-9B8726F451AF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106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3CC4-F76D-4772-93EA-152239056743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436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E880F-08E4-45EA-AB4B-8856F5234366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4012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EB53-8BF5-4F65-AF99-605631D1858E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39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ktangel 6"/>
          <p:cNvSpPr/>
          <p:nvPr userDrawn="1"/>
        </p:nvSpPr>
        <p:spPr>
          <a:xfrm>
            <a:off x="1704252" y="6363576"/>
            <a:ext cx="1198781" cy="428326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8" name="Billede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70" y="6478438"/>
            <a:ext cx="909464" cy="243037"/>
          </a:xfrm>
          <a:prstGeom prst="rect">
            <a:avLst/>
          </a:prstGeom>
        </p:spPr>
      </p:pic>
      <p:pic>
        <p:nvPicPr>
          <p:cNvPr id="9" name="Billede 8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124" y="6412995"/>
            <a:ext cx="281146" cy="37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87FD6-4DB1-4018-BDE2-2440C94BA742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ktangel 6"/>
          <p:cNvSpPr/>
          <p:nvPr userDrawn="1"/>
        </p:nvSpPr>
        <p:spPr>
          <a:xfrm>
            <a:off x="1704252" y="6363576"/>
            <a:ext cx="1198781" cy="428326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70" y="6478438"/>
            <a:ext cx="909464" cy="243037"/>
          </a:xfrm>
          <a:prstGeom prst="rect">
            <a:avLst/>
          </a:prstGeom>
        </p:spPr>
      </p:pic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124" y="6412995"/>
            <a:ext cx="281146" cy="37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903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ens-jakob.kjer.moller@rsyd.d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45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EPI 5 Effektmodifikation</a:t>
            </a: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Jens-Jakob Kjer Møller, epidemiolog</a:t>
            </a: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OPEN - Open Patient data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Explorative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Network</a:t>
            </a: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jens-jakob.kjer.moller@rsyd.dk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 dirty="0">
                <a:solidFill>
                  <a:sysClr val="windowText" lastClr="000000"/>
                </a:solidFill>
                <a:latin typeface="Calibri" panose="020F0502020204030204"/>
              </a:rPr>
              <a:t>5</a:t>
            </a:r>
            <a:r>
              <a:rPr lang="da-DK">
                <a:solidFill>
                  <a:sysClr val="windowText" lastClr="000000"/>
                </a:solidFill>
                <a:latin typeface="Calibri" panose="020F0502020204030204"/>
              </a:rPr>
              <a:t>. </a:t>
            </a:r>
            <a:r>
              <a:rPr lang="da-DK" dirty="0">
                <a:solidFill>
                  <a:sysClr val="windowText" lastClr="000000"/>
                </a:solidFill>
                <a:latin typeface="Calibri" panose="020F0502020204030204"/>
              </a:rPr>
              <a:t>marts 2026</a:t>
            </a: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Formål med forelæsningen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buFont typeface="+mj-lt"/>
              <a:buAutoNum type="arabicPeriod"/>
              <a:defRPr sz="1400"/>
            </a:pPr>
            <a:r>
              <a:rPr lang="da-DK" dirty="0"/>
              <a:t>Forstå hvad effektmodifikation er </a:t>
            </a:r>
          </a:p>
          <a:p>
            <a:pPr>
              <a:spcAft>
                <a:spcPts val="600"/>
              </a:spcAft>
              <a:buFont typeface="+mj-lt"/>
              <a:buAutoNum type="arabicPeriod"/>
              <a:defRPr sz="1400"/>
            </a:pPr>
            <a:r>
              <a:rPr lang="da-DK" dirty="0"/>
              <a:t>Lære at identificere potentielle </a:t>
            </a:r>
            <a:r>
              <a:rPr lang="da-DK" dirty="0" err="1"/>
              <a:t>effektmodifikatorer</a:t>
            </a:r>
            <a:endParaRPr lang="da-DK" dirty="0"/>
          </a:p>
          <a:p>
            <a:pPr>
              <a:spcAft>
                <a:spcPts val="600"/>
              </a:spcAft>
              <a:buFont typeface="+mj-lt"/>
              <a:buAutoNum type="arabicPeriod"/>
              <a:defRPr sz="1400"/>
            </a:pPr>
            <a:r>
              <a:rPr lang="da-DK" dirty="0"/>
              <a:t>Kende til metoder til at håndtere effektmodifikation</a:t>
            </a:r>
          </a:p>
          <a:p>
            <a:pPr>
              <a:spcAft>
                <a:spcPts val="600"/>
              </a:spcAft>
              <a:buFont typeface="+mj-lt"/>
              <a:buAutoNum type="arabicPeriod"/>
              <a:defRPr sz="1400"/>
            </a:pPr>
            <a:r>
              <a:rPr lang="da-DK" dirty="0"/>
              <a:t>Differentiere mellem </a:t>
            </a:r>
            <a:r>
              <a:rPr lang="da-DK" dirty="0" err="1"/>
              <a:t>confounding</a:t>
            </a:r>
            <a:r>
              <a:rPr lang="da-DK" dirty="0"/>
              <a:t>, </a:t>
            </a:r>
            <a:r>
              <a:rPr lang="da-DK" dirty="0" err="1"/>
              <a:t>mediation</a:t>
            </a:r>
            <a:r>
              <a:rPr lang="da-DK" dirty="0"/>
              <a:t> og effektmodifikation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9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407199"/>
          </a:xfrm>
        </p:spPr>
        <p:txBody>
          <a:bodyPr anchor="ctr">
            <a:normAutofit/>
          </a:bodyPr>
          <a:lstStyle/>
          <a:p>
            <a:r>
              <a:rPr lang="da-DK" dirty="0"/>
              <a:t>Forstå hvad effektmodifikation er</a:t>
            </a:r>
          </a:p>
        </p:txBody>
      </p:sp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1042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Hvad er effektmodifikation?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800" dirty="0"/>
          </a:p>
          <a:p>
            <a:r>
              <a:rPr sz="2800" dirty="0" err="1"/>
              <a:t>Når</a:t>
            </a:r>
            <a:r>
              <a:rPr sz="2800" dirty="0"/>
              <a:t> </a:t>
            </a:r>
            <a:r>
              <a:rPr sz="2800" dirty="0" err="1"/>
              <a:t>en</a:t>
            </a:r>
            <a:r>
              <a:rPr sz="2800" dirty="0"/>
              <a:t> </a:t>
            </a:r>
            <a:r>
              <a:rPr lang="da-DK" sz="2800" dirty="0"/>
              <a:t>effekten af en eksponering </a:t>
            </a:r>
            <a:r>
              <a:rPr sz="2800" dirty="0" err="1"/>
              <a:t>varierer</a:t>
            </a:r>
            <a:r>
              <a:rPr sz="2800" dirty="0"/>
              <a:t> </a:t>
            </a:r>
            <a:r>
              <a:rPr sz="2800" dirty="0" err="1"/>
              <a:t>afhængigt</a:t>
            </a:r>
            <a:r>
              <a:rPr sz="2800" dirty="0"/>
              <a:t> </a:t>
            </a:r>
            <a:r>
              <a:rPr sz="2800" dirty="0" err="1"/>
              <a:t>af</a:t>
            </a:r>
            <a:r>
              <a:rPr sz="2800" dirty="0"/>
              <a:t> </a:t>
            </a:r>
            <a:r>
              <a:rPr sz="2800" dirty="0" err="1"/>
              <a:t>en</a:t>
            </a:r>
            <a:r>
              <a:rPr sz="2800" dirty="0"/>
              <a:t> </a:t>
            </a:r>
            <a:r>
              <a:rPr sz="2800" dirty="0" err="1"/>
              <a:t>tredje</a:t>
            </a:r>
            <a:r>
              <a:rPr sz="2800" dirty="0"/>
              <a:t> </a:t>
            </a:r>
            <a:r>
              <a:rPr sz="2800" dirty="0" err="1"/>
              <a:t>variabel</a:t>
            </a:r>
            <a:endParaRPr lang="da-DK" sz="2800" dirty="0"/>
          </a:p>
          <a:p>
            <a:endParaRPr sz="2800" dirty="0"/>
          </a:p>
          <a:p>
            <a:r>
              <a:rPr lang="da-DK" sz="2800" dirty="0"/>
              <a:t>Tilnærmelsesvis synonymer for effektmodifikation er:</a:t>
            </a:r>
          </a:p>
          <a:p>
            <a:pPr lvl="1"/>
            <a:r>
              <a:rPr lang="da-DK" sz="2400" dirty="0"/>
              <a:t>Modererende effekt: Bruges oftere indenfor psykologi og samfundsvidenskab. </a:t>
            </a:r>
          </a:p>
          <a:p>
            <a:pPr lvl="1"/>
            <a:r>
              <a:rPr lang="da-DK" sz="2400" dirty="0"/>
              <a:t>Interaktion: Bruges typisk i rent </a:t>
            </a:r>
            <a:r>
              <a:rPr lang="da-DK" sz="2400" dirty="0" err="1"/>
              <a:t>matematistike</a:t>
            </a:r>
            <a:r>
              <a:rPr lang="da-DK" sz="2400" dirty="0"/>
              <a:t> sammenhænge 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Effektmodifikation</a:t>
            </a:r>
            <a:endParaRPr dirty="0"/>
          </a:p>
        </p:txBody>
      </p:sp>
      <p:sp>
        <p:nvSpPr>
          <p:cNvPr id="4" name="Rektangel 3"/>
          <p:cNvSpPr/>
          <p:nvPr/>
        </p:nvSpPr>
        <p:spPr>
          <a:xfrm>
            <a:off x="1168400" y="2057400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EKSPONERING</a:t>
            </a:r>
          </a:p>
        </p:txBody>
      </p:sp>
      <p:sp>
        <p:nvSpPr>
          <p:cNvPr id="5" name="Rektangel 4"/>
          <p:cNvSpPr/>
          <p:nvPr/>
        </p:nvSpPr>
        <p:spPr>
          <a:xfrm>
            <a:off x="3097213" y="3330575"/>
            <a:ext cx="2174875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EFFEKTMODIFIKATOR</a:t>
            </a:r>
          </a:p>
        </p:txBody>
      </p:sp>
      <p:sp>
        <p:nvSpPr>
          <p:cNvPr id="6" name="Rektangel 5"/>
          <p:cNvSpPr/>
          <p:nvPr/>
        </p:nvSpPr>
        <p:spPr>
          <a:xfrm>
            <a:off x="5518150" y="2057400"/>
            <a:ext cx="1682750" cy="565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UDFALD</a:t>
            </a:r>
          </a:p>
        </p:txBody>
      </p:sp>
      <p:cxnSp>
        <p:nvCxnSpPr>
          <p:cNvPr id="10" name="Lige pilforbindelse 9"/>
          <p:cNvCxnSpPr>
            <a:stCxn id="5" idx="0"/>
          </p:cNvCxnSpPr>
          <p:nvPr/>
        </p:nvCxnSpPr>
        <p:spPr>
          <a:xfrm flipV="1">
            <a:off x="4184651" y="2339975"/>
            <a:ext cx="0" cy="9906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6" name="Lige pilforbindelse 35"/>
          <p:cNvCxnSpPr>
            <a:stCxn id="4" idx="3"/>
            <a:endCxn id="6" idx="1"/>
          </p:cNvCxnSpPr>
          <p:nvPr/>
        </p:nvCxnSpPr>
        <p:spPr>
          <a:xfrm>
            <a:off x="2851150" y="2339975"/>
            <a:ext cx="2667000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9" name="Tekstfelt 38"/>
          <p:cNvSpPr txBox="1"/>
          <p:nvPr/>
        </p:nvSpPr>
        <p:spPr>
          <a:xfrm>
            <a:off x="3343275" y="2098972"/>
            <a:ext cx="16827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05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association af interesse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2138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Effektmodifikation</a:t>
            </a:r>
            <a:r>
              <a:rPr dirty="0"/>
              <a:t> vs. Confounding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Confounding = bias → </a:t>
            </a:r>
            <a:r>
              <a:rPr dirty="0" err="1"/>
              <a:t>skal</a:t>
            </a:r>
            <a:r>
              <a:rPr dirty="0"/>
              <a:t> </a:t>
            </a:r>
            <a:r>
              <a:rPr dirty="0" err="1"/>
              <a:t>kontrolleres</a:t>
            </a:r>
            <a:endParaRPr lang="da-DK" dirty="0"/>
          </a:p>
          <a:p>
            <a:endParaRPr dirty="0"/>
          </a:p>
          <a:p>
            <a:r>
              <a:rPr dirty="0" err="1"/>
              <a:t>Effektmodifikation</a:t>
            </a:r>
            <a:r>
              <a:rPr dirty="0"/>
              <a:t> = </a:t>
            </a:r>
            <a:r>
              <a:rPr dirty="0" err="1"/>
              <a:t>reelt</a:t>
            </a:r>
            <a:r>
              <a:rPr dirty="0"/>
              <a:t> fund → </a:t>
            </a:r>
            <a:r>
              <a:rPr dirty="0" err="1"/>
              <a:t>skal</a:t>
            </a:r>
            <a:r>
              <a:rPr dirty="0"/>
              <a:t> </a:t>
            </a:r>
            <a:r>
              <a:rPr lang="da-DK" dirty="0"/>
              <a:t>håndteres og </a:t>
            </a:r>
            <a:r>
              <a:rPr dirty="0" err="1"/>
              <a:t>rapporteres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Effektmodifikation</a:t>
            </a:r>
            <a:r>
              <a:rPr dirty="0"/>
              <a:t> vs. Confounding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Confounding = </a:t>
            </a:r>
            <a:r>
              <a:rPr lang="da-DK" dirty="0"/>
              <a:t>designproblem</a:t>
            </a:r>
          </a:p>
          <a:p>
            <a:endParaRPr dirty="0"/>
          </a:p>
          <a:p>
            <a:r>
              <a:rPr dirty="0" err="1"/>
              <a:t>Effektmodifikation</a:t>
            </a:r>
            <a:r>
              <a:rPr dirty="0"/>
              <a:t> = </a:t>
            </a:r>
            <a:r>
              <a:rPr lang="da-DK" dirty="0"/>
              <a:t>biologisk/naturligt fænomen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8892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Eksempler på spørgsmål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Virker</a:t>
            </a:r>
            <a:r>
              <a:rPr dirty="0"/>
              <a:t> </a:t>
            </a:r>
            <a:r>
              <a:rPr dirty="0" err="1"/>
              <a:t>behandling</a:t>
            </a:r>
            <a:r>
              <a:rPr dirty="0"/>
              <a:t> X </a:t>
            </a:r>
            <a:r>
              <a:rPr dirty="0" err="1"/>
              <a:t>lige</a:t>
            </a:r>
            <a:r>
              <a:rPr dirty="0"/>
              <a:t> </a:t>
            </a:r>
            <a:r>
              <a:rPr dirty="0" err="1"/>
              <a:t>godt</a:t>
            </a:r>
            <a:r>
              <a:rPr dirty="0"/>
              <a:t> for </a:t>
            </a:r>
            <a:r>
              <a:rPr dirty="0" err="1"/>
              <a:t>alle</a:t>
            </a:r>
            <a:r>
              <a:rPr dirty="0"/>
              <a:t>?</a:t>
            </a:r>
            <a:endParaRPr lang="da-DK" dirty="0"/>
          </a:p>
          <a:p>
            <a:endParaRPr dirty="0"/>
          </a:p>
          <a:p>
            <a:r>
              <a:rPr dirty="0" err="1"/>
              <a:t>Er</a:t>
            </a:r>
            <a:r>
              <a:rPr dirty="0"/>
              <a:t> </a:t>
            </a:r>
            <a:r>
              <a:rPr dirty="0" err="1"/>
              <a:t>nogle</a:t>
            </a:r>
            <a:r>
              <a:rPr dirty="0"/>
              <a:t> mere </a:t>
            </a:r>
            <a:r>
              <a:rPr dirty="0" err="1"/>
              <a:t>sårbare</a:t>
            </a:r>
            <a:r>
              <a:rPr dirty="0"/>
              <a:t> for </a:t>
            </a:r>
            <a:r>
              <a:rPr dirty="0" err="1"/>
              <a:t>eksponering</a:t>
            </a:r>
            <a:r>
              <a:rPr dirty="0"/>
              <a:t> Y?</a:t>
            </a:r>
            <a:endParaRPr lang="da-DK" dirty="0"/>
          </a:p>
          <a:p>
            <a:endParaRPr dirty="0"/>
          </a:p>
          <a:p>
            <a:r>
              <a:rPr dirty="0" err="1"/>
              <a:t>Kan</a:t>
            </a:r>
            <a:r>
              <a:rPr dirty="0"/>
              <a:t> to </a:t>
            </a:r>
            <a:r>
              <a:rPr dirty="0" err="1"/>
              <a:t>eksponeringer</a:t>
            </a:r>
            <a:r>
              <a:rPr dirty="0"/>
              <a:t> </a:t>
            </a:r>
            <a:r>
              <a:rPr dirty="0" err="1"/>
              <a:t>forstærke</a:t>
            </a:r>
            <a:r>
              <a:rPr dirty="0"/>
              <a:t> </a:t>
            </a:r>
            <a:r>
              <a:rPr dirty="0" err="1"/>
              <a:t>hinanden</a:t>
            </a:r>
            <a:r>
              <a:rPr dirty="0"/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Eksempler</a:t>
            </a:r>
            <a:r>
              <a:rPr dirty="0"/>
              <a:t> </a:t>
            </a:r>
            <a:r>
              <a:rPr lang="da-DK" dirty="0"/>
              <a:t>med asbest og rygning</a:t>
            </a:r>
            <a:endParaRPr dirty="0"/>
          </a:p>
        </p:txBody>
      </p:sp>
      <p:pic>
        <p:nvPicPr>
          <p:cNvPr id="7" name="Bille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55" y="1417638"/>
            <a:ext cx="7742132" cy="40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481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Eksempler</a:t>
            </a:r>
            <a:r>
              <a:rPr dirty="0"/>
              <a:t> </a:t>
            </a:r>
            <a:r>
              <a:rPr lang="da-DK" dirty="0"/>
              <a:t>med asbest og rygning</a:t>
            </a:r>
            <a:endParaRPr dirty="0"/>
          </a:p>
        </p:txBody>
      </p:sp>
      <p:pic>
        <p:nvPicPr>
          <p:cNvPr id="3" name="Bille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99" y="1704412"/>
            <a:ext cx="7688902" cy="1504176"/>
          </a:xfrm>
          <a:prstGeom prst="rect">
            <a:avLst/>
          </a:prstGeom>
        </p:spPr>
      </p:pic>
      <p:pic>
        <p:nvPicPr>
          <p:cNvPr id="4" name="Billed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99" y="3647762"/>
            <a:ext cx="4308551" cy="166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20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 fra RCT</a:t>
            </a:r>
            <a:endParaRPr dirty="0"/>
          </a:p>
        </p:txBody>
      </p:sp>
      <p:pic>
        <p:nvPicPr>
          <p:cNvPr id="3" name="Bille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42" y="1557193"/>
            <a:ext cx="7821116" cy="2067213"/>
          </a:xfrm>
          <a:prstGeom prst="rect">
            <a:avLst/>
          </a:prstGeom>
        </p:spPr>
      </p:pic>
      <p:pic>
        <p:nvPicPr>
          <p:cNvPr id="9" name="Billed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42" y="4295688"/>
            <a:ext cx="6906589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44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 fra RCT</a:t>
            </a:r>
            <a:endParaRPr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da-DK" dirty="0"/>
              <a:t>Effektmodifikation kan også forekomme i stærke designs</a:t>
            </a:r>
          </a:p>
          <a:p>
            <a:endParaRPr lang="da-DK" dirty="0"/>
          </a:p>
          <a:p>
            <a:r>
              <a:rPr lang="da-DK" dirty="0" err="1"/>
              <a:t>Digoxin</a:t>
            </a:r>
            <a:r>
              <a:rPr lang="da-DK" dirty="0"/>
              <a:t> havde ikke en effekt på mortalitet overordnet</a:t>
            </a:r>
          </a:p>
          <a:p>
            <a:endParaRPr lang="da-DK" dirty="0"/>
          </a:p>
          <a:p>
            <a:r>
              <a:rPr lang="da-DK" dirty="0"/>
              <a:t>Men kvinder var i øget risiko for at dø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328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Klinisk betydning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Effektmodifikation</a:t>
            </a:r>
            <a:r>
              <a:rPr dirty="0"/>
              <a:t> </a:t>
            </a:r>
            <a:r>
              <a:rPr dirty="0" err="1"/>
              <a:t>kan</a:t>
            </a:r>
            <a:r>
              <a:rPr dirty="0"/>
              <a:t> </a:t>
            </a:r>
            <a:r>
              <a:rPr dirty="0" err="1"/>
              <a:t>ændre</a:t>
            </a:r>
            <a:r>
              <a:rPr dirty="0"/>
              <a:t> </a:t>
            </a:r>
            <a:r>
              <a:rPr dirty="0" err="1"/>
              <a:t>behandlingsvalg</a:t>
            </a:r>
            <a:endParaRPr lang="da-DK" dirty="0"/>
          </a:p>
          <a:p>
            <a:endParaRPr dirty="0"/>
          </a:p>
          <a:p>
            <a:r>
              <a:rPr lang="da-DK" dirty="0"/>
              <a:t>Kan understøtte</a:t>
            </a:r>
            <a:r>
              <a:rPr dirty="0"/>
              <a:t> </a:t>
            </a:r>
            <a:r>
              <a:rPr lang="da-DK" dirty="0"/>
              <a:t>personlig medicin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Folkesundhed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da-DK" dirty="0"/>
              <a:t>Effekten kan variere i forskellige populationer</a:t>
            </a:r>
          </a:p>
          <a:p>
            <a:pPr marL="0" indent="0">
              <a:buNone/>
            </a:pPr>
            <a:endParaRPr lang="da-DK" dirty="0"/>
          </a:p>
          <a:p>
            <a:r>
              <a:rPr dirty="0" err="1"/>
              <a:t>Forebyggelse</a:t>
            </a:r>
            <a:r>
              <a:rPr dirty="0"/>
              <a:t> </a:t>
            </a:r>
            <a:r>
              <a:rPr dirty="0" err="1"/>
              <a:t>målrettet</a:t>
            </a:r>
            <a:r>
              <a:rPr dirty="0"/>
              <a:t> </a:t>
            </a:r>
            <a:r>
              <a:rPr dirty="0" err="1"/>
              <a:t>risikogrupper</a:t>
            </a:r>
            <a:endParaRPr lang="da-DK" dirty="0"/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Opsummering af klinisk relevans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Effektmodifikation</a:t>
            </a:r>
            <a:r>
              <a:rPr dirty="0"/>
              <a:t> </a:t>
            </a:r>
            <a:r>
              <a:rPr lang="da-DK" dirty="0"/>
              <a:t>kan vejlede </a:t>
            </a:r>
            <a:r>
              <a:rPr dirty="0" err="1"/>
              <a:t>til</a:t>
            </a:r>
            <a:r>
              <a:rPr dirty="0"/>
              <a:t> </a:t>
            </a:r>
            <a:r>
              <a:rPr dirty="0" err="1"/>
              <a:t>differentieret</a:t>
            </a:r>
            <a:r>
              <a:rPr dirty="0"/>
              <a:t> </a:t>
            </a:r>
            <a:r>
              <a:rPr dirty="0" err="1"/>
              <a:t>behandling</a:t>
            </a:r>
            <a:r>
              <a:rPr lang="da-DK" dirty="0"/>
              <a:t> af individ og grupper</a:t>
            </a:r>
          </a:p>
          <a:p>
            <a:endParaRPr dirty="0"/>
          </a:p>
          <a:p>
            <a:r>
              <a:rPr dirty="0" err="1"/>
              <a:t>Kan</a:t>
            </a:r>
            <a:r>
              <a:rPr dirty="0"/>
              <a:t> </a:t>
            </a:r>
            <a:r>
              <a:rPr dirty="0" err="1"/>
              <a:t>forhindre</a:t>
            </a:r>
            <a:r>
              <a:rPr dirty="0"/>
              <a:t> </a:t>
            </a:r>
            <a:r>
              <a:rPr dirty="0" err="1"/>
              <a:t>skadelig</a:t>
            </a:r>
            <a:r>
              <a:rPr dirty="0"/>
              <a:t> </a:t>
            </a:r>
            <a:r>
              <a:rPr dirty="0" err="1"/>
              <a:t>behandling</a:t>
            </a:r>
            <a:r>
              <a:rPr dirty="0"/>
              <a:t> hos </a:t>
            </a:r>
            <a:r>
              <a:rPr dirty="0" err="1"/>
              <a:t>subgrupper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Afslutning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Effektmodifikation</a:t>
            </a:r>
            <a:r>
              <a:rPr dirty="0"/>
              <a:t> </a:t>
            </a:r>
            <a:r>
              <a:rPr dirty="0" err="1"/>
              <a:t>hjælper</a:t>
            </a:r>
            <a:r>
              <a:rPr dirty="0"/>
              <a:t> med at </a:t>
            </a:r>
            <a:r>
              <a:rPr dirty="0" err="1"/>
              <a:t>forstå</a:t>
            </a:r>
            <a:r>
              <a:rPr dirty="0"/>
              <a:t>, </a:t>
            </a:r>
            <a:r>
              <a:rPr dirty="0" err="1"/>
              <a:t>hvem</a:t>
            </a:r>
            <a:r>
              <a:rPr dirty="0"/>
              <a:t> der </a:t>
            </a:r>
            <a:r>
              <a:rPr dirty="0" err="1"/>
              <a:t>har</a:t>
            </a:r>
            <a:r>
              <a:rPr dirty="0"/>
              <a:t> </a:t>
            </a:r>
            <a:r>
              <a:rPr dirty="0" err="1"/>
              <a:t>gavn</a:t>
            </a:r>
            <a:r>
              <a:rPr dirty="0"/>
              <a:t> </a:t>
            </a:r>
            <a:r>
              <a:rPr dirty="0" err="1"/>
              <a:t>eller</a:t>
            </a:r>
            <a:r>
              <a:rPr dirty="0"/>
              <a:t> </a:t>
            </a:r>
            <a:r>
              <a:rPr dirty="0" err="1"/>
              <a:t>skade</a:t>
            </a:r>
            <a:r>
              <a:rPr dirty="0"/>
              <a:t> </a:t>
            </a:r>
            <a:r>
              <a:rPr dirty="0" err="1"/>
              <a:t>af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behandling</a:t>
            </a:r>
            <a:endParaRPr lang="da-DK" dirty="0"/>
          </a:p>
          <a:p>
            <a:endParaRPr dirty="0"/>
          </a:p>
          <a:p>
            <a:r>
              <a:rPr dirty="0" err="1"/>
              <a:t>Centralt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både</a:t>
            </a:r>
            <a:r>
              <a:rPr dirty="0"/>
              <a:t> </a:t>
            </a:r>
            <a:r>
              <a:rPr dirty="0" err="1"/>
              <a:t>klinisk</a:t>
            </a:r>
            <a:r>
              <a:rPr dirty="0"/>
              <a:t> </a:t>
            </a:r>
            <a:r>
              <a:rPr dirty="0" err="1"/>
              <a:t>forskning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epidemiologi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407199"/>
          </a:xfrm>
        </p:spPr>
        <p:txBody>
          <a:bodyPr anchor="ctr">
            <a:normAutofit/>
          </a:bodyPr>
          <a:lstStyle/>
          <a:p>
            <a:r>
              <a:rPr lang="da-DK" dirty="0"/>
              <a:t>Lære at identificere potentielle </a:t>
            </a:r>
            <a:r>
              <a:rPr lang="da-DK" dirty="0" err="1"/>
              <a:t>effektmodifikatorer</a:t>
            </a:r>
            <a:endParaRPr lang="da-DK" dirty="0"/>
          </a:p>
        </p:txBody>
      </p:sp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445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Kende litteraturen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Biologisk plausibilitet</a:t>
            </a:r>
          </a:p>
          <a:p>
            <a:pPr marL="0" indent="0">
              <a:buNone/>
            </a:pPr>
            <a:endParaRPr lang="da-DK" dirty="0"/>
          </a:p>
          <a:p>
            <a:r>
              <a:rPr lang="da-DK" dirty="0"/>
              <a:t>Når samlet estimat virker misvisende</a:t>
            </a:r>
          </a:p>
          <a:p>
            <a:endParaRPr lang="da-DK" dirty="0"/>
          </a:p>
          <a:p>
            <a:r>
              <a:rPr lang="da-DK" dirty="0"/>
              <a:t>Tidligere litteratur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940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Sammenlign stratificerede estimater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Hvis der er effektmodifikation, vil de stratificerede estimater være forskellige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84941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Test for interaktion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Det har Sören nok vist jer tidligere</a:t>
            </a:r>
          </a:p>
          <a:p>
            <a:endParaRPr lang="da-DK" dirty="0"/>
          </a:p>
          <a:p>
            <a:r>
              <a:rPr lang="da-DK" dirty="0"/>
              <a:t>En statistisk test for effektmodifikation både i forhold til signifikans og størrelse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8153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3F040-11BD-687A-EBDD-5CAB95F73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5F7F-87E6-DC75-6E25-C738B66F1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Typer af effektmodifikation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8A824-1906-7352-6B8C-6DEB89012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Additiv effektmodifikation</a:t>
            </a:r>
          </a:p>
          <a:p>
            <a:r>
              <a:rPr lang="da-DK" dirty="0" err="1"/>
              <a:t>Multiplikativ</a:t>
            </a:r>
            <a:r>
              <a:rPr lang="da-DK" dirty="0"/>
              <a:t> effektmodifikation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7417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1A1F5-4C0C-6861-298D-5FE7F6840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F8381-8FDC-385A-3D02-192FE43E4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Additiv effektmodifikation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6F2EA-3FA0-CBA2-E9D8-83FD1404F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  <a:p>
            <a:endParaRPr lang="da-DK" dirty="0"/>
          </a:p>
          <a:p>
            <a:pPr marL="0" indent="0">
              <a:buNone/>
            </a:pPr>
            <a:r>
              <a:rPr lang="da-DK" dirty="0"/>
              <a:t>p</a:t>
            </a:r>
            <a:r>
              <a:rPr lang="da-DK" baseline="-25000" dirty="0"/>
              <a:t>00</a:t>
            </a:r>
            <a:r>
              <a:rPr lang="da-DK" dirty="0"/>
              <a:t> = 0.0011 (ingen rygning, ingen asbest)</a:t>
            </a:r>
          </a:p>
          <a:p>
            <a:pPr marL="0" indent="0">
              <a:buNone/>
            </a:pPr>
            <a:r>
              <a:rPr lang="da-DK" dirty="0"/>
              <a:t>p</a:t>
            </a:r>
            <a:r>
              <a:rPr lang="da-DK" baseline="-25000" dirty="0"/>
              <a:t>10</a:t>
            </a:r>
            <a:r>
              <a:rPr lang="da-DK" dirty="0"/>
              <a:t> = 0.0095 (rygning, ingen asbest)</a:t>
            </a:r>
          </a:p>
          <a:p>
            <a:pPr marL="0" indent="0">
              <a:buNone/>
            </a:pPr>
            <a:r>
              <a:rPr lang="da-DK" dirty="0"/>
              <a:t>p</a:t>
            </a:r>
            <a:r>
              <a:rPr lang="da-DK" baseline="-25000" dirty="0"/>
              <a:t>01</a:t>
            </a:r>
            <a:r>
              <a:rPr lang="da-DK" dirty="0"/>
              <a:t> = 0.0067 (asbest, ingen rygning)</a:t>
            </a:r>
          </a:p>
          <a:p>
            <a:pPr marL="0" indent="0">
              <a:buNone/>
            </a:pPr>
            <a:r>
              <a:rPr lang="da-DK" dirty="0"/>
              <a:t>p</a:t>
            </a:r>
            <a:r>
              <a:rPr lang="da-DK" baseline="-25000" dirty="0"/>
              <a:t>11</a:t>
            </a:r>
            <a:r>
              <a:rPr lang="da-DK" dirty="0"/>
              <a:t> = 0.0450 (begge eksponeringer)</a:t>
            </a:r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32D96F92-4CDD-57D5-B84C-158C1481B0A0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394521"/>
          <a:ext cx="8229600" cy="10972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7513718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6548468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05082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a-DK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Ingen asbest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Asbest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575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Ikke-ryger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0.0011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0.0067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943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Ryger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0.0095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0.0450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953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3358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88B1D-CCA4-D5AD-77BD-5FFAC847F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DA657-D55E-486C-1A1E-A87988968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Additiv effektmodifikation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DFC2-5488-DF5D-6F07-3831A43F7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  <a:p>
            <a:endParaRPr lang="da-DK" dirty="0"/>
          </a:p>
          <a:p>
            <a:r>
              <a:rPr lang="da-DK" dirty="0"/>
              <a:t>Ingen additiv effektmodifikation: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a-DK" dirty="0"/>
              <a:t>p</a:t>
            </a:r>
            <a:r>
              <a:rPr lang="da-DK" baseline="-25000" dirty="0"/>
              <a:t>11</a:t>
            </a:r>
            <a:r>
              <a:rPr lang="da-DK" dirty="0"/>
              <a:t> = p</a:t>
            </a:r>
            <a:r>
              <a:rPr lang="da-DK" baseline="-25000" dirty="0"/>
              <a:t>00</a:t>
            </a:r>
            <a:r>
              <a:rPr lang="da-DK" dirty="0"/>
              <a:t>​ + (p</a:t>
            </a:r>
            <a:r>
              <a:rPr lang="da-DK" baseline="-25000" dirty="0"/>
              <a:t>10</a:t>
            </a:r>
            <a:r>
              <a:rPr lang="da-DK" dirty="0"/>
              <a:t>​ − p</a:t>
            </a:r>
            <a:r>
              <a:rPr lang="da-DK" baseline="-25000" dirty="0"/>
              <a:t>00</a:t>
            </a:r>
            <a:r>
              <a:rPr lang="da-DK" dirty="0"/>
              <a:t>​) + (p</a:t>
            </a:r>
            <a:r>
              <a:rPr lang="da-DK" baseline="-25000" dirty="0"/>
              <a:t>01</a:t>
            </a:r>
            <a:r>
              <a:rPr lang="da-DK" dirty="0"/>
              <a:t>​ − p</a:t>
            </a:r>
            <a:r>
              <a:rPr lang="da-DK" baseline="-25000" dirty="0"/>
              <a:t>00</a:t>
            </a:r>
            <a:r>
              <a:rPr lang="da-DK" dirty="0"/>
              <a:t>​)</a:t>
            </a:r>
          </a:p>
          <a:p>
            <a:r>
              <a:rPr lang="sv-SE" dirty="0"/>
              <a:t>Positiv additiv effektmodifikation: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v-SE" dirty="0"/>
              <a:t>p</a:t>
            </a:r>
            <a:r>
              <a:rPr lang="sv-SE" baseline="-25000" dirty="0"/>
              <a:t>11</a:t>
            </a:r>
            <a:r>
              <a:rPr lang="sv-SE" dirty="0"/>
              <a:t> &gt; p</a:t>
            </a:r>
            <a:r>
              <a:rPr lang="sv-SE" baseline="-25000" dirty="0"/>
              <a:t>00</a:t>
            </a:r>
            <a:r>
              <a:rPr lang="sv-SE" dirty="0"/>
              <a:t>​ + (p</a:t>
            </a:r>
            <a:r>
              <a:rPr lang="sv-SE" baseline="-25000" dirty="0"/>
              <a:t>10</a:t>
            </a:r>
            <a:r>
              <a:rPr lang="sv-SE" dirty="0"/>
              <a:t>​ − p</a:t>
            </a:r>
            <a:r>
              <a:rPr lang="sv-SE" baseline="-25000" dirty="0"/>
              <a:t>00</a:t>
            </a:r>
            <a:r>
              <a:rPr lang="sv-SE" dirty="0"/>
              <a:t>​) + (p</a:t>
            </a:r>
            <a:r>
              <a:rPr lang="sv-SE" baseline="-25000" dirty="0"/>
              <a:t>01</a:t>
            </a:r>
            <a:r>
              <a:rPr lang="sv-SE" dirty="0"/>
              <a:t>​ − p</a:t>
            </a:r>
            <a:r>
              <a:rPr lang="sv-SE" baseline="-25000" dirty="0"/>
              <a:t>00</a:t>
            </a:r>
            <a:r>
              <a:rPr lang="sv-SE" dirty="0"/>
              <a:t>​)</a:t>
            </a:r>
          </a:p>
          <a:p>
            <a:r>
              <a:rPr lang="sv-SE" dirty="0"/>
              <a:t>Negativ additiv effektmodifikation: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v-SE" dirty="0"/>
              <a:t>p</a:t>
            </a:r>
            <a:r>
              <a:rPr lang="sv-SE" baseline="-25000" dirty="0"/>
              <a:t>11</a:t>
            </a:r>
            <a:r>
              <a:rPr lang="sv-SE" dirty="0"/>
              <a:t> &lt; p</a:t>
            </a:r>
            <a:r>
              <a:rPr lang="sv-SE" baseline="-25000" dirty="0"/>
              <a:t>00</a:t>
            </a:r>
            <a:r>
              <a:rPr lang="sv-SE" dirty="0"/>
              <a:t>​ + (p</a:t>
            </a:r>
            <a:r>
              <a:rPr lang="sv-SE" baseline="-25000" dirty="0"/>
              <a:t>10</a:t>
            </a:r>
            <a:r>
              <a:rPr lang="sv-SE" dirty="0"/>
              <a:t>​ − p</a:t>
            </a:r>
            <a:r>
              <a:rPr lang="sv-SE" baseline="-25000" dirty="0"/>
              <a:t>00</a:t>
            </a:r>
            <a:r>
              <a:rPr lang="sv-SE" dirty="0"/>
              <a:t>​) + (p</a:t>
            </a:r>
            <a:r>
              <a:rPr lang="sv-SE" baseline="-25000" dirty="0"/>
              <a:t>01</a:t>
            </a:r>
            <a:r>
              <a:rPr lang="sv-SE" dirty="0"/>
              <a:t>​ − p</a:t>
            </a:r>
            <a:r>
              <a:rPr lang="sv-SE" baseline="-25000" dirty="0"/>
              <a:t>00</a:t>
            </a:r>
            <a:r>
              <a:rPr lang="sv-SE" dirty="0"/>
              <a:t>​)</a:t>
            </a:r>
          </a:p>
          <a:p>
            <a:pPr lvl="1">
              <a:buFont typeface="Arial" panose="020B0604020202020204" pitchFamily="34" charset="0"/>
              <a:buChar char="•"/>
            </a:pPr>
            <a:endParaRPr dirty="0"/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052EBC8E-BD6C-BFDE-C80D-39747B755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092810"/>
              </p:ext>
            </p:extLst>
          </p:nvPr>
        </p:nvGraphicFramePr>
        <p:xfrm>
          <a:off x="457200" y="1394521"/>
          <a:ext cx="8229600" cy="10972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7513718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6548468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05082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a-DK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Ingen asbest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Asbest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575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Ikke-ryger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0.0011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0.0067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943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Ryger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0.0095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0.0450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953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06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9B518-6BD3-9505-396C-E023118D4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E5740-83F7-EE86-1B7B-547A0B101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Additiv effektmodifikation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72AD-7989-00BC-67B3-7E9CDA9AC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da-DK" dirty="0"/>
          </a:p>
          <a:p>
            <a:pPr marL="457200" lvl="1" indent="0">
              <a:buNone/>
            </a:pPr>
            <a:endParaRPr lang="da-DK" dirty="0"/>
          </a:p>
          <a:p>
            <a:pPr marL="457200" lvl="1" indent="0">
              <a:buNone/>
            </a:pPr>
            <a:endParaRPr lang="da-DK" sz="2400" dirty="0"/>
          </a:p>
          <a:p>
            <a:pPr marL="457200" lvl="1" indent="0">
              <a:buNone/>
            </a:pPr>
            <a:r>
              <a:rPr lang="da-DK" sz="2400" dirty="0"/>
              <a:t>0.0011 ​+ (0.0095 – 0.0011​)  + (0.0067 – 0.0011​) = 0.0151</a:t>
            </a:r>
          </a:p>
          <a:p>
            <a:pPr marL="457200" lvl="1" indent="0">
              <a:buNone/>
            </a:pPr>
            <a:endParaRPr lang="da-DK" sz="2400" dirty="0"/>
          </a:p>
          <a:p>
            <a:pPr marL="457200" lvl="1" indent="0">
              <a:buNone/>
            </a:pPr>
            <a:r>
              <a:rPr lang="da-DK" sz="2400" b="1" dirty="0"/>
              <a:t>0.0450 &gt; 0.0151 → positiv additiv effektmodifikation</a:t>
            </a:r>
          </a:p>
          <a:p>
            <a:pPr marL="457200" lvl="1" indent="0">
              <a:buNone/>
            </a:pPr>
            <a:endParaRPr lang="da-DK" sz="2400" b="1" i="1" dirty="0"/>
          </a:p>
          <a:p>
            <a:pPr marL="457200" lvl="1" indent="0">
              <a:buNone/>
            </a:pPr>
            <a:r>
              <a:rPr lang="da-DK" sz="2400" b="1" i="1" dirty="0"/>
              <a:t>altså, effekten af asbest og rygning sammen er større end effekterne af rygning og asbest hver for sig</a:t>
            </a:r>
          </a:p>
          <a:p>
            <a:pPr marL="457200" lvl="1" indent="0">
              <a:buNone/>
            </a:pPr>
            <a:endParaRPr b="1" dirty="0"/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39BBDBBF-4222-E4EF-0165-5C5D6D6F3EBA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394521"/>
          <a:ext cx="8229600" cy="10972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7513718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6548468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05082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a-DK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Ingen asbest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Asbest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575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Ikke-ryger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0.0011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0.0067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943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Ryger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0.0095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0.0450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953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409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1915B-6EF6-8A1C-617B-F59826572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DF86-F8A5-AF7E-EA21-699558ACD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Multiplikativ</a:t>
            </a:r>
            <a:r>
              <a:rPr lang="da-DK" dirty="0"/>
              <a:t> effektmodifikation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D595D-2545-C8A5-52BE-40E146DC5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  <a:p>
            <a:endParaRPr lang="da-DK" dirty="0"/>
          </a:p>
          <a:p>
            <a:pPr marL="0" indent="0">
              <a:buNone/>
            </a:pPr>
            <a:r>
              <a:rPr lang="da-DK" dirty="0"/>
              <a:t>p</a:t>
            </a:r>
            <a:r>
              <a:rPr lang="da-DK" baseline="-25000" dirty="0"/>
              <a:t>00</a:t>
            </a:r>
            <a:r>
              <a:rPr lang="da-DK" dirty="0"/>
              <a:t> = 0.0011 (ingen rygning, ingen asbest)</a:t>
            </a:r>
          </a:p>
          <a:p>
            <a:pPr marL="0" indent="0">
              <a:buNone/>
            </a:pPr>
            <a:r>
              <a:rPr lang="da-DK" dirty="0"/>
              <a:t>p</a:t>
            </a:r>
            <a:r>
              <a:rPr lang="da-DK" baseline="-25000" dirty="0"/>
              <a:t>10</a:t>
            </a:r>
            <a:r>
              <a:rPr lang="da-DK" dirty="0"/>
              <a:t> = 0.0095 (rygning, ingen asbest)</a:t>
            </a:r>
          </a:p>
          <a:p>
            <a:pPr marL="0" indent="0">
              <a:buNone/>
            </a:pPr>
            <a:r>
              <a:rPr lang="da-DK" dirty="0"/>
              <a:t>p</a:t>
            </a:r>
            <a:r>
              <a:rPr lang="da-DK" baseline="-25000" dirty="0"/>
              <a:t>01</a:t>
            </a:r>
            <a:r>
              <a:rPr lang="da-DK" dirty="0"/>
              <a:t> = 0.0067 (asbest, ingen rygning)</a:t>
            </a:r>
          </a:p>
          <a:p>
            <a:pPr marL="0" indent="0">
              <a:buNone/>
            </a:pPr>
            <a:r>
              <a:rPr lang="da-DK" dirty="0"/>
              <a:t>p</a:t>
            </a:r>
            <a:r>
              <a:rPr lang="da-DK" baseline="-25000" dirty="0"/>
              <a:t>11</a:t>
            </a:r>
            <a:r>
              <a:rPr lang="da-DK" dirty="0"/>
              <a:t> = 0.0450 (begge eksponeringer)</a:t>
            </a:r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438A4CC3-803D-3CF8-A6AB-B434E5CDA6AC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394521"/>
          <a:ext cx="8229600" cy="10972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7513718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6548468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05082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a-DK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Ingen asbest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Asbest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575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Ikke-ryger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0.0011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0.0067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943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Ryger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0.0095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0.0450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953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0662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382C3-6E83-88A6-7811-7D027A551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F88A9-1D88-AF02-A826-BAC33F0BC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Multiplikativ</a:t>
            </a:r>
            <a:r>
              <a:rPr lang="da-DK" dirty="0"/>
              <a:t> effektmodifikation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1B8A3-61A0-4679-42C6-AFF86BE32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  <a:p>
            <a:endParaRPr lang="da-DK" dirty="0"/>
          </a:p>
          <a:p>
            <a:pPr marL="0" indent="0">
              <a:buNone/>
            </a:pPr>
            <a:r>
              <a:rPr lang="da-DK" sz="2800" dirty="0"/>
              <a:t>RR</a:t>
            </a:r>
            <a:r>
              <a:rPr lang="da-DK" sz="2800" baseline="-25000" dirty="0"/>
              <a:t>10</a:t>
            </a:r>
            <a:r>
              <a:rPr lang="da-DK" sz="2800" dirty="0"/>
              <a:t> ​= 0.0095 / 0.0011 = 8.6 (rygning, ingen asbest)</a:t>
            </a:r>
          </a:p>
          <a:p>
            <a:pPr marL="0" indent="0">
              <a:buNone/>
            </a:pPr>
            <a:r>
              <a:rPr lang="da-DK" sz="2800" dirty="0"/>
              <a:t>RR</a:t>
            </a:r>
            <a:r>
              <a:rPr lang="da-DK" sz="2800" baseline="-25000" dirty="0"/>
              <a:t>01</a:t>
            </a:r>
            <a:r>
              <a:rPr lang="da-DK" sz="2800" dirty="0"/>
              <a:t>​ = 0.0067 / 0.0011 = 6.1 (asbest, ingen rygning)</a:t>
            </a:r>
          </a:p>
          <a:p>
            <a:pPr marL="0" indent="0">
              <a:buNone/>
            </a:pPr>
            <a:r>
              <a:rPr lang="da-DK" sz="2800" dirty="0"/>
              <a:t>RR</a:t>
            </a:r>
            <a:r>
              <a:rPr lang="da-DK" sz="2800" baseline="-25000" dirty="0"/>
              <a:t>11</a:t>
            </a:r>
            <a:r>
              <a:rPr lang="da-DK" sz="2800" dirty="0"/>
              <a:t> ​= 0.0450 / 0.0011 = 40.9 (begge eksponeringer)</a:t>
            </a:r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9FC0E9D8-C40A-261E-4E74-80520DA3B22D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394521"/>
          <a:ext cx="8229600" cy="10972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7513718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6548468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05082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a-DK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Ingen asbest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Asbest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575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Ikke-ryger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0.0011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0.0067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943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Ryger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0.0095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0.0450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953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5472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90022-12DD-E573-374C-4832B214D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7612A-067B-D8EE-7AF2-CCAC4F589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Multiplikativ</a:t>
            </a:r>
            <a:r>
              <a:rPr lang="da-DK" dirty="0"/>
              <a:t> effektmodifikation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472A20-4D6D-2040-03A2-47B27A0332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endParaRPr lang="da-DK" dirty="0"/>
              </a:p>
              <a:p>
                <a:endParaRPr lang="da-DK" dirty="0"/>
              </a:p>
              <a:p>
                <a:r>
                  <a:rPr lang="da-DK" dirty="0"/>
                  <a:t>Ingen </a:t>
                </a:r>
                <a:r>
                  <a:rPr lang="da-DK" dirty="0" err="1"/>
                  <a:t>multiplikativ</a:t>
                </a:r>
                <a:r>
                  <a:rPr lang="da-DK" dirty="0"/>
                  <a:t> effektmodifikation: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a-DK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a-DK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01</m:t>
                            </m:r>
                          </m:sub>
                        </m:sSub>
                      </m:den>
                    </m:f>
                  </m:oMath>
                </a14:m>
                <a:r>
                  <a:rPr lang="da-DK" dirty="0"/>
                  <a:t> = 1</a:t>
                </a:r>
              </a:p>
              <a:p>
                <a:r>
                  <a:rPr lang="sv-SE" dirty="0"/>
                  <a:t>Positiv </a:t>
                </a:r>
                <a:r>
                  <a:rPr lang="da-DK" dirty="0" err="1"/>
                  <a:t>multiplikativ</a:t>
                </a:r>
                <a:r>
                  <a:rPr lang="sv-SE" dirty="0"/>
                  <a:t> effektmodifikation: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r>
                          <a:rPr lang="da-DK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</m:t>
                        </m:r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01</m:t>
                            </m:r>
                          </m:sub>
                        </m:sSub>
                      </m:den>
                    </m:f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v-SE" dirty="0"/>
                  <a:t>&gt; 1</a:t>
                </a:r>
              </a:p>
              <a:p>
                <a:r>
                  <a:rPr lang="sv-SE" dirty="0"/>
                  <a:t>Negativ </a:t>
                </a:r>
                <a:r>
                  <a:rPr lang="da-DK" dirty="0" err="1"/>
                  <a:t>multiplikativ</a:t>
                </a:r>
                <a:r>
                  <a:rPr lang="sv-SE" dirty="0"/>
                  <a:t> effektmodifikation: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r>
                          <a:rPr lang="da-DK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</m:t>
                        </m:r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01</m:t>
                            </m:r>
                          </m:sub>
                        </m:sSub>
                      </m:den>
                    </m:f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v-SE" dirty="0"/>
                  <a:t> &lt; 1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472A20-4D6D-2040-03A2-47B27A0332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8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525131B2-2474-368F-AA7D-71E3D77AB981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394521"/>
          <a:ext cx="8229600" cy="10972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7513718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6548468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05082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a-DK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Ingen asbest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Asbest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575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Ikke-ryger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0.0011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0.0067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943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Ryger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0.0095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0.0450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953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81891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C165A-06A6-3FE2-5339-8A81426F2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A01C-2553-439C-EAEC-E5FBC4280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Multiplikativ</a:t>
            </a:r>
            <a:r>
              <a:rPr lang="da-DK" dirty="0"/>
              <a:t> effektmodifikation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4D194F-E841-8057-8683-513D4B7D2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da-DK" dirty="0"/>
              </a:p>
              <a:p>
                <a:pPr marL="457200" lvl="1" indent="0">
                  <a:buNone/>
                </a:pPr>
                <a:endParaRPr lang="da-DK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0.9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8.6 </m:t>
                        </m:r>
                        <m:r>
                          <a:rPr lang="da-DK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6.1</m:t>
                        </m:r>
                      </m:den>
                    </m:f>
                  </m:oMath>
                </a14:m>
                <a:r>
                  <a:rPr lang="da-DK" dirty="0"/>
                  <a:t> = 0.78 </a:t>
                </a:r>
              </a:p>
              <a:p>
                <a:pPr marL="457200" lvl="1" indent="0">
                  <a:buNone/>
                </a:pPr>
                <a:endParaRPr lang="da-DK" dirty="0"/>
              </a:p>
              <a:p>
                <a:pPr marL="457200" lvl="1" indent="0">
                  <a:buNone/>
                </a:pPr>
                <a:r>
                  <a:rPr lang="da-DK" b="1" dirty="0"/>
                  <a:t>0.78 &lt; 1 → negativ </a:t>
                </a:r>
                <a:r>
                  <a:rPr lang="da-DK" b="1" dirty="0" err="1"/>
                  <a:t>multiplikativ</a:t>
                </a:r>
                <a:r>
                  <a:rPr lang="da-DK" b="1" dirty="0"/>
                  <a:t> effektmodifikation</a:t>
                </a:r>
              </a:p>
              <a:p>
                <a:pPr marL="457200" lvl="1" indent="0">
                  <a:buNone/>
                </a:pPr>
                <a:endParaRPr lang="da-DK" dirty="0"/>
              </a:p>
              <a:p>
                <a:pPr marL="457200" lvl="1" indent="0">
                  <a:buNone/>
                </a:pPr>
                <a:r>
                  <a:rPr lang="da-DK" dirty="0"/>
                  <a:t>Den fælles effekt er </a:t>
                </a:r>
                <a:r>
                  <a:rPr lang="da-DK" b="1" dirty="0"/>
                  <a:t>mindre end produktet</a:t>
                </a:r>
                <a:r>
                  <a:rPr lang="da-DK" dirty="0"/>
                  <a:t> af de to separate effekter.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4D194F-E841-8057-8683-513D4B7D2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r="-14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36FA1C78-3091-03A1-36F1-BEC947F09F5C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394521"/>
          <a:ext cx="8229600" cy="10972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7513718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6548468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05082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a-DK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Ingen asbest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Asbest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575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Ikke-ryger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0.0011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0.0067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943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Ryger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0.0095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0.0450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953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51582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AEF1F-B726-BB76-5FD3-0B8CDC4E9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5C92D-9F77-F299-F30E-9855E6E90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Typer af effektmodifikation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815BC-36FB-0AA9-094B-59862ED0B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Typen af effektmodifikation afhænger af skalaen.</a:t>
            </a:r>
          </a:p>
          <a:p>
            <a:r>
              <a:rPr lang="da-DK" dirty="0"/>
              <a:t>Typisk bruges additiv ved koefficienter og </a:t>
            </a:r>
            <a:r>
              <a:rPr lang="da-DK" dirty="0" err="1"/>
              <a:t>multiplikativ</a:t>
            </a:r>
            <a:r>
              <a:rPr lang="da-DK" dirty="0"/>
              <a:t> ved ratioer (log/</a:t>
            </a:r>
            <a:r>
              <a:rPr lang="da-DK" dirty="0" err="1"/>
              <a:t>logit</a:t>
            </a:r>
            <a:r>
              <a:rPr lang="da-DK" dirty="0"/>
              <a:t> skala)</a:t>
            </a:r>
          </a:p>
          <a:p>
            <a:pPr lvl="1"/>
            <a:r>
              <a:rPr lang="da-DK" dirty="0" err="1"/>
              <a:t>Stata</a:t>
            </a:r>
            <a:r>
              <a:rPr lang="da-DK" dirty="0"/>
              <a:t> eller R </a:t>
            </a:r>
            <a:r>
              <a:rPr lang="da-DK"/>
              <a:t>vælger automatisk for jer</a:t>
            </a:r>
            <a:endParaRPr lang="da-DK" dirty="0"/>
          </a:p>
          <a:p>
            <a:r>
              <a:rPr lang="da-DK" dirty="0"/>
              <a:t>Der kan godt være forskel på additiv og </a:t>
            </a:r>
            <a:r>
              <a:rPr lang="da-DK" dirty="0" err="1"/>
              <a:t>multiplikativ</a:t>
            </a:r>
            <a:r>
              <a:rPr lang="da-DK" dirty="0"/>
              <a:t> effektmodifikation i samme association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2961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407199"/>
          </a:xfrm>
        </p:spPr>
        <p:txBody>
          <a:bodyPr anchor="ctr">
            <a:normAutofit/>
          </a:bodyPr>
          <a:lstStyle/>
          <a:p>
            <a:r>
              <a:rPr lang="da-DK" dirty="0"/>
              <a:t>Kende til metoder til at håndtere effektmodifikation</a:t>
            </a:r>
          </a:p>
        </p:txBody>
      </p:sp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55849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Håndtering af effektmodifikation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Effektmodifikation kan ikke justeres væk</a:t>
            </a:r>
          </a:p>
          <a:p>
            <a:endParaRPr lang="da-DK" dirty="0"/>
          </a:p>
          <a:p>
            <a:r>
              <a:rPr lang="da-DK" dirty="0"/>
              <a:t>Effektmodifikation er et reelt fænomen og ikke en bias → derfor skal det </a:t>
            </a:r>
            <a:r>
              <a:rPr lang="da-DK" dirty="0" err="1"/>
              <a:t>afrapportees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543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Afrapportering ved effektmodifikation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a-DK" dirty="0"/>
              <a:t>Afrapporter stratificerede resultater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Afrapporter resultatet af interaktionsanalysen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0664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Test for interaktion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  <a:p>
            <a:r>
              <a:rPr lang="da-DK" dirty="0"/>
              <a:t>Eksempel i </a:t>
            </a:r>
            <a:r>
              <a:rPr lang="da-DK" dirty="0" err="1"/>
              <a:t>Stata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73215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407199"/>
          </a:xfrm>
        </p:spPr>
        <p:txBody>
          <a:bodyPr anchor="ctr">
            <a:normAutofit/>
          </a:bodyPr>
          <a:lstStyle/>
          <a:p>
            <a:r>
              <a:rPr lang="da-DK" dirty="0"/>
              <a:t>Differentiere mellem </a:t>
            </a:r>
            <a:r>
              <a:rPr lang="da-DK" dirty="0" err="1"/>
              <a:t>confounding</a:t>
            </a:r>
            <a:r>
              <a:rPr lang="da-DK" dirty="0"/>
              <a:t>, </a:t>
            </a:r>
            <a:r>
              <a:rPr lang="da-DK" dirty="0" err="1"/>
              <a:t>mediation</a:t>
            </a:r>
            <a:r>
              <a:rPr lang="da-DK" dirty="0"/>
              <a:t> og effektmodifikation</a:t>
            </a:r>
          </a:p>
        </p:txBody>
      </p:sp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64825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/>
              <a:t>Confounding</a:t>
            </a:r>
            <a:endParaRPr lang="da-DK" b="1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da-DK" b="1" dirty="0"/>
              <a:t>Problem i design/analysen</a:t>
            </a:r>
            <a:r>
              <a:rPr lang="da-DK" dirty="0"/>
              <a:t> → En tredje faktor forvrænger den sande sammenhæng mellem eksponering og udfald.</a:t>
            </a:r>
          </a:p>
          <a:p>
            <a:endParaRPr lang="da-DK" dirty="0"/>
          </a:p>
          <a:p>
            <a:r>
              <a:rPr lang="da-DK" dirty="0"/>
              <a:t>Fx: Rygning får det til at se ud som om kaffe giver højere risiko for infarkt, men i virkeligheden skyldes en del af risikoen, at kaffedrikkere oftere ryger.</a:t>
            </a:r>
          </a:p>
          <a:p>
            <a:endParaRPr lang="da-DK" dirty="0"/>
          </a:p>
          <a:p>
            <a:r>
              <a:rPr lang="da-DK" dirty="0"/>
              <a:t>OBS: En </a:t>
            </a:r>
            <a:r>
              <a:rPr lang="da-DK" dirty="0" err="1"/>
              <a:t>confounder</a:t>
            </a:r>
            <a:r>
              <a:rPr lang="da-DK" dirty="0"/>
              <a:t> i et studie er måske ikke en </a:t>
            </a:r>
            <a:r>
              <a:rPr lang="da-DK" dirty="0" err="1"/>
              <a:t>confounder</a:t>
            </a:r>
            <a:r>
              <a:rPr lang="da-DK" dirty="0"/>
              <a:t> i et andet studie, der undersøger samme sammenhæng.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66627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/>
              <a:t>Mediation</a:t>
            </a:r>
            <a:endParaRPr lang="da-DK" b="1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a-DK" b="1" dirty="0"/>
              <a:t>En mekanisme/forklaringsvej</a:t>
            </a:r>
            <a:r>
              <a:rPr lang="da-DK" dirty="0"/>
              <a:t> → En tredje faktor ligger </a:t>
            </a:r>
            <a:r>
              <a:rPr lang="da-DK" i="1" dirty="0"/>
              <a:t>på kausalvejen</a:t>
            </a:r>
            <a:r>
              <a:rPr lang="da-DK" dirty="0"/>
              <a:t> mellem eksponering og udfald.</a:t>
            </a:r>
          </a:p>
          <a:p>
            <a:endParaRPr lang="da-DK" dirty="0"/>
          </a:p>
          <a:p>
            <a:r>
              <a:rPr lang="da-DK" dirty="0"/>
              <a:t>Eksponeringen påvirker </a:t>
            </a:r>
            <a:r>
              <a:rPr lang="da-DK" dirty="0" err="1"/>
              <a:t>mediator</a:t>
            </a:r>
            <a:r>
              <a:rPr lang="da-DK" dirty="0"/>
              <a:t> → som så påvirker udfaldet.</a:t>
            </a:r>
          </a:p>
          <a:p>
            <a:endParaRPr lang="da-DK" dirty="0"/>
          </a:p>
          <a:p>
            <a:r>
              <a:rPr lang="da-DK" dirty="0"/>
              <a:t>Fx: Hvis kaffe øger blodtrykket, og blodtrykket i sig selv øger risikoen for </a:t>
            </a:r>
            <a:r>
              <a:rPr lang="da-DK" dirty="0" err="1"/>
              <a:t>myokardieinfarkt</a:t>
            </a:r>
            <a:r>
              <a:rPr lang="da-DK" dirty="0"/>
              <a:t>, så er </a:t>
            </a:r>
            <a:r>
              <a:rPr lang="da-DK" b="1" dirty="0"/>
              <a:t>blodtryk en </a:t>
            </a:r>
            <a:r>
              <a:rPr lang="da-DK" b="1" dirty="0" err="1"/>
              <a:t>mediator</a:t>
            </a:r>
            <a:r>
              <a:rPr lang="da-DK" dirty="0"/>
              <a:t> i sammenhængen kaffe → </a:t>
            </a:r>
            <a:r>
              <a:rPr lang="da-DK" dirty="0" err="1"/>
              <a:t>myokardieinfarkt</a:t>
            </a:r>
            <a:r>
              <a:rPr lang="da-DK" dirty="0"/>
              <a:t>.</a:t>
            </a:r>
          </a:p>
          <a:p>
            <a:endParaRPr lang="da-DK" dirty="0"/>
          </a:p>
          <a:p>
            <a:r>
              <a:rPr lang="da-DK" dirty="0"/>
              <a:t>OBS. Ikke studiespecifikt, men afhænger af kausalvejen</a:t>
            </a:r>
          </a:p>
          <a:p>
            <a:pPr lvl="1"/>
            <a:r>
              <a:rPr lang="da-DK" dirty="0"/>
              <a:t>evnen til at påvise og kvantificere </a:t>
            </a:r>
            <a:r>
              <a:rPr lang="da-DK" dirty="0" err="1"/>
              <a:t>mediation</a:t>
            </a:r>
            <a:r>
              <a:rPr lang="da-DK" dirty="0"/>
              <a:t> </a:t>
            </a:r>
            <a:r>
              <a:rPr lang="da-DK" i="1" dirty="0"/>
              <a:t>er studiespecifik</a:t>
            </a:r>
            <a:r>
              <a:rPr lang="da-DK" dirty="0"/>
              <a:t>, fordi det afhænger af måling, studiedesign og analyse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90028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Effektmodifikation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da-DK" b="1" dirty="0"/>
              <a:t>Et reelt biologisk/kausalt fænomen</a:t>
            </a:r>
            <a:r>
              <a:rPr lang="da-DK" dirty="0"/>
              <a:t> → Effekten af eksponeringen varierer afhængigt af en tredje faktor.</a:t>
            </a:r>
          </a:p>
          <a:p>
            <a:endParaRPr lang="da-DK" dirty="0"/>
          </a:p>
          <a:p>
            <a:r>
              <a:rPr lang="da-DK" dirty="0"/>
              <a:t>Fx: Kaffe kan have forskellig effekt på infarktrisiko hos rygere og ikke-rygere.</a:t>
            </a:r>
          </a:p>
          <a:p>
            <a:endParaRPr lang="da-DK" dirty="0"/>
          </a:p>
          <a:p>
            <a:r>
              <a:rPr lang="da-DK" dirty="0"/>
              <a:t>OBS. Mindre studiespecifikt, mere biologisk/kausalt	</a:t>
            </a:r>
          </a:p>
          <a:p>
            <a:pPr lvl="1"/>
            <a:r>
              <a:rPr lang="da-DK" dirty="0"/>
              <a:t>Den kan dog fremstå forskelligt i forskellige studier (fx pga. alder, køn, miljø), men selve fænomenet er “sandt”</a:t>
            </a:r>
          </a:p>
        </p:txBody>
      </p:sp>
    </p:spTree>
    <p:extLst>
      <p:ext uri="{BB962C8B-B14F-4D97-AF65-F5344CB8AC3E}">
        <p14:creationId xmlns:p14="http://schemas.microsoft.com/office/powerpoint/2010/main" val="3642793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Effektmodifikator</a:t>
            </a:r>
            <a:r>
              <a:rPr dirty="0"/>
              <a:t> </a:t>
            </a:r>
            <a:r>
              <a:rPr dirty="0" err="1"/>
              <a:t>Eksempel</a:t>
            </a:r>
            <a:r>
              <a:rPr dirty="0"/>
              <a:t> 1 –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1" dirty="0" err="1"/>
              <a:t>Artikel</a:t>
            </a:r>
            <a:r>
              <a:rPr sz="2400" dirty="0"/>
              <a:t>: </a:t>
            </a:r>
            <a:r>
              <a:rPr lang="en-US" sz="2400" dirty="0" err="1"/>
              <a:t>Brownson</a:t>
            </a:r>
            <a:r>
              <a:rPr lang="en-US" sz="2400" dirty="0"/>
              <a:t> RC, Chang JC, Davis JR. Gender and Histologic Type Variations in Smoking-Related Risk of Lung Cancer. </a:t>
            </a:r>
            <a:r>
              <a:rPr lang="en-US" sz="2400" i="1" dirty="0"/>
              <a:t>Epidemiology. </a:t>
            </a:r>
            <a:r>
              <a:rPr lang="en-US" sz="2400" dirty="0"/>
              <a:t>1992; 3 (1): 61-64.</a:t>
            </a:r>
          </a:p>
          <a:p>
            <a:endParaRPr dirty="0"/>
          </a:p>
          <a:p>
            <a:r>
              <a:rPr b="1" dirty="0" err="1"/>
              <a:t>Eksponering</a:t>
            </a:r>
            <a:r>
              <a:rPr dirty="0"/>
              <a:t>: </a:t>
            </a:r>
            <a:r>
              <a:rPr dirty="0" err="1"/>
              <a:t>Rygning</a:t>
            </a:r>
            <a:r>
              <a:rPr dirty="0"/>
              <a:t> (</a:t>
            </a:r>
            <a:r>
              <a:rPr lang="da-DK" dirty="0"/>
              <a:t>kategorisk</a:t>
            </a:r>
            <a:r>
              <a:rPr dirty="0"/>
              <a:t>)</a:t>
            </a:r>
          </a:p>
          <a:p>
            <a:r>
              <a:rPr b="1" dirty="0"/>
              <a:t>Outcome</a:t>
            </a:r>
            <a:r>
              <a:rPr dirty="0"/>
              <a:t>: </a:t>
            </a:r>
            <a:r>
              <a:rPr dirty="0" err="1"/>
              <a:t>Lungekræft</a:t>
            </a:r>
            <a:r>
              <a:rPr dirty="0"/>
              <a:t> (ja/</a:t>
            </a:r>
            <a:r>
              <a:rPr dirty="0" err="1"/>
              <a:t>nej</a:t>
            </a:r>
            <a:r>
              <a:rPr dirty="0"/>
              <a:t>)</a:t>
            </a:r>
          </a:p>
          <a:p>
            <a:r>
              <a:rPr b="1" dirty="0" err="1"/>
              <a:t>Effektmodifikator</a:t>
            </a:r>
            <a:r>
              <a:rPr dirty="0"/>
              <a:t>: </a:t>
            </a:r>
            <a:r>
              <a:rPr dirty="0" err="1"/>
              <a:t>Køn</a:t>
            </a:r>
            <a:r>
              <a:rPr dirty="0"/>
              <a:t> (</a:t>
            </a:r>
            <a:r>
              <a:rPr dirty="0" err="1"/>
              <a:t>mand</a:t>
            </a:r>
            <a:r>
              <a:rPr dirty="0"/>
              <a:t>/</a:t>
            </a:r>
            <a:r>
              <a:rPr dirty="0" err="1"/>
              <a:t>kvinde</a:t>
            </a:r>
            <a:r>
              <a:rPr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741151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Effektmodifikator</a:t>
            </a:r>
            <a:r>
              <a:rPr dirty="0"/>
              <a:t> </a:t>
            </a:r>
            <a:r>
              <a:rPr dirty="0" err="1"/>
              <a:t>Eksempel</a:t>
            </a:r>
            <a:r>
              <a:rPr dirty="0"/>
              <a:t> 1 – </a:t>
            </a:r>
            <a:r>
              <a:rPr dirty="0" err="1"/>
              <a:t>Resultater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K</a:t>
            </a:r>
            <a:r>
              <a:rPr dirty="0" err="1"/>
              <a:t>vinder</a:t>
            </a:r>
            <a:r>
              <a:rPr lang="da-DK" dirty="0"/>
              <a:t> havde højere odds</a:t>
            </a:r>
            <a:r>
              <a:rPr dirty="0"/>
              <a:t> end </a:t>
            </a:r>
            <a:r>
              <a:rPr dirty="0" err="1"/>
              <a:t>mænd</a:t>
            </a:r>
            <a:r>
              <a:rPr dirty="0"/>
              <a:t>.</a:t>
            </a:r>
            <a:r>
              <a:rPr lang="da-DK" dirty="0"/>
              <a:t> Rygning er farligere for kvinder end mænd målt med lungekræft som </a:t>
            </a:r>
            <a:r>
              <a:rPr lang="da-DK" dirty="0" err="1"/>
              <a:t>outcome</a:t>
            </a:r>
            <a:endParaRPr dirty="0"/>
          </a:p>
        </p:txBody>
      </p:sp>
      <p:pic>
        <p:nvPicPr>
          <p:cNvPr id="4" name="Bille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21" y="2196073"/>
            <a:ext cx="7763958" cy="1667108"/>
          </a:xfrm>
          <a:prstGeom prst="rect">
            <a:avLst/>
          </a:prstGeom>
        </p:spPr>
      </p:pic>
      <p:sp>
        <p:nvSpPr>
          <p:cNvPr id="5" name="Rektangel 4"/>
          <p:cNvSpPr/>
          <p:nvPr/>
        </p:nvSpPr>
        <p:spPr>
          <a:xfrm>
            <a:off x="2382982" y="3131127"/>
            <a:ext cx="1034473" cy="7320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ktangel 5"/>
          <p:cNvSpPr/>
          <p:nvPr/>
        </p:nvSpPr>
        <p:spPr>
          <a:xfrm>
            <a:off x="5943600" y="3131127"/>
            <a:ext cx="2221345" cy="7320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564616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Effektmodifikator Eksempel 2 – Introduktion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b="1" dirty="0" err="1"/>
              <a:t>Artikel</a:t>
            </a:r>
            <a:r>
              <a:rPr sz="2400" dirty="0"/>
              <a:t>:</a:t>
            </a:r>
            <a:r>
              <a:rPr lang="da-DK" sz="2400" dirty="0"/>
              <a:t> </a:t>
            </a:r>
            <a:r>
              <a:rPr lang="da-DK" sz="2400" dirty="0" err="1"/>
              <a:t>Raffin</a:t>
            </a:r>
            <a:r>
              <a:rPr lang="da-DK" sz="2400" dirty="0"/>
              <a:t> J et al. Cross-</a:t>
            </a:r>
            <a:r>
              <a:rPr lang="da-DK" sz="2400" dirty="0" err="1"/>
              <a:t>sectional</a:t>
            </a:r>
            <a:r>
              <a:rPr lang="da-DK" sz="2400" dirty="0"/>
              <a:t> </a:t>
            </a:r>
            <a:r>
              <a:rPr lang="da-DK" sz="2400" dirty="0" err="1"/>
              <a:t>interactive</a:t>
            </a:r>
            <a:r>
              <a:rPr lang="da-DK" sz="2400" dirty="0"/>
              <a:t> associations of </a:t>
            </a:r>
            <a:r>
              <a:rPr lang="da-DK" sz="2400" dirty="0" err="1"/>
              <a:t>physical</a:t>
            </a:r>
            <a:r>
              <a:rPr lang="da-DK" sz="2400" dirty="0"/>
              <a:t> </a:t>
            </a:r>
            <a:r>
              <a:rPr lang="da-DK" sz="2400" dirty="0" err="1"/>
              <a:t>activity</a:t>
            </a:r>
            <a:r>
              <a:rPr lang="da-DK" sz="2400" dirty="0"/>
              <a:t> and </a:t>
            </a:r>
            <a:r>
              <a:rPr lang="da-DK" sz="2400" dirty="0" err="1"/>
              <a:t>sedentary</a:t>
            </a:r>
            <a:r>
              <a:rPr lang="da-DK" sz="2400" dirty="0"/>
              <a:t> </a:t>
            </a:r>
            <a:r>
              <a:rPr lang="da-DK" sz="2400" dirty="0" err="1"/>
              <a:t>behaviour</a:t>
            </a:r>
            <a:r>
              <a:rPr lang="da-DK" sz="2400" dirty="0"/>
              <a:t> with </a:t>
            </a:r>
            <a:r>
              <a:rPr lang="da-DK" sz="2400" dirty="0" err="1"/>
              <a:t>physical</a:t>
            </a:r>
            <a:r>
              <a:rPr lang="da-DK" sz="2400" dirty="0"/>
              <a:t> </a:t>
            </a:r>
            <a:r>
              <a:rPr lang="da-DK" sz="2400" dirty="0" err="1"/>
              <a:t>capacity</a:t>
            </a:r>
            <a:r>
              <a:rPr lang="da-DK" sz="2400" dirty="0"/>
              <a:t> </a:t>
            </a:r>
            <a:r>
              <a:rPr lang="da-DK" sz="2400" dirty="0" err="1"/>
              <a:t>across</a:t>
            </a:r>
            <a:r>
              <a:rPr lang="da-DK" sz="2400" dirty="0"/>
              <a:t> </a:t>
            </a:r>
            <a:r>
              <a:rPr lang="da-DK" sz="2400" dirty="0" err="1"/>
              <a:t>adulthood</a:t>
            </a:r>
            <a:r>
              <a:rPr lang="da-DK" sz="2400" dirty="0"/>
              <a:t>. J </a:t>
            </a:r>
            <a:r>
              <a:rPr lang="da-DK" sz="2400" dirty="0" err="1"/>
              <a:t>Cachexia</a:t>
            </a:r>
            <a:r>
              <a:rPr lang="da-DK" sz="2400" dirty="0"/>
              <a:t> </a:t>
            </a:r>
            <a:r>
              <a:rPr lang="da-DK" sz="2400" dirty="0" err="1"/>
              <a:t>Sarcopenia</a:t>
            </a:r>
            <a:r>
              <a:rPr lang="da-DK" sz="2400" dirty="0"/>
              <a:t> </a:t>
            </a:r>
            <a:r>
              <a:rPr lang="da-DK" sz="2400" dirty="0" err="1"/>
              <a:t>Muscle</a:t>
            </a:r>
            <a:r>
              <a:rPr lang="da-DK" sz="2400" dirty="0"/>
              <a:t>. 2024</a:t>
            </a:r>
            <a:endParaRPr sz="2400" dirty="0"/>
          </a:p>
          <a:p>
            <a:endParaRPr sz="2400" dirty="0"/>
          </a:p>
          <a:p>
            <a:r>
              <a:rPr b="1" dirty="0" err="1"/>
              <a:t>Eksponering</a:t>
            </a:r>
            <a:r>
              <a:rPr dirty="0"/>
              <a:t>: </a:t>
            </a:r>
            <a:r>
              <a:rPr lang="da-DK" dirty="0"/>
              <a:t>Alder </a:t>
            </a:r>
            <a:r>
              <a:rPr dirty="0"/>
              <a:t>(</a:t>
            </a:r>
            <a:r>
              <a:rPr dirty="0" err="1"/>
              <a:t>kontinuert</a:t>
            </a:r>
            <a:r>
              <a:rPr dirty="0"/>
              <a:t>)</a:t>
            </a:r>
          </a:p>
          <a:p>
            <a:r>
              <a:rPr b="1" dirty="0"/>
              <a:t>Outcome</a:t>
            </a:r>
            <a:r>
              <a:rPr dirty="0"/>
              <a:t>: </a:t>
            </a:r>
            <a:r>
              <a:rPr lang="da-DK" dirty="0"/>
              <a:t>VO2-max</a:t>
            </a:r>
            <a:r>
              <a:rPr dirty="0"/>
              <a:t> (</a:t>
            </a:r>
            <a:r>
              <a:rPr dirty="0" err="1"/>
              <a:t>kontinuert</a:t>
            </a:r>
            <a:r>
              <a:rPr dirty="0"/>
              <a:t>)</a:t>
            </a:r>
          </a:p>
          <a:p>
            <a:r>
              <a:rPr b="1" dirty="0" err="1"/>
              <a:t>Effektmodifikator</a:t>
            </a:r>
            <a:r>
              <a:rPr dirty="0"/>
              <a:t>: </a:t>
            </a:r>
            <a:r>
              <a:rPr lang="da-DK" dirty="0"/>
              <a:t>Aktivitetsniveau</a:t>
            </a:r>
            <a:r>
              <a:rPr dirty="0"/>
              <a:t> (k</a:t>
            </a:r>
            <a:r>
              <a:rPr lang="da-DK" dirty="0" err="1"/>
              <a:t>ategorisk</a:t>
            </a:r>
            <a:r>
              <a:rPr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098918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219"/>
            <a:ext cx="8229600" cy="1143000"/>
          </a:xfrm>
        </p:spPr>
        <p:txBody>
          <a:bodyPr>
            <a:normAutofit fontScale="90000"/>
          </a:bodyPr>
          <a:lstStyle/>
          <a:p>
            <a:r>
              <a:t>Effektmodifikator Eksempel 2 – Resultater</a:t>
            </a:r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728" y="1450109"/>
            <a:ext cx="3574563" cy="2816323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2078182"/>
            <a:ext cx="8229600" cy="4047981"/>
          </a:xfrm>
        </p:spPr>
        <p:txBody>
          <a:bodyPr>
            <a:normAutofit fontScale="92500" lnSpcReduction="20000"/>
          </a:bodyPr>
          <a:lstStyle/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Med alderen falder VO2-max. Alderseffekten ser dog ud til at være større for dem, der er mest aktive (High MVPA), fordi hældningen er størst for den røde graf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34377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Effektmodifikator Eksempel 3 – Introduktion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b="1" dirty="0" err="1"/>
              <a:t>Artikel</a:t>
            </a:r>
            <a:r>
              <a:rPr sz="2400" dirty="0"/>
              <a:t>:</a:t>
            </a:r>
            <a:r>
              <a:rPr lang="da-DK" sz="2400" dirty="0"/>
              <a:t> </a:t>
            </a:r>
            <a:r>
              <a:rPr lang="da-DK" sz="2400" dirty="0" err="1"/>
              <a:t>Roerecke</a:t>
            </a:r>
            <a:r>
              <a:rPr lang="da-DK" sz="2400" dirty="0"/>
              <a:t> M et al. Sex-</a:t>
            </a:r>
            <a:r>
              <a:rPr lang="da-DK" sz="2400" dirty="0" err="1"/>
              <a:t>Specific</a:t>
            </a:r>
            <a:r>
              <a:rPr lang="da-DK" sz="2400" dirty="0"/>
              <a:t> Associations </a:t>
            </a:r>
            <a:r>
              <a:rPr lang="da-DK" sz="2400" dirty="0" err="1"/>
              <a:t>Between</a:t>
            </a:r>
            <a:r>
              <a:rPr lang="da-DK" sz="2400" dirty="0"/>
              <a:t> </a:t>
            </a:r>
            <a:r>
              <a:rPr lang="da-DK" sz="2400" dirty="0" err="1"/>
              <a:t>Alcohol</a:t>
            </a:r>
            <a:r>
              <a:rPr lang="da-DK" sz="2400" dirty="0"/>
              <a:t> </a:t>
            </a:r>
            <a:r>
              <a:rPr lang="da-DK" sz="2400" dirty="0" err="1"/>
              <a:t>Consumption</a:t>
            </a:r>
            <a:r>
              <a:rPr lang="da-DK" sz="2400" dirty="0"/>
              <a:t> and </a:t>
            </a:r>
            <a:r>
              <a:rPr lang="da-DK" sz="2400" dirty="0" err="1"/>
              <a:t>Incidence</a:t>
            </a:r>
            <a:r>
              <a:rPr lang="da-DK" sz="2400" dirty="0"/>
              <a:t> of </a:t>
            </a:r>
            <a:r>
              <a:rPr lang="da-DK" sz="2400" dirty="0" err="1"/>
              <a:t>Hypertension</a:t>
            </a:r>
            <a:r>
              <a:rPr lang="da-DK" sz="2400" dirty="0"/>
              <a:t>: A </a:t>
            </a:r>
            <a:r>
              <a:rPr lang="da-DK" sz="2400" dirty="0" err="1"/>
              <a:t>Systematic</a:t>
            </a:r>
            <a:r>
              <a:rPr lang="da-DK" sz="2400" dirty="0"/>
              <a:t> </a:t>
            </a:r>
            <a:r>
              <a:rPr lang="da-DK" sz="2400" dirty="0" err="1"/>
              <a:t>Review</a:t>
            </a:r>
            <a:r>
              <a:rPr lang="da-DK" sz="2400" dirty="0"/>
              <a:t> and Meta-Analysis of </a:t>
            </a:r>
            <a:r>
              <a:rPr lang="da-DK" sz="2400" dirty="0" err="1"/>
              <a:t>Cohort</a:t>
            </a:r>
            <a:r>
              <a:rPr lang="da-DK" sz="2400" dirty="0"/>
              <a:t> Studies. J Am Heart </a:t>
            </a:r>
            <a:r>
              <a:rPr lang="da-DK" sz="2400" dirty="0" err="1"/>
              <a:t>Assoc</a:t>
            </a:r>
            <a:r>
              <a:rPr lang="da-DK" sz="2400" dirty="0"/>
              <a:t>. 2018</a:t>
            </a:r>
          </a:p>
          <a:p>
            <a:endParaRPr sz="2400" dirty="0"/>
          </a:p>
          <a:p>
            <a:r>
              <a:rPr b="1" dirty="0" err="1"/>
              <a:t>Eksponering</a:t>
            </a:r>
            <a:r>
              <a:rPr dirty="0"/>
              <a:t>: </a:t>
            </a:r>
            <a:r>
              <a:rPr dirty="0" err="1"/>
              <a:t>Alkoholindtag</a:t>
            </a:r>
            <a:r>
              <a:rPr dirty="0"/>
              <a:t> (</a:t>
            </a:r>
            <a:r>
              <a:rPr lang="da-DK" dirty="0"/>
              <a:t>kategorisk</a:t>
            </a:r>
            <a:r>
              <a:rPr dirty="0"/>
              <a:t>)</a:t>
            </a:r>
          </a:p>
          <a:p>
            <a:r>
              <a:rPr b="1" dirty="0"/>
              <a:t>Outcome</a:t>
            </a:r>
            <a:r>
              <a:rPr dirty="0"/>
              <a:t>: Hypertension (ja/</a:t>
            </a:r>
            <a:r>
              <a:rPr dirty="0" err="1"/>
              <a:t>nej</a:t>
            </a:r>
            <a:r>
              <a:rPr dirty="0"/>
              <a:t>)</a:t>
            </a:r>
          </a:p>
          <a:p>
            <a:r>
              <a:rPr b="1" dirty="0" err="1"/>
              <a:t>Effektmodifikator</a:t>
            </a:r>
            <a:r>
              <a:rPr dirty="0"/>
              <a:t>: </a:t>
            </a:r>
            <a:r>
              <a:rPr dirty="0" err="1"/>
              <a:t>Køn</a:t>
            </a:r>
            <a:r>
              <a:rPr dirty="0"/>
              <a:t> (</a:t>
            </a:r>
            <a:r>
              <a:rPr dirty="0" err="1"/>
              <a:t>mand</a:t>
            </a:r>
            <a:r>
              <a:rPr dirty="0"/>
              <a:t>/</a:t>
            </a:r>
            <a:r>
              <a:rPr dirty="0" err="1"/>
              <a:t>kvinde</a:t>
            </a:r>
            <a:r>
              <a:rPr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650524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Effektmodifikator</a:t>
            </a:r>
            <a:r>
              <a:rPr dirty="0"/>
              <a:t> </a:t>
            </a:r>
            <a:r>
              <a:rPr dirty="0" err="1"/>
              <a:t>Eksempel</a:t>
            </a:r>
            <a:r>
              <a:rPr dirty="0"/>
              <a:t> 3 – </a:t>
            </a:r>
            <a:r>
              <a:rPr dirty="0" err="1"/>
              <a:t>Resultater</a:t>
            </a:r>
            <a:endParaRPr dirty="0"/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1" y="1565420"/>
            <a:ext cx="4287845" cy="4681225"/>
          </a:xfrm>
          <a:prstGeom prst="rect">
            <a:avLst/>
          </a:prstGeom>
        </p:spPr>
      </p:pic>
      <p:pic>
        <p:nvPicPr>
          <p:cNvPr id="7" name="Billed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155" y="1565420"/>
            <a:ext cx="4287845" cy="4104319"/>
          </a:xfrm>
          <a:prstGeom prst="rect">
            <a:avLst/>
          </a:prstGeom>
        </p:spPr>
      </p:pic>
      <p:sp>
        <p:nvSpPr>
          <p:cNvPr id="8" name="Tekstfelt 7"/>
          <p:cNvSpPr txBox="1"/>
          <p:nvPr/>
        </p:nvSpPr>
        <p:spPr>
          <a:xfrm>
            <a:off x="1727200" y="1565420"/>
            <a:ext cx="1487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>
                <a:solidFill>
                  <a:srgbClr val="FF0000"/>
                </a:solidFill>
              </a:rPr>
              <a:t>MÆND</a:t>
            </a:r>
          </a:p>
        </p:txBody>
      </p:sp>
      <p:sp>
        <p:nvSpPr>
          <p:cNvPr id="9" name="Tekstfelt 8"/>
          <p:cNvSpPr txBox="1"/>
          <p:nvPr/>
        </p:nvSpPr>
        <p:spPr>
          <a:xfrm>
            <a:off x="6322291" y="1606718"/>
            <a:ext cx="1487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>
                <a:solidFill>
                  <a:srgbClr val="FF0000"/>
                </a:solidFill>
              </a:rPr>
              <a:t>KVINDER</a:t>
            </a:r>
          </a:p>
        </p:txBody>
      </p:sp>
      <p:sp>
        <p:nvSpPr>
          <p:cNvPr id="10" name="Rektangel 9"/>
          <p:cNvSpPr/>
          <p:nvPr/>
        </p:nvSpPr>
        <p:spPr>
          <a:xfrm>
            <a:off x="249382" y="3297381"/>
            <a:ext cx="4027054" cy="1293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Rektangel 10"/>
          <p:cNvSpPr/>
          <p:nvPr/>
        </p:nvSpPr>
        <p:spPr>
          <a:xfrm>
            <a:off x="4986550" y="3488270"/>
            <a:ext cx="4027054" cy="1293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080357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Confounder Eksempel 1 – Introduktion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b="1" dirty="0" err="1"/>
              <a:t>Artikel</a:t>
            </a:r>
            <a:r>
              <a:rPr sz="2400" dirty="0"/>
              <a:t>: </a:t>
            </a:r>
            <a:r>
              <a:rPr lang="da-DK" sz="2400" dirty="0" err="1"/>
              <a:t>Guertin</a:t>
            </a:r>
            <a:r>
              <a:rPr lang="da-DK" sz="2400" dirty="0"/>
              <a:t> KA et al. A </a:t>
            </a:r>
            <a:r>
              <a:rPr lang="da-DK" sz="2400" dirty="0" err="1"/>
              <a:t>prospective</a:t>
            </a:r>
            <a:r>
              <a:rPr lang="da-DK" sz="2400" dirty="0"/>
              <a:t> </a:t>
            </a:r>
            <a:r>
              <a:rPr lang="da-DK" sz="2400" dirty="0" err="1"/>
              <a:t>study</a:t>
            </a:r>
            <a:r>
              <a:rPr lang="da-DK" sz="2400" dirty="0"/>
              <a:t> of </a:t>
            </a:r>
            <a:r>
              <a:rPr lang="da-DK" sz="2400" dirty="0" err="1"/>
              <a:t>coffee</a:t>
            </a:r>
            <a:r>
              <a:rPr lang="da-DK" sz="2400" dirty="0"/>
              <a:t> </a:t>
            </a:r>
            <a:r>
              <a:rPr lang="da-DK" sz="2400" dirty="0" err="1"/>
              <a:t>intake</a:t>
            </a:r>
            <a:r>
              <a:rPr lang="da-DK" sz="2400" dirty="0"/>
              <a:t> and </a:t>
            </a:r>
            <a:r>
              <a:rPr lang="da-DK" sz="2400" dirty="0" err="1"/>
              <a:t>pancreatic</a:t>
            </a:r>
            <a:r>
              <a:rPr lang="da-DK" sz="2400" dirty="0"/>
              <a:t> cancer: </a:t>
            </a:r>
            <a:r>
              <a:rPr lang="da-DK" sz="2400" dirty="0" err="1"/>
              <a:t>results</a:t>
            </a:r>
            <a:r>
              <a:rPr lang="da-DK" sz="2400" dirty="0"/>
              <a:t> from the NIH-AARP Diet and Health </a:t>
            </a:r>
            <a:r>
              <a:rPr lang="da-DK" sz="2400" dirty="0" err="1"/>
              <a:t>Study</a:t>
            </a:r>
            <a:r>
              <a:rPr lang="da-DK" sz="2400" dirty="0"/>
              <a:t>. Br J Cancer. 2015</a:t>
            </a:r>
          </a:p>
          <a:p>
            <a:endParaRPr dirty="0"/>
          </a:p>
          <a:p>
            <a:r>
              <a:rPr b="1" dirty="0" err="1"/>
              <a:t>Eksponering</a:t>
            </a:r>
            <a:r>
              <a:rPr dirty="0"/>
              <a:t>: </a:t>
            </a:r>
            <a:r>
              <a:rPr dirty="0" err="1"/>
              <a:t>Kaffe</a:t>
            </a:r>
            <a:r>
              <a:rPr dirty="0"/>
              <a:t> (</a:t>
            </a:r>
            <a:r>
              <a:rPr dirty="0" err="1"/>
              <a:t>kategorisk</a:t>
            </a:r>
            <a:r>
              <a:rPr dirty="0"/>
              <a:t>)</a:t>
            </a:r>
          </a:p>
          <a:p>
            <a:r>
              <a:rPr b="1" dirty="0"/>
              <a:t>Outcome</a:t>
            </a:r>
            <a:r>
              <a:rPr dirty="0"/>
              <a:t>: </a:t>
            </a:r>
            <a:r>
              <a:rPr dirty="0" err="1"/>
              <a:t>Pancreaskræft</a:t>
            </a:r>
            <a:r>
              <a:rPr dirty="0"/>
              <a:t> (ja/</a:t>
            </a:r>
            <a:r>
              <a:rPr dirty="0" err="1"/>
              <a:t>nej</a:t>
            </a:r>
            <a:r>
              <a:rPr dirty="0"/>
              <a:t>)</a:t>
            </a:r>
          </a:p>
          <a:p>
            <a:r>
              <a:rPr b="1" dirty="0"/>
              <a:t>Confounder</a:t>
            </a:r>
            <a:r>
              <a:rPr dirty="0"/>
              <a:t>: </a:t>
            </a:r>
            <a:r>
              <a:rPr dirty="0" err="1"/>
              <a:t>Rygning</a:t>
            </a:r>
            <a:r>
              <a:rPr dirty="0"/>
              <a:t> (ja/</a:t>
            </a:r>
            <a:r>
              <a:rPr dirty="0" err="1"/>
              <a:t>nej</a:t>
            </a:r>
            <a:r>
              <a:rPr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460604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Confounder Eksempel 1 – Resultater</a:t>
            </a:r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 rotWithShape="1">
          <a:blip r:embed="rId2"/>
          <a:srcRect t="38072" r="85216" b="1"/>
          <a:stretch/>
        </p:blipFill>
        <p:spPr>
          <a:xfrm>
            <a:off x="457200" y="1628927"/>
            <a:ext cx="2136484" cy="1840617"/>
          </a:xfrm>
          <a:prstGeom prst="rect">
            <a:avLst/>
          </a:prstGeom>
        </p:spPr>
      </p:pic>
      <p:pic>
        <p:nvPicPr>
          <p:cNvPr id="6" name="Billede 5"/>
          <p:cNvPicPr>
            <a:picLocks noChangeAspect="1"/>
          </p:cNvPicPr>
          <p:nvPr/>
        </p:nvPicPr>
        <p:blipFill rotWithShape="1">
          <a:blip r:embed="rId2"/>
          <a:srcRect l="75629" t="38255" r="12227"/>
          <a:stretch/>
        </p:blipFill>
        <p:spPr>
          <a:xfrm>
            <a:off x="2593684" y="1634355"/>
            <a:ext cx="1754910" cy="183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4109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Confounder Eksempel 2 – Introduktion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b="1" dirty="0" err="1"/>
              <a:t>Artikel</a:t>
            </a:r>
            <a:r>
              <a:rPr sz="2800" dirty="0"/>
              <a:t>: </a:t>
            </a:r>
            <a:r>
              <a:rPr lang="en-US" sz="2800" dirty="0" err="1"/>
              <a:t>Goulden</a:t>
            </a:r>
            <a:r>
              <a:rPr lang="en-US" sz="2800" dirty="0"/>
              <a:t> R. Moderate Alcohol Consumption Is Not Associated with Reduced All-cause Mortality. Am J Med. 2016</a:t>
            </a:r>
          </a:p>
          <a:p>
            <a:endParaRPr dirty="0"/>
          </a:p>
          <a:p>
            <a:r>
              <a:rPr b="1" dirty="0" err="1"/>
              <a:t>Eksponering</a:t>
            </a:r>
            <a:r>
              <a:rPr dirty="0"/>
              <a:t>: </a:t>
            </a:r>
            <a:r>
              <a:rPr lang="da-DK" dirty="0"/>
              <a:t>Alkoholindtag </a:t>
            </a:r>
            <a:r>
              <a:rPr dirty="0"/>
              <a:t>(</a:t>
            </a:r>
            <a:r>
              <a:rPr lang="da-DK" dirty="0"/>
              <a:t>kategorisk</a:t>
            </a:r>
            <a:r>
              <a:rPr dirty="0"/>
              <a:t>)</a:t>
            </a:r>
          </a:p>
          <a:p>
            <a:r>
              <a:rPr b="1" dirty="0"/>
              <a:t>Outcome</a:t>
            </a:r>
            <a:r>
              <a:rPr dirty="0"/>
              <a:t>: </a:t>
            </a:r>
            <a:r>
              <a:rPr lang="da-DK" dirty="0"/>
              <a:t>Mortalitet</a:t>
            </a:r>
            <a:r>
              <a:rPr dirty="0"/>
              <a:t> (k</a:t>
            </a:r>
            <a:r>
              <a:rPr lang="da-DK" dirty="0" err="1"/>
              <a:t>ategorisk</a:t>
            </a:r>
            <a:r>
              <a:rPr dirty="0"/>
              <a:t>)</a:t>
            </a:r>
          </a:p>
          <a:p>
            <a:r>
              <a:rPr b="1" dirty="0"/>
              <a:t>Confounder</a:t>
            </a:r>
            <a:r>
              <a:rPr dirty="0"/>
              <a:t>: </a:t>
            </a:r>
            <a:r>
              <a:rPr lang="da-DK" dirty="0" err="1"/>
              <a:t>Sociodemografi</a:t>
            </a:r>
            <a:r>
              <a:rPr dirty="0"/>
              <a:t> (k</a:t>
            </a:r>
            <a:r>
              <a:rPr lang="da-DK" dirty="0" err="1"/>
              <a:t>ategorisk</a:t>
            </a:r>
            <a:r>
              <a:rPr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074542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Confounder Eksempel 2 – Resultater</a:t>
            </a:r>
          </a:p>
        </p:txBody>
      </p:sp>
      <p:pic>
        <p:nvPicPr>
          <p:cNvPr id="4" name="Pladsholder til indhold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00103"/>
            <a:ext cx="8229600" cy="1622738"/>
          </a:xfrm>
          <a:prstGeom prst="rect">
            <a:avLst/>
          </a:prstGeom>
        </p:spPr>
      </p:pic>
      <p:sp>
        <p:nvSpPr>
          <p:cNvPr id="5" name="Rektangel 4"/>
          <p:cNvSpPr/>
          <p:nvPr/>
        </p:nvSpPr>
        <p:spPr>
          <a:xfrm>
            <a:off x="4251325" y="2765425"/>
            <a:ext cx="1041400" cy="3574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354434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Mediator Eksempel 1 – Introduktion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b="1" dirty="0" err="1"/>
              <a:t>Artikel</a:t>
            </a:r>
            <a:r>
              <a:rPr sz="2400" dirty="0"/>
              <a:t>: </a:t>
            </a:r>
            <a:r>
              <a:rPr lang="en-US" sz="2400" dirty="0"/>
              <a:t>van </a:t>
            </a:r>
            <a:r>
              <a:rPr lang="en-US" sz="2400" dirty="0" err="1"/>
              <a:t>Strien</a:t>
            </a:r>
            <a:r>
              <a:rPr lang="en-US" sz="2400" dirty="0"/>
              <a:t> T et al. The mediation effect of emotional eating between depression and body mass index in the two European countries Denmark and Spain. Appetite. 2016</a:t>
            </a:r>
          </a:p>
          <a:p>
            <a:endParaRPr lang="en-US" dirty="0"/>
          </a:p>
          <a:p>
            <a:r>
              <a:rPr b="1" dirty="0" err="1"/>
              <a:t>Eksponering</a:t>
            </a:r>
            <a:r>
              <a:rPr dirty="0"/>
              <a:t>: </a:t>
            </a:r>
            <a:r>
              <a:rPr lang="da-DK" dirty="0"/>
              <a:t>Depression </a:t>
            </a:r>
            <a:r>
              <a:rPr dirty="0"/>
              <a:t>(</a:t>
            </a:r>
            <a:r>
              <a:rPr lang="da-DK" dirty="0"/>
              <a:t>kategorisk</a:t>
            </a:r>
            <a:r>
              <a:rPr dirty="0"/>
              <a:t>)</a:t>
            </a:r>
          </a:p>
          <a:p>
            <a:r>
              <a:rPr b="1" dirty="0"/>
              <a:t>Outcome</a:t>
            </a:r>
            <a:r>
              <a:rPr dirty="0"/>
              <a:t>: </a:t>
            </a:r>
            <a:r>
              <a:rPr lang="da-DK" dirty="0"/>
              <a:t>BMI (kontinuert)</a:t>
            </a:r>
          </a:p>
          <a:p>
            <a:r>
              <a:rPr b="1" dirty="0"/>
              <a:t>Mediator</a:t>
            </a:r>
            <a:r>
              <a:rPr dirty="0"/>
              <a:t>: </a:t>
            </a:r>
            <a:r>
              <a:rPr lang="da-DK" dirty="0"/>
              <a:t>Spisning på føleler (kategorisk)</a:t>
            </a:r>
          </a:p>
        </p:txBody>
      </p:sp>
    </p:spTree>
    <p:extLst>
      <p:ext uri="{BB962C8B-B14F-4D97-AF65-F5344CB8AC3E}">
        <p14:creationId xmlns:p14="http://schemas.microsoft.com/office/powerpoint/2010/main" val="29219465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Mediator Eksempel 1 – Resultater</a:t>
            </a:r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489" y="1417638"/>
            <a:ext cx="5201011" cy="2088067"/>
          </a:xfrm>
          <a:prstGeom prst="rect">
            <a:avLst/>
          </a:prstGeom>
        </p:spPr>
      </p:pic>
      <p:sp>
        <p:nvSpPr>
          <p:cNvPr id="6" name="Tekstfelt 5"/>
          <p:cNvSpPr txBox="1"/>
          <p:nvPr/>
        </p:nvSpPr>
        <p:spPr>
          <a:xfrm>
            <a:off x="704489" y="3586676"/>
            <a:ext cx="73342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i="1" dirty="0"/>
          </a:p>
          <a:p>
            <a:r>
              <a:rPr lang="en-US" i="1" dirty="0"/>
              <a:t>In both countries, emotional eating acted as a mediator between depression and BMI (Denmark: B = 0.03 (SE = 0.01), 95% CI, [0.03, 0.05]; Spain: B = 0.03 (SE = 0.01), 95% CI, [0.02, 0.04])</a:t>
            </a:r>
            <a:endParaRPr lang="da-DK" i="1" dirty="0"/>
          </a:p>
        </p:txBody>
      </p:sp>
    </p:spTree>
    <p:extLst>
      <p:ext uri="{BB962C8B-B14F-4D97-AF65-F5344CB8AC3E}">
        <p14:creationId xmlns:p14="http://schemas.microsoft.com/office/powerpoint/2010/main" val="9442632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 err="1"/>
              <a:t>Mediator</a:t>
            </a:r>
            <a:r>
              <a:rPr dirty="0"/>
              <a:t> </a:t>
            </a:r>
            <a:r>
              <a:rPr dirty="0" err="1"/>
              <a:t>Eksempel</a:t>
            </a:r>
            <a:r>
              <a:rPr dirty="0"/>
              <a:t> </a:t>
            </a:r>
            <a:r>
              <a:rPr lang="da-DK" dirty="0"/>
              <a:t>2</a:t>
            </a:r>
            <a:r>
              <a:rPr dirty="0"/>
              <a:t> – </a:t>
            </a:r>
            <a:r>
              <a:rPr dirty="0" err="1"/>
              <a:t>Introduktion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b="1" dirty="0" err="1"/>
              <a:t>Artikel</a:t>
            </a:r>
            <a:r>
              <a:rPr sz="2400" dirty="0"/>
              <a:t>:</a:t>
            </a:r>
            <a:r>
              <a:rPr lang="da-DK" sz="2400" dirty="0"/>
              <a:t> </a:t>
            </a:r>
            <a:r>
              <a:rPr lang="en-US" sz="2400" dirty="0" err="1"/>
              <a:t>Dégano</a:t>
            </a:r>
            <a:r>
              <a:rPr lang="en-US" sz="2400" dirty="0"/>
              <a:t> IR, </a:t>
            </a:r>
            <a:r>
              <a:rPr lang="en-US" sz="2400" dirty="0" err="1"/>
              <a:t>Marrugat</a:t>
            </a:r>
            <a:r>
              <a:rPr lang="en-US" sz="2400" dirty="0"/>
              <a:t> J, </a:t>
            </a:r>
            <a:r>
              <a:rPr lang="en-US" sz="2400" dirty="0" err="1"/>
              <a:t>Grau</a:t>
            </a:r>
            <a:r>
              <a:rPr lang="en-US" sz="2400" dirty="0"/>
              <a:t> M, et al. The association between education and cardiovascular disease incidence is mediated by hypertension, diabetes, and body mass index. </a:t>
            </a:r>
            <a:r>
              <a:rPr lang="en-US" sz="2400" dirty="0" err="1"/>
              <a:t>Sci</a:t>
            </a:r>
            <a:r>
              <a:rPr lang="en-US" sz="2400" dirty="0"/>
              <a:t> Rep. </a:t>
            </a:r>
            <a:r>
              <a:rPr lang="da-DK" sz="2400" dirty="0"/>
              <a:t>2017</a:t>
            </a:r>
          </a:p>
          <a:p>
            <a:endParaRPr dirty="0"/>
          </a:p>
          <a:p>
            <a:r>
              <a:rPr b="1" dirty="0" err="1"/>
              <a:t>Eksponering</a:t>
            </a:r>
            <a:r>
              <a:rPr dirty="0"/>
              <a:t>: </a:t>
            </a:r>
            <a:r>
              <a:rPr dirty="0" err="1"/>
              <a:t>Uddannelse</a:t>
            </a:r>
            <a:r>
              <a:rPr dirty="0"/>
              <a:t> (</a:t>
            </a:r>
            <a:r>
              <a:rPr dirty="0" err="1"/>
              <a:t>kategorisk</a:t>
            </a:r>
            <a:r>
              <a:rPr dirty="0"/>
              <a:t>)</a:t>
            </a:r>
          </a:p>
          <a:p>
            <a:r>
              <a:rPr b="1" dirty="0"/>
              <a:t>Outcome</a:t>
            </a:r>
            <a:r>
              <a:rPr dirty="0"/>
              <a:t>: CVD (ja/</a:t>
            </a:r>
            <a:r>
              <a:rPr dirty="0" err="1"/>
              <a:t>nej</a:t>
            </a:r>
            <a:r>
              <a:rPr dirty="0"/>
              <a:t>)</a:t>
            </a:r>
          </a:p>
          <a:p>
            <a:r>
              <a:rPr b="1" dirty="0"/>
              <a:t>Confounder</a:t>
            </a:r>
            <a:r>
              <a:rPr dirty="0"/>
              <a:t>: </a:t>
            </a:r>
            <a:r>
              <a:rPr lang="da-DK" dirty="0" err="1"/>
              <a:t>Komorbiditet</a:t>
            </a:r>
            <a:r>
              <a:rPr lang="da-DK" dirty="0"/>
              <a:t> (kategorisk)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62029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Mediator</a:t>
            </a:r>
            <a:r>
              <a:rPr dirty="0"/>
              <a:t> </a:t>
            </a:r>
            <a:r>
              <a:rPr dirty="0" err="1"/>
              <a:t>Eksempel</a:t>
            </a:r>
            <a:r>
              <a:rPr dirty="0"/>
              <a:t> </a:t>
            </a:r>
            <a:r>
              <a:rPr lang="da-DK" dirty="0"/>
              <a:t>2</a:t>
            </a:r>
            <a:r>
              <a:rPr dirty="0"/>
              <a:t> – </a:t>
            </a:r>
            <a:r>
              <a:rPr dirty="0" err="1"/>
              <a:t>Resultater</a:t>
            </a:r>
            <a:endParaRPr dirty="0"/>
          </a:p>
        </p:txBody>
      </p:sp>
      <p:sp>
        <p:nvSpPr>
          <p:cNvPr id="4" name="Pladsholder til indhold 3"/>
          <p:cNvSpPr>
            <a:spLocks noGrp="1"/>
          </p:cNvSpPr>
          <p:nvPr>
            <p:ph idx="1"/>
          </p:nvPr>
        </p:nvSpPr>
        <p:spPr>
          <a:xfrm>
            <a:off x="457200" y="5200917"/>
            <a:ext cx="8229600" cy="9252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*Average Causal Mediated Effect (ACME) </a:t>
            </a:r>
            <a:r>
              <a:rPr lang="en-US" sz="1800" dirty="0" err="1"/>
              <a:t>er</a:t>
            </a:r>
            <a:r>
              <a:rPr lang="en-US" sz="1800" dirty="0"/>
              <a:t> den </a:t>
            </a:r>
            <a:r>
              <a:rPr lang="en-US" sz="1800" dirty="0" err="1"/>
              <a:t>medierende</a:t>
            </a:r>
            <a:r>
              <a:rPr lang="en-US" sz="1800" dirty="0"/>
              <a:t> effect (=total </a:t>
            </a:r>
            <a:r>
              <a:rPr lang="en-US" sz="1800" dirty="0" err="1"/>
              <a:t>effekt</a:t>
            </a:r>
            <a:r>
              <a:rPr lang="en-US" sz="1800" dirty="0"/>
              <a:t> minus den </a:t>
            </a:r>
            <a:r>
              <a:rPr lang="en-US" sz="1800" dirty="0" err="1"/>
              <a:t>direkte</a:t>
            </a:r>
            <a:r>
              <a:rPr lang="en-US" sz="1800" dirty="0"/>
              <a:t> </a:t>
            </a:r>
            <a:r>
              <a:rPr lang="en-US" sz="1800" dirty="0" err="1"/>
              <a:t>effekt</a:t>
            </a:r>
            <a:r>
              <a:rPr lang="en-US" sz="1800" dirty="0"/>
              <a:t>)</a:t>
            </a:r>
            <a:endParaRPr lang="da-DK" sz="1800" dirty="0"/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43969"/>
            <a:ext cx="8229600" cy="345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5528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Mediator </a:t>
            </a:r>
            <a:r>
              <a:rPr dirty="0" err="1"/>
              <a:t>Eksempel</a:t>
            </a:r>
            <a:r>
              <a:rPr dirty="0"/>
              <a:t> </a:t>
            </a:r>
            <a:r>
              <a:rPr lang="da-DK" dirty="0"/>
              <a:t>3</a:t>
            </a:r>
            <a:r>
              <a:rPr dirty="0"/>
              <a:t> – </a:t>
            </a:r>
            <a:r>
              <a:rPr dirty="0" err="1"/>
              <a:t>Introduktion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b="1" dirty="0" err="1"/>
              <a:t>Artikel</a:t>
            </a:r>
            <a:r>
              <a:rPr sz="2400" dirty="0"/>
              <a:t>: </a:t>
            </a:r>
            <a:r>
              <a:rPr lang="en-US" sz="2400" dirty="0" err="1"/>
              <a:t>Lolk</a:t>
            </a:r>
            <a:r>
              <a:rPr lang="en-US" sz="2400" dirty="0"/>
              <a:t> K et al. Traumatic brain injury, stroke, and epilepsy; A mediation study in a Danish nationwide cohort. </a:t>
            </a:r>
            <a:r>
              <a:rPr lang="en-US" sz="2400" dirty="0" err="1"/>
              <a:t>Epilepsia</a:t>
            </a:r>
            <a:r>
              <a:rPr lang="en-US" sz="2400" dirty="0"/>
              <a:t>. 2023</a:t>
            </a:r>
          </a:p>
          <a:p>
            <a:endParaRPr lang="en-US" dirty="0"/>
          </a:p>
          <a:p>
            <a:r>
              <a:rPr b="1" dirty="0" err="1"/>
              <a:t>Eksponering</a:t>
            </a:r>
            <a:r>
              <a:rPr dirty="0"/>
              <a:t>:</a:t>
            </a:r>
            <a:r>
              <a:rPr lang="da-DK" dirty="0"/>
              <a:t> Traumatisk hjerneskade </a:t>
            </a:r>
            <a:r>
              <a:rPr dirty="0"/>
              <a:t>(</a:t>
            </a:r>
            <a:r>
              <a:rPr lang="da-DK" dirty="0"/>
              <a:t>kategorisk</a:t>
            </a:r>
            <a:r>
              <a:rPr dirty="0"/>
              <a:t>)</a:t>
            </a:r>
          </a:p>
          <a:p>
            <a:r>
              <a:rPr b="1" dirty="0"/>
              <a:t>Outcome</a:t>
            </a:r>
            <a:r>
              <a:rPr dirty="0"/>
              <a:t>: </a:t>
            </a:r>
            <a:r>
              <a:rPr lang="da-DK" dirty="0"/>
              <a:t>Epilepsi (kategorisk)</a:t>
            </a:r>
          </a:p>
          <a:p>
            <a:r>
              <a:rPr b="1" dirty="0"/>
              <a:t>Mediator</a:t>
            </a:r>
            <a:r>
              <a:rPr dirty="0"/>
              <a:t>: </a:t>
            </a:r>
            <a:r>
              <a:rPr lang="da-DK" dirty="0" err="1"/>
              <a:t>Stroke</a:t>
            </a:r>
            <a:r>
              <a:rPr lang="da-DK" dirty="0"/>
              <a:t> (kategorisk)</a:t>
            </a:r>
          </a:p>
        </p:txBody>
      </p:sp>
    </p:spTree>
    <p:extLst>
      <p:ext uri="{BB962C8B-B14F-4D97-AF65-F5344CB8AC3E}">
        <p14:creationId xmlns:p14="http://schemas.microsoft.com/office/powerpoint/2010/main" val="40863081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Mediator </a:t>
            </a:r>
            <a:r>
              <a:rPr dirty="0" err="1"/>
              <a:t>Eksempel</a:t>
            </a:r>
            <a:r>
              <a:rPr dirty="0"/>
              <a:t> </a:t>
            </a:r>
            <a:r>
              <a:rPr lang="da-DK" dirty="0"/>
              <a:t>3</a:t>
            </a:r>
            <a:r>
              <a:rPr dirty="0"/>
              <a:t> – </a:t>
            </a:r>
            <a:r>
              <a:rPr dirty="0" err="1"/>
              <a:t>Resultater</a:t>
            </a:r>
            <a:endParaRPr dirty="0"/>
          </a:p>
        </p:txBody>
      </p:sp>
      <p:pic>
        <p:nvPicPr>
          <p:cNvPr id="4" name="Bille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489" y="1238344"/>
            <a:ext cx="6248400" cy="428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357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rugerdefineret 4">
      <a:dk1>
        <a:sysClr val="windowText" lastClr="000000"/>
      </a:dk1>
      <a:lt1>
        <a:srgbClr val="E5E5E5"/>
      </a:lt1>
      <a:dk2>
        <a:srgbClr val="1F497D"/>
      </a:dk2>
      <a:lt2>
        <a:srgbClr val="E5E5E5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Brugerdefineret 2">
      <a:dk1>
        <a:sysClr val="windowText" lastClr="000000"/>
      </a:dk1>
      <a:lt1>
        <a:srgbClr val="D8D8D8"/>
      </a:lt1>
      <a:dk2>
        <a:srgbClr val="44546A"/>
      </a:dk2>
      <a:lt2>
        <a:srgbClr val="D8D8D8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1641</Words>
  <Application>Microsoft Office PowerPoint</Application>
  <PresentationFormat>Skærmshow (4:3)</PresentationFormat>
  <Paragraphs>331</Paragraphs>
  <Slides>53</Slides>
  <Notes>15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2</vt:i4>
      </vt:variant>
      <vt:variant>
        <vt:lpstr>Slidetitler</vt:lpstr>
      </vt:variant>
      <vt:variant>
        <vt:i4>53</vt:i4>
      </vt:variant>
    </vt:vector>
  </HeadingPairs>
  <TitlesOfParts>
    <vt:vector size="59" baseType="lpstr">
      <vt:lpstr>Arial</vt:lpstr>
      <vt:lpstr>Calibri</vt:lpstr>
      <vt:lpstr>Calibri Light</vt:lpstr>
      <vt:lpstr>Cambria Math</vt:lpstr>
      <vt:lpstr>Office Theme</vt:lpstr>
      <vt:lpstr>Office-tema</vt:lpstr>
      <vt:lpstr>PowerPoint-præsentation</vt:lpstr>
      <vt:lpstr>Formål med forelæsningen</vt:lpstr>
      <vt:lpstr>Forstå hvad effektmodifikation er</vt:lpstr>
      <vt:lpstr>Hvad er effektmodifikation?</vt:lpstr>
      <vt:lpstr>Effektmodifikation</vt:lpstr>
      <vt:lpstr>Effektmodifikation vs. Confounding</vt:lpstr>
      <vt:lpstr>Effektmodifikation vs. Confounding</vt:lpstr>
      <vt:lpstr>Eksempler på spørgsmål</vt:lpstr>
      <vt:lpstr>Eksempler med asbest og rygning</vt:lpstr>
      <vt:lpstr>Eksempler med asbest og rygning</vt:lpstr>
      <vt:lpstr>Eksempel fra RCT</vt:lpstr>
      <vt:lpstr>Eksempel fra RCT</vt:lpstr>
      <vt:lpstr>Klinisk betydning</vt:lpstr>
      <vt:lpstr>Folkesundhed</vt:lpstr>
      <vt:lpstr>Opsummering af klinisk relevans</vt:lpstr>
      <vt:lpstr>Afslutning</vt:lpstr>
      <vt:lpstr>Lære at identificere potentielle effektmodifikatorer</vt:lpstr>
      <vt:lpstr>Kende litteraturen</vt:lpstr>
      <vt:lpstr>Sammenlign stratificerede estimater</vt:lpstr>
      <vt:lpstr>Test for interaktion</vt:lpstr>
      <vt:lpstr>Typer af effektmodifikation</vt:lpstr>
      <vt:lpstr>Additiv effektmodifikation</vt:lpstr>
      <vt:lpstr>Additiv effektmodifikation</vt:lpstr>
      <vt:lpstr>Additiv effektmodifikation</vt:lpstr>
      <vt:lpstr>Multiplikativ effektmodifikation</vt:lpstr>
      <vt:lpstr>Multiplikativ effektmodifikation</vt:lpstr>
      <vt:lpstr>Multiplikativ effektmodifikation</vt:lpstr>
      <vt:lpstr>Multiplikativ effektmodifikation</vt:lpstr>
      <vt:lpstr>Typer af effektmodifikation</vt:lpstr>
      <vt:lpstr>Kende til metoder til at håndtere effektmodifikation</vt:lpstr>
      <vt:lpstr>Håndtering af effektmodifikation</vt:lpstr>
      <vt:lpstr>Afrapportering ved effektmodifikation</vt:lpstr>
      <vt:lpstr>Test for interaktion</vt:lpstr>
      <vt:lpstr>Differentiere mellem confounding, mediation og effektmodifikation</vt:lpstr>
      <vt:lpstr>Confounding</vt:lpstr>
      <vt:lpstr>Mediation</vt:lpstr>
      <vt:lpstr>Effektmodifikation</vt:lpstr>
      <vt:lpstr>Effektmodifikator Eksempel 1 – </vt:lpstr>
      <vt:lpstr>Effektmodifikator Eksempel 1 – Resultater</vt:lpstr>
      <vt:lpstr>Effektmodifikator Eksempel 2 – Introduktion</vt:lpstr>
      <vt:lpstr>Effektmodifikator Eksempel 2 – Resultater</vt:lpstr>
      <vt:lpstr>Effektmodifikator Eksempel 3 – Introduktion</vt:lpstr>
      <vt:lpstr>Effektmodifikator Eksempel 3 – Resultater</vt:lpstr>
      <vt:lpstr>Confounder Eksempel 1 – Introduktion</vt:lpstr>
      <vt:lpstr>Confounder Eksempel 1 – Resultater</vt:lpstr>
      <vt:lpstr>Confounder Eksempel 2 – Introduktion</vt:lpstr>
      <vt:lpstr>Confounder Eksempel 2 – Resultater</vt:lpstr>
      <vt:lpstr>Mediator Eksempel 1 – Introduktion</vt:lpstr>
      <vt:lpstr>Mediator Eksempel 1 – Resultater</vt:lpstr>
      <vt:lpstr>Mediator Eksempel 2 – Introduktion</vt:lpstr>
      <vt:lpstr>Mediator Eksempel 2 – Resultater</vt:lpstr>
      <vt:lpstr>Mediator Eksempel 3 – Introduktion</vt:lpstr>
      <vt:lpstr>Mediator Eksempel 3 – Resultater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Effektmodifikation</dc:title>
  <dc:subject/>
  <dc:creator>Jens-Jakob Kjer Møller</dc:creator>
  <cp:keywords/>
  <dc:description>generated using python-pptx</dc:description>
  <cp:lastModifiedBy>Jens-Jakob Kjer Møller</cp:lastModifiedBy>
  <cp:revision>48</cp:revision>
  <dcterms:created xsi:type="dcterms:W3CDTF">2013-01-27T09:14:16Z</dcterms:created>
  <dcterms:modified xsi:type="dcterms:W3CDTF">2026-03-05T09:12:16Z</dcterms:modified>
  <cp:category/>
</cp:coreProperties>
</file>