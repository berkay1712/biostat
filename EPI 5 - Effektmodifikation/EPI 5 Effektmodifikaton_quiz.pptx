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unknown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308" r:id="rId3"/>
    <p:sldId id="300" r:id="rId4"/>
    <p:sldId id="313" r:id="rId5"/>
    <p:sldId id="302" r:id="rId6"/>
    <p:sldId id="301" r:id="rId7"/>
    <p:sldId id="314" r:id="rId8"/>
    <p:sldId id="303" r:id="rId9"/>
    <p:sldId id="304" r:id="rId10"/>
    <p:sldId id="315" r:id="rId11"/>
    <p:sldId id="305" r:id="rId12"/>
    <p:sldId id="306" r:id="rId13"/>
    <p:sldId id="316" r:id="rId14"/>
    <p:sldId id="307" r:id="rId15"/>
    <p:sldId id="309" r:id="rId16"/>
    <p:sldId id="317" r:id="rId17"/>
    <p:sldId id="310" r:id="rId18"/>
    <p:sldId id="311" r:id="rId19"/>
    <p:sldId id="318" r:id="rId20"/>
    <p:sldId id="312" r:id="rId21"/>
    <p:sldId id="319" r:id="rId22"/>
    <p:sldId id="322" r:id="rId23"/>
    <p:sldId id="321" r:id="rId24"/>
    <p:sldId id="320" r:id="rId25"/>
    <p:sldId id="323" r:id="rId26"/>
    <p:sldId id="324" r:id="rId27"/>
    <p:sldId id="325" r:id="rId28"/>
    <p:sldId id="326" r:id="rId29"/>
  </p:sldIdLst>
  <p:sldSz cx="9144000" cy="6858000" type="screen4x3"/>
  <p:notesSz cx="6858000" cy="9144000"/>
  <p:custDataLst>
    <p:tags r:id="rId3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13A1D8-57F9-476C-8327-F025F15CA979}" v="1" dt="2026-03-05T06:40:59.7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98" autoAdjust="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134" y="108"/>
      </p:cViewPr>
      <p:guideLst>
        <p:guide orient="horz" pos="2160"/>
        <p:guide pos="288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s-Jakob Kjer Møller" userId="ecba9b24-e9b5-4d68-b011-18c0f20b3743" providerId="ADAL" clId="{A6A2CB1A-029F-4BB2-8E68-B062D13FD1D3}"/>
    <pc:docChg chg="undo custSel modSld">
      <pc:chgData name="Jens-Jakob Kjer Møller" userId="ecba9b24-e9b5-4d68-b011-18c0f20b3743" providerId="ADAL" clId="{A6A2CB1A-029F-4BB2-8E68-B062D13FD1D3}" dt="2026-03-05T09:58:19.189" v="81" actId="20577"/>
      <pc:docMkLst>
        <pc:docMk/>
      </pc:docMkLst>
      <pc:sldChg chg="modSp mod">
        <pc:chgData name="Jens-Jakob Kjer Møller" userId="ecba9b24-e9b5-4d68-b011-18c0f20b3743" providerId="ADAL" clId="{A6A2CB1A-029F-4BB2-8E68-B062D13FD1D3}" dt="2026-03-05T09:58:19.189" v="81" actId="20577"/>
        <pc:sldMkLst>
          <pc:docMk/>
          <pc:sldMk cId="0" sldId="256"/>
        </pc:sldMkLst>
        <pc:spChg chg="mod">
          <ac:chgData name="Jens-Jakob Kjer Møller" userId="ecba9b24-e9b5-4d68-b011-18c0f20b3743" providerId="ADAL" clId="{A6A2CB1A-029F-4BB2-8E68-B062D13FD1D3}" dt="2026-03-05T06:34:23.421" v="1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Jens-Jakob Kjer Møller" userId="ecba9b24-e9b5-4d68-b011-18c0f20b3743" providerId="ADAL" clId="{A6A2CB1A-029F-4BB2-8E68-B062D13FD1D3}" dt="2026-03-05T09:58:19.189" v="81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Jens-Jakob Kjer Møller" userId="ecba9b24-e9b5-4d68-b011-18c0f20b3743" providerId="ADAL" clId="{A6A2CB1A-029F-4BB2-8E68-B062D13FD1D3}" dt="2026-03-05T06:37:07.720" v="33" actId="20577"/>
        <pc:sldMkLst>
          <pc:docMk/>
          <pc:sldMk cId="3616991409" sldId="300"/>
        </pc:sldMkLst>
        <pc:graphicFrameChg chg="modGraphic">
          <ac:chgData name="Jens-Jakob Kjer Møller" userId="ecba9b24-e9b5-4d68-b011-18c0f20b3743" providerId="ADAL" clId="{A6A2CB1A-029F-4BB2-8E68-B062D13FD1D3}" dt="2026-03-05T06:37:07.720" v="33" actId="20577"/>
          <ac:graphicFrameMkLst>
            <pc:docMk/>
            <pc:sldMk cId="3616991409" sldId="300"/>
            <ac:graphicFrameMk id="6" creationId="{00000000-0000-0000-0000-000000000000}"/>
          </ac:graphicFrameMkLst>
        </pc:graphicFrameChg>
      </pc:sldChg>
      <pc:sldChg chg="modSp mod">
        <pc:chgData name="Jens-Jakob Kjer Møller" userId="ecba9b24-e9b5-4d68-b011-18c0f20b3743" providerId="ADAL" clId="{A6A2CB1A-029F-4BB2-8E68-B062D13FD1D3}" dt="2026-03-05T06:37:32.856" v="47" actId="20577"/>
        <pc:sldMkLst>
          <pc:docMk/>
          <pc:sldMk cId="3964214730" sldId="301"/>
        </pc:sldMkLst>
        <pc:graphicFrameChg chg="modGraphic">
          <ac:chgData name="Jens-Jakob Kjer Møller" userId="ecba9b24-e9b5-4d68-b011-18c0f20b3743" providerId="ADAL" clId="{A6A2CB1A-029F-4BB2-8E68-B062D13FD1D3}" dt="2026-03-05T06:37:32.856" v="47" actId="20577"/>
          <ac:graphicFrameMkLst>
            <pc:docMk/>
            <pc:sldMk cId="3964214730" sldId="301"/>
            <ac:graphicFrameMk id="5" creationId="{00000000-0000-0000-0000-000000000000}"/>
          </ac:graphicFrameMkLst>
        </pc:graphicFrameChg>
      </pc:sldChg>
      <pc:sldChg chg="modSp mod">
        <pc:chgData name="Jens-Jakob Kjer Møller" userId="ecba9b24-e9b5-4d68-b011-18c0f20b3743" providerId="ADAL" clId="{A6A2CB1A-029F-4BB2-8E68-B062D13FD1D3}" dt="2026-03-05T06:37:21.911" v="38" actId="20577"/>
        <pc:sldMkLst>
          <pc:docMk/>
          <pc:sldMk cId="73502184" sldId="302"/>
        </pc:sldMkLst>
        <pc:graphicFrameChg chg="modGraphic">
          <ac:chgData name="Jens-Jakob Kjer Møller" userId="ecba9b24-e9b5-4d68-b011-18c0f20b3743" providerId="ADAL" clId="{A6A2CB1A-029F-4BB2-8E68-B062D13FD1D3}" dt="2026-03-05T06:37:21.911" v="38" actId="20577"/>
          <ac:graphicFrameMkLst>
            <pc:docMk/>
            <pc:sldMk cId="73502184" sldId="302"/>
            <ac:graphicFrameMk id="5" creationId="{00000000-0000-0000-0000-000000000000}"/>
          </ac:graphicFrameMkLst>
        </pc:graphicFrameChg>
      </pc:sldChg>
      <pc:sldChg chg="modSp mod">
        <pc:chgData name="Jens-Jakob Kjer Møller" userId="ecba9b24-e9b5-4d68-b011-18c0f20b3743" providerId="ADAL" clId="{A6A2CB1A-029F-4BB2-8E68-B062D13FD1D3}" dt="2026-03-05T06:38:20.857" v="54" actId="20577"/>
        <pc:sldMkLst>
          <pc:docMk/>
          <pc:sldMk cId="2641583783" sldId="304"/>
        </pc:sldMkLst>
        <pc:graphicFrameChg chg="modGraphic">
          <ac:chgData name="Jens-Jakob Kjer Møller" userId="ecba9b24-e9b5-4d68-b011-18c0f20b3743" providerId="ADAL" clId="{A6A2CB1A-029F-4BB2-8E68-B062D13FD1D3}" dt="2026-03-05T06:38:20.857" v="54" actId="20577"/>
          <ac:graphicFrameMkLst>
            <pc:docMk/>
            <pc:sldMk cId="2641583783" sldId="304"/>
            <ac:graphicFrameMk id="5" creationId="{00000000-0000-0000-0000-000000000000}"/>
          </ac:graphicFrameMkLst>
        </pc:graphicFrameChg>
      </pc:sldChg>
      <pc:sldChg chg="modSp mod">
        <pc:chgData name="Jens-Jakob Kjer Møller" userId="ecba9b24-e9b5-4d68-b011-18c0f20b3743" providerId="ADAL" clId="{A6A2CB1A-029F-4BB2-8E68-B062D13FD1D3}" dt="2026-03-05T06:38:47.575" v="59" actId="20577"/>
        <pc:sldMkLst>
          <pc:docMk/>
          <pc:sldMk cId="3430629705" sldId="306"/>
        </pc:sldMkLst>
        <pc:graphicFrameChg chg="modGraphic">
          <ac:chgData name="Jens-Jakob Kjer Møller" userId="ecba9b24-e9b5-4d68-b011-18c0f20b3743" providerId="ADAL" clId="{A6A2CB1A-029F-4BB2-8E68-B062D13FD1D3}" dt="2026-03-05T06:38:47.575" v="59" actId="20577"/>
          <ac:graphicFrameMkLst>
            <pc:docMk/>
            <pc:sldMk cId="3430629705" sldId="306"/>
            <ac:graphicFrameMk id="6" creationId="{00000000-0000-0000-0000-000000000000}"/>
          </ac:graphicFrameMkLst>
        </pc:graphicFrameChg>
      </pc:sldChg>
      <pc:sldChg chg="modSp mod">
        <pc:chgData name="Jens-Jakob Kjer Møller" userId="ecba9b24-e9b5-4d68-b011-18c0f20b3743" providerId="ADAL" clId="{A6A2CB1A-029F-4BB2-8E68-B062D13FD1D3}" dt="2026-03-05T06:39:51.172" v="66" actId="20577"/>
        <pc:sldMkLst>
          <pc:docMk/>
          <pc:sldMk cId="2233691182" sldId="309"/>
        </pc:sldMkLst>
        <pc:graphicFrameChg chg="modGraphic">
          <ac:chgData name="Jens-Jakob Kjer Møller" userId="ecba9b24-e9b5-4d68-b011-18c0f20b3743" providerId="ADAL" clId="{A6A2CB1A-029F-4BB2-8E68-B062D13FD1D3}" dt="2026-03-05T06:39:51.172" v="66" actId="20577"/>
          <ac:graphicFrameMkLst>
            <pc:docMk/>
            <pc:sldMk cId="2233691182" sldId="309"/>
            <ac:graphicFrameMk id="7" creationId="{00000000-0000-0000-0000-000000000000}"/>
          </ac:graphicFrameMkLst>
        </pc:graphicFrameChg>
      </pc:sldChg>
      <pc:sldChg chg="modSp mod">
        <pc:chgData name="Jens-Jakob Kjer Møller" userId="ecba9b24-e9b5-4d68-b011-18c0f20b3743" providerId="ADAL" clId="{A6A2CB1A-029F-4BB2-8E68-B062D13FD1D3}" dt="2026-03-05T06:39:57.253" v="73" actId="20577"/>
        <pc:sldMkLst>
          <pc:docMk/>
          <pc:sldMk cId="3323935264" sldId="310"/>
        </pc:sldMkLst>
        <pc:graphicFrameChg chg="modGraphic">
          <ac:chgData name="Jens-Jakob Kjer Møller" userId="ecba9b24-e9b5-4d68-b011-18c0f20b3743" providerId="ADAL" clId="{A6A2CB1A-029F-4BB2-8E68-B062D13FD1D3}" dt="2026-03-05T06:39:57.253" v="73" actId="20577"/>
          <ac:graphicFrameMkLst>
            <pc:docMk/>
            <pc:sldMk cId="3323935264" sldId="310"/>
            <ac:graphicFrameMk id="5" creationId="{00000000-0000-0000-0000-000000000000}"/>
          </ac:graphicFrameMkLst>
        </pc:graphicFrameChg>
      </pc:sldChg>
      <pc:sldChg chg="modSp mod">
        <pc:chgData name="Jens-Jakob Kjer Møller" userId="ecba9b24-e9b5-4d68-b011-18c0f20b3743" providerId="ADAL" clId="{A6A2CB1A-029F-4BB2-8E68-B062D13FD1D3}" dt="2026-03-05T06:40:10.962" v="78" actId="20577"/>
        <pc:sldMkLst>
          <pc:docMk/>
          <pc:sldMk cId="3888542668" sldId="311"/>
        </pc:sldMkLst>
        <pc:graphicFrameChg chg="modGraphic">
          <ac:chgData name="Jens-Jakob Kjer Møller" userId="ecba9b24-e9b5-4d68-b011-18c0f20b3743" providerId="ADAL" clId="{A6A2CB1A-029F-4BB2-8E68-B062D13FD1D3}" dt="2026-03-05T06:40:10.962" v="78" actId="20577"/>
          <ac:graphicFrameMkLst>
            <pc:docMk/>
            <pc:sldMk cId="3888542668" sldId="311"/>
            <ac:graphicFrameMk id="6" creationId="{00000000-0000-0000-0000-000000000000}"/>
          </ac:graphicFrameMkLst>
        </pc:graphicFrameChg>
      </pc:sldChg>
      <pc:sldChg chg="modSp">
        <pc:chgData name="Jens-Jakob Kjer Møller" userId="ecba9b24-e9b5-4d68-b011-18c0f20b3743" providerId="ADAL" clId="{A6A2CB1A-029F-4BB2-8E68-B062D13FD1D3}" dt="2026-03-05T06:40:59.791" v="79" actId="20577"/>
        <pc:sldMkLst>
          <pc:docMk/>
          <pc:sldMk cId="284076489" sldId="312"/>
        </pc:sldMkLst>
        <pc:spChg chg="mod">
          <ac:chgData name="Jens-Jakob Kjer Møller" userId="ecba9b24-e9b5-4d68-b011-18c0f20b3743" providerId="ADAL" clId="{A6A2CB1A-029F-4BB2-8E68-B062D13FD1D3}" dt="2026-03-05T06:40:59.791" v="79" actId="20577"/>
          <ac:spMkLst>
            <pc:docMk/>
            <pc:sldMk cId="284076489" sldId="31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95C45D-6391-427E-BBD3-EEBD617DA769}" type="datetimeFigureOut">
              <a:rPr lang="da-DK" smtClean="0"/>
              <a:t>05-03-2026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8F6AF-EAEC-49CD-BCF9-9287B7AD86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68283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Rektangel 6"/>
          <p:cNvSpPr/>
          <p:nvPr userDrawn="1"/>
        </p:nvSpPr>
        <p:spPr>
          <a:xfrm>
            <a:off x="1704252" y="6363576"/>
            <a:ext cx="1198781" cy="428326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8" name="Billede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70" y="6478438"/>
            <a:ext cx="909464" cy="243037"/>
          </a:xfrm>
          <a:prstGeom prst="rect">
            <a:avLst/>
          </a:prstGeom>
        </p:spPr>
      </p:pic>
      <p:pic>
        <p:nvPicPr>
          <p:cNvPr id="9" name="Billede 8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124" y="6412995"/>
            <a:ext cx="281146" cy="37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ens-jakob.kjer.moller@rsyd.d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5.sv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7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5.sv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0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5.sv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3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5.sv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6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5.sv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9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5.sv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sv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2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5.sv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sv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5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5.sv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sv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8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5.sv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sv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31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9.sv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5.sv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a-DK" sz="45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EPI 5 Effektmodifikation QUIZ</a:t>
            </a: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Jens-Jakob Kjer Møller, epidemiolog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 - Open Patient data </a:t>
            </a:r>
            <a:r>
              <a:rPr kumimoji="0" lang="da-DK" sz="18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Explorative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Network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jens-jakob.kjer.moller@rsyd.dk</a:t>
            </a:r>
            <a:r>
              <a:rPr kumimoji="0" lang="da-DK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 dirty="0">
                <a:solidFill>
                  <a:sysClr val="windowText" lastClr="000000"/>
                </a:solidFill>
                <a:latin typeface="Calibri" panose="020F0502020204030204"/>
              </a:rPr>
              <a:t>5</a:t>
            </a:r>
            <a:r>
              <a:rPr lang="da-DK">
                <a:solidFill>
                  <a:sysClr val="windowText" lastClr="000000"/>
                </a:solidFill>
                <a:latin typeface="Calibri" panose="020F0502020204030204"/>
              </a:rPr>
              <a:t>. </a:t>
            </a:r>
            <a:r>
              <a:rPr lang="da-DK" dirty="0">
                <a:solidFill>
                  <a:sysClr val="windowText" lastClr="000000"/>
                </a:solidFill>
                <a:latin typeface="Calibri" panose="020F0502020204030204"/>
              </a:rPr>
              <a:t>marts 2026</a:t>
            </a:r>
            <a:endParaRPr kumimoji="0" lang="da-DK" sz="1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QUIZ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 dirty="0"/>
              <a:t>Der kommer 10 spørgsmål</a:t>
            </a:r>
          </a:p>
          <a:p>
            <a:r>
              <a:rPr lang="da-DK" dirty="0"/>
              <a:t>For de første 6 spørgsmål skal I svare en eller flere af følgende muligheder:</a:t>
            </a:r>
          </a:p>
          <a:p>
            <a:pPr lvl="1"/>
            <a:r>
              <a:rPr lang="da-DK" dirty="0" err="1"/>
              <a:t>Confounder</a:t>
            </a:r>
            <a:endParaRPr lang="da-DK" dirty="0"/>
          </a:p>
          <a:p>
            <a:pPr lvl="1"/>
            <a:r>
              <a:rPr lang="da-DK" dirty="0" err="1"/>
              <a:t>Mediator</a:t>
            </a:r>
            <a:endParaRPr lang="da-DK" dirty="0"/>
          </a:p>
          <a:p>
            <a:pPr lvl="1"/>
            <a:r>
              <a:rPr lang="da-DK" dirty="0" err="1"/>
              <a:t>Effektmodifikator</a:t>
            </a:r>
            <a:endParaRPr lang="da-DK" dirty="0"/>
          </a:p>
          <a:p>
            <a:pPr lvl="1"/>
            <a:r>
              <a:rPr lang="da-DK" dirty="0"/>
              <a:t>Ingen af de tre</a:t>
            </a:r>
          </a:p>
          <a:p>
            <a:r>
              <a:rPr lang="da-DK" dirty="0"/>
              <a:t>For de sidste 4 spørgsmål skal I beskrive, hvordan I vil håndtere henholdsvis </a:t>
            </a:r>
            <a:r>
              <a:rPr lang="da-DK" dirty="0" err="1"/>
              <a:t>confounding</a:t>
            </a:r>
            <a:r>
              <a:rPr lang="da-DK" dirty="0"/>
              <a:t>, </a:t>
            </a:r>
            <a:r>
              <a:rPr lang="da-DK" dirty="0" err="1"/>
              <a:t>mediation</a:t>
            </a:r>
            <a:r>
              <a:rPr lang="da-DK" dirty="0"/>
              <a:t> og effektmodifikation</a:t>
            </a:r>
          </a:p>
        </p:txBody>
      </p:sp>
    </p:spTree>
    <p:extLst>
      <p:ext uri="{BB962C8B-B14F-4D97-AF65-F5344CB8AC3E}">
        <p14:creationId xmlns:p14="http://schemas.microsoft.com/office/powerpoint/2010/main" val="559220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Spørgsmål 1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Eksponering</a:t>
            </a:r>
            <a:r>
              <a:rPr lang="da-DK" dirty="0"/>
              <a:t>: Alkoholforbrug (≥3 genstande/dag vs. ingen)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Udfald</a:t>
            </a:r>
            <a:r>
              <a:rPr lang="da-DK" dirty="0"/>
              <a:t>: Leverkræft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Tredje faktor</a:t>
            </a:r>
            <a:r>
              <a:rPr lang="da-DK" dirty="0"/>
              <a:t>: Alder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br>
              <a:rPr lang="da-DK" dirty="0"/>
            </a:b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sz="2800" b="1" dirty="0"/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2800" b="1" dirty="0"/>
              <a:t>Hvad er den tredje faktor?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879378"/>
              </p:ext>
            </p:extLst>
          </p:nvPr>
        </p:nvGraphicFramePr>
        <p:xfrm>
          <a:off x="535709" y="2669309"/>
          <a:ext cx="5486400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Estimate</a:t>
                      </a:r>
                      <a:r>
                        <a:rPr lang="da-DK" sz="1400" dirty="0"/>
                        <a:t> (OR)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/>
                        <a:t>Unadjusted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3.999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/>
                        <a:t>Adjusted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2.322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/>
                        <a:t>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Unge:</a:t>
                      </a:r>
                      <a:r>
                        <a:rPr lang="da-DK" sz="1400" baseline="0" dirty="0"/>
                        <a:t> </a:t>
                      </a:r>
                      <a:r>
                        <a:rPr lang="da-DK" sz="1400" dirty="0"/>
                        <a:t>2.433</a:t>
                      </a:r>
                    </a:p>
                    <a:p>
                      <a:r>
                        <a:rPr lang="da-DK" sz="1400" dirty="0"/>
                        <a:t>Gamle: </a:t>
                      </a:r>
                      <a:r>
                        <a:rPr sz="1400" dirty="0"/>
                        <a:t>2.</a:t>
                      </a:r>
                      <a:r>
                        <a:rPr lang="da-DK" sz="1400" dirty="0"/>
                        <a:t>265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699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333520" y="2039165"/>
            <a:ext cx="1778772" cy="1778773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2334638" y="1000897"/>
            <a:ext cx="6364669" cy="3855308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Spørgsmål 1: Hvad er alder?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9144000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55866" tIns="194553" rIns="1389666" bIns="152863" rtlCol="0" anchor="ctr">
            <a:normAutofit fontScale="925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6227843"/>
            <a:ext cx="222347" cy="222347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1" y="6200049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790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Spørgsmål 1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1800" dirty="0"/>
              <a:t>Alder er en </a:t>
            </a:r>
            <a:r>
              <a:rPr lang="da-DK" sz="1800" b="1" dirty="0" err="1"/>
              <a:t>confounder</a:t>
            </a:r>
            <a:r>
              <a:rPr lang="da-DK" sz="1800" dirty="0"/>
              <a:t>, fordi det justerede estimat er forskelligt fra det </a:t>
            </a:r>
            <a:r>
              <a:rPr lang="da-DK" sz="1800" dirty="0" err="1"/>
              <a:t>ujusterede</a:t>
            </a:r>
            <a:r>
              <a:rPr lang="da-DK" sz="1800" dirty="0"/>
              <a:t> estimat, og alder kan ikke være et led i årsagskæden.</a:t>
            </a:r>
            <a:endParaRPr lang="da-DK" sz="1600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0448000"/>
              </p:ext>
            </p:extLst>
          </p:nvPr>
        </p:nvGraphicFramePr>
        <p:xfrm>
          <a:off x="535709" y="2669309"/>
          <a:ext cx="5486400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Estimate</a:t>
                      </a:r>
                      <a:r>
                        <a:rPr lang="da-DK" sz="1400" dirty="0"/>
                        <a:t> (OR)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/>
                        <a:t>Unadjusted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3.999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/>
                        <a:t>Adjusted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2.322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/>
                        <a:t>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Unge:</a:t>
                      </a:r>
                      <a:r>
                        <a:rPr lang="da-DK" sz="1400" baseline="0" dirty="0"/>
                        <a:t> </a:t>
                      </a:r>
                      <a:r>
                        <a:rPr lang="da-DK" sz="1400" dirty="0"/>
                        <a:t>2.433</a:t>
                      </a:r>
                    </a:p>
                    <a:p>
                      <a:r>
                        <a:rPr lang="da-DK" sz="1400" dirty="0"/>
                        <a:t>Gamle: </a:t>
                      </a:r>
                      <a:r>
                        <a:rPr sz="1400" dirty="0"/>
                        <a:t>2.</a:t>
                      </a:r>
                      <a:r>
                        <a:rPr lang="da-DK" sz="1400" dirty="0"/>
                        <a:t>265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502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Spørgsmål 2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Eksponering</a:t>
            </a:r>
            <a:r>
              <a:rPr lang="da-DK" dirty="0"/>
              <a:t>: Rygning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Udfald</a:t>
            </a:r>
            <a:r>
              <a:rPr lang="da-DK" dirty="0"/>
              <a:t>: Lungekræft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Tredje faktor</a:t>
            </a:r>
            <a:r>
              <a:rPr lang="da-DK" dirty="0"/>
              <a:t>: KOL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br>
              <a:rPr lang="da-DK" dirty="0"/>
            </a:b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sz="2800" b="1" dirty="0"/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2800" b="1" dirty="0"/>
              <a:t>Hvad er den tredje faktor?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106517"/>
              </p:ext>
            </p:extLst>
          </p:nvPr>
        </p:nvGraphicFramePr>
        <p:xfrm>
          <a:off x="494145" y="2669309"/>
          <a:ext cx="5486400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Estimate</a:t>
                      </a:r>
                      <a:r>
                        <a:rPr lang="da-DK" sz="1400" dirty="0"/>
                        <a:t> (OR)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/>
                        <a:t>Unadjusted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1.974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 dirty="0"/>
                        <a:t>Adjusted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1.211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/>
                        <a:t>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Ingen</a:t>
                      </a:r>
                      <a:r>
                        <a:rPr lang="da-DK" sz="1400" baseline="0" dirty="0"/>
                        <a:t> KOL: </a:t>
                      </a:r>
                      <a:r>
                        <a:rPr lang="da-DK" sz="1400" dirty="0"/>
                        <a:t>1.345</a:t>
                      </a:r>
                    </a:p>
                    <a:p>
                      <a:r>
                        <a:rPr sz="1400" dirty="0"/>
                        <a:t>KOL</a:t>
                      </a:r>
                      <a:r>
                        <a:rPr lang="da-DK" sz="1400" dirty="0"/>
                        <a:t>: 1.784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4214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333520" y="2039165"/>
            <a:ext cx="1778772" cy="1778773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2334638" y="1000897"/>
            <a:ext cx="6364669" cy="3855308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Spørgsmål 2: Hvad er KOL?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9144000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55866" tIns="194553" rIns="1389666" bIns="152863" rtlCol="0" anchor="ctr">
            <a:normAutofit fontScale="925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6227843"/>
            <a:ext cx="222347" cy="222347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1" y="6200049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06515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Spørgsmål 2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1800" dirty="0"/>
              <a:t>KOL er en </a:t>
            </a:r>
            <a:r>
              <a:rPr lang="da-DK" sz="1800" b="1" dirty="0" err="1"/>
              <a:t>mediator</a:t>
            </a:r>
            <a:r>
              <a:rPr lang="da-DK" sz="1800" dirty="0"/>
              <a:t>.  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1800" dirty="0"/>
              <a:t>Det justerede estimat er forskelligt fra det </a:t>
            </a:r>
            <a:r>
              <a:rPr lang="da-DK" sz="1800" dirty="0" err="1"/>
              <a:t>ujusterede</a:t>
            </a:r>
            <a:r>
              <a:rPr lang="da-DK" sz="1800" dirty="0"/>
              <a:t> estimat fordi den indirekte effekt (fejlagtigt) justeres væk. Det er mest sandsynligt, at KOL er et led i årsagskæden, og derfor skal der ikke justeres for KOL.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1800" dirty="0"/>
              <a:t>De stratificerede estimater er også forskellige, men det er svært at fortolke resultater stratificeret på en </a:t>
            </a:r>
            <a:r>
              <a:rPr lang="da-DK" sz="1800" dirty="0" err="1"/>
              <a:t>mediator</a:t>
            </a:r>
            <a:r>
              <a:rPr lang="da-DK" sz="1800" dirty="0"/>
              <a:t>.</a:t>
            </a:r>
            <a:endParaRPr lang="da-DK" sz="1600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2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Spørgsmål 3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Eksponering</a:t>
            </a:r>
            <a:r>
              <a:rPr lang="da-DK" dirty="0"/>
              <a:t>: Motion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Udfald</a:t>
            </a:r>
            <a:r>
              <a:rPr lang="da-DK" dirty="0"/>
              <a:t>: Blodtryksændring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Tredje faktor</a:t>
            </a:r>
            <a:r>
              <a:rPr lang="da-DK" dirty="0"/>
              <a:t>: Køn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br>
              <a:rPr lang="da-DK" dirty="0"/>
            </a:b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2800" b="1" dirty="0"/>
              <a:t>Hvad er den tredje faktor?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603703"/>
              </p:ext>
            </p:extLst>
          </p:nvPr>
        </p:nvGraphicFramePr>
        <p:xfrm>
          <a:off x="457200" y="2743200"/>
          <a:ext cx="5486400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Estimate</a:t>
                      </a:r>
                      <a:r>
                        <a:rPr lang="da-DK" sz="1400" dirty="0"/>
                        <a:t> (</a:t>
                      </a:r>
                      <a:r>
                        <a:rPr lang="da-DK" sz="1400" dirty="0" err="1"/>
                        <a:t>coef</a:t>
                      </a:r>
                      <a:r>
                        <a:rPr lang="da-DK" sz="1400" dirty="0"/>
                        <a:t>)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/>
                        <a:t>Unadjusted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-5.819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/>
                        <a:t>Adjusted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-5.763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/>
                        <a:t>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Mænd: </a:t>
                      </a:r>
                      <a:r>
                        <a:rPr sz="1400" dirty="0"/>
                        <a:t>-2.139</a:t>
                      </a:r>
                      <a:endParaRPr lang="da-DK" sz="1400" dirty="0"/>
                    </a:p>
                    <a:p>
                      <a:r>
                        <a:rPr lang="da-DK" sz="1400" dirty="0"/>
                        <a:t>Kvinder: </a:t>
                      </a:r>
                      <a:r>
                        <a:rPr sz="1400" dirty="0"/>
                        <a:t>-9.325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583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333520" y="2039165"/>
            <a:ext cx="1778772" cy="1778773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2334638" y="1000897"/>
            <a:ext cx="6364669" cy="3855308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Spørgsmål 3: Hvad er køn?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9144000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55866" tIns="194553" rIns="1389666" bIns="152863" rtlCol="0" anchor="ctr">
            <a:normAutofit fontScale="925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6227843"/>
            <a:ext cx="222347" cy="222347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1" y="6200049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6500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Spørgsmål 3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1800" dirty="0"/>
              <a:t>Køn er en </a:t>
            </a:r>
            <a:r>
              <a:rPr lang="da-DK" sz="1800" b="1" dirty="0" err="1"/>
              <a:t>effektmodifikator</a:t>
            </a:r>
            <a:r>
              <a:rPr lang="da-DK" sz="1800" dirty="0"/>
              <a:t>.  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1800" dirty="0"/>
              <a:t>Det justerede estimat er ikke forskelligt fra det </a:t>
            </a:r>
            <a:r>
              <a:rPr lang="da-DK" sz="1800" dirty="0" err="1"/>
              <a:t>ujusterede</a:t>
            </a:r>
            <a:r>
              <a:rPr lang="da-DK" sz="1800" dirty="0"/>
              <a:t> estimat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1800" dirty="0"/>
              <a:t>De stratificerede estimater er forskellige, og derfor er effekten af træning målt på blodtryk forskelligt fra mænd og kvinder.</a:t>
            </a:r>
            <a:endParaRPr lang="da-DK" sz="1600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9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Spørgsmål 4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Eksponering</a:t>
            </a:r>
            <a:r>
              <a:rPr lang="da-DK" dirty="0"/>
              <a:t>: Kaffe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Udfald</a:t>
            </a:r>
            <a:r>
              <a:rPr lang="da-DK" dirty="0"/>
              <a:t>: </a:t>
            </a:r>
            <a:r>
              <a:rPr lang="da-DK" dirty="0" err="1"/>
              <a:t>Myokardieinfarkt</a:t>
            </a: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Tredje faktor</a:t>
            </a:r>
            <a:r>
              <a:rPr lang="da-DK" dirty="0"/>
              <a:t>: Rygning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br>
              <a:rPr lang="da-DK" dirty="0"/>
            </a:b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2800" b="1" dirty="0"/>
              <a:t>Hvad er den tredje faktor?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176134"/>
              </p:ext>
            </p:extLst>
          </p:nvPr>
        </p:nvGraphicFramePr>
        <p:xfrm>
          <a:off x="457200" y="2743200"/>
          <a:ext cx="5486400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Estimate</a:t>
                      </a:r>
                      <a:r>
                        <a:rPr lang="da-DK" sz="1400" dirty="0"/>
                        <a:t> (OR)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/>
                        <a:t>Unadjusted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1.648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/>
                        <a:t>Adjusted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1.187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 dirty="0"/>
                        <a:t>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Ikke-ryger:</a:t>
                      </a:r>
                      <a:r>
                        <a:rPr lang="da-DK" sz="1400" baseline="0" dirty="0"/>
                        <a:t> </a:t>
                      </a:r>
                      <a:r>
                        <a:rPr sz="1400" dirty="0"/>
                        <a:t>1.634</a:t>
                      </a:r>
                      <a:endParaRPr lang="da-DK" sz="1400" dirty="0"/>
                    </a:p>
                    <a:p>
                      <a:r>
                        <a:rPr lang="da-DK" sz="1400" dirty="0"/>
                        <a:t>Ryger: </a:t>
                      </a:r>
                      <a:r>
                        <a:rPr sz="1400" dirty="0"/>
                        <a:t>0.</a:t>
                      </a:r>
                      <a:r>
                        <a:rPr lang="da-DK" sz="1400" dirty="0"/>
                        <a:t>9</a:t>
                      </a:r>
                      <a:r>
                        <a:rPr sz="1400" dirty="0"/>
                        <a:t>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629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333520" y="2039165"/>
            <a:ext cx="1778772" cy="1778773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2334638" y="1000897"/>
            <a:ext cx="6364669" cy="3855308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Spørgsmål 4: Hvad er rygning?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9144000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55866" tIns="194553" rIns="1389666" bIns="152863" rtlCol="0" anchor="ctr">
            <a:normAutofit fontScale="925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6227843"/>
            <a:ext cx="222347" cy="222347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1" y="6200049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1164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Spørgsmål 4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1800" dirty="0"/>
              <a:t>Rygning er </a:t>
            </a:r>
            <a:r>
              <a:rPr lang="da-DK" sz="1800" b="1" dirty="0" err="1"/>
              <a:t>confounder</a:t>
            </a:r>
            <a:r>
              <a:rPr lang="da-DK" sz="1800" dirty="0"/>
              <a:t> og </a:t>
            </a:r>
            <a:r>
              <a:rPr lang="da-DK" sz="1800" b="1" dirty="0" err="1"/>
              <a:t>effektmodifikator</a:t>
            </a:r>
            <a:r>
              <a:rPr lang="da-DK" sz="1800" dirty="0"/>
              <a:t>.  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1800" dirty="0"/>
              <a:t>Det justerede estimat er forskelligt fra det </a:t>
            </a:r>
            <a:r>
              <a:rPr lang="da-DK" sz="1800" dirty="0" err="1"/>
              <a:t>ujusterede</a:t>
            </a:r>
            <a:r>
              <a:rPr lang="da-DK" sz="1800" dirty="0"/>
              <a:t> estimat (</a:t>
            </a:r>
            <a:r>
              <a:rPr lang="da-DK" sz="1800" dirty="0" err="1"/>
              <a:t>confounder</a:t>
            </a:r>
            <a:r>
              <a:rPr lang="da-DK" sz="1800" dirty="0"/>
              <a:t>).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1800" dirty="0"/>
              <a:t>De stratificerede estimater er forskellige, og derfor er effekten af kaffe målt på </a:t>
            </a:r>
            <a:r>
              <a:rPr lang="da-DK" sz="1800" dirty="0" err="1"/>
              <a:t>myokardieinfarkt</a:t>
            </a:r>
            <a:r>
              <a:rPr lang="da-DK" sz="1800" dirty="0"/>
              <a:t> forskelligt fra ikke-rygere og rygere (</a:t>
            </a:r>
            <a:r>
              <a:rPr lang="da-DK" sz="1800" dirty="0" err="1"/>
              <a:t>effektmodifikator</a:t>
            </a:r>
            <a:r>
              <a:rPr lang="da-DK" sz="1800" dirty="0"/>
              <a:t>).</a:t>
            </a:r>
            <a:endParaRPr lang="da-DK" sz="1600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8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Spørgsmål 5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Eksponering</a:t>
            </a:r>
            <a:r>
              <a:rPr lang="da-DK" dirty="0"/>
              <a:t>: Land vs. by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Udfald</a:t>
            </a:r>
            <a:r>
              <a:rPr lang="da-DK" dirty="0"/>
              <a:t>: Fysisk aktiv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Tredje faktor</a:t>
            </a:r>
            <a:r>
              <a:rPr lang="da-DK" dirty="0"/>
              <a:t>: Indkomst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br>
              <a:rPr lang="da-DK" dirty="0"/>
            </a:b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2800" b="1" dirty="0"/>
              <a:t>Hvad er den tredje faktor?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334254"/>
              </p:ext>
            </p:extLst>
          </p:nvPr>
        </p:nvGraphicFramePr>
        <p:xfrm>
          <a:off x="457200" y="2780145"/>
          <a:ext cx="5486400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Estimate</a:t>
                      </a:r>
                      <a:r>
                        <a:rPr lang="da-DK" sz="1400" dirty="0"/>
                        <a:t> (</a:t>
                      </a:r>
                      <a:r>
                        <a:rPr lang="da-DK" sz="1400" dirty="0" err="1"/>
                        <a:t>coef</a:t>
                      </a:r>
                      <a:r>
                        <a:rPr lang="da-DK" sz="1400" dirty="0"/>
                        <a:t>)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/>
                        <a:t>Unadjusted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8.214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 dirty="0"/>
                        <a:t>Adjusted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5.821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/>
                        <a:t>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Lav indkomst: 6.112</a:t>
                      </a:r>
                    </a:p>
                    <a:p>
                      <a:r>
                        <a:rPr lang="da-DK" sz="1400" dirty="0"/>
                        <a:t>Høj indkomst: 5.657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691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333520" y="2039165"/>
            <a:ext cx="1778772" cy="1778773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2334638" y="1000897"/>
            <a:ext cx="6364669" cy="3855308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Spørgsmål 5: Hvad er indkomst?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9144000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55866" tIns="194553" rIns="1389666" bIns="152863" rtlCol="0" anchor="ctr">
            <a:normAutofit fontScale="925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6227843"/>
            <a:ext cx="222347" cy="222347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1" y="6200049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19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Spørgsmål 5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1800" dirty="0"/>
              <a:t>Indkomst er </a:t>
            </a:r>
            <a:r>
              <a:rPr lang="da-DK" sz="1800" b="1" dirty="0" err="1"/>
              <a:t>confounder</a:t>
            </a:r>
            <a:r>
              <a:rPr lang="da-DK" sz="1800" dirty="0"/>
              <a:t>.  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1800" dirty="0"/>
              <a:t>Det justerede estimat er forskelligt fra det </a:t>
            </a:r>
            <a:r>
              <a:rPr lang="da-DK" sz="1800" dirty="0" err="1"/>
              <a:t>ujusterede</a:t>
            </a:r>
            <a:r>
              <a:rPr lang="da-DK" sz="1800" dirty="0"/>
              <a:t> estimat (</a:t>
            </a:r>
            <a:r>
              <a:rPr lang="da-DK" sz="1800" dirty="0" err="1"/>
              <a:t>confounder</a:t>
            </a:r>
            <a:r>
              <a:rPr lang="da-DK" sz="1800" dirty="0"/>
              <a:t>).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1800" dirty="0"/>
              <a:t>De stratificerede estimater er ikke forskellige fra hindanden (interaktion p-værdi = 0.730):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sz="1600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0139121"/>
              </p:ext>
            </p:extLst>
          </p:nvPr>
        </p:nvGraphicFramePr>
        <p:xfrm>
          <a:off x="457200" y="3140363"/>
          <a:ext cx="6368474" cy="8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3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Estimate</a:t>
                      </a:r>
                      <a:r>
                        <a:rPr lang="da-DK" sz="1400" dirty="0"/>
                        <a:t> (</a:t>
                      </a:r>
                      <a:r>
                        <a:rPr lang="da-DK" sz="1400" dirty="0" err="1"/>
                        <a:t>coef</a:t>
                      </a:r>
                      <a:r>
                        <a:rPr lang="da-DK" sz="1400" dirty="0"/>
                        <a:t>)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 dirty="0"/>
                        <a:t>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Lav indkomst: 6.112 (95% CI: 4.314-8.657)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dirty="0"/>
                        <a:t>Høj indkomst: 5.657 (95% CI: 4.334-7.380)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3935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Spørgsmål 6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Eksponering</a:t>
            </a:r>
            <a:r>
              <a:rPr lang="da-DK" dirty="0"/>
              <a:t>: Vegetarisk diæt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Udfald</a:t>
            </a:r>
            <a:r>
              <a:rPr lang="da-DK" dirty="0"/>
              <a:t>: Type 2 diabetes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b="1" dirty="0"/>
              <a:t>Tredje faktor</a:t>
            </a:r>
            <a:r>
              <a:rPr lang="da-DK" dirty="0"/>
              <a:t>: Alder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br>
              <a:rPr lang="da-DK" dirty="0"/>
            </a:b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lang="da-DK" dirty="0"/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2800" b="1" dirty="0"/>
              <a:t>Hvad er den tredje faktor?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469500"/>
              </p:ext>
            </p:extLst>
          </p:nvPr>
        </p:nvGraphicFramePr>
        <p:xfrm>
          <a:off x="457200" y="2743200"/>
          <a:ext cx="5486400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5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0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dirty="0"/>
                        <a:t>Estimate</a:t>
                      </a:r>
                      <a:r>
                        <a:rPr lang="da-DK" sz="1400" dirty="0"/>
                        <a:t> (OR)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/>
                        <a:t>Unadjusted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0.657 (95% CI: 0.453-0.953)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/>
                        <a:t>Adjusted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0.904 (95% CI: 0.609-1.340)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r>
                        <a:rPr sz="1400" dirty="0"/>
                        <a:t>Stratified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/>
                        <a:t>Unge:</a:t>
                      </a:r>
                      <a:r>
                        <a:rPr lang="da-DK" sz="1400" baseline="0" dirty="0"/>
                        <a:t> </a:t>
                      </a:r>
                      <a:r>
                        <a:rPr lang="da-DK" sz="1400" dirty="0"/>
                        <a:t>0.725 (95% CI: 0.400-1.317)</a:t>
                      </a:r>
                    </a:p>
                    <a:p>
                      <a:r>
                        <a:rPr lang="da-DK" sz="1400" dirty="0"/>
                        <a:t>Gamle: 1.104 (95% CI: 0.636-1.916)</a:t>
                      </a:r>
                      <a:endParaRPr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8542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333520" y="2039165"/>
            <a:ext cx="1778772" cy="1778773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2334638" y="1000897"/>
            <a:ext cx="6364669" cy="3855308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Spørgsmål 6: Hvad er alder?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9144000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55866" tIns="194553" rIns="1389666" bIns="152863" rtlCol="0" anchor="ctr">
            <a:normAutofit fontScale="925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6227843"/>
            <a:ext cx="222347" cy="222347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1" y="6200049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575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Spørgsmål 6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1800" dirty="0"/>
              <a:t>Alder er </a:t>
            </a:r>
            <a:r>
              <a:rPr lang="da-DK" sz="1800" b="1" dirty="0" err="1"/>
              <a:t>confounder</a:t>
            </a:r>
            <a:r>
              <a:rPr lang="da-DK" sz="1800" dirty="0"/>
              <a:t>.  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1800" dirty="0"/>
              <a:t>Det justerede estimat er ikke signifikant forskelligt fra det </a:t>
            </a:r>
            <a:r>
              <a:rPr lang="da-DK" sz="1800" dirty="0" err="1"/>
              <a:t>ujusterede</a:t>
            </a:r>
            <a:r>
              <a:rPr lang="da-DK" sz="1800" dirty="0"/>
              <a:t> estimat, men effekten forsvinder ved justering (</a:t>
            </a:r>
            <a:r>
              <a:rPr lang="da-DK" sz="1800" dirty="0" err="1"/>
              <a:t>confounder</a:t>
            </a:r>
            <a:r>
              <a:rPr lang="da-DK" sz="1800" dirty="0"/>
              <a:t>). 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lang="da-DK" sz="1800" dirty="0"/>
              <a:t>De stratificerede estimater ser måske forskellige ud, men deres </a:t>
            </a:r>
            <a:r>
              <a:rPr lang="da-DK" sz="1800" dirty="0" err="1"/>
              <a:t>konfidensintervaller</a:t>
            </a:r>
            <a:r>
              <a:rPr lang="da-DK" sz="1800" dirty="0"/>
              <a:t> overlapper. Test for interaktion bekræfter heller ikke effektmodifikation (p = 0.311). </a:t>
            </a:r>
            <a:endParaRPr lang="da-DK" sz="1600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6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Spørgsmål 7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Du skal designe et studie, der undersøger effekten af luftforurening på lungekræft. Rygning kan være en </a:t>
            </a:r>
            <a:r>
              <a:rPr lang="da-DK" dirty="0" err="1"/>
              <a:t>confounder</a:t>
            </a:r>
            <a:r>
              <a:rPr lang="da-DK" dirty="0"/>
              <a:t>. </a:t>
            </a:r>
          </a:p>
          <a:p>
            <a:pPr marL="0" indent="0">
              <a:buNone/>
            </a:pPr>
            <a:r>
              <a:rPr lang="da-DK" dirty="0"/>
              <a:t>Hvordan vil du designe studiet?</a:t>
            </a:r>
          </a:p>
        </p:txBody>
      </p:sp>
    </p:spTree>
    <p:extLst>
      <p:ext uri="{BB962C8B-B14F-4D97-AF65-F5344CB8AC3E}">
        <p14:creationId xmlns:p14="http://schemas.microsoft.com/office/powerpoint/2010/main" val="38367395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333520" y="2039165"/>
            <a:ext cx="1778772" cy="1778773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2334638" y="1000897"/>
            <a:ext cx="6364669" cy="3855308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Spørgsmål 7: Hvordan vil du designe studiet?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9144000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55866" tIns="194553" rIns="1389666" bIns="152863" rtlCol="0" anchor="ctr">
            <a:normAutofit fontScale="925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6227843"/>
            <a:ext cx="222347" cy="222347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1" y="6200049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1582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Spørgsmål 8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Du skal designe et studie, der undersøger effekten af styrketræning på </a:t>
            </a:r>
            <a:r>
              <a:rPr lang="da-DK" dirty="0" err="1"/>
              <a:t>hypertrofi</a:t>
            </a:r>
            <a:r>
              <a:rPr lang="da-DK" dirty="0"/>
              <a:t>. Proteinindtag kan være en </a:t>
            </a:r>
            <a:r>
              <a:rPr lang="da-DK" dirty="0" err="1"/>
              <a:t>confounder</a:t>
            </a:r>
            <a:r>
              <a:rPr lang="da-DK" dirty="0"/>
              <a:t>. </a:t>
            </a:r>
          </a:p>
          <a:p>
            <a:pPr marL="0" indent="0">
              <a:buNone/>
            </a:pPr>
            <a:r>
              <a:rPr lang="da-DK" dirty="0"/>
              <a:t>Hvordan vil du designe studiet?</a:t>
            </a:r>
          </a:p>
        </p:txBody>
      </p:sp>
    </p:spTree>
    <p:extLst>
      <p:ext uri="{BB962C8B-B14F-4D97-AF65-F5344CB8AC3E}">
        <p14:creationId xmlns:p14="http://schemas.microsoft.com/office/powerpoint/2010/main" val="2914579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333520" y="2039165"/>
            <a:ext cx="1778772" cy="1778773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2334638" y="1000897"/>
            <a:ext cx="6364669" cy="3855308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Spørgsmål 8: Hvordan vil du designe studiet?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9144000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55866" tIns="194553" rIns="1389666" bIns="152863" rtlCol="0" anchor="ctr">
            <a:normAutofit fontScale="925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6227843"/>
            <a:ext cx="222347" cy="222347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1" y="6200049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727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Spørgsmål 9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Du har fået leveret data til et studie, der undersøger effekten af </a:t>
            </a:r>
            <a:r>
              <a:rPr lang="da-DK" dirty="0" err="1"/>
              <a:t>paracetamol</a:t>
            </a:r>
            <a:r>
              <a:rPr lang="da-DK" dirty="0"/>
              <a:t> på </a:t>
            </a:r>
            <a:r>
              <a:rPr lang="da-DK" dirty="0" err="1"/>
              <a:t>artrosesmerter</a:t>
            </a:r>
            <a:r>
              <a:rPr lang="da-DK" dirty="0"/>
              <a:t>. Smerteintensitet er en </a:t>
            </a:r>
            <a:r>
              <a:rPr lang="da-DK" dirty="0" err="1"/>
              <a:t>effektmodifikator</a:t>
            </a:r>
            <a:r>
              <a:rPr lang="da-DK" dirty="0"/>
              <a:t>. </a:t>
            </a:r>
          </a:p>
          <a:p>
            <a:pPr marL="0" indent="0">
              <a:buNone/>
            </a:pPr>
            <a:r>
              <a:rPr lang="da-DK" dirty="0"/>
              <a:t>Hvordan vil du håndtere </a:t>
            </a:r>
            <a:r>
              <a:rPr lang="da-DK" dirty="0" err="1"/>
              <a:t>effektmodifikatoren</a:t>
            </a:r>
            <a:r>
              <a:rPr lang="da-DK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791051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333520" y="2039165"/>
            <a:ext cx="1778772" cy="1778773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2334638" y="1000897"/>
            <a:ext cx="6364669" cy="3855308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Spørgsmål 9: Hvordan vil du håndtere effektmodifikatoren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9144000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55866" tIns="194553" rIns="1389666" bIns="152863" rtlCol="0" anchor="ctr">
            <a:normAutofit fontScale="925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6227843"/>
            <a:ext cx="222347" cy="222347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1" y="6200049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40088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Spørgsmål 10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Du har fået leveret data til et studie, der undersøger effekten af styrketræning på muskelstyrke. Muskelvækst er en </a:t>
            </a:r>
            <a:r>
              <a:rPr lang="da-DK" dirty="0" err="1"/>
              <a:t>mediator</a:t>
            </a:r>
            <a:r>
              <a:rPr lang="da-DK" dirty="0"/>
              <a:t>. </a:t>
            </a:r>
          </a:p>
          <a:p>
            <a:pPr marL="0" indent="0">
              <a:buNone/>
            </a:pPr>
            <a:r>
              <a:rPr lang="da-DK" dirty="0"/>
              <a:t>Hvordan vil du håndtere </a:t>
            </a:r>
            <a:r>
              <a:rPr lang="da-DK" dirty="0" err="1"/>
              <a:t>mediatoren</a:t>
            </a:r>
            <a:r>
              <a:rPr lang="da-DK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52991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>
            <p:custDataLst>
              <p:tags r:id="rId2"/>
            </p:custDataLst>
          </p:nvPr>
        </p:nvSpPr>
        <p:spPr>
          <a:xfrm>
            <a:off x="333520" y="2039165"/>
            <a:ext cx="1778772" cy="1778773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3" name="Rektangel 2"/>
          <p:cNvSpPr/>
          <p:nvPr>
            <p:custDataLst>
              <p:tags r:id="rId3"/>
            </p:custDataLst>
          </p:nvPr>
        </p:nvSpPr>
        <p:spPr>
          <a:xfrm>
            <a:off x="2334638" y="1000897"/>
            <a:ext cx="6364669" cy="3855308"/>
          </a:xfrm>
          <a:prstGeom prst="rect">
            <a:avLst/>
          </a:prstGeom>
          <a:noFill/>
          <a:ln w="9525" cap="flat" cmpd="sng" algn="ctr">
            <a:solidFill>
              <a:srgbClr val="FFFFFF"/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4000" b="1">
                <a:solidFill>
                  <a:srgbClr val="000000"/>
                </a:solidFill>
              </a:rPr>
              <a:t>Spørgsmål 10: Hvordan vil du håndtere mediatoren?</a:t>
            </a:r>
          </a:p>
        </p:txBody>
      </p:sp>
      <p:sp>
        <p:nvSpPr>
          <p:cNvPr id="4" name="Rektangel 3"/>
          <p:cNvSpPr/>
          <p:nvPr/>
        </p:nvSpPr>
        <p:spPr>
          <a:xfrm>
            <a:off x="0" y="5820032"/>
            <a:ext cx="9144000" cy="1037968"/>
          </a:xfrm>
          <a:prstGeom prst="rect">
            <a:avLst/>
          </a:prstGeom>
          <a:gradFill flip="none" rotWithShape="1">
            <a:gsLst>
              <a:gs pos="0">
                <a:srgbClr val="198038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55866" tIns="194553" rIns="1389666" bIns="152863" rtlCol="0" anchor="ctr">
            <a:normAutofit fontScale="925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/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  <a:endParaRPr lang="da-DK" sz="2600">
              <a:solidFill>
                <a:srgbClr val="FFFFFF"/>
              </a:solidFill>
            </a:endParaRPr>
          </a:p>
        </p:txBody>
      </p:sp>
      <p:pic>
        <p:nvPicPr>
          <p:cNvPr id="5" name="Billede 4"/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6227843"/>
            <a:ext cx="222347" cy="222347"/>
          </a:xfrm>
          <a:prstGeom prst="rect">
            <a:avLst/>
          </a:prstGeom>
        </p:spPr>
      </p:pic>
      <p:sp>
        <p:nvSpPr>
          <p:cNvPr id="6" name="Ligebenet trapez 5"/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gradFill flip="none" rotWithShape="1">
            <a:gsLst>
              <a:gs pos="0">
                <a:srgbClr val="EDFAF2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/>
              </a:rPr>
              <a:t>How to change the design</a:t>
            </a:r>
            <a:endParaRPr lang="da-DK" sz="2200">
              <a:solidFill>
                <a:srgbClr val="198038"/>
              </a:solidFill>
            </a:endParaRPr>
          </a:p>
        </p:txBody>
      </p:sp>
      <p:pic>
        <p:nvPicPr>
          <p:cNvPr id="7" name="Billede 6"/>
          <p:cNvPicPr>
            <a:picLocks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1" y="6200049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6604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18.0.6804"/>
  <p:tag name="SLIDO_PRESENTATION_ID" val="0d0aff8c-5c0d-4aca-b329-9386f619d119"/>
  <p:tag name="SLIDO_EVENT_UUID" val="fff32951-c15f-484a-bef2-82dc0d9da6f8"/>
  <p:tag name="SLIDO_EVENT_SECTION_UUID" val="8afec4a9-873b-44e3-922f-b720d638ff4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TkzODY4ODd9"/>
  <p:tag name="SLIDO_TYPE" val="SlidoPoll"/>
  <p:tag name="SLIDO_POLL_UUID" val="003aa91d-8763-4c9a-b196-3cdfe3d6e1d2"/>
  <p:tag name="SLIDO_TIMELINE" val="W3sicG9sbFF1ZXN0aW9uVXVpZCI6IjQ1ZWUxN2U2LTRkMzQtNDMxYi1iYjI1LWRhN2FhMzNmN2Y1YSIsInNob3dSZXN1bHRzIjpmYWxzZSwic2hvd0NvcnJlY3RBbnN3ZXJzIjpmYWxzZSwidm90aW5nTG9ja2VkIjpmYWxzZX0seyJwb2xsUXVlc3Rpb25VdWlkIjoiNDVlZTE3ZTYtNGQzNC00MzFiLWJiMjUtZGE3YWEzM2Y3ZjVhIiwic2hvd1Jlc3VsdHMiOnRydWUsInNob3dDb3JyZWN0QW5zd2VycyI6dHJ1ZSwidm90aW5nTG9ja2VkIjpmYWxzZX1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TkzODcwNjN9"/>
  <p:tag name="SLIDO_TYPE" val="SlidoPoll"/>
  <p:tag name="SLIDO_POLL_UUID" val="2671fe7f-05ed-4757-8fee-9863b9f04eff"/>
  <p:tag name="SLIDO_TIMELINE" val="W3sicG9sbFF1ZXN0aW9uVXVpZCI6IjIyMzAyZGQwLTE0OTYtNGQ4ZC04MmYzLWI5NGM0OWY1MDAwNiIsInNob3dSZXN1bHRzIjpmYWxzZSwic2hvd0NvcnJlY3RBbnN3ZXJzIjpmYWxzZSwidm90aW5nTG9ja2VkIjpmYWxzZX0seyJwb2xsUXVlc3Rpb25VdWlkIjoiMjIzMDJkZDAtMTQ5Ni00ZDhkLTgyZjMtYjk0YzQ5ZjUwMDA2Iiwic2hvd1Jlc3VsdHMiOnRydWUsInNob3dDb3JyZWN0QW5zd2VycyI6dHJ1ZSwidm90aW5nTG9ja2VkIjpmYWxzZX1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TkzODcxMDV9"/>
  <p:tag name="SLIDO_TYPE" val="SlidoPoll"/>
  <p:tag name="SLIDO_POLL_UUID" val="1fa12195-f294-436f-a35e-8775abcf1232"/>
  <p:tag name="SLIDO_TIMELINE" val="W3sicG9sbFF1ZXN0aW9uVXVpZCI6IjNjYWI4NzhjLWYzMTktNGRlNi05YzkyLWRiNTc0Y2JiNTk0YyIsInNob3dSZXN1bHRzIjpmYWxzZSwic2hvd0NvcnJlY3RBbnN3ZXJzIjpmYWxzZSwidm90aW5nTG9ja2VkIjpmYWxzZX0seyJwb2xsUXVlc3Rpb25VdWlkIjoiM2NhYjg3OGMtZjMxOS00ZGU2LTljOTItZGI1NzRjYmI1OTRjIiwic2hvd1Jlc3VsdHMiOnRydWUsInNob3dDb3JyZWN0QW5zd2VycyI6dHJ1ZSwidm90aW5nTG9ja2VkIjpmYWxzZX1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TkzODcxNTZ9"/>
  <p:tag name="SLIDO_TYPE" val="SlidoPoll"/>
  <p:tag name="SLIDO_POLL_UUID" val="7280edcb-cc68-48a6-a84d-cb205ddbbdb9"/>
  <p:tag name="SLIDO_TIMELINE" val="W3sicG9sbFF1ZXN0aW9uVXVpZCI6IjVhNjVkZGVjLWU0MmMtNDZjMy04NjQwLTc0MTM3YzE5MzBkZiIsInNob3dSZXN1bHRzIjpmYWxzZSwic2hvd0NvcnJlY3RBbnN3ZXJzIjpmYWxzZSwidm90aW5nTG9ja2VkIjpmYWxzZX0seyJwb2xsUXVlc3Rpb25VdWlkIjoiNWE2NWRkZWMtZTQyYy00NmMzLTg2NDAtNzQxMzdjMTkzMGRmIiwic2hvd1Jlc3VsdHMiOnRydWUsInNob3dDb3JyZWN0QW5zd2VycyI6dHJ1ZSwidm90aW5nTG9ja2VkIjpmYWxzZX1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TkzODczMjB9"/>
  <p:tag name="SLIDO_TYPE" val="SlidoPoll"/>
  <p:tag name="SLIDO_POLL_UUID" val="950d1782-663c-4d85-9f64-8c2a6f1b68e5"/>
  <p:tag name="SLIDO_TIMELINE" val="W3sicG9sbFF1ZXN0aW9uVXVpZCI6IjY0NTMzZjQ5LTBjYzYtNGJlZS05MTE2LTUwN2UxYThmODE1NSIsInNob3dSZXN1bHRzIjpmYWxzZSwic2hvd0NvcnJlY3RBbnN3ZXJzIjpmYWxzZSwidm90aW5nTG9ja2VkIjpmYWxzZX0seyJwb2xsUXVlc3Rpb25VdWlkIjoiNjQ1MzNmNDktMGNjNi00YmVlLTkxMTYtNTA3ZTFhOGY4MTU1Iiwic2hvd1Jlc3VsdHMiOnRydWUsInNob3dDb3JyZWN0QW5zd2VycyI6dHJ1ZSwidm90aW5nTG9ja2VkIjpmYWxzZX1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TkzODc0Mjh9"/>
  <p:tag name="SLIDO_TYPE" val="SlidoPoll"/>
  <p:tag name="SLIDO_POLL_UUID" val="11ba7bd3-1658-4ba7-b33a-76ff30b22975"/>
  <p:tag name="SLIDO_TIMELINE" val="W3sicG9sbFF1ZXN0aW9uVXVpZCI6IjYzZTgzZGQ2LWRlODQtNGE3Mi04OWFjLWI5YjA1MTgyZjU4OSIsInNob3dSZXN1bHRzIjpmYWxzZSwic2hvd0NvcnJlY3RBbnN3ZXJzIjpmYWxzZSwidm90aW5nTG9ja2VkIjpmYWxzZX0seyJwb2xsUXVlc3Rpb25VdWlkIjoiNjNlODNkZDYtZGU4NC00YTcyLTg5YWMtYjliMDUxODJmNTg5Iiwic2hvd1Jlc3VsdHMiOnRydWUsInNob3dDb3JyZWN0QW5zd2VycyI6dHJ1ZSwidm90aW5nTG9ja2VkIjpmYWxzZX1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TkzODg0MDV9"/>
  <p:tag name="SLIDO_TYPE" val="SlidoPoll"/>
  <p:tag name="SLIDO_POLL_UUID" val="66ed62f1-7488-47ab-a0c6-65d17eec02ae"/>
  <p:tag name="SLIDO_TIMELINE" val="W3sicG9sbFF1ZXN0aW9uVXVpZCI6ImE4YjcyNDA5LTZkNjktNDc2ZC1hN2VhLTc2OTk3NWYyNDNjZiIsInNob3dSZXN1bHRzIjpmYWxzZSwic2hvd0NvcnJlY3RBbnN3ZXJzIjpmYWxzZSwidm90aW5nTG9ja2VkIjpmYWxzZX0seyJwb2xsUXVlc3Rpb25VdWlkIjoiYThiNzI0MDktNmQ2OS00NzZkLWE3ZWEtNzY5OTc1ZjI0M2NmIiwic2hvd1Jlc3VsdHMiOnRydWUsInNob3dDb3JyZWN0QW5zd2VycyI6dHJ1ZSwidm90aW5nTG9ja2VkIjpmYWxzZX1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TkzODgxMDZ9"/>
  <p:tag name="SLIDO_TYPE" val="SlidoPoll"/>
  <p:tag name="SLIDO_POLL_UUID" val="d9a44c0a-87fb-4695-a262-0378a2707567"/>
  <p:tag name="SLIDO_TIMELINE" val="W3sicG9sbFF1ZXN0aW9uVXVpZCI6IjE4ZDc4ZWI4LWFiN2YtNDE0Ni1iY2Y5LTRiOWZkZWM1ZWFkMCIsInNob3dSZXN1bHRzIjpmYWxzZSwic2hvd0NvcnJlY3RBbnN3ZXJzIjpmYWxzZSwidm90aW5nTG9ja2VkIjpmYWxzZX0seyJwb2xsUXVlc3Rpb25VdWlkIjoiMThkNzhlYjgtYWI3Zi00MTQ2LWJjZjktNGI5ZmRlYzVlYWQwIiwic2hvd1Jlc3VsdHMiOnRydWUsInNob3dDb3JyZWN0QW5zd2VycyI6dHJ1ZSwidm90aW5nTG9ja2VkIjpmYWxzZX1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TkzODg2Nzh9"/>
  <p:tag name="SLIDO_TYPE" val="SlidoPoll"/>
  <p:tag name="SLIDO_POLL_UUID" val="1744de08-6afd-4f5b-bfca-971a5fc577a1"/>
  <p:tag name="SLIDO_TIMELINE" val="W3sicG9sbFF1ZXN0aW9uVXVpZCI6IjZlNThkMzljLTMxNjAtNDA3ZC05Mzk0LTJlN2ZmMjVkYTY1NiIsInNob3dSZXN1bHRzIjpmYWxzZSwic2hvd0NvcnJlY3RBbnN3ZXJzIjpmYWxzZSwidm90aW5nTG9ja2VkIjpmYWxzZX0seyJwb2xsUXVlc3Rpb25VdWlkIjoiNmU1OGQzOWMtMzE2MC00MDdkLTkzOTQtMmU3ZmYyNWRhNjU2Iiwic2hvd1Jlc3VsdHMiOnRydWUsInNob3dDb3JyZWN0QW5zd2VycyI6dHJ1ZSwidm90aW5nTG9ja2VkIjpmYWxzZX1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METADATA" val="eyJUaW1lc3RhbXAiOjE3NTkzODkwMzl9"/>
  <p:tag name="SLIDO_TYPE" val="SlidoPoll"/>
  <p:tag name="SLIDO_POLL_UUID" val="5267e9ea-d476-4653-a885-e5ed2ff41da3"/>
  <p:tag name="SLIDO_TIMELINE" val="W3sicG9sbFF1ZXN0aW9uVXVpZCI6ImY4N2U4YWU0LWU0NGUtNGI4OC1hMjMwLWY2NTY0NzMxYmQyNyIsInNob3dSZXN1bHRzIjpmYWxzZSwic2hvd0NvcnJlY3RBbnN3ZXJzIjpmYWxzZSwidm90aW5nTG9ja2VkIjpmYWxzZX0seyJwb2xsUXVlc3Rpb25VdWlkIjoiZjg3ZThhZTQtZTQ0ZS00Yjg4LWEyMzAtZjY1NjQ3MzFiZDI3Iiwic2hvd1Jlc3VsdHMiOnRydWUsInNob3dDb3JyZWN0QW5zd2VycyI6dHJ1ZSwidm90aW5nTG9ja2VkIjpmYWxzZX1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Office Theme">
  <a:themeElements>
    <a:clrScheme name="Brugerdefineret 4">
      <a:dk1>
        <a:sysClr val="windowText" lastClr="000000"/>
      </a:dk1>
      <a:lt1>
        <a:srgbClr val="E5E5E5"/>
      </a:lt1>
      <a:dk2>
        <a:srgbClr val="1F497D"/>
      </a:dk2>
      <a:lt2>
        <a:srgbClr val="E5E5E5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1051</Words>
  <Application>Microsoft Office PowerPoint</Application>
  <PresentationFormat>Skærmshow (4:3)</PresentationFormat>
  <Paragraphs>209</Paragraphs>
  <Slides>28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PowerPoint-præsentation</vt:lpstr>
      <vt:lpstr>QUIZ</vt:lpstr>
      <vt:lpstr>Spørgsmål 1</vt:lpstr>
      <vt:lpstr>PowerPoint-præsentation</vt:lpstr>
      <vt:lpstr>Spørgsmål 1</vt:lpstr>
      <vt:lpstr>Spørgsmål 2</vt:lpstr>
      <vt:lpstr>PowerPoint-præsentation</vt:lpstr>
      <vt:lpstr>Spørgsmål 2</vt:lpstr>
      <vt:lpstr>Spørgsmål 3</vt:lpstr>
      <vt:lpstr>PowerPoint-præsentation</vt:lpstr>
      <vt:lpstr>Spørgsmål 3</vt:lpstr>
      <vt:lpstr>Spørgsmål 4</vt:lpstr>
      <vt:lpstr>PowerPoint-præsentation</vt:lpstr>
      <vt:lpstr>Spørgsmål 4</vt:lpstr>
      <vt:lpstr>Spørgsmål 5</vt:lpstr>
      <vt:lpstr>PowerPoint-præsentation</vt:lpstr>
      <vt:lpstr>Spørgsmål 5</vt:lpstr>
      <vt:lpstr>Spørgsmål 6</vt:lpstr>
      <vt:lpstr>PowerPoint-præsentation</vt:lpstr>
      <vt:lpstr>Spørgsmål 6</vt:lpstr>
      <vt:lpstr>Spørgsmål 7</vt:lpstr>
      <vt:lpstr>PowerPoint-præsentation</vt:lpstr>
      <vt:lpstr>Spørgsmål 8</vt:lpstr>
      <vt:lpstr>PowerPoint-præsentation</vt:lpstr>
      <vt:lpstr>Spørgsmål 9</vt:lpstr>
      <vt:lpstr>PowerPoint-præsentation</vt:lpstr>
      <vt:lpstr>Spørgsmål 10</vt:lpstr>
      <vt:lpstr>PowerPoint-præsentation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Effektmodifikation</dc:title>
  <dc:subject/>
  <dc:creator>Jens-Jakob Kjer Møller</dc:creator>
  <cp:keywords/>
  <dc:description>generated using python-pptx</dc:description>
  <cp:lastModifiedBy>Jens-Jakob Kjer Møller</cp:lastModifiedBy>
  <cp:revision>59</cp:revision>
  <dcterms:created xsi:type="dcterms:W3CDTF">2013-01-27T09:14:16Z</dcterms:created>
  <dcterms:modified xsi:type="dcterms:W3CDTF">2026-03-05T09:58:20Z</dcterms:modified>
  <cp:category/>
</cp:coreProperties>
</file>