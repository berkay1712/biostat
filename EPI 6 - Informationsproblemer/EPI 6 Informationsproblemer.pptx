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6"/>
  </p:notesMasterIdLst>
  <p:sldIdLst>
    <p:sldId id="344" r:id="rId2"/>
    <p:sldId id="345" r:id="rId3"/>
    <p:sldId id="322" r:id="rId4"/>
    <p:sldId id="325" r:id="rId5"/>
    <p:sldId id="257" r:id="rId6"/>
    <p:sldId id="318" r:id="rId7"/>
    <p:sldId id="323" r:id="rId8"/>
    <p:sldId id="317" r:id="rId9"/>
    <p:sldId id="324" r:id="rId10"/>
    <p:sldId id="261" r:id="rId11"/>
    <p:sldId id="300" r:id="rId12"/>
    <p:sldId id="331" r:id="rId13"/>
    <p:sldId id="258" r:id="rId14"/>
    <p:sldId id="310" r:id="rId15"/>
    <p:sldId id="259" r:id="rId16"/>
    <p:sldId id="328" r:id="rId17"/>
    <p:sldId id="302" r:id="rId18"/>
    <p:sldId id="321" r:id="rId19"/>
    <p:sldId id="320" r:id="rId20"/>
    <p:sldId id="303" r:id="rId21"/>
    <p:sldId id="336" r:id="rId22"/>
    <p:sldId id="338" r:id="rId23"/>
    <p:sldId id="339" r:id="rId24"/>
    <p:sldId id="337" r:id="rId25"/>
    <p:sldId id="340" r:id="rId26"/>
    <p:sldId id="341" r:id="rId27"/>
    <p:sldId id="330" r:id="rId28"/>
    <p:sldId id="298" r:id="rId29"/>
    <p:sldId id="313" r:id="rId30"/>
    <p:sldId id="304" r:id="rId31"/>
    <p:sldId id="306" r:id="rId32"/>
    <p:sldId id="305" r:id="rId33"/>
    <p:sldId id="307" r:id="rId34"/>
    <p:sldId id="308" r:id="rId35"/>
    <p:sldId id="309" r:id="rId36"/>
    <p:sldId id="332" r:id="rId37"/>
    <p:sldId id="283" r:id="rId38"/>
    <p:sldId id="333" r:id="rId39"/>
    <p:sldId id="334" r:id="rId40"/>
    <p:sldId id="329" r:id="rId41"/>
    <p:sldId id="285" r:id="rId42"/>
    <p:sldId id="335" r:id="rId43"/>
    <p:sldId id="343" r:id="rId44"/>
    <p:sldId id="342" r:id="rId4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B49BA"/>
    <a:srgbClr val="6CDED1"/>
    <a:srgbClr val="2C87E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5CD03CC-20F8-411B-A382-71C86BA62F3D}" v="62" dt="2026-03-12T08:45:05.189"/>
  </p1510:revLst>
</p1510:revInfo>
</file>

<file path=ppt/tableStyles.xml><?xml version="1.0" encoding="utf-8"?>
<a:tblStyleLst xmlns:a="http://schemas.openxmlformats.org/drawingml/2006/main" def="{5C22544A-7EE6-4342-B048-85BDC9FD1C3A}">
  <a:tblStyle styleId="{5C22544A-7EE6-4342-B048-85BDC9FD1C3A}" styleName="Mellemlayout 2 - Markering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Ingen typografi, intet git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Ingen typografi, tabelgit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0023" autoAdjust="0"/>
  </p:normalViewPr>
  <p:slideViewPr>
    <p:cSldViewPr snapToGrid="0" snapToObjects="1">
      <p:cViewPr varScale="1">
        <p:scale>
          <a:sx n="107" d="100"/>
          <a:sy n="107" d="100"/>
        </p:scale>
        <p:origin x="1656" y="10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51"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ns-Jakob Kjer Møller" userId="ecba9b24-e9b5-4d68-b011-18c0f20b3743" providerId="ADAL" clId="{A6A2CB1A-029F-4BB2-8E68-B062D13FD1D3}"/>
    <pc:docChg chg="undo custSel delSld modSld sldOrd">
      <pc:chgData name="Jens-Jakob Kjer Møller" userId="ecba9b24-e9b5-4d68-b011-18c0f20b3743" providerId="ADAL" clId="{A6A2CB1A-029F-4BB2-8E68-B062D13FD1D3}" dt="2026-03-12T10:09:49.379" v="89" actId="20577"/>
      <pc:docMkLst>
        <pc:docMk/>
      </pc:docMkLst>
      <pc:sldChg chg="modSp">
        <pc:chgData name="Jens-Jakob Kjer Møller" userId="ecba9b24-e9b5-4d68-b011-18c0f20b3743" providerId="ADAL" clId="{A6A2CB1A-029F-4BB2-8E68-B062D13FD1D3}" dt="2026-03-12T08:41:03.681" v="5"/>
        <pc:sldMkLst>
          <pc:docMk/>
          <pc:sldMk cId="2254895135" sldId="307"/>
        </pc:sldMkLst>
        <pc:spChg chg="mod">
          <ac:chgData name="Jens-Jakob Kjer Møller" userId="ecba9b24-e9b5-4d68-b011-18c0f20b3743" providerId="ADAL" clId="{A6A2CB1A-029F-4BB2-8E68-B062D13FD1D3}" dt="2026-03-12T08:41:03.681" v="5"/>
          <ac:spMkLst>
            <pc:docMk/>
            <pc:sldMk cId="2254895135" sldId="307"/>
            <ac:spMk id="9" creationId="{00000000-0000-0000-0000-000000000000}"/>
          </ac:spMkLst>
        </pc:spChg>
      </pc:sldChg>
      <pc:sldChg chg="modSp modAnim">
        <pc:chgData name="Jens-Jakob Kjer Møller" userId="ecba9b24-e9b5-4d68-b011-18c0f20b3743" providerId="ADAL" clId="{A6A2CB1A-029F-4BB2-8E68-B062D13FD1D3}" dt="2026-03-12T07:28:02.207" v="4"/>
        <pc:sldMkLst>
          <pc:docMk/>
          <pc:sldMk cId="2964785732" sldId="320"/>
        </pc:sldMkLst>
        <pc:spChg chg="mod">
          <ac:chgData name="Jens-Jakob Kjer Møller" userId="ecba9b24-e9b5-4d68-b011-18c0f20b3743" providerId="ADAL" clId="{A6A2CB1A-029F-4BB2-8E68-B062D13FD1D3}" dt="2026-03-12T07:28:02.207" v="4"/>
          <ac:spMkLst>
            <pc:docMk/>
            <pc:sldMk cId="2964785732" sldId="320"/>
            <ac:spMk id="3" creationId="{00000000-0000-0000-0000-000000000000}"/>
          </ac:spMkLst>
        </pc:spChg>
      </pc:sldChg>
      <pc:sldChg chg="modSp mod">
        <pc:chgData name="Jens-Jakob Kjer Møller" userId="ecba9b24-e9b5-4d68-b011-18c0f20b3743" providerId="ADAL" clId="{A6A2CB1A-029F-4BB2-8E68-B062D13FD1D3}" dt="2026-03-12T10:09:49.379" v="89" actId="20577"/>
        <pc:sldMkLst>
          <pc:docMk/>
          <pc:sldMk cId="3721996776" sldId="342"/>
        </pc:sldMkLst>
        <pc:spChg chg="mod">
          <ac:chgData name="Jens-Jakob Kjer Møller" userId="ecba9b24-e9b5-4d68-b011-18c0f20b3743" providerId="ADAL" clId="{A6A2CB1A-029F-4BB2-8E68-B062D13FD1D3}" dt="2026-03-12T10:09:49.379" v="89" actId="20577"/>
          <ac:spMkLst>
            <pc:docMk/>
            <pc:sldMk cId="3721996776" sldId="342"/>
            <ac:spMk id="4" creationId="{00000000-0000-0000-0000-000000000000}"/>
          </ac:spMkLst>
        </pc:spChg>
      </pc:sldChg>
      <pc:sldChg chg="ord">
        <pc:chgData name="Jens-Jakob Kjer Møller" userId="ecba9b24-e9b5-4d68-b011-18c0f20b3743" providerId="ADAL" clId="{A6A2CB1A-029F-4BB2-8E68-B062D13FD1D3}" dt="2026-03-12T10:09:40.719" v="81"/>
        <pc:sldMkLst>
          <pc:docMk/>
          <pc:sldMk cId="1724624732" sldId="343"/>
        </pc:sldMkLst>
      </pc:sldChg>
      <pc:sldChg chg="modSp mod">
        <pc:chgData name="Jens-Jakob Kjer Møller" userId="ecba9b24-e9b5-4d68-b011-18c0f20b3743" providerId="ADAL" clId="{A6A2CB1A-029F-4BB2-8E68-B062D13FD1D3}" dt="2026-03-12T08:44:41.073" v="23" actId="20577"/>
        <pc:sldMkLst>
          <pc:docMk/>
          <pc:sldMk cId="1618450961" sldId="344"/>
        </pc:sldMkLst>
        <pc:spChg chg="mod">
          <ac:chgData name="Jens-Jakob Kjer Møller" userId="ecba9b24-e9b5-4d68-b011-18c0f20b3743" providerId="ADAL" clId="{A6A2CB1A-029F-4BB2-8E68-B062D13FD1D3}" dt="2026-03-12T08:44:41.073" v="23" actId="20577"/>
          <ac:spMkLst>
            <pc:docMk/>
            <pc:sldMk cId="1618450961" sldId="344"/>
            <ac:spMk id="9" creationId="{00000000-0000-0000-0000-000000000000}"/>
          </ac:spMkLst>
        </pc:spChg>
      </pc:sldChg>
      <pc:sldChg chg="modSp modAnim">
        <pc:chgData name="Jens-Jakob Kjer Møller" userId="ecba9b24-e9b5-4d68-b011-18c0f20b3743" providerId="ADAL" clId="{A6A2CB1A-029F-4BB2-8E68-B062D13FD1D3}" dt="2026-03-12T08:45:05.189" v="79" actId="20577"/>
        <pc:sldMkLst>
          <pc:docMk/>
          <pc:sldMk cId="3375515032" sldId="345"/>
        </pc:sldMkLst>
        <pc:spChg chg="mod">
          <ac:chgData name="Jens-Jakob Kjer Møller" userId="ecba9b24-e9b5-4d68-b011-18c0f20b3743" providerId="ADAL" clId="{A6A2CB1A-029F-4BB2-8E68-B062D13FD1D3}" dt="2026-03-12T08:45:05.189" v="79" actId="20577"/>
          <ac:spMkLst>
            <pc:docMk/>
            <pc:sldMk cId="3375515032" sldId="345"/>
            <ac:spMk id="3" creationId="{00000000-0000-0000-0000-000000000000}"/>
          </ac:spMkLst>
        </pc:spChg>
      </pc:sldChg>
      <pc:sldChg chg="del">
        <pc:chgData name="Jens-Jakob Kjer Møller" userId="ecba9b24-e9b5-4d68-b011-18c0f20b3743" providerId="ADAL" clId="{A6A2CB1A-029F-4BB2-8E68-B062D13FD1D3}" dt="2026-03-12T08:44:23.999" v="7" actId="47"/>
        <pc:sldMkLst>
          <pc:docMk/>
          <pc:sldMk cId="13920324" sldId="346"/>
        </pc:sldMkLst>
      </pc:sldChg>
      <pc:sldChg chg="del">
        <pc:chgData name="Jens-Jakob Kjer Møller" userId="ecba9b24-e9b5-4d68-b011-18c0f20b3743" providerId="ADAL" clId="{A6A2CB1A-029F-4BB2-8E68-B062D13FD1D3}" dt="2026-03-12T08:44:23.439" v="6" actId="47"/>
        <pc:sldMkLst>
          <pc:docMk/>
          <pc:sldMk cId="2982057670" sldId="34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sidehove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a-DK"/>
          </a:p>
        </p:txBody>
      </p:sp>
      <p:sp>
        <p:nvSpPr>
          <p:cNvPr id="3" name="Pladsholder til dato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91B0E5-2E26-4842-8CF9-CA79D164A3FE}" type="datetimeFigureOut">
              <a:rPr lang="da-DK" smtClean="0"/>
              <a:t>12-03-2026</a:t>
            </a:fld>
            <a:endParaRPr lang="da-DK"/>
          </a:p>
        </p:txBody>
      </p:sp>
      <p:sp>
        <p:nvSpPr>
          <p:cNvPr id="4" name="Pladsholder til slidebillede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da-DK"/>
          </a:p>
        </p:txBody>
      </p:sp>
      <p:sp>
        <p:nvSpPr>
          <p:cNvPr id="5" name="Pladsholder til no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a-DK"/>
              <a:t>Rediger typografien i masterens</a:t>
            </a:r>
          </a:p>
          <a:p>
            <a:pPr lvl="1"/>
            <a:r>
              <a:rPr lang="da-DK"/>
              <a:t>Andet niveau</a:t>
            </a:r>
          </a:p>
          <a:p>
            <a:pPr lvl="2"/>
            <a:r>
              <a:rPr lang="da-DK"/>
              <a:t>Tredje niveau</a:t>
            </a:r>
          </a:p>
          <a:p>
            <a:pPr lvl="3"/>
            <a:r>
              <a:rPr lang="da-DK"/>
              <a:t>Fjerde niveau</a:t>
            </a:r>
          </a:p>
          <a:p>
            <a:pPr lvl="4"/>
            <a:r>
              <a:rPr lang="da-DK"/>
              <a:t>Femte niveau</a:t>
            </a:r>
          </a:p>
        </p:txBody>
      </p:sp>
      <p:sp>
        <p:nvSpPr>
          <p:cNvPr id="6" name="Pladsholder til sidefod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a-DK"/>
          </a:p>
        </p:txBody>
      </p:sp>
      <p:sp>
        <p:nvSpPr>
          <p:cNvPr id="7" name="Pladsholder til slide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197A00-FB8D-4ABF-8E11-747ED71922D7}" type="slidenum">
              <a:rPr lang="da-DK" smtClean="0"/>
              <a:t>‹nr.›</a:t>
            </a:fld>
            <a:endParaRPr lang="da-DK"/>
          </a:p>
        </p:txBody>
      </p:sp>
    </p:spTree>
    <p:extLst>
      <p:ext uri="{BB962C8B-B14F-4D97-AF65-F5344CB8AC3E}">
        <p14:creationId xmlns:p14="http://schemas.microsoft.com/office/powerpoint/2010/main" val="7470213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r>
              <a:rPr lang="da-DK" dirty="0"/>
              <a:t>Eksempel med STS</a:t>
            </a:r>
          </a:p>
        </p:txBody>
      </p:sp>
      <p:sp>
        <p:nvSpPr>
          <p:cNvPr id="4" name="Pladsholder til slidenummer 3"/>
          <p:cNvSpPr>
            <a:spLocks noGrp="1"/>
          </p:cNvSpPr>
          <p:nvPr>
            <p:ph type="sldNum" sz="quarter" idx="10"/>
          </p:nvPr>
        </p:nvSpPr>
        <p:spPr/>
        <p:txBody>
          <a:bodyPr/>
          <a:lstStyle/>
          <a:p>
            <a:fld id="{37197A00-FB8D-4ABF-8E11-747ED71922D7}" type="slidenum">
              <a:rPr lang="da-DK" smtClean="0"/>
              <a:t>11</a:t>
            </a:fld>
            <a:endParaRPr lang="da-DK"/>
          </a:p>
        </p:txBody>
      </p:sp>
    </p:spTree>
    <p:extLst>
      <p:ext uri="{BB962C8B-B14F-4D97-AF65-F5344CB8AC3E}">
        <p14:creationId xmlns:p14="http://schemas.microsoft.com/office/powerpoint/2010/main" val="12985068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r>
              <a:rPr lang="da-DK" dirty="0"/>
              <a:t>Brug eksempel om højde i en skoleklasse</a:t>
            </a:r>
          </a:p>
        </p:txBody>
      </p:sp>
      <p:sp>
        <p:nvSpPr>
          <p:cNvPr id="4" name="Pladsholder til slidenummer 3"/>
          <p:cNvSpPr>
            <a:spLocks noGrp="1"/>
          </p:cNvSpPr>
          <p:nvPr>
            <p:ph type="sldNum" sz="quarter" idx="10"/>
          </p:nvPr>
        </p:nvSpPr>
        <p:spPr/>
        <p:txBody>
          <a:bodyPr/>
          <a:lstStyle/>
          <a:p>
            <a:fld id="{37197A00-FB8D-4ABF-8E11-747ED71922D7}" type="slidenum">
              <a:rPr lang="da-DK" smtClean="0"/>
              <a:t>13</a:t>
            </a:fld>
            <a:endParaRPr lang="da-DK"/>
          </a:p>
        </p:txBody>
      </p:sp>
    </p:spTree>
    <p:extLst>
      <p:ext uri="{BB962C8B-B14F-4D97-AF65-F5344CB8AC3E}">
        <p14:creationId xmlns:p14="http://schemas.microsoft.com/office/powerpoint/2010/main" val="20554851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da-DK" dirty="0"/>
          </a:p>
        </p:txBody>
      </p:sp>
      <p:sp>
        <p:nvSpPr>
          <p:cNvPr id="4" name="Pladsholder til slidenummer 3"/>
          <p:cNvSpPr>
            <a:spLocks noGrp="1"/>
          </p:cNvSpPr>
          <p:nvPr>
            <p:ph type="sldNum" sz="quarter" idx="10"/>
          </p:nvPr>
        </p:nvSpPr>
        <p:spPr/>
        <p:txBody>
          <a:bodyPr/>
          <a:lstStyle/>
          <a:p>
            <a:fld id="{37197A00-FB8D-4ABF-8E11-747ED71922D7}" type="slidenum">
              <a:rPr lang="da-DK" smtClean="0"/>
              <a:t>15</a:t>
            </a:fld>
            <a:endParaRPr lang="da-DK"/>
          </a:p>
        </p:txBody>
      </p:sp>
    </p:spTree>
    <p:extLst>
      <p:ext uri="{BB962C8B-B14F-4D97-AF65-F5344CB8AC3E}">
        <p14:creationId xmlns:p14="http://schemas.microsoft.com/office/powerpoint/2010/main" val="41603923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da-DK" dirty="0"/>
          </a:p>
        </p:txBody>
      </p:sp>
      <p:sp>
        <p:nvSpPr>
          <p:cNvPr id="4" name="Pladsholder til slidenummer 3"/>
          <p:cNvSpPr>
            <a:spLocks noGrp="1"/>
          </p:cNvSpPr>
          <p:nvPr>
            <p:ph type="sldNum" sz="quarter" idx="10"/>
          </p:nvPr>
        </p:nvSpPr>
        <p:spPr/>
        <p:txBody>
          <a:bodyPr/>
          <a:lstStyle/>
          <a:p>
            <a:fld id="{37197A00-FB8D-4ABF-8E11-747ED71922D7}" type="slidenum">
              <a:rPr lang="da-DK" smtClean="0"/>
              <a:t>17</a:t>
            </a:fld>
            <a:endParaRPr lang="da-DK"/>
          </a:p>
        </p:txBody>
      </p:sp>
    </p:spTree>
    <p:extLst>
      <p:ext uri="{BB962C8B-B14F-4D97-AF65-F5344CB8AC3E}">
        <p14:creationId xmlns:p14="http://schemas.microsoft.com/office/powerpoint/2010/main" val="26889025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da-DK" dirty="0"/>
          </a:p>
        </p:txBody>
      </p:sp>
      <p:sp>
        <p:nvSpPr>
          <p:cNvPr id="4" name="Pladsholder til slidenummer 3"/>
          <p:cNvSpPr>
            <a:spLocks noGrp="1"/>
          </p:cNvSpPr>
          <p:nvPr>
            <p:ph type="sldNum" sz="quarter" idx="10"/>
          </p:nvPr>
        </p:nvSpPr>
        <p:spPr/>
        <p:txBody>
          <a:bodyPr/>
          <a:lstStyle/>
          <a:p>
            <a:fld id="{37197A00-FB8D-4ABF-8E11-747ED71922D7}" type="slidenum">
              <a:rPr lang="da-DK" smtClean="0"/>
              <a:t>18</a:t>
            </a:fld>
            <a:endParaRPr lang="da-DK"/>
          </a:p>
        </p:txBody>
      </p:sp>
    </p:spTree>
    <p:extLst>
      <p:ext uri="{BB962C8B-B14F-4D97-AF65-F5344CB8AC3E}">
        <p14:creationId xmlns:p14="http://schemas.microsoft.com/office/powerpoint/2010/main" val="36961447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da-DK" dirty="0"/>
          </a:p>
        </p:txBody>
      </p:sp>
      <p:sp>
        <p:nvSpPr>
          <p:cNvPr id="4" name="Pladsholder til slidenummer 3"/>
          <p:cNvSpPr>
            <a:spLocks noGrp="1"/>
          </p:cNvSpPr>
          <p:nvPr>
            <p:ph type="sldNum" sz="quarter" idx="10"/>
          </p:nvPr>
        </p:nvSpPr>
        <p:spPr/>
        <p:txBody>
          <a:bodyPr/>
          <a:lstStyle/>
          <a:p>
            <a:fld id="{37197A00-FB8D-4ABF-8E11-747ED71922D7}" type="slidenum">
              <a:rPr lang="da-DK" smtClean="0"/>
              <a:t>19</a:t>
            </a:fld>
            <a:endParaRPr lang="da-DK"/>
          </a:p>
        </p:txBody>
      </p:sp>
    </p:spTree>
    <p:extLst>
      <p:ext uri="{BB962C8B-B14F-4D97-AF65-F5344CB8AC3E}">
        <p14:creationId xmlns:p14="http://schemas.microsoft.com/office/powerpoint/2010/main" val="389519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da-DK" dirty="0"/>
          </a:p>
        </p:txBody>
      </p:sp>
      <p:sp>
        <p:nvSpPr>
          <p:cNvPr id="4" name="Pladsholder til slidenummer 3"/>
          <p:cNvSpPr>
            <a:spLocks noGrp="1"/>
          </p:cNvSpPr>
          <p:nvPr>
            <p:ph type="sldNum" sz="quarter" idx="10"/>
          </p:nvPr>
        </p:nvSpPr>
        <p:spPr/>
        <p:txBody>
          <a:bodyPr/>
          <a:lstStyle/>
          <a:p>
            <a:fld id="{37197A00-FB8D-4ABF-8E11-747ED71922D7}" type="slidenum">
              <a:rPr lang="da-DK" smtClean="0"/>
              <a:t>20</a:t>
            </a:fld>
            <a:endParaRPr lang="da-DK"/>
          </a:p>
        </p:txBody>
      </p:sp>
    </p:spTree>
    <p:extLst>
      <p:ext uri="{BB962C8B-B14F-4D97-AF65-F5344CB8AC3E}">
        <p14:creationId xmlns:p14="http://schemas.microsoft.com/office/powerpoint/2010/main" val="23048876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da-DK" dirty="0"/>
          </a:p>
        </p:txBody>
      </p:sp>
      <p:sp>
        <p:nvSpPr>
          <p:cNvPr id="4" name="Pladsholder til slidenummer 3"/>
          <p:cNvSpPr>
            <a:spLocks noGrp="1"/>
          </p:cNvSpPr>
          <p:nvPr>
            <p:ph type="sldNum" sz="quarter" idx="10"/>
          </p:nvPr>
        </p:nvSpPr>
        <p:spPr/>
        <p:txBody>
          <a:bodyPr/>
          <a:lstStyle/>
          <a:p>
            <a:fld id="{37197A00-FB8D-4ABF-8E11-747ED71922D7}" type="slidenum">
              <a:rPr lang="da-DK" smtClean="0"/>
              <a:t>21</a:t>
            </a:fld>
            <a:endParaRPr lang="da-DK"/>
          </a:p>
        </p:txBody>
      </p:sp>
    </p:spTree>
    <p:extLst>
      <p:ext uri="{BB962C8B-B14F-4D97-AF65-F5344CB8AC3E}">
        <p14:creationId xmlns:p14="http://schemas.microsoft.com/office/powerpoint/2010/main" val="16341723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da-DK" dirty="0"/>
          </a:p>
        </p:txBody>
      </p:sp>
      <p:sp>
        <p:nvSpPr>
          <p:cNvPr id="4" name="Pladsholder til slidenummer 3"/>
          <p:cNvSpPr>
            <a:spLocks noGrp="1"/>
          </p:cNvSpPr>
          <p:nvPr>
            <p:ph type="sldNum" sz="quarter" idx="10"/>
          </p:nvPr>
        </p:nvSpPr>
        <p:spPr/>
        <p:txBody>
          <a:bodyPr/>
          <a:lstStyle/>
          <a:p>
            <a:fld id="{37197A00-FB8D-4ABF-8E11-747ED71922D7}" type="slidenum">
              <a:rPr lang="da-DK" smtClean="0"/>
              <a:t>22</a:t>
            </a:fld>
            <a:endParaRPr lang="da-DK"/>
          </a:p>
        </p:txBody>
      </p:sp>
    </p:spTree>
    <p:extLst>
      <p:ext uri="{BB962C8B-B14F-4D97-AF65-F5344CB8AC3E}">
        <p14:creationId xmlns:p14="http://schemas.microsoft.com/office/powerpoint/2010/main" val="40875414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da-DK" dirty="0"/>
          </a:p>
        </p:txBody>
      </p:sp>
      <p:sp>
        <p:nvSpPr>
          <p:cNvPr id="4" name="Pladsholder til slidenummer 3"/>
          <p:cNvSpPr>
            <a:spLocks noGrp="1"/>
          </p:cNvSpPr>
          <p:nvPr>
            <p:ph type="sldNum" sz="quarter" idx="10"/>
          </p:nvPr>
        </p:nvSpPr>
        <p:spPr/>
        <p:txBody>
          <a:bodyPr/>
          <a:lstStyle/>
          <a:p>
            <a:fld id="{37197A00-FB8D-4ABF-8E11-747ED71922D7}" type="slidenum">
              <a:rPr lang="da-DK" smtClean="0"/>
              <a:t>23</a:t>
            </a:fld>
            <a:endParaRPr lang="da-DK"/>
          </a:p>
        </p:txBody>
      </p:sp>
    </p:spTree>
    <p:extLst>
      <p:ext uri="{BB962C8B-B14F-4D97-AF65-F5344CB8AC3E}">
        <p14:creationId xmlns:p14="http://schemas.microsoft.com/office/powerpoint/2010/main" val="14558697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da-DK" dirty="0"/>
          </a:p>
        </p:txBody>
      </p:sp>
      <p:sp>
        <p:nvSpPr>
          <p:cNvPr id="4" name="Pladsholder til slidenummer 3"/>
          <p:cNvSpPr>
            <a:spLocks noGrp="1"/>
          </p:cNvSpPr>
          <p:nvPr>
            <p:ph type="sldNum" sz="quarter" idx="10"/>
          </p:nvPr>
        </p:nvSpPr>
        <p:spPr/>
        <p:txBody>
          <a:bodyPr/>
          <a:lstStyle/>
          <a:p>
            <a:fld id="{37197A00-FB8D-4ABF-8E11-747ED71922D7}" type="slidenum">
              <a:rPr lang="da-DK" smtClean="0"/>
              <a:t>24</a:t>
            </a:fld>
            <a:endParaRPr lang="da-DK"/>
          </a:p>
        </p:txBody>
      </p:sp>
    </p:spTree>
    <p:extLst>
      <p:ext uri="{BB962C8B-B14F-4D97-AF65-F5344CB8AC3E}">
        <p14:creationId xmlns:p14="http://schemas.microsoft.com/office/powerpoint/2010/main" val="24600583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da-DK" dirty="0"/>
          </a:p>
        </p:txBody>
      </p:sp>
      <p:sp>
        <p:nvSpPr>
          <p:cNvPr id="4" name="Pladsholder til slidenummer 3"/>
          <p:cNvSpPr>
            <a:spLocks noGrp="1"/>
          </p:cNvSpPr>
          <p:nvPr>
            <p:ph type="sldNum" sz="quarter" idx="10"/>
          </p:nvPr>
        </p:nvSpPr>
        <p:spPr/>
        <p:txBody>
          <a:bodyPr/>
          <a:lstStyle/>
          <a:p>
            <a:fld id="{37197A00-FB8D-4ABF-8E11-747ED71922D7}" type="slidenum">
              <a:rPr lang="da-DK" smtClean="0"/>
              <a:t>25</a:t>
            </a:fld>
            <a:endParaRPr lang="da-DK"/>
          </a:p>
        </p:txBody>
      </p:sp>
    </p:spTree>
    <p:extLst>
      <p:ext uri="{BB962C8B-B14F-4D97-AF65-F5344CB8AC3E}">
        <p14:creationId xmlns:p14="http://schemas.microsoft.com/office/powerpoint/2010/main" val="40197682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da-DK" dirty="0"/>
          </a:p>
        </p:txBody>
      </p:sp>
      <p:sp>
        <p:nvSpPr>
          <p:cNvPr id="4" name="Pladsholder til slidenummer 3"/>
          <p:cNvSpPr>
            <a:spLocks noGrp="1"/>
          </p:cNvSpPr>
          <p:nvPr>
            <p:ph type="sldNum" sz="quarter" idx="10"/>
          </p:nvPr>
        </p:nvSpPr>
        <p:spPr/>
        <p:txBody>
          <a:bodyPr/>
          <a:lstStyle/>
          <a:p>
            <a:fld id="{37197A00-FB8D-4ABF-8E11-747ED71922D7}" type="slidenum">
              <a:rPr lang="da-DK" smtClean="0"/>
              <a:t>26</a:t>
            </a:fld>
            <a:endParaRPr lang="da-DK"/>
          </a:p>
        </p:txBody>
      </p:sp>
    </p:spTree>
    <p:extLst>
      <p:ext uri="{BB962C8B-B14F-4D97-AF65-F5344CB8AC3E}">
        <p14:creationId xmlns:p14="http://schemas.microsoft.com/office/powerpoint/2010/main" val="17072847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323C9A72-0DD7-4A2A-A1CF-5AABC6127C00}" type="datetime1">
              <a:rPr lang="en-US" smtClean="0"/>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05837D3-3567-49A4-B58B-53EE560CBD2B}" type="datetime1">
              <a:rPr lang="en-US" smtClean="0"/>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D02002A-8DBD-4B81-8A5C-9C18226CFB3C}" type="datetime1">
              <a:rPr lang="en-US" smtClean="0"/>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0730866-F417-4F42-94A2-824A2A2198F7}" type="datetime1">
              <a:rPr lang="en-US" smtClean="0"/>
              <a:t>3/12/2026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EABF6B6-884B-45CD-BAAE-0FA476982E6C}" type="datetime1">
              <a:rPr lang="en-US" smtClean="0"/>
              <a:t>3/12/2026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F3BCBEE-00E8-4EEE-B09E-AAC7B8A83BEF}" type="datetime1">
              <a:rPr lang="en-US" smtClean="0"/>
              <a:t>3/12/2026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066C37-2F63-4223-94D8-3A12E39364F1}" type="datetime1">
              <a:rPr lang="en-US" smtClean="0"/>
              <a:t>3/12/2026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8CB2234-11BE-4B4C-A420-D06CA1B06E8A}" type="datetime1">
              <a:rPr lang="en-US" smtClean="0"/>
              <a:t>3/12/2026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C24782E-FCA1-4364-B036-D902644E6C6E}" type="datetime1">
              <a:rPr lang="en-US" smtClean="0"/>
              <a:t>3/12/2026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B6D9953-4FD2-4AA7-B824-697CFA670A90}" type="datetime1">
              <a:rPr lang="en-US" smtClean="0"/>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E659174-D343-4883-9361-A601F223A4C5}" type="datetime1">
              <a:rPr lang="en-US" smtClean="0"/>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A4A5AE-AE7D-404A-AC0C-CDBD2D8DAD76}" type="datetime1">
              <a:rPr lang="en-US" smtClean="0"/>
              <a:t>3/12/2026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3B5BCC-6344-496F-8220-2783D92D7D6B}" type="slidenum">
              <a:rPr lang="en-US" smtClean="0"/>
              <a:pPr/>
              <a:t>‹nr.›</a:t>
            </a:fld>
            <a:endParaRPr lang="en-US" dirty="0"/>
          </a:p>
        </p:txBody>
      </p:sp>
      <p:sp>
        <p:nvSpPr>
          <p:cNvPr id="7" name="Rektangel 6"/>
          <p:cNvSpPr/>
          <p:nvPr userDrawn="1"/>
        </p:nvSpPr>
        <p:spPr>
          <a:xfrm>
            <a:off x="1704252" y="6363576"/>
            <a:ext cx="1198781" cy="428326"/>
          </a:xfrm>
          <a:prstGeom prst="rect">
            <a:avLst/>
          </a:prstGeom>
          <a:blipFill>
            <a:blip r:embed="rId1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pic>
        <p:nvPicPr>
          <p:cNvPr id="8" name="Billede 7"/>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34670" y="6478438"/>
            <a:ext cx="909464" cy="243037"/>
          </a:xfrm>
          <a:prstGeom prst="rect">
            <a:avLst/>
          </a:prstGeom>
        </p:spPr>
      </p:pic>
      <p:pic>
        <p:nvPicPr>
          <p:cNvPr id="9" name="Billede 8"/>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206124" y="6412995"/>
            <a:ext cx="281146" cy="378907"/>
          </a:xfrm>
          <a:prstGeom prst="rect">
            <a:avLst/>
          </a:prstGeom>
        </p:spPr>
      </p:pic>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jens-jakob.kjer.moller@rsyd.dk"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1143000" y="1122363"/>
            <a:ext cx="6858000" cy="2387600"/>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marL="0" marR="0" lvl="0" indent="0" algn="ctr" defTabSz="685800" rtl="0" eaLnBrk="1" fontAlgn="auto" latinLnBrk="0" hangingPunct="1">
              <a:lnSpc>
                <a:spcPct val="90000"/>
              </a:lnSpc>
              <a:spcBef>
                <a:spcPct val="0"/>
              </a:spcBef>
              <a:spcAft>
                <a:spcPts val="0"/>
              </a:spcAft>
              <a:buClrTx/>
              <a:buSzTx/>
              <a:buFontTx/>
              <a:buNone/>
              <a:tabLst/>
              <a:defRPr/>
            </a:pPr>
            <a:r>
              <a:rPr kumimoji="0" lang="da-DK" sz="4500" b="0" i="0" u="none" strike="noStrike" kern="1200" cap="none" spc="0" normalizeH="0" baseline="0" noProof="0" dirty="0">
                <a:ln>
                  <a:noFill/>
                </a:ln>
                <a:solidFill>
                  <a:sysClr val="windowText" lastClr="000000"/>
                </a:solidFill>
                <a:effectLst/>
                <a:uLnTx/>
                <a:uFillTx/>
                <a:latin typeface="Calibri Light" panose="020F0302020204030204"/>
                <a:ea typeface="+mj-ea"/>
                <a:cs typeface="+mj-cs"/>
              </a:rPr>
              <a:t>EPI 6 Informationsproblemer</a:t>
            </a:r>
          </a:p>
        </p:txBody>
      </p:sp>
      <p:sp>
        <p:nvSpPr>
          <p:cNvPr id="9" name="Subtitle 2"/>
          <p:cNvSpPr txBox="1">
            <a:spLocks/>
          </p:cNvSpPr>
          <p:nvPr/>
        </p:nvSpPr>
        <p:spPr>
          <a:xfrm>
            <a:off x="1143000" y="3602038"/>
            <a:ext cx="6858000" cy="1655762"/>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marL="0" marR="0" lvl="0" indent="0" algn="ctr"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kumimoji="0" lang="da-DK" sz="18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Jens-Jakob Kjer Møller, epidemiolog</a:t>
            </a:r>
          </a:p>
          <a:p>
            <a:pPr marL="0" marR="0" lvl="0" indent="0" algn="ctr"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kumimoji="0" lang="da-DK" sz="18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OPEN - Open Patient data </a:t>
            </a:r>
            <a:r>
              <a:rPr kumimoji="0" lang="da-DK" sz="1800" b="0" i="0" u="none" strike="noStrike" kern="1200" cap="none" spc="0" normalizeH="0" baseline="0" noProof="0" dirty="0" err="1">
                <a:ln>
                  <a:noFill/>
                </a:ln>
                <a:solidFill>
                  <a:sysClr val="windowText" lastClr="000000"/>
                </a:solidFill>
                <a:effectLst/>
                <a:uLnTx/>
                <a:uFillTx/>
                <a:latin typeface="Calibri" panose="020F0502020204030204"/>
                <a:ea typeface="+mn-ea"/>
                <a:cs typeface="+mn-cs"/>
              </a:rPr>
              <a:t>Explorative</a:t>
            </a:r>
            <a:r>
              <a:rPr kumimoji="0" lang="da-DK" sz="18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 Network</a:t>
            </a:r>
          </a:p>
          <a:p>
            <a:pPr marL="0" marR="0" lvl="0" indent="0" algn="ctr"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kumimoji="0" lang="da-DK" sz="1800" b="0" i="0" u="none" strike="noStrike" kern="1200" cap="none" spc="0" normalizeH="0" baseline="0" noProof="0" dirty="0">
                <a:ln>
                  <a:noFill/>
                </a:ln>
                <a:solidFill>
                  <a:sysClr val="windowText" lastClr="000000"/>
                </a:solidFill>
                <a:effectLst/>
                <a:uLnTx/>
                <a:uFillTx/>
                <a:latin typeface="Calibri" panose="020F0502020204030204"/>
                <a:ea typeface="+mn-ea"/>
                <a:cs typeface="+mn-cs"/>
                <a:hlinkClick r:id="rId2"/>
              </a:rPr>
              <a:t>jens-jakob.kjer.moller@rsyd.dk</a:t>
            </a:r>
            <a:r>
              <a:rPr kumimoji="0" lang="da-DK" sz="18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 </a:t>
            </a:r>
          </a:p>
          <a:p>
            <a:pPr marL="0" marR="0" lvl="0" indent="0" algn="ctr"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kumimoji="0" lang="da-DK" sz="18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12. marts 2026</a:t>
            </a:r>
          </a:p>
        </p:txBody>
      </p:sp>
      <p:sp>
        <p:nvSpPr>
          <p:cNvPr id="2" name="Pladsholder til slidenummer 1"/>
          <p:cNvSpPr>
            <a:spLocks noGrp="1"/>
          </p:cNvSpPr>
          <p:nvPr>
            <p:ph type="sldNum" sz="quarter" idx="12"/>
          </p:nvPr>
        </p:nvSpPr>
        <p:spPr/>
        <p:txBody>
          <a:bodyPr/>
          <a:lstStyle/>
          <a:p>
            <a:fld id="{C1FF6DA9-008F-8B48-92A6-B652298478BF}" type="slidenum">
              <a:rPr lang="en-US" smtClean="0"/>
              <a:t>1</a:t>
            </a:fld>
            <a:endParaRPr lang="en-US"/>
          </a:p>
        </p:txBody>
      </p:sp>
    </p:spTree>
    <p:extLst>
      <p:ext uri="{BB962C8B-B14F-4D97-AF65-F5344CB8AC3E}">
        <p14:creationId xmlns:p14="http://schemas.microsoft.com/office/powerpoint/2010/main" val="16184509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Formål med forelæsningen</a:t>
            </a:r>
          </a:p>
        </p:txBody>
      </p:sp>
      <p:sp>
        <p:nvSpPr>
          <p:cNvPr id="3" name="Content Placeholder 2"/>
          <p:cNvSpPr>
            <a:spLocks noGrp="1"/>
          </p:cNvSpPr>
          <p:nvPr>
            <p:ph idx="1"/>
          </p:nvPr>
        </p:nvSpPr>
        <p:spPr/>
        <p:txBody>
          <a:bodyPr/>
          <a:lstStyle/>
          <a:p>
            <a:pPr>
              <a:spcAft>
                <a:spcPts val="600"/>
              </a:spcAft>
              <a:buFont typeface="+mj-lt"/>
              <a:buAutoNum type="arabicPeriod"/>
              <a:defRPr sz="1400"/>
            </a:pPr>
            <a:r>
              <a:rPr lang="da-DK" dirty="0"/>
              <a:t>Forstå grundbegreber indenfor informationsproblemer</a:t>
            </a:r>
          </a:p>
          <a:p>
            <a:pPr lvl="1">
              <a:spcAft>
                <a:spcPts val="600"/>
              </a:spcAft>
              <a:defRPr sz="1400"/>
            </a:pPr>
            <a:r>
              <a:rPr lang="da-DK" dirty="0"/>
              <a:t>Måleusikkerhed, bias, validitet, </a:t>
            </a:r>
            <a:r>
              <a:rPr lang="da-DK" dirty="0" err="1"/>
              <a:t>reliabilitet</a:t>
            </a:r>
            <a:r>
              <a:rPr lang="da-DK" dirty="0"/>
              <a:t>, sensitivitet, specificitet, positiv </a:t>
            </a:r>
            <a:r>
              <a:rPr lang="da-DK" dirty="0" err="1"/>
              <a:t>prædiktiv</a:t>
            </a:r>
            <a:r>
              <a:rPr lang="da-DK" dirty="0"/>
              <a:t> værdi, negativ </a:t>
            </a:r>
            <a:r>
              <a:rPr lang="da-DK" dirty="0" err="1"/>
              <a:t>prædiktiv</a:t>
            </a:r>
            <a:r>
              <a:rPr lang="da-DK" dirty="0"/>
              <a:t> værdi etc.</a:t>
            </a:r>
          </a:p>
          <a:p>
            <a:pPr>
              <a:spcAft>
                <a:spcPts val="600"/>
              </a:spcAft>
              <a:buFont typeface="+mj-lt"/>
              <a:buAutoNum type="arabicPeriod"/>
              <a:defRPr sz="1400"/>
            </a:pPr>
            <a:r>
              <a:rPr lang="da-DK" dirty="0"/>
              <a:t>Forstå forskellige konsekvenser af bias og misklassifikation</a:t>
            </a:r>
          </a:p>
          <a:p>
            <a:pPr>
              <a:spcAft>
                <a:spcPts val="600"/>
              </a:spcAft>
              <a:buFont typeface="+mj-lt"/>
              <a:buAutoNum type="arabicPeriod"/>
              <a:defRPr sz="1400"/>
            </a:pPr>
            <a:r>
              <a:rPr lang="da-DK" dirty="0"/>
              <a:t>Bruge quiz til refleksion </a:t>
            </a:r>
            <a:r>
              <a:rPr lang="da-DK"/>
              <a:t>og dialog</a:t>
            </a:r>
            <a:endParaRPr lang="da-DK" dirty="0"/>
          </a:p>
        </p:txBody>
      </p:sp>
      <p:sp>
        <p:nvSpPr>
          <p:cNvPr id="4" name="Pladsholder til slidenummer 3"/>
          <p:cNvSpPr>
            <a:spLocks noGrp="1"/>
          </p:cNvSpPr>
          <p:nvPr>
            <p:ph type="sldNum" sz="quarter" idx="12"/>
          </p:nvPr>
        </p:nvSpPr>
        <p:spPr/>
        <p:txBody>
          <a:bodyPr/>
          <a:lstStyle/>
          <a:p>
            <a:fld id="{C1FF6DA9-008F-8B48-92A6-B652298478BF}" type="slidenum">
              <a:rPr lang="en-US" smtClean="0"/>
              <a:t>2</a:t>
            </a:fld>
            <a:endParaRPr lang="en-US"/>
          </a:p>
        </p:txBody>
      </p:sp>
    </p:spTree>
    <p:extLst>
      <p:ext uri="{BB962C8B-B14F-4D97-AF65-F5344CB8AC3E}">
        <p14:creationId xmlns:p14="http://schemas.microsoft.com/office/powerpoint/2010/main" val="3375515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a-DK" dirty="0"/>
              <a:t>Dagens program</a:t>
            </a:r>
          </a:p>
        </p:txBody>
      </p:sp>
      <p:sp>
        <p:nvSpPr>
          <p:cNvPr id="3" name="Pladsholder til indhold 2"/>
          <p:cNvSpPr>
            <a:spLocks noGrp="1"/>
          </p:cNvSpPr>
          <p:nvPr>
            <p:ph idx="1"/>
          </p:nvPr>
        </p:nvSpPr>
        <p:spPr/>
        <p:txBody>
          <a:bodyPr/>
          <a:lstStyle/>
          <a:p>
            <a:r>
              <a:rPr lang="da-DK" dirty="0"/>
              <a:t>Grundbegreber</a:t>
            </a:r>
          </a:p>
          <a:p>
            <a:r>
              <a:rPr lang="da-DK" dirty="0"/>
              <a:t>Målefejl </a:t>
            </a:r>
          </a:p>
          <a:p>
            <a:r>
              <a:rPr lang="da-DK" dirty="0"/>
              <a:t>Konsekvenser af måleusikkerhed og målebias</a:t>
            </a:r>
          </a:p>
          <a:p>
            <a:r>
              <a:rPr lang="da-DK" dirty="0"/>
              <a:t>Misklassifikation</a:t>
            </a:r>
          </a:p>
          <a:p>
            <a:r>
              <a:rPr lang="da-DK" dirty="0"/>
              <a:t>Virkelighed og data</a:t>
            </a:r>
          </a:p>
        </p:txBody>
      </p:sp>
      <p:sp>
        <p:nvSpPr>
          <p:cNvPr id="4" name="Pladsholder til slidenummer 3"/>
          <p:cNvSpPr>
            <a:spLocks noGrp="1"/>
          </p:cNvSpPr>
          <p:nvPr>
            <p:ph type="sldNum" sz="quarter" idx="12"/>
          </p:nvPr>
        </p:nvSpPr>
        <p:spPr/>
        <p:txBody>
          <a:bodyPr/>
          <a:lstStyle/>
          <a:p>
            <a:fld id="{C1FF6DA9-008F-8B48-92A6-B652298478BF}" type="slidenum">
              <a:rPr lang="en-US" smtClean="0"/>
              <a:t>3</a:t>
            </a:fld>
            <a:endParaRPr lang="en-US"/>
          </a:p>
        </p:txBody>
      </p:sp>
    </p:spTree>
    <p:extLst>
      <p:ext uri="{BB962C8B-B14F-4D97-AF65-F5344CB8AC3E}">
        <p14:creationId xmlns:p14="http://schemas.microsoft.com/office/powerpoint/2010/main" val="2601398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ctrTitle"/>
          </p:nvPr>
        </p:nvSpPr>
        <p:spPr/>
        <p:txBody>
          <a:bodyPr/>
          <a:lstStyle/>
          <a:p>
            <a:r>
              <a:rPr lang="da-DK" dirty="0"/>
              <a:t>Grundbegreber</a:t>
            </a:r>
          </a:p>
        </p:txBody>
      </p:sp>
      <p:sp>
        <p:nvSpPr>
          <p:cNvPr id="5" name="Undertitel 4"/>
          <p:cNvSpPr>
            <a:spLocks noGrp="1"/>
          </p:cNvSpPr>
          <p:nvPr>
            <p:ph type="subTitle" idx="1"/>
          </p:nvPr>
        </p:nvSpPr>
        <p:spPr/>
        <p:txBody>
          <a:bodyPr/>
          <a:lstStyle/>
          <a:p>
            <a:endParaRPr lang="da-DK"/>
          </a:p>
        </p:txBody>
      </p:sp>
      <p:sp>
        <p:nvSpPr>
          <p:cNvPr id="2" name="Pladsholder til slidenummer 1"/>
          <p:cNvSpPr>
            <a:spLocks noGrp="1"/>
          </p:cNvSpPr>
          <p:nvPr>
            <p:ph type="sldNum" sz="quarter" idx="12"/>
          </p:nvPr>
        </p:nvSpPr>
        <p:spPr/>
        <p:txBody>
          <a:bodyPr/>
          <a:lstStyle/>
          <a:p>
            <a:fld id="{C1FF6DA9-008F-8B48-92A6-B652298478BF}" type="slidenum">
              <a:rPr lang="en-US" smtClean="0"/>
              <a:t>4</a:t>
            </a:fld>
            <a:endParaRPr lang="en-US"/>
          </a:p>
        </p:txBody>
      </p:sp>
    </p:spTree>
    <p:extLst>
      <p:ext uri="{BB962C8B-B14F-4D97-AF65-F5344CB8AC3E}">
        <p14:creationId xmlns:p14="http://schemas.microsoft.com/office/powerpoint/2010/main" val="27267483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a-DK" dirty="0"/>
              <a:t>Hvad er informationsproblemer?</a:t>
            </a:r>
          </a:p>
        </p:txBody>
      </p:sp>
      <p:sp>
        <p:nvSpPr>
          <p:cNvPr id="3" name="Content Placeholder 2"/>
          <p:cNvSpPr>
            <a:spLocks noGrp="1"/>
          </p:cNvSpPr>
          <p:nvPr>
            <p:ph idx="1"/>
          </p:nvPr>
        </p:nvSpPr>
        <p:spPr/>
        <p:txBody>
          <a:bodyPr/>
          <a:lstStyle/>
          <a:p>
            <a:endParaRPr dirty="0"/>
          </a:p>
          <a:p>
            <a:pPr>
              <a:defRPr sz="1800"/>
            </a:pPr>
            <a:r>
              <a:rPr lang="da-DK" dirty="0"/>
              <a:t>Informationsproblemer</a:t>
            </a:r>
            <a:r>
              <a:rPr dirty="0"/>
              <a:t> </a:t>
            </a:r>
            <a:r>
              <a:rPr dirty="0" err="1"/>
              <a:t>opstår</a:t>
            </a:r>
            <a:r>
              <a:rPr dirty="0"/>
              <a:t>, </a:t>
            </a:r>
            <a:r>
              <a:rPr dirty="0" err="1"/>
              <a:t>når</a:t>
            </a:r>
            <a:r>
              <a:rPr dirty="0"/>
              <a:t> data </a:t>
            </a:r>
            <a:r>
              <a:rPr dirty="0" err="1"/>
              <a:t>ikke</a:t>
            </a:r>
            <a:r>
              <a:rPr dirty="0"/>
              <a:t> </a:t>
            </a:r>
            <a:r>
              <a:rPr dirty="0" err="1"/>
              <a:t>afspejler</a:t>
            </a:r>
            <a:r>
              <a:rPr dirty="0"/>
              <a:t> </a:t>
            </a:r>
            <a:r>
              <a:rPr dirty="0" err="1"/>
              <a:t>virkeligheden</a:t>
            </a:r>
            <a:r>
              <a:rPr dirty="0"/>
              <a:t> </a:t>
            </a:r>
            <a:r>
              <a:rPr dirty="0" err="1"/>
              <a:t>korrekt</a:t>
            </a:r>
            <a:r>
              <a:rPr dirty="0"/>
              <a:t>.</a:t>
            </a:r>
          </a:p>
          <a:p>
            <a:pPr>
              <a:defRPr sz="1800"/>
            </a:pPr>
            <a:r>
              <a:rPr lang="da-DK" dirty="0"/>
              <a:t>Årsagerne </a:t>
            </a:r>
            <a:r>
              <a:rPr dirty="0" err="1"/>
              <a:t>kan</a:t>
            </a:r>
            <a:r>
              <a:rPr dirty="0"/>
              <a:t> </a:t>
            </a:r>
            <a:r>
              <a:rPr lang="da-DK" dirty="0"/>
              <a:t>blandt andet være</a:t>
            </a:r>
            <a:r>
              <a:rPr dirty="0"/>
              <a:t> </a:t>
            </a:r>
            <a:r>
              <a:rPr lang="da-DK" dirty="0"/>
              <a:t>(måle)</a:t>
            </a:r>
            <a:r>
              <a:rPr dirty="0" err="1"/>
              <a:t>usikkerhed</a:t>
            </a:r>
            <a:r>
              <a:rPr dirty="0"/>
              <a:t>, </a:t>
            </a:r>
            <a:r>
              <a:rPr dirty="0" err="1"/>
              <a:t>systematiske</a:t>
            </a:r>
            <a:r>
              <a:rPr dirty="0"/>
              <a:t> </a:t>
            </a:r>
            <a:r>
              <a:rPr dirty="0" err="1"/>
              <a:t>fejl</a:t>
            </a:r>
            <a:r>
              <a:rPr dirty="0"/>
              <a:t> (bias)</a:t>
            </a:r>
            <a:r>
              <a:rPr lang="da-DK" dirty="0"/>
              <a:t> og </a:t>
            </a:r>
            <a:r>
              <a:rPr dirty="0" err="1"/>
              <a:t>mis</a:t>
            </a:r>
            <a:r>
              <a:rPr lang="da-DK" dirty="0"/>
              <a:t>klassifikation</a:t>
            </a:r>
            <a:r>
              <a:rPr dirty="0"/>
              <a:t>.</a:t>
            </a:r>
          </a:p>
        </p:txBody>
      </p:sp>
      <p:sp>
        <p:nvSpPr>
          <p:cNvPr id="4" name="Pladsholder til slidenummer 3"/>
          <p:cNvSpPr>
            <a:spLocks noGrp="1"/>
          </p:cNvSpPr>
          <p:nvPr>
            <p:ph type="sldNum" sz="quarter" idx="12"/>
          </p:nvPr>
        </p:nvSpPr>
        <p:spPr/>
        <p:txBody>
          <a:bodyPr/>
          <a:lstStyle/>
          <a:p>
            <a:fld id="{C1FF6DA9-008F-8B48-92A6-B652298478BF}" type="slidenum">
              <a:rPr lang="en-US" smtClean="0"/>
              <a:t>5</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a-DK" dirty="0"/>
              <a:t>Validitet og </a:t>
            </a:r>
            <a:r>
              <a:rPr lang="da-DK" dirty="0" err="1"/>
              <a:t>reliabilitet</a:t>
            </a:r>
            <a:endParaRPr lang="da-DK" dirty="0"/>
          </a:p>
        </p:txBody>
      </p:sp>
      <p:sp>
        <p:nvSpPr>
          <p:cNvPr id="3" name="Pladsholder til indhold 2"/>
          <p:cNvSpPr>
            <a:spLocks noGrp="1"/>
          </p:cNvSpPr>
          <p:nvPr>
            <p:ph idx="1"/>
          </p:nvPr>
        </p:nvSpPr>
        <p:spPr/>
        <p:txBody>
          <a:bodyPr/>
          <a:lstStyle/>
          <a:p>
            <a:r>
              <a:rPr lang="da-DK" b="1" dirty="0"/>
              <a:t>Validitet (”nøjagtighed”):</a:t>
            </a:r>
            <a:r>
              <a:rPr lang="da-DK" dirty="0"/>
              <a:t> hvor tæt er testen på den sande måling?</a:t>
            </a:r>
          </a:p>
          <a:p>
            <a:endParaRPr lang="da-DK" dirty="0"/>
          </a:p>
          <a:p>
            <a:r>
              <a:rPr lang="da-DK" b="1" dirty="0" err="1"/>
              <a:t>Reliabilitet</a:t>
            </a:r>
            <a:r>
              <a:rPr lang="da-DK" b="1" dirty="0"/>
              <a:t> (”reproducerbarhed”):</a:t>
            </a:r>
            <a:r>
              <a:rPr lang="da-DK" dirty="0"/>
              <a:t> hvor ensartede er testens målinger?</a:t>
            </a:r>
          </a:p>
          <a:p>
            <a:pPr marL="0" indent="0">
              <a:buNone/>
            </a:pPr>
            <a:endParaRPr lang="da-DK" dirty="0"/>
          </a:p>
        </p:txBody>
      </p:sp>
      <p:sp>
        <p:nvSpPr>
          <p:cNvPr id="4" name="Pladsholder til slidenummer 3"/>
          <p:cNvSpPr>
            <a:spLocks noGrp="1"/>
          </p:cNvSpPr>
          <p:nvPr>
            <p:ph type="sldNum" sz="quarter" idx="12"/>
          </p:nvPr>
        </p:nvSpPr>
        <p:spPr/>
        <p:txBody>
          <a:bodyPr/>
          <a:lstStyle/>
          <a:p>
            <a:fld id="{C1FF6DA9-008F-8B48-92A6-B652298478BF}" type="slidenum">
              <a:rPr lang="en-US" smtClean="0"/>
              <a:t>6</a:t>
            </a:fld>
            <a:endParaRPr lang="en-US"/>
          </a:p>
        </p:txBody>
      </p:sp>
    </p:spTree>
    <p:extLst>
      <p:ext uri="{BB962C8B-B14F-4D97-AF65-F5344CB8AC3E}">
        <p14:creationId xmlns:p14="http://schemas.microsoft.com/office/powerpoint/2010/main" val="3074270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a-DK" dirty="0"/>
              <a:t>Usikkerhed vs. bias</a:t>
            </a:r>
          </a:p>
        </p:txBody>
      </p:sp>
      <p:sp>
        <p:nvSpPr>
          <p:cNvPr id="3" name="Pladsholder til indhold 2"/>
          <p:cNvSpPr>
            <a:spLocks noGrp="1"/>
          </p:cNvSpPr>
          <p:nvPr>
            <p:ph idx="1"/>
          </p:nvPr>
        </p:nvSpPr>
        <p:spPr/>
        <p:txBody>
          <a:bodyPr/>
          <a:lstStyle/>
          <a:p>
            <a:r>
              <a:rPr lang="da-DK" b="1" dirty="0"/>
              <a:t>Måleusikkerhed:</a:t>
            </a:r>
            <a:r>
              <a:rPr lang="da-DK" dirty="0"/>
              <a:t> tilfældige variation, der gør, at et estimat varierer omkring sandheden.</a:t>
            </a:r>
          </a:p>
          <a:p>
            <a:endParaRPr lang="da-DK" dirty="0"/>
          </a:p>
          <a:p>
            <a:r>
              <a:rPr lang="da-DK" b="1" dirty="0"/>
              <a:t>Bias:</a:t>
            </a:r>
            <a:r>
              <a:rPr lang="da-DK" dirty="0"/>
              <a:t> systematisk afvigelse fra sandheden.</a:t>
            </a:r>
          </a:p>
        </p:txBody>
      </p:sp>
      <p:sp>
        <p:nvSpPr>
          <p:cNvPr id="4" name="Pladsholder til slidenummer 3"/>
          <p:cNvSpPr>
            <a:spLocks noGrp="1"/>
          </p:cNvSpPr>
          <p:nvPr>
            <p:ph type="sldNum" sz="quarter" idx="12"/>
          </p:nvPr>
        </p:nvSpPr>
        <p:spPr/>
        <p:txBody>
          <a:bodyPr/>
          <a:lstStyle/>
          <a:p>
            <a:fld id="{C1FF6DA9-008F-8B48-92A6-B652298478BF}" type="slidenum">
              <a:rPr lang="en-US" smtClean="0"/>
              <a:t>7</a:t>
            </a:fld>
            <a:endParaRPr lang="en-US"/>
          </a:p>
        </p:txBody>
      </p:sp>
    </p:spTree>
    <p:extLst>
      <p:ext uri="{BB962C8B-B14F-4D97-AF65-F5344CB8AC3E}">
        <p14:creationId xmlns:p14="http://schemas.microsoft.com/office/powerpoint/2010/main" val="3515557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a-DK" dirty="0"/>
              <a:t>Validitet, </a:t>
            </a:r>
            <a:r>
              <a:rPr lang="da-DK" dirty="0" err="1"/>
              <a:t>reliabilitet</a:t>
            </a:r>
            <a:r>
              <a:rPr lang="da-DK" dirty="0"/>
              <a:t> og bias</a:t>
            </a:r>
          </a:p>
        </p:txBody>
      </p:sp>
      <p:pic>
        <p:nvPicPr>
          <p:cNvPr id="4" name="Billede 3"/>
          <p:cNvPicPr>
            <a:picLocks noChangeAspect="1"/>
          </p:cNvPicPr>
          <p:nvPr/>
        </p:nvPicPr>
        <p:blipFill>
          <a:blip r:embed="rId2"/>
          <a:stretch>
            <a:fillRect/>
          </a:stretch>
        </p:blipFill>
        <p:spPr>
          <a:xfrm>
            <a:off x="2918545" y="2247900"/>
            <a:ext cx="3411418" cy="3402012"/>
          </a:xfrm>
          <a:prstGeom prst="rect">
            <a:avLst/>
          </a:prstGeom>
        </p:spPr>
      </p:pic>
      <p:sp>
        <p:nvSpPr>
          <p:cNvPr id="5" name="Tekstfelt 4"/>
          <p:cNvSpPr txBox="1"/>
          <p:nvPr/>
        </p:nvSpPr>
        <p:spPr>
          <a:xfrm>
            <a:off x="144379" y="2227741"/>
            <a:ext cx="3242511" cy="584775"/>
          </a:xfrm>
          <a:prstGeom prst="rect">
            <a:avLst/>
          </a:prstGeom>
          <a:noFill/>
        </p:spPr>
        <p:txBody>
          <a:bodyPr wrap="square" rtlCol="0">
            <a:spAutoFit/>
          </a:bodyPr>
          <a:lstStyle/>
          <a:p>
            <a:r>
              <a:rPr lang="da-DK" sz="1600" dirty="0"/>
              <a:t>Høj validitet/Lav eller ingen bias</a:t>
            </a:r>
          </a:p>
          <a:p>
            <a:r>
              <a:rPr lang="da-DK" sz="1600" dirty="0"/>
              <a:t>Lav usikkerhed/Høj </a:t>
            </a:r>
            <a:r>
              <a:rPr lang="da-DK" sz="1600" dirty="0" err="1"/>
              <a:t>reliabilitet</a:t>
            </a:r>
            <a:endParaRPr lang="da-DK" sz="1600" dirty="0"/>
          </a:p>
        </p:txBody>
      </p:sp>
      <p:sp>
        <p:nvSpPr>
          <p:cNvPr id="9" name="Tekstfelt 8"/>
          <p:cNvSpPr txBox="1"/>
          <p:nvPr/>
        </p:nvSpPr>
        <p:spPr>
          <a:xfrm>
            <a:off x="6277709" y="2227741"/>
            <a:ext cx="3242511" cy="584775"/>
          </a:xfrm>
          <a:prstGeom prst="rect">
            <a:avLst/>
          </a:prstGeom>
          <a:noFill/>
        </p:spPr>
        <p:txBody>
          <a:bodyPr wrap="square" rtlCol="0">
            <a:spAutoFit/>
          </a:bodyPr>
          <a:lstStyle/>
          <a:p>
            <a:r>
              <a:rPr lang="da-DK" sz="1600" dirty="0"/>
              <a:t>Lav validitet/Bias</a:t>
            </a:r>
          </a:p>
          <a:p>
            <a:r>
              <a:rPr lang="da-DK" sz="1600" dirty="0"/>
              <a:t>Lav usikkerhed/Høj </a:t>
            </a:r>
            <a:r>
              <a:rPr lang="da-DK" sz="1600" dirty="0" err="1"/>
              <a:t>reliabilitet</a:t>
            </a:r>
            <a:endParaRPr lang="da-DK" sz="1600" dirty="0"/>
          </a:p>
        </p:txBody>
      </p:sp>
      <p:sp>
        <p:nvSpPr>
          <p:cNvPr id="10" name="Tekstfelt 9"/>
          <p:cNvSpPr txBox="1"/>
          <p:nvPr/>
        </p:nvSpPr>
        <p:spPr>
          <a:xfrm>
            <a:off x="144379" y="5065137"/>
            <a:ext cx="3242511" cy="584775"/>
          </a:xfrm>
          <a:prstGeom prst="rect">
            <a:avLst/>
          </a:prstGeom>
          <a:noFill/>
        </p:spPr>
        <p:txBody>
          <a:bodyPr wrap="square" rtlCol="0">
            <a:spAutoFit/>
          </a:bodyPr>
          <a:lstStyle/>
          <a:p>
            <a:r>
              <a:rPr lang="da-DK" sz="1600" dirty="0"/>
              <a:t>Høj validitet/Lav eller ingen bias</a:t>
            </a:r>
          </a:p>
          <a:p>
            <a:r>
              <a:rPr lang="da-DK" sz="1600" dirty="0"/>
              <a:t>Høj usikkerhed/lav </a:t>
            </a:r>
            <a:r>
              <a:rPr lang="da-DK" sz="1600" dirty="0" err="1"/>
              <a:t>reliabilitet</a:t>
            </a:r>
            <a:endParaRPr lang="da-DK" sz="1600" dirty="0"/>
          </a:p>
        </p:txBody>
      </p:sp>
      <p:sp>
        <p:nvSpPr>
          <p:cNvPr id="11" name="Tekstfelt 10"/>
          <p:cNvSpPr txBox="1"/>
          <p:nvPr/>
        </p:nvSpPr>
        <p:spPr>
          <a:xfrm>
            <a:off x="6277709" y="5065136"/>
            <a:ext cx="3242511" cy="584775"/>
          </a:xfrm>
          <a:prstGeom prst="rect">
            <a:avLst/>
          </a:prstGeom>
          <a:noFill/>
        </p:spPr>
        <p:txBody>
          <a:bodyPr wrap="square" rtlCol="0">
            <a:spAutoFit/>
          </a:bodyPr>
          <a:lstStyle/>
          <a:p>
            <a:r>
              <a:rPr lang="da-DK" sz="1600" dirty="0"/>
              <a:t>Lav validitet/Bias</a:t>
            </a:r>
          </a:p>
          <a:p>
            <a:r>
              <a:rPr lang="da-DK" sz="1600" dirty="0"/>
              <a:t>Høj usikkerhed/lav </a:t>
            </a:r>
            <a:r>
              <a:rPr lang="da-DK" sz="1600" dirty="0" err="1"/>
              <a:t>reliabilitet</a:t>
            </a:r>
            <a:endParaRPr lang="da-DK" sz="1600" dirty="0"/>
          </a:p>
        </p:txBody>
      </p:sp>
      <p:sp>
        <p:nvSpPr>
          <p:cNvPr id="3" name="Pladsholder til slidenummer 2"/>
          <p:cNvSpPr>
            <a:spLocks noGrp="1"/>
          </p:cNvSpPr>
          <p:nvPr>
            <p:ph type="sldNum" sz="quarter" idx="12"/>
          </p:nvPr>
        </p:nvSpPr>
        <p:spPr/>
        <p:txBody>
          <a:bodyPr/>
          <a:lstStyle/>
          <a:p>
            <a:fld id="{C1FF6DA9-008F-8B48-92A6-B652298478BF}" type="slidenum">
              <a:rPr lang="en-US" smtClean="0"/>
              <a:t>8</a:t>
            </a:fld>
            <a:endParaRPr lang="en-US"/>
          </a:p>
        </p:txBody>
      </p:sp>
    </p:spTree>
    <p:extLst>
      <p:ext uri="{BB962C8B-B14F-4D97-AF65-F5344CB8AC3E}">
        <p14:creationId xmlns:p14="http://schemas.microsoft.com/office/powerpoint/2010/main" val="12204018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ctrTitle"/>
          </p:nvPr>
        </p:nvSpPr>
        <p:spPr/>
        <p:txBody>
          <a:bodyPr/>
          <a:lstStyle/>
          <a:p>
            <a:r>
              <a:rPr lang="da-DK" dirty="0"/>
              <a:t>Målefejl</a:t>
            </a:r>
          </a:p>
        </p:txBody>
      </p:sp>
      <p:sp>
        <p:nvSpPr>
          <p:cNvPr id="5" name="Undertitel 4"/>
          <p:cNvSpPr>
            <a:spLocks noGrp="1"/>
          </p:cNvSpPr>
          <p:nvPr>
            <p:ph type="subTitle" idx="1"/>
          </p:nvPr>
        </p:nvSpPr>
        <p:spPr/>
        <p:txBody>
          <a:bodyPr/>
          <a:lstStyle/>
          <a:p>
            <a:endParaRPr lang="da-DK"/>
          </a:p>
        </p:txBody>
      </p:sp>
      <p:sp>
        <p:nvSpPr>
          <p:cNvPr id="2" name="Pladsholder til slidenummer 1"/>
          <p:cNvSpPr>
            <a:spLocks noGrp="1"/>
          </p:cNvSpPr>
          <p:nvPr>
            <p:ph type="sldNum" sz="quarter" idx="12"/>
          </p:nvPr>
        </p:nvSpPr>
        <p:spPr/>
        <p:txBody>
          <a:bodyPr/>
          <a:lstStyle/>
          <a:p>
            <a:fld id="{C1FF6DA9-008F-8B48-92A6-B652298478BF}" type="slidenum">
              <a:rPr lang="en-US" smtClean="0"/>
              <a:t>9</a:t>
            </a:fld>
            <a:endParaRPr lang="en-US"/>
          </a:p>
        </p:txBody>
      </p:sp>
    </p:spTree>
    <p:extLst>
      <p:ext uri="{BB962C8B-B14F-4D97-AF65-F5344CB8AC3E}">
        <p14:creationId xmlns:p14="http://schemas.microsoft.com/office/powerpoint/2010/main" val="15226510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err="1"/>
              <a:t>Tilfældig</a:t>
            </a:r>
            <a:r>
              <a:rPr dirty="0"/>
              <a:t> </a:t>
            </a:r>
            <a:r>
              <a:rPr dirty="0" err="1"/>
              <a:t>fejl</a:t>
            </a:r>
            <a:endParaRPr dirty="0"/>
          </a:p>
        </p:txBody>
      </p:sp>
      <p:sp>
        <p:nvSpPr>
          <p:cNvPr id="3" name="Content Placeholder 2"/>
          <p:cNvSpPr>
            <a:spLocks noGrp="1"/>
          </p:cNvSpPr>
          <p:nvPr>
            <p:ph idx="1"/>
          </p:nvPr>
        </p:nvSpPr>
        <p:spPr>
          <a:xfrm>
            <a:off x="457200" y="1600200"/>
            <a:ext cx="5649924" cy="4525963"/>
          </a:xfrm>
        </p:spPr>
        <p:txBody>
          <a:bodyPr/>
          <a:lstStyle/>
          <a:p>
            <a:endParaRPr dirty="0"/>
          </a:p>
          <a:p>
            <a:pPr>
              <a:defRPr sz="1800"/>
            </a:pPr>
            <a:r>
              <a:rPr dirty="0" err="1"/>
              <a:t>Tilfældig</a:t>
            </a:r>
            <a:r>
              <a:rPr dirty="0"/>
              <a:t> </a:t>
            </a:r>
            <a:r>
              <a:rPr dirty="0" err="1"/>
              <a:t>fejl</a:t>
            </a:r>
            <a:r>
              <a:rPr dirty="0"/>
              <a:t> = </a:t>
            </a:r>
            <a:r>
              <a:rPr lang="da-DK" dirty="0"/>
              <a:t>måle</a:t>
            </a:r>
            <a:r>
              <a:rPr dirty="0" err="1"/>
              <a:t>usikkerhed</a:t>
            </a:r>
            <a:r>
              <a:rPr dirty="0"/>
              <a:t>.</a:t>
            </a:r>
            <a:endParaRPr lang="da-DK" dirty="0"/>
          </a:p>
          <a:p>
            <a:pPr>
              <a:defRPr sz="1800"/>
            </a:pPr>
            <a:r>
              <a:rPr lang="da-DK" i="1" dirty="0"/>
              <a:t>Eksempel</a:t>
            </a:r>
            <a:r>
              <a:rPr lang="da-DK" dirty="0"/>
              <a:t>: Mål varighed af 10 meter sprint med stopur</a:t>
            </a:r>
          </a:p>
          <a:p>
            <a:pPr lvl="1">
              <a:defRPr sz="1800"/>
            </a:pPr>
            <a:r>
              <a:rPr lang="da-DK" dirty="0"/>
              <a:t>Det vil være ret stor variation i målingerne, men fejlen vil være tilfældig fordelt omkring den sande varighed</a:t>
            </a:r>
          </a:p>
          <a:p>
            <a:pPr>
              <a:defRPr sz="1800"/>
            </a:pPr>
            <a:endParaRPr dirty="0"/>
          </a:p>
        </p:txBody>
      </p:sp>
      <p:pic>
        <p:nvPicPr>
          <p:cNvPr id="1026" name="Picture 2" descr="woman running with stopwatch, female athlete with chronometer on white  background 1892639 Vector Art at Vecteez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17111" y="3387389"/>
            <a:ext cx="2738774" cy="273877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Reliability and Validity ~ Definition, Use &amp; Types"/>
          <p:cNvPicPr>
            <a:picLocks noChangeAspect="1" noChangeArrowheads="1"/>
          </p:cNvPicPr>
          <p:nvPr/>
        </p:nvPicPr>
        <p:blipFill rotWithShape="1">
          <a:blip r:embed="rId3">
            <a:extLst>
              <a:ext uri="{28A0092B-C50C-407E-A947-70E740481C1C}">
                <a14:useLocalDpi xmlns:a14="http://schemas.microsoft.com/office/drawing/2010/main" val="0"/>
              </a:ext>
            </a:extLst>
          </a:blip>
          <a:srcRect l="24798" r="50041" b="27903"/>
          <a:stretch/>
        </p:blipFill>
        <p:spPr bwMode="auto">
          <a:xfrm>
            <a:off x="1271136" y="3698813"/>
            <a:ext cx="904875" cy="974292"/>
          </a:xfrm>
          <a:prstGeom prst="rect">
            <a:avLst/>
          </a:prstGeom>
          <a:noFill/>
          <a:extLst>
            <a:ext uri="{909E8E84-426E-40DD-AFC4-6F175D3DCCD1}">
              <a14:hiddenFill xmlns:a14="http://schemas.microsoft.com/office/drawing/2010/main">
                <a:solidFill>
                  <a:srgbClr val="FFFFFF"/>
                </a:solidFill>
              </a14:hiddenFill>
            </a:ext>
          </a:extLst>
        </p:spPr>
      </p:pic>
      <p:sp>
        <p:nvSpPr>
          <p:cNvPr id="4" name="Pladsholder til slidenummer 3"/>
          <p:cNvSpPr>
            <a:spLocks noGrp="1"/>
          </p:cNvSpPr>
          <p:nvPr>
            <p:ph type="sldNum" sz="quarter" idx="12"/>
          </p:nvPr>
        </p:nvSpPr>
        <p:spPr/>
        <p:txBody>
          <a:bodyPr/>
          <a:lstStyle/>
          <a:p>
            <a:fld id="{C1FF6DA9-008F-8B48-92A6-B652298478BF}" type="slidenum">
              <a:rPr lang="en-US" smtClean="0"/>
              <a:t>10</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a-DK" dirty="0" err="1"/>
              <a:t>Måleu</a:t>
            </a:r>
            <a:r>
              <a:rPr dirty="0" err="1"/>
              <a:t>sikkerhed</a:t>
            </a:r>
            <a:endParaRPr dirty="0"/>
          </a:p>
        </p:txBody>
      </p:sp>
      <p:sp>
        <p:nvSpPr>
          <p:cNvPr id="3" name="Content Placeholder 2"/>
          <p:cNvSpPr>
            <a:spLocks noGrp="1"/>
          </p:cNvSpPr>
          <p:nvPr>
            <p:ph idx="1"/>
          </p:nvPr>
        </p:nvSpPr>
        <p:spPr/>
        <p:txBody>
          <a:bodyPr/>
          <a:lstStyle/>
          <a:p>
            <a:endParaRPr dirty="0"/>
          </a:p>
          <a:p>
            <a:pPr>
              <a:defRPr sz="1800"/>
            </a:pPr>
            <a:r>
              <a:rPr lang="da-DK" dirty="0"/>
              <a:t>Måleusikkerhed kan blandt andet være relateret til:</a:t>
            </a:r>
          </a:p>
          <a:p>
            <a:pPr lvl="1">
              <a:defRPr sz="1800"/>
            </a:pPr>
            <a:r>
              <a:rPr lang="da-DK" dirty="0"/>
              <a:t>Teknisk udstyr, der ikke giver samme resultat hver gang </a:t>
            </a:r>
          </a:p>
          <a:p>
            <a:pPr lvl="1">
              <a:defRPr sz="1800"/>
            </a:pPr>
            <a:r>
              <a:rPr lang="da-DK" dirty="0"/>
              <a:t>Unøjagtig procedure for måling</a:t>
            </a:r>
          </a:p>
          <a:p>
            <a:pPr>
              <a:defRPr sz="1800"/>
            </a:pPr>
            <a:endParaRPr lang="da-DK" dirty="0"/>
          </a:p>
          <a:p>
            <a:pPr>
              <a:defRPr sz="1800"/>
            </a:pPr>
            <a:r>
              <a:rPr lang="da-DK" dirty="0"/>
              <a:t>Måleusikkerhed kan minimeres ved:</a:t>
            </a:r>
          </a:p>
          <a:p>
            <a:pPr lvl="1">
              <a:defRPr sz="1800"/>
            </a:pPr>
            <a:r>
              <a:rPr lang="da-DK" dirty="0"/>
              <a:t>Bedre teknisk udstyr</a:t>
            </a:r>
          </a:p>
          <a:p>
            <a:pPr lvl="1">
              <a:defRPr sz="1800"/>
            </a:pPr>
            <a:r>
              <a:rPr lang="da-DK" dirty="0"/>
              <a:t>Mere standardiserede procedurer for måling</a:t>
            </a:r>
          </a:p>
          <a:p>
            <a:pPr>
              <a:defRPr sz="1800"/>
            </a:pPr>
            <a:endParaRPr lang="da-DK" dirty="0"/>
          </a:p>
          <a:p>
            <a:pPr marL="0" indent="0">
              <a:buNone/>
              <a:defRPr sz="1800"/>
            </a:pPr>
            <a:endParaRPr lang="da-DK" dirty="0"/>
          </a:p>
          <a:p>
            <a:pPr marL="0" indent="0">
              <a:buNone/>
              <a:defRPr sz="1800"/>
            </a:pPr>
            <a:endParaRPr lang="da-DK" dirty="0"/>
          </a:p>
          <a:p>
            <a:pPr marL="0" indent="0">
              <a:buNone/>
              <a:defRPr sz="1800"/>
            </a:pPr>
            <a:endParaRPr lang="da-DK" dirty="0"/>
          </a:p>
          <a:p>
            <a:pPr marL="0" indent="0">
              <a:buNone/>
              <a:defRPr sz="1800"/>
            </a:pPr>
            <a:endParaRPr lang="da-DK" dirty="0"/>
          </a:p>
          <a:p>
            <a:pPr marL="0" indent="0">
              <a:buNone/>
              <a:defRPr sz="1800"/>
            </a:pPr>
            <a:endParaRPr lang="da-DK" dirty="0"/>
          </a:p>
          <a:p>
            <a:pPr marL="0" indent="0">
              <a:buNone/>
              <a:defRPr sz="1800"/>
            </a:pPr>
            <a:endParaRPr lang="da-DK" dirty="0"/>
          </a:p>
          <a:p>
            <a:pPr marL="0" indent="0">
              <a:buNone/>
              <a:defRPr sz="1800"/>
            </a:pPr>
            <a:endParaRPr lang="da-DK" dirty="0"/>
          </a:p>
          <a:p>
            <a:pPr marL="0" indent="0">
              <a:buNone/>
              <a:defRPr sz="1800"/>
            </a:pPr>
            <a:endParaRPr lang="da-DK" dirty="0"/>
          </a:p>
          <a:p>
            <a:pPr marL="0" indent="0">
              <a:buNone/>
              <a:defRPr sz="1800"/>
            </a:pPr>
            <a:endParaRPr dirty="0"/>
          </a:p>
        </p:txBody>
      </p:sp>
      <p:sp>
        <p:nvSpPr>
          <p:cNvPr id="4" name="Pladsholder til slidenummer 3"/>
          <p:cNvSpPr>
            <a:spLocks noGrp="1"/>
          </p:cNvSpPr>
          <p:nvPr>
            <p:ph type="sldNum" sz="quarter" idx="12"/>
          </p:nvPr>
        </p:nvSpPr>
        <p:spPr/>
        <p:txBody>
          <a:bodyPr/>
          <a:lstStyle/>
          <a:p>
            <a:fld id="{C1FF6DA9-008F-8B48-92A6-B652298478BF}" type="slidenum">
              <a:rPr lang="en-US" smtClean="0"/>
              <a:t>11</a:t>
            </a:fld>
            <a:endParaRPr lang="en-US"/>
          </a:p>
        </p:txBody>
      </p:sp>
    </p:spTree>
    <p:extLst>
      <p:ext uri="{BB962C8B-B14F-4D97-AF65-F5344CB8AC3E}">
        <p14:creationId xmlns:p14="http://schemas.microsoft.com/office/powerpoint/2010/main" val="2756100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fade">
                                      <p:cBhvr>
                                        <p:cTn id="18" dur="500"/>
                                        <p:tgtEl>
                                          <p:spTgt spid="3">
                                            <p:txEl>
                                              <p:pRg st="5" end="5"/>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Effect transition="in" filter="fade">
                                      <p:cBhvr>
                                        <p:cTn id="21" dur="500"/>
                                        <p:tgtEl>
                                          <p:spTgt spid="3">
                                            <p:txEl>
                                              <p:pRg st="6" end="6"/>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
                                            <p:txEl>
                                              <p:pRg st="7" end="7"/>
                                            </p:txEl>
                                          </p:spTgt>
                                        </p:tgtEl>
                                        <p:attrNameLst>
                                          <p:attrName>style.visibility</p:attrName>
                                        </p:attrNameLst>
                                      </p:cBhvr>
                                      <p:to>
                                        <p:strVal val="visible"/>
                                      </p:to>
                                    </p:set>
                                    <p:animEffect transition="in" filter="fade">
                                      <p:cBhvr>
                                        <p:cTn id="24"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err="1"/>
              <a:t>Biologisk</a:t>
            </a:r>
            <a:r>
              <a:rPr dirty="0"/>
              <a:t> </a:t>
            </a:r>
            <a:r>
              <a:rPr dirty="0" err="1"/>
              <a:t>korttidsvariation</a:t>
            </a:r>
            <a:endParaRPr dirty="0"/>
          </a:p>
        </p:txBody>
      </p:sp>
      <p:sp>
        <p:nvSpPr>
          <p:cNvPr id="3" name="Content Placeholder 2"/>
          <p:cNvSpPr>
            <a:spLocks noGrp="1"/>
          </p:cNvSpPr>
          <p:nvPr>
            <p:ph idx="1"/>
          </p:nvPr>
        </p:nvSpPr>
        <p:spPr/>
        <p:txBody>
          <a:bodyPr/>
          <a:lstStyle/>
          <a:p>
            <a:endParaRPr dirty="0"/>
          </a:p>
          <a:p>
            <a:pPr>
              <a:defRPr sz="1800"/>
            </a:pPr>
            <a:r>
              <a:rPr lang="da-DK" dirty="0"/>
              <a:t>Nogle faktorer vil variere meget over kort tid</a:t>
            </a:r>
            <a:endParaRPr dirty="0"/>
          </a:p>
          <a:p>
            <a:pPr lvl="1">
              <a:defRPr sz="1800"/>
            </a:pPr>
            <a:r>
              <a:rPr dirty="0" err="1"/>
              <a:t>F.eks</a:t>
            </a:r>
            <a:r>
              <a:rPr dirty="0"/>
              <a:t>. </a:t>
            </a:r>
            <a:r>
              <a:rPr lang="da-DK" dirty="0"/>
              <a:t>puls, </a:t>
            </a:r>
            <a:r>
              <a:rPr dirty="0" err="1"/>
              <a:t>blodtryk</a:t>
            </a:r>
            <a:r>
              <a:rPr dirty="0"/>
              <a:t>, </a:t>
            </a:r>
            <a:r>
              <a:rPr lang="da-DK" dirty="0"/>
              <a:t>vægt, træthed, blodsukker</a:t>
            </a:r>
            <a:r>
              <a:rPr dirty="0"/>
              <a:t>, </a:t>
            </a:r>
            <a:r>
              <a:rPr dirty="0" err="1"/>
              <a:t>hormonniveauer</a:t>
            </a:r>
            <a:endParaRPr lang="da-DK" dirty="0"/>
          </a:p>
          <a:p>
            <a:pPr>
              <a:defRPr sz="1800"/>
            </a:pPr>
            <a:r>
              <a:rPr lang="da-DK" dirty="0"/>
              <a:t>Måleusikkerhed grundet biologisk variation kan reduceres ved fornuftige procedurer</a:t>
            </a:r>
          </a:p>
        </p:txBody>
      </p:sp>
      <p:sp>
        <p:nvSpPr>
          <p:cNvPr id="4" name="Pladsholder til slidenummer 3"/>
          <p:cNvSpPr>
            <a:spLocks noGrp="1"/>
          </p:cNvSpPr>
          <p:nvPr>
            <p:ph type="sldNum" sz="quarter" idx="12"/>
          </p:nvPr>
        </p:nvSpPr>
        <p:spPr/>
        <p:txBody>
          <a:bodyPr/>
          <a:lstStyle/>
          <a:p>
            <a:fld id="{C1FF6DA9-008F-8B48-92A6-B652298478BF}" type="slidenum">
              <a:rPr lang="en-US" smtClean="0"/>
              <a:t>12</a:t>
            </a:fld>
            <a:endParaRPr lang="en-US"/>
          </a:p>
        </p:txBody>
      </p:sp>
    </p:spTree>
    <p:extLst>
      <p:ext uri="{BB962C8B-B14F-4D97-AF65-F5344CB8AC3E}">
        <p14:creationId xmlns:p14="http://schemas.microsoft.com/office/powerpoint/2010/main" val="427575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a-DK" dirty="0" err="1"/>
              <a:t>Måleu</a:t>
            </a:r>
            <a:r>
              <a:rPr dirty="0" err="1"/>
              <a:t>sikkerhed</a:t>
            </a:r>
            <a:endParaRPr dirty="0"/>
          </a:p>
        </p:txBody>
      </p:sp>
      <p:sp>
        <p:nvSpPr>
          <p:cNvPr id="3" name="Content Placeholder 2"/>
          <p:cNvSpPr>
            <a:spLocks noGrp="1"/>
          </p:cNvSpPr>
          <p:nvPr>
            <p:ph idx="1"/>
          </p:nvPr>
        </p:nvSpPr>
        <p:spPr/>
        <p:txBody>
          <a:bodyPr/>
          <a:lstStyle/>
          <a:p>
            <a:endParaRPr dirty="0"/>
          </a:p>
          <a:p>
            <a:pPr>
              <a:defRPr sz="1800"/>
            </a:pPr>
            <a:r>
              <a:rPr lang="da-DK" dirty="0"/>
              <a:t>Lille måleusikkerhed bidrager til mindre statistisk usikkerhed</a:t>
            </a:r>
          </a:p>
          <a:p>
            <a:pPr>
              <a:defRPr sz="1800"/>
            </a:pPr>
            <a:r>
              <a:rPr lang="da-DK" dirty="0"/>
              <a:t>Den </a:t>
            </a:r>
            <a:r>
              <a:rPr lang="da-DK" u="sng" dirty="0"/>
              <a:t>statistiske</a:t>
            </a:r>
            <a:r>
              <a:rPr lang="da-DK" dirty="0"/>
              <a:t> usikkerhed afhænger blandt andet af</a:t>
            </a:r>
          </a:p>
          <a:p>
            <a:pPr lvl="1">
              <a:defRPr sz="1800"/>
            </a:pPr>
            <a:r>
              <a:rPr lang="da-DK" dirty="0"/>
              <a:t>den naturlige variation </a:t>
            </a:r>
          </a:p>
          <a:p>
            <a:pPr lvl="1">
              <a:defRPr sz="1800"/>
            </a:pPr>
            <a:r>
              <a:rPr lang="da-DK" dirty="0"/>
              <a:t>studiepopulationens karakteristika</a:t>
            </a:r>
          </a:p>
          <a:p>
            <a:pPr lvl="1">
              <a:defRPr sz="1800"/>
            </a:pPr>
            <a:r>
              <a:rPr lang="da-DK" dirty="0"/>
              <a:t>studiepopulationens størrelse</a:t>
            </a:r>
          </a:p>
          <a:p>
            <a:pPr marL="0" indent="0">
              <a:buNone/>
              <a:defRPr sz="1800"/>
            </a:pPr>
            <a:endParaRPr lang="da-DK" dirty="0"/>
          </a:p>
          <a:p>
            <a:pPr marL="0" indent="0">
              <a:buNone/>
              <a:defRPr sz="1800"/>
            </a:pPr>
            <a:endParaRPr lang="da-DK" dirty="0"/>
          </a:p>
          <a:p>
            <a:pPr marL="0" indent="0">
              <a:buNone/>
              <a:defRPr sz="1800"/>
            </a:pPr>
            <a:endParaRPr lang="da-DK" dirty="0"/>
          </a:p>
          <a:p>
            <a:pPr marL="0" indent="0">
              <a:buNone/>
              <a:defRPr sz="1800"/>
            </a:pPr>
            <a:endParaRPr lang="da-DK" dirty="0"/>
          </a:p>
          <a:p>
            <a:pPr marL="0" indent="0">
              <a:buNone/>
              <a:defRPr sz="1800"/>
            </a:pPr>
            <a:endParaRPr lang="da-DK" dirty="0"/>
          </a:p>
          <a:p>
            <a:pPr marL="0" indent="0">
              <a:buNone/>
              <a:defRPr sz="1800"/>
            </a:pPr>
            <a:endParaRPr lang="da-DK" dirty="0"/>
          </a:p>
          <a:p>
            <a:pPr marL="0" indent="0">
              <a:buNone/>
              <a:defRPr sz="1800"/>
            </a:pPr>
            <a:endParaRPr lang="da-DK" dirty="0"/>
          </a:p>
          <a:p>
            <a:pPr marL="0" indent="0">
              <a:buNone/>
              <a:defRPr sz="1800"/>
            </a:pPr>
            <a:endParaRPr lang="da-DK" dirty="0"/>
          </a:p>
          <a:p>
            <a:pPr marL="0" indent="0">
              <a:buNone/>
              <a:defRPr sz="1800"/>
            </a:pPr>
            <a:endParaRPr dirty="0"/>
          </a:p>
        </p:txBody>
      </p:sp>
      <p:pic>
        <p:nvPicPr>
          <p:cNvPr id="1026" name="Picture 2" descr="Reliability and Validity ~ Definition, Use &amp; Types"/>
          <p:cNvPicPr>
            <a:picLocks noChangeAspect="1" noChangeArrowheads="1"/>
          </p:cNvPicPr>
          <p:nvPr/>
        </p:nvPicPr>
        <p:blipFill rotWithShape="1">
          <a:blip r:embed="rId3">
            <a:extLst>
              <a:ext uri="{28A0092B-C50C-407E-A947-70E740481C1C}">
                <a14:useLocalDpi xmlns:a14="http://schemas.microsoft.com/office/drawing/2010/main" val="0"/>
              </a:ext>
            </a:extLst>
          </a:blip>
          <a:srcRect l="-764" r="50041" b="27903"/>
          <a:stretch/>
        </p:blipFill>
        <p:spPr bwMode="auto">
          <a:xfrm>
            <a:off x="361819" y="4543498"/>
            <a:ext cx="1824182" cy="974292"/>
          </a:xfrm>
          <a:prstGeom prst="rect">
            <a:avLst/>
          </a:prstGeom>
          <a:noFill/>
          <a:extLst>
            <a:ext uri="{909E8E84-426E-40DD-AFC4-6F175D3DCCD1}">
              <a14:hiddenFill xmlns:a14="http://schemas.microsoft.com/office/drawing/2010/main">
                <a:solidFill>
                  <a:srgbClr val="FFFFFF"/>
                </a:solidFill>
              </a14:hiddenFill>
            </a:ext>
          </a:extLst>
        </p:spPr>
      </p:pic>
      <p:pic>
        <p:nvPicPr>
          <p:cNvPr id="7" name="Billede 6"/>
          <p:cNvPicPr>
            <a:picLocks noChangeAspect="1"/>
          </p:cNvPicPr>
          <p:nvPr/>
        </p:nvPicPr>
        <p:blipFill>
          <a:blip r:embed="rId4"/>
          <a:stretch>
            <a:fillRect/>
          </a:stretch>
        </p:blipFill>
        <p:spPr>
          <a:xfrm>
            <a:off x="4830434" y="4180391"/>
            <a:ext cx="3889202" cy="1780598"/>
          </a:xfrm>
          <a:prstGeom prst="rect">
            <a:avLst/>
          </a:prstGeom>
        </p:spPr>
      </p:pic>
      <p:graphicFrame>
        <p:nvGraphicFramePr>
          <p:cNvPr id="12" name="Tabel 11"/>
          <p:cNvGraphicFramePr>
            <a:graphicFrameLocks noGrp="1"/>
          </p:cNvGraphicFramePr>
          <p:nvPr>
            <p:extLst>
              <p:ext uri="{D42A27DB-BD31-4B8C-83A1-F6EECF244321}">
                <p14:modId xmlns:p14="http://schemas.microsoft.com/office/powerpoint/2010/main" val="1149200315"/>
              </p:ext>
            </p:extLst>
          </p:nvPr>
        </p:nvGraphicFramePr>
        <p:xfrm>
          <a:off x="124692" y="5213206"/>
          <a:ext cx="4581236" cy="741680"/>
        </p:xfrm>
        <a:graphic>
          <a:graphicData uri="http://schemas.openxmlformats.org/drawingml/2006/table">
            <a:tbl>
              <a:tblPr firstRow="1" bandRow="1">
                <a:tableStyleId>{2D5ABB26-0587-4C30-8999-92F81FD0307C}</a:tableStyleId>
              </a:tblPr>
              <a:tblGrid>
                <a:gridCol w="2290618">
                  <a:extLst>
                    <a:ext uri="{9D8B030D-6E8A-4147-A177-3AD203B41FA5}">
                      <a16:colId xmlns:a16="http://schemas.microsoft.com/office/drawing/2014/main" val="4050247787"/>
                    </a:ext>
                  </a:extLst>
                </a:gridCol>
                <a:gridCol w="2290618">
                  <a:extLst>
                    <a:ext uri="{9D8B030D-6E8A-4147-A177-3AD203B41FA5}">
                      <a16:colId xmlns:a16="http://schemas.microsoft.com/office/drawing/2014/main" val="4050633721"/>
                    </a:ext>
                  </a:extLst>
                </a:gridCol>
              </a:tblGrid>
              <a:tr h="370840">
                <a:tc>
                  <a:txBody>
                    <a:bodyPr/>
                    <a:lstStyle/>
                    <a:p>
                      <a:pPr algn="ctr"/>
                      <a:endParaRPr lang="da-DK" dirty="0"/>
                    </a:p>
                  </a:txBody>
                  <a:tcPr/>
                </a:tc>
                <a:tc>
                  <a:txBody>
                    <a:bodyPr/>
                    <a:lstStyle/>
                    <a:p>
                      <a:pPr algn="ctr"/>
                      <a:endParaRPr lang="da-DK"/>
                    </a:p>
                  </a:txBody>
                  <a:tcPr/>
                </a:tc>
                <a:extLst>
                  <a:ext uri="{0D108BD9-81ED-4DB2-BD59-A6C34878D82A}">
                    <a16:rowId xmlns:a16="http://schemas.microsoft.com/office/drawing/2014/main" val="3454002297"/>
                  </a:ext>
                </a:extLst>
              </a:tr>
              <a:tr h="37084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da-DK" dirty="0"/>
                        <a:t>STOR USIKKERHED</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da-DK" dirty="0"/>
                        <a:t>LILLE USIKKERHED</a:t>
                      </a:r>
                    </a:p>
                  </a:txBody>
                  <a:tcPr/>
                </a:tc>
                <a:extLst>
                  <a:ext uri="{0D108BD9-81ED-4DB2-BD59-A6C34878D82A}">
                    <a16:rowId xmlns:a16="http://schemas.microsoft.com/office/drawing/2014/main" val="1060682201"/>
                  </a:ext>
                </a:extLst>
              </a:tr>
            </a:tbl>
          </a:graphicData>
        </a:graphic>
      </p:graphicFrame>
      <p:pic>
        <p:nvPicPr>
          <p:cNvPr id="16" name="Picture 2" descr="Reliability and Validity ~ Definition, Use &amp; Types"/>
          <p:cNvPicPr>
            <a:picLocks noChangeAspect="1" noChangeArrowheads="1"/>
          </p:cNvPicPr>
          <p:nvPr/>
        </p:nvPicPr>
        <p:blipFill rotWithShape="1">
          <a:blip r:embed="rId3">
            <a:extLst>
              <a:ext uri="{28A0092B-C50C-407E-A947-70E740481C1C}">
                <a14:useLocalDpi xmlns:a14="http://schemas.microsoft.com/office/drawing/2010/main" val="0"/>
              </a:ext>
            </a:extLst>
          </a:blip>
          <a:srcRect l="50087" b="27903"/>
          <a:stretch/>
        </p:blipFill>
        <p:spPr bwMode="auto">
          <a:xfrm>
            <a:off x="2610690" y="4549560"/>
            <a:ext cx="1795055" cy="974292"/>
          </a:xfrm>
          <a:prstGeom prst="rect">
            <a:avLst/>
          </a:prstGeom>
          <a:noFill/>
          <a:extLst>
            <a:ext uri="{909E8E84-426E-40DD-AFC4-6F175D3DCCD1}">
              <a14:hiddenFill xmlns:a14="http://schemas.microsoft.com/office/drawing/2010/main">
                <a:solidFill>
                  <a:srgbClr val="FFFFFF"/>
                </a:solidFill>
              </a14:hiddenFill>
            </a:ext>
          </a:extLst>
        </p:spPr>
      </p:pic>
      <p:sp>
        <p:nvSpPr>
          <p:cNvPr id="13" name="Tekstfelt 12"/>
          <p:cNvSpPr txBox="1"/>
          <p:nvPr/>
        </p:nvSpPr>
        <p:spPr>
          <a:xfrm>
            <a:off x="6168153" y="5994932"/>
            <a:ext cx="1912575" cy="369332"/>
          </a:xfrm>
          <a:prstGeom prst="rect">
            <a:avLst/>
          </a:prstGeom>
          <a:noFill/>
        </p:spPr>
        <p:txBody>
          <a:bodyPr wrap="none" rtlCol="0">
            <a:spAutoFit/>
          </a:bodyPr>
          <a:lstStyle/>
          <a:p>
            <a:r>
              <a:rPr lang="da-DK" dirty="0">
                <a:solidFill>
                  <a:srgbClr val="AB49BA"/>
                </a:solidFill>
              </a:rPr>
              <a:t>STOR USIKKERHED</a:t>
            </a:r>
          </a:p>
        </p:txBody>
      </p:sp>
      <p:cxnSp>
        <p:nvCxnSpPr>
          <p:cNvPr id="18" name="Lige pilforbindelse 17"/>
          <p:cNvCxnSpPr/>
          <p:nvPr/>
        </p:nvCxnSpPr>
        <p:spPr>
          <a:xfrm flipV="1">
            <a:off x="7124440" y="5191746"/>
            <a:ext cx="0" cy="803186"/>
          </a:xfrm>
          <a:prstGeom prst="straightConnector1">
            <a:avLst/>
          </a:prstGeom>
          <a:ln>
            <a:solidFill>
              <a:srgbClr val="AB49BA"/>
            </a:solidFill>
            <a:tailEnd type="triangle"/>
          </a:ln>
        </p:spPr>
        <p:style>
          <a:lnRef idx="2">
            <a:schemeClr val="accent1"/>
          </a:lnRef>
          <a:fillRef idx="0">
            <a:schemeClr val="accent1"/>
          </a:fillRef>
          <a:effectRef idx="1">
            <a:schemeClr val="accent1"/>
          </a:effectRef>
          <a:fontRef idx="minor">
            <a:schemeClr val="tx1"/>
          </a:fontRef>
        </p:style>
      </p:cxnSp>
      <p:sp>
        <p:nvSpPr>
          <p:cNvPr id="20" name="Tekstfelt 19"/>
          <p:cNvSpPr txBox="1"/>
          <p:nvPr/>
        </p:nvSpPr>
        <p:spPr>
          <a:xfrm>
            <a:off x="6175773" y="3719778"/>
            <a:ext cx="1888659" cy="369332"/>
          </a:xfrm>
          <a:prstGeom prst="rect">
            <a:avLst/>
          </a:prstGeom>
          <a:noFill/>
        </p:spPr>
        <p:txBody>
          <a:bodyPr wrap="none" rtlCol="0">
            <a:spAutoFit/>
          </a:bodyPr>
          <a:lstStyle/>
          <a:p>
            <a:r>
              <a:rPr lang="da-DK" dirty="0">
                <a:solidFill>
                  <a:srgbClr val="2C87E9"/>
                </a:solidFill>
              </a:rPr>
              <a:t>LILLE USIKKERHED</a:t>
            </a:r>
          </a:p>
        </p:txBody>
      </p:sp>
      <p:cxnSp>
        <p:nvCxnSpPr>
          <p:cNvPr id="21" name="Lige pilforbindelse 20"/>
          <p:cNvCxnSpPr/>
          <p:nvPr/>
        </p:nvCxnSpPr>
        <p:spPr>
          <a:xfrm>
            <a:off x="7120102" y="4005131"/>
            <a:ext cx="0" cy="175260"/>
          </a:xfrm>
          <a:prstGeom prst="straightConnector1">
            <a:avLst/>
          </a:prstGeom>
          <a:ln>
            <a:solidFill>
              <a:srgbClr val="2C87E9"/>
            </a:solidFill>
            <a:tailEnd type="triangle"/>
          </a:ln>
        </p:spPr>
        <p:style>
          <a:lnRef idx="2">
            <a:schemeClr val="accent1"/>
          </a:lnRef>
          <a:fillRef idx="0">
            <a:schemeClr val="accent1"/>
          </a:fillRef>
          <a:effectRef idx="1">
            <a:schemeClr val="accent1"/>
          </a:effectRef>
          <a:fontRef idx="minor">
            <a:schemeClr val="tx1"/>
          </a:fontRef>
        </p:style>
      </p:cxnSp>
      <p:sp>
        <p:nvSpPr>
          <p:cNvPr id="4" name="Pladsholder til slidenummer 3"/>
          <p:cNvSpPr>
            <a:spLocks noGrp="1"/>
          </p:cNvSpPr>
          <p:nvPr>
            <p:ph type="sldNum" sz="quarter" idx="12"/>
          </p:nvPr>
        </p:nvSpPr>
        <p:spPr/>
        <p:txBody>
          <a:bodyPr/>
          <a:lstStyle/>
          <a:p>
            <a:fld id="{C1FF6DA9-008F-8B48-92A6-B652298478BF}" type="slidenum">
              <a:rPr lang="en-US" smtClean="0"/>
              <a:t>13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a-DK" dirty="0"/>
              <a:t>S</a:t>
            </a:r>
            <a:r>
              <a:rPr dirty="0" err="1"/>
              <a:t>ystematisk</a:t>
            </a:r>
            <a:r>
              <a:rPr dirty="0"/>
              <a:t> </a:t>
            </a:r>
            <a:r>
              <a:rPr dirty="0" err="1"/>
              <a:t>fejl</a:t>
            </a:r>
            <a:endParaRPr dirty="0"/>
          </a:p>
        </p:txBody>
      </p:sp>
      <p:sp>
        <p:nvSpPr>
          <p:cNvPr id="3" name="Content Placeholder 2"/>
          <p:cNvSpPr>
            <a:spLocks noGrp="1"/>
          </p:cNvSpPr>
          <p:nvPr>
            <p:ph idx="1"/>
          </p:nvPr>
        </p:nvSpPr>
        <p:spPr>
          <a:xfrm>
            <a:off x="457200" y="1600200"/>
            <a:ext cx="6248486" cy="4525963"/>
          </a:xfrm>
        </p:spPr>
        <p:txBody>
          <a:bodyPr/>
          <a:lstStyle/>
          <a:p>
            <a:endParaRPr dirty="0"/>
          </a:p>
          <a:p>
            <a:pPr>
              <a:defRPr sz="1800"/>
            </a:pPr>
            <a:r>
              <a:rPr dirty="0" err="1"/>
              <a:t>Systematisk</a:t>
            </a:r>
            <a:r>
              <a:rPr dirty="0"/>
              <a:t> </a:t>
            </a:r>
            <a:r>
              <a:rPr dirty="0" err="1"/>
              <a:t>fejl</a:t>
            </a:r>
            <a:r>
              <a:rPr dirty="0"/>
              <a:t> = bias.</a:t>
            </a:r>
            <a:endParaRPr lang="da-DK" dirty="0"/>
          </a:p>
          <a:p>
            <a:pPr>
              <a:defRPr sz="1800"/>
            </a:pPr>
            <a:r>
              <a:rPr lang="da-DK" i="1" dirty="0"/>
              <a:t>Eksempel</a:t>
            </a:r>
            <a:r>
              <a:rPr lang="da-DK" dirty="0"/>
              <a:t>: Mål højde med en højdemåler, der er monteret 2 cm for højt</a:t>
            </a:r>
          </a:p>
          <a:p>
            <a:pPr lvl="1">
              <a:defRPr sz="1800"/>
            </a:pPr>
            <a:r>
              <a:rPr lang="da-DK" dirty="0"/>
              <a:t>Målingerne vil ligge systematisk for lavt, men variation vil formentlig være ret lille, da det er en nem målemetode</a:t>
            </a:r>
            <a:endParaRPr dirty="0"/>
          </a:p>
        </p:txBody>
      </p:sp>
      <p:pic>
        <p:nvPicPr>
          <p:cNvPr id="4" name="Billed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05686" y="3157016"/>
            <a:ext cx="1718901" cy="3220423"/>
          </a:xfrm>
          <a:prstGeom prst="rect">
            <a:avLst/>
          </a:prstGeom>
        </p:spPr>
      </p:pic>
      <p:pic>
        <p:nvPicPr>
          <p:cNvPr id="5" name="Picture 2" descr="Reliability and Validity ~ Definition, Use &amp; Types"/>
          <p:cNvPicPr>
            <a:picLocks noChangeAspect="1" noChangeArrowheads="1"/>
          </p:cNvPicPr>
          <p:nvPr/>
        </p:nvPicPr>
        <p:blipFill rotWithShape="1">
          <a:blip r:embed="rId3">
            <a:extLst>
              <a:ext uri="{28A0092B-C50C-407E-A947-70E740481C1C}">
                <a14:useLocalDpi xmlns:a14="http://schemas.microsoft.com/office/drawing/2010/main" val="0"/>
              </a:ext>
            </a:extLst>
          </a:blip>
          <a:srcRect l="50087" r="24752" b="27903"/>
          <a:stretch/>
        </p:blipFill>
        <p:spPr bwMode="auto">
          <a:xfrm>
            <a:off x="1209605" y="3642655"/>
            <a:ext cx="904875" cy="974292"/>
          </a:xfrm>
          <a:prstGeom prst="rect">
            <a:avLst/>
          </a:prstGeom>
          <a:noFill/>
          <a:extLst>
            <a:ext uri="{909E8E84-426E-40DD-AFC4-6F175D3DCCD1}">
              <a14:hiddenFill xmlns:a14="http://schemas.microsoft.com/office/drawing/2010/main">
                <a:solidFill>
                  <a:srgbClr val="FFFFFF"/>
                </a:solidFill>
              </a14:hiddenFill>
            </a:ext>
          </a:extLst>
        </p:spPr>
      </p:pic>
      <p:sp>
        <p:nvSpPr>
          <p:cNvPr id="6" name="Pladsholder til slidenummer 5"/>
          <p:cNvSpPr>
            <a:spLocks noGrp="1"/>
          </p:cNvSpPr>
          <p:nvPr>
            <p:ph type="sldNum" sz="quarter" idx="12"/>
          </p:nvPr>
        </p:nvSpPr>
        <p:spPr/>
        <p:txBody>
          <a:bodyPr/>
          <a:lstStyle/>
          <a:p>
            <a:fld id="{C1FF6DA9-008F-8B48-92A6-B652298478BF}" type="slidenum">
              <a:rPr lang="en-US" smtClean="0"/>
              <a:t>14</a:t>
            </a:fld>
            <a:endParaRPr lang="en-US"/>
          </a:p>
        </p:txBody>
      </p:sp>
    </p:spTree>
    <p:extLst>
      <p:ext uri="{BB962C8B-B14F-4D97-AF65-F5344CB8AC3E}">
        <p14:creationId xmlns:p14="http://schemas.microsoft.com/office/powerpoint/2010/main" val="3326176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a-DK" dirty="0"/>
              <a:t>B</a:t>
            </a:r>
            <a:r>
              <a:rPr dirty="0" err="1"/>
              <a:t>ias</a:t>
            </a:r>
            <a:endParaRPr dirty="0"/>
          </a:p>
        </p:txBody>
      </p:sp>
      <p:sp>
        <p:nvSpPr>
          <p:cNvPr id="3" name="Content Placeholder 2"/>
          <p:cNvSpPr>
            <a:spLocks noGrp="1"/>
          </p:cNvSpPr>
          <p:nvPr>
            <p:ph idx="1"/>
          </p:nvPr>
        </p:nvSpPr>
        <p:spPr/>
        <p:txBody>
          <a:bodyPr/>
          <a:lstStyle/>
          <a:p>
            <a:endParaRPr dirty="0"/>
          </a:p>
          <a:p>
            <a:pPr>
              <a:defRPr sz="1800"/>
            </a:pPr>
            <a:r>
              <a:rPr lang="da-DK" dirty="0"/>
              <a:t>Bias er systematiske fejl, som skubber resultaterne i en bestemt retning.</a:t>
            </a:r>
          </a:p>
          <a:p>
            <a:pPr>
              <a:defRPr sz="1800"/>
            </a:pPr>
            <a:r>
              <a:rPr lang="da-DK" dirty="0"/>
              <a:t>Tænk på en højdemåler, som er monteret forkert, så den konsekvent måler 2 cm for højt eller 2 cm for lavt.</a:t>
            </a:r>
          </a:p>
          <a:p>
            <a:pPr>
              <a:defRPr sz="1800"/>
            </a:pPr>
            <a:r>
              <a:rPr lang="da-DK" dirty="0"/>
              <a:t>Bias kan </a:t>
            </a:r>
            <a:r>
              <a:rPr lang="da-DK" u="sng" dirty="0"/>
              <a:t>ikke</a:t>
            </a:r>
            <a:r>
              <a:rPr lang="da-DK" dirty="0"/>
              <a:t> kompenseres for ved flere målinger/testpersoner</a:t>
            </a:r>
            <a:endParaRPr dirty="0"/>
          </a:p>
        </p:txBody>
      </p:sp>
      <p:pic>
        <p:nvPicPr>
          <p:cNvPr id="4" name="Billede 3"/>
          <p:cNvPicPr>
            <a:picLocks noChangeAspect="1"/>
          </p:cNvPicPr>
          <p:nvPr/>
        </p:nvPicPr>
        <p:blipFill>
          <a:blip r:embed="rId3"/>
          <a:stretch>
            <a:fillRect/>
          </a:stretch>
        </p:blipFill>
        <p:spPr>
          <a:xfrm>
            <a:off x="4797598" y="4573418"/>
            <a:ext cx="3889202" cy="1823617"/>
          </a:xfrm>
          <a:prstGeom prst="rect">
            <a:avLst/>
          </a:prstGeom>
        </p:spPr>
      </p:pic>
      <p:sp>
        <p:nvSpPr>
          <p:cNvPr id="5" name="Tekstfelt 4"/>
          <p:cNvSpPr txBox="1"/>
          <p:nvPr/>
        </p:nvSpPr>
        <p:spPr>
          <a:xfrm>
            <a:off x="5736096" y="4159145"/>
            <a:ext cx="1200137" cy="523220"/>
          </a:xfrm>
          <a:prstGeom prst="rect">
            <a:avLst/>
          </a:prstGeom>
          <a:noFill/>
        </p:spPr>
        <p:txBody>
          <a:bodyPr wrap="none" rtlCol="0">
            <a:spAutoFit/>
          </a:bodyPr>
          <a:lstStyle/>
          <a:p>
            <a:r>
              <a:rPr lang="da-DK" sz="1400" dirty="0">
                <a:solidFill>
                  <a:srgbClr val="2C87E9"/>
                </a:solidFill>
              </a:rPr>
              <a:t>SYSTEMATISK </a:t>
            </a:r>
          </a:p>
          <a:p>
            <a:pPr algn="ctr"/>
            <a:r>
              <a:rPr lang="da-DK" sz="1400" dirty="0">
                <a:solidFill>
                  <a:srgbClr val="2C87E9"/>
                </a:solidFill>
              </a:rPr>
              <a:t>FOR LAV</a:t>
            </a:r>
          </a:p>
        </p:txBody>
      </p:sp>
      <p:cxnSp>
        <p:nvCxnSpPr>
          <p:cNvPr id="6" name="Lige pilforbindelse 5"/>
          <p:cNvCxnSpPr/>
          <p:nvPr/>
        </p:nvCxnSpPr>
        <p:spPr>
          <a:xfrm>
            <a:off x="6336165" y="4676209"/>
            <a:ext cx="0" cy="175260"/>
          </a:xfrm>
          <a:prstGeom prst="straightConnector1">
            <a:avLst/>
          </a:prstGeom>
          <a:ln>
            <a:solidFill>
              <a:srgbClr val="2C87E9"/>
            </a:solidFill>
            <a:tailEnd type="triangle"/>
          </a:ln>
        </p:spPr>
        <p:style>
          <a:lnRef idx="2">
            <a:schemeClr val="accent1"/>
          </a:lnRef>
          <a:fillRef idx="0">
            <a:schemeClr val="accent1"/>
          </a:fillRef>
          <a:effectRef idx="1">
            <a:schemeClr val="accent1"/>
          </a:effectRef>
          <a:fontRef idx="minor">
            <a:schemeClr val="tx1"/>
          </a:fontRef>
        </p:style>
      </p:cxnSp>
      <p:sp>
        <p:nvSpPr>
          <p:cNvPr id="7" name="Tekstfelt 6"/>
          <p:cNvSpPr txBox="1"/>
          <p:nvPr/>
        </p:nvSpPr>
        <p:spPr>
          <a:xfrm>
            <a:off x="7021920" y="4159145"/>
            <a:ext cx="1200137" cy="523220"/>
          </a:xfrm>
          <a:prstGeom prst="rect">
            <a:avLst/>
          </a:prstGeom>
          <a:noFill/>
        </p:spPr>
        <p:txBody>
          <a:bodyPr wrap="none" rtlCol="0">
            <a:spAutoFit/>
          </a:bodyPr>
          <a:lstStyle/>
          <a:p>
            <a:r>
              <a:rPr lang="da-DK" sz="1400" dirty="0">
                <a:solidFill>
                  <a:srgbClr val="AB49BA"/>
                </a:solidFill>
              </a:rPr>
              <a:t>SYSTEMATISK </a:t>
            </a:r>
          </a:p>
          <a:p>
            <a:pPr algn="ctr"/>
            <a:r>
              <a:rPr lang="da-DK" sz="1400" dirty="0">
                <a:solidFill>
                  <a:srgbClr val="AB49BA"/>
                </a:solidFill>
              </a:rPr>
              <a:t>FOR HØJ</a:t>
            </a:r>
          </a:p>
        </p:txBody>
      </p:sp>
      <p:cxnSp>
        <p:nvCxnSpPr>
          <p:cNvPr id="8" name="Lige pilforbindelse 7"/>
          <p:cNvCxnSpPr/>
          <p:nvPr/>
        </p:nvCxnSpPr>
        <p:spPr>
          <a:xfrm>
            <a:off x="7621989" y="4676209"/>
            <a:ext cx="0" cy="175260"/>
          </a:xfrm>
          <a:prstGeom prst="straightConnector1">
            <a:avLst/>
          </a:prstGeom>
          <a:ln>
            <a:solidFill>
              <a:srgbClr val="AB49BA"/>
            </a:solidFill>
            <a:tailEnd type="triangle"/>
          </a:ln>
        </p:spPr>
        <p:style>
          <a:lnRef idx="2">
            <a:schemeClr val="accent1"/>
          </a:lnRef>
          <a:fillRef idx="0">
            <a:schemeClr val="accent1"/>
          </a:fillRef>
          <a:effectRef idx="1">
            <a:schemeClr val="accent1"/>
          </a:effectRef>
          <a:fontRef idx="minor">
            <a:schemeClr val="tx1"/>
          </a:fontRef>
        </p:style>
      </p:cxnSp>
      <p:sp>
        <p:nvSpPr>
          <p:cNvPr id="9" name="Tekstfelt 8"/>
          <p:cNvSpPr txBox="1"/>
          <p:nvPr/>
        </p:nvSpPr>
        <p:spPr>
          <a:xfrm>
            <a:off x="5825365" y="3816538"/>
            <a:ext cx="2307669" cy="307777"/>
          </a:xfrm>
          <a:prstGeom prst="rect">
            <a:avLst/>
          </a:prstGeom>
          <a:noFill/>
        </p:spPr>
        <p:txBody>
          <a:bodyPr wrap="square" rtlCol="0">
            <a:spAutoFit/>
          </a:bodyPr>
          <a:lstStyle/>
          <a:p>
            <a:pPr algn="ctr"/>
            <a:r>
              <a:rPr lang="da-DK" sz="1400" dirty="0">
                <a:solidFill>
                  <a:srgbClr val="6CDED1"/>
                </a:solidFill>
              </a:rPr>
              <a:t>MÅLING UDEN MÅLEBIAS</a:t>
            </a:r>
          </a:p>
        </p:txBody>
      </p:sp>
      <p:cxnSp>
        <p:nvCxnSpPr>
          <p:cNvPr id="10" name="Lige pilforbindelse 9"/>
          <p:cNvCxnSpPr/>
          <p:nvPr/>
        </p:nvCxnSpPr>
        <p:spPr>
          <a:xfrm>
            <a:off x="6979200" y="4152989"/>
            <a:ext cx="0" cy="698480"/>
          </a:xfrm>
          <a:prstGeom prst="straightConnector1">
            <a:avLst/>
          </a:prstGeom>
          <a:ln>
            <a:solidFill>
              <a:srgbClr val="6CDED1"/>
            </a:solidFill>
            <a:tailEnd type="triangle"/>
          </a:ln>
        </p:spPr>
        <p:style>
          <a:lnRef idx="2">
            <a:schemeClr val="accent1"/>
          </a:lnRef>
          <a:fillRef idx="0">
            <a:schemeClr val="accent1"/>
          </a:fillRef>
          <a:effectRef idx="1">
            <a:schemeClr val="accent1"/>
          </a:effectRef>
          <a:fontRef idx="minor">
            <a:schemeClr val="tx1"/>
          </a:fontRef>
        </p:style>
      </p:cxnSp>
      <p:pic>
        <p:nvPicPr>
          <p:cNvPr id="12" name="Picture 2" descr="Reliability and Validity ~ Definition, Use &amp; Types"/>
          <p:cNvPicPr>
            <a:picLocks noChangeAspect="1" noChangeArrowheads="1"/>
          </p:cNvPicPr>
          <p:nvPr/>
        </p:nvPicPr>
        <p:blipFill rotWithShape="1">
          <a:blip r:embed="rId4">
            <a:extLst>
              <a:ext uri="{28A0092B-C50C-407E-A947-70E740481C1C}">
                <a14:useLocalDpi xmlns:a14="http://schemas.microsoft.com/office/drawing/2010/main" val="0"/>
              </a:ext>
            </a:extLst>
          </a:blip>
          <a:srcRect l="-764" r="75335" b="27903"/>
          <a:stretch/>
        </p:blipFill>
        <p:spPr bwMode="auto">
          <a:xfrm>
            <a:off x="361819" y="4864080"/>
            <a:ext cx="914531" cy="97429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3" name="Tabel 12"/>
          <p:cNvGraphicFramePr>
            <a:graphicFrameLocks noGrp="1"/>
          </p:cNvGraphicFramePr>
          <p:nvPr>
            <p:extLst>
              <p:ext uri="{D42A27DB-BD31-4B8C-83A1-F6EECF244321}">
                <p14:modId xmlns:p14="http://schemas.microsoft.com/office/powerpoint/2010/main" val="738421059"/>
              </p:ext>
            </p:extLst>
          </p:nvPr>
        </p:nvGraphicFramePr>
        <p:xfrm>
          <a:off x="124692" y="5533788"/>
          <a:ext cx="4581236" cy="741680"/>
        </p:xfrm>
        <a:graphic>
          <a:graphicData uri="http://schemas.openxmlformats.org/drawingml/2006/table">
            <a:tbl>
              <a:tblPr firstRow="1" bandRow="1">
                <a:tableStyleId>{2D5ABB26-0587-4C30-8999-92F81FD0307C}</a:tableStyleId>
              </a:tblPr>
              <a:tblGrid>
                <a:gridCol w="2290618">
                  <a:extLst>
                    <a:ext uri="{9D8B030D-6E8A-4147-A177-3AD203B41FA5}">
                      <a16:colId xmlns:a16="http://schemas.microsoft.com/office/drawing/2014/main" val="4050247787"/>
                    </a:ext>
                  </a:extLst>
                </a:gridCol>
                <a:gridCol w="2290618">
                  <a:extLst>
                    <a:ext uri="{9D8B030D-6E8A-4147-A177-3AD203B41FA5}">
                      <a16:colId xmlns:a16="http://schemas.microsoft.com/office/drawing/2014/main" val="4050633721"/>
                    </a:ext>
                  </a:extLst>
                </a:gridCol>
              </a:tblGrid>
              <a:tr h="370840">
                <a:tc>
                  <a:txBody>
                    <a:bodyPr/>
                    <a:lstStyle/>
                    <a:p>
                      <a:pPr algn="ctr"/>
                      <a:endParaRPr lang="da-DK" dirty="0"/>
                    </a:p>
                  </a:txBody>
                  <a:tcPr/>
                </a:tc>
                <a:tc>
                  <a:txBody>
                    <a:bodyPr/>
                    <a:lstStyle/>
                    <a:p>
                      <a:pPr algn="ctr"/>
                      <a:endParaRPr lang="da-DK"/>
                    </a:p>
                  </a:txBody>
                  <a:tcPr/>
                </a:tc>
                <a:extLst>
                  <a:ext uri="{0D108BD9-81ED-4DB2-BD59-A6C34878D82A}">
                    <a16:rowId xmlns:a16="http://schemas.microsoft.com/office/drawing/2014/main" val="3454002297"/>
                  </a:ext>
                </a:extLst>
              </a:tr>
              <a:tr h="37084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da-DK" dirty="0"/>
                        <a:t>BIAS</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da-DK" dirty="0"/>
                        <a:t>INGEN BIAS</a:t>
                      </a:r>
                    </a:p>
                  </a:txBody>
                  <a:tcPr/>
                </a:tc>
                <a:extLst>
                  <a:ext uri="{0D108BD9-81ED-4DB2-BD59-A6C34878D82A}">
                    <a16:rowId xmlns:a16="http://schemas.microsoft.com/office/drawing/2014/main" val="1060682201"/>
                  </a:ext>
                </a:extLst>
              </a:tr>
            </a:tbl>
          </a:graphicData>
        </a:graphic>
      </p:graphicFrame>
      <p:pic>
        <p:nvPicPr>
          <p:cNvPr id="14" name="Picture 2" descr="Reliability and Validity ~ Definition, Use &amp; Types"/>
          <p:cNvPicPr>
            <a:picLocks noChangeAspect="1" noChangeArrowheads="1"/>
          </p:cNvPicPr>
          <p:nvPr/>
        </p:nvPicPr>
        <p:blipFill rotWithShape="1">
          <a:blip r:embed="rId4">
            <a:extLst>
              <a:ext uri="{28A0092B-C50C-407E-A947-70E740481C1C}">
                <a14:useLocalDpi xmlns:a14="http://schemas.microsoft.com/office/drawing/2010/main" val="0"/>
              </a:ext>
            </a:extLst>
          </a:blip>
          <a:srcRect l="75224" b="27903"/>
          <a:stretch/>
        </p:blipFill>
        <p:spPr bwMode="auto">
          <a:xfrm>
            <a:off x="3514725" y="4870142"/>
            <a:ext cx="891020" cy="974292"/>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Reliability and Validity ~ Definition, Use &amp; Types"/>
          <p:cNvPicPr>
            <a:picLocks noChangeAspect="1" noChangeArrowheads="1"/>
          </p:cNvPicPr>
          <p:nvPr/>
        </p:nvPicPr>
        <p:blipFill rotWithShape="1">
          <a:blip r:embed="rId4">
            <a:extLst>
              <a:ext uri="{28A0092B-C50C-407E-A947-70E740481C1C}">
                <a14:useLocalDpi xmlns:a14="http://schemas.microsoft.com/office/drawing/2010/main" val="0"/>
              </a:ext>
            </a:extLst>
          </a:blip>
          <a:srcRect l="50087" r="24752" b="27903"/>
          <a:stretch/>
        </p:blipFill>
        <p:spPr bwMode="auto">
          <a:xfrm>
            <a:off x="1276350" y="4864080"/>
            <a:ext cx="904875" cy="974292"/>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Reliability and Validity ~ Definition, Use &amp; Types"/>
          <p:cNvPicPr>
            <a:picLocks noChangeAspect="1" noChangeArrowheads="1"/>
          </p:cNvPicPr>
          <p:nvPr/>
        </p:nvPicPr>
        <p:blipFill rotWithShape="1">
          <a:blip r:embed="rId4">
            <a:extLst>
              <a:ext uri="{28A0092B-C50C-407E-A947-70E740481C1C}">
                <a14:useLocalDpi xmlns:a14="http://schemas.microsoft.com/office/drawing/2010/main" val="0"/>
              </a:ext>
            </a:extLst>
          </a:blip>
          <a:srcRect l="24798" r="50041" b="27903"/>
          <a:stretch/>
        </p:blipFill>
        <p:spPr bwMode="auto">
          <a:xfrm>
            <a:off x="2619375" y="4886776"/>
            <a:ext cx="904875" cy="974292"/>
          </a:xfrm>
          <a:prstGeom prst="rect">
            <a:avLst/>
          </a:prstGeom>
          <a:noFill/>
          <a:extLst>
            <a:ext uri="{909E8E84-426E-40DD-AFC4-6F175D3DCCD1}">
              <a14:hiddenFill xmlns:a14="http://schemas.microsoft.com/office/drawing/2010/main">
                <a:solidFill>
                  <a:srgbClr val="FFFFFF"/>
                </a:solidFill>
              </a14:hiddenFill>
            </a:ext>
          </a:extLst>
        </p:spPr>
      </p:pic>
      <p:sp>
        <p:nvSpPr>
          <p:cNvPr id="11" name="Pladsholder til slidenummer 10"/>
          <p:cNvSpPr>
            <a:spLocks noGrp="1"/>
          </p:cNvSpPr>
          <p:nvPr>
            <p:ph type="sldNum" sz="quarter" idx="12"/>
          </p:nvPr>
        </p:nvSpPr>
        <p:spPr/>
        <p:txBody>
          <a:bodyPr/>
          <a:lstStyle/>
          <a:p>
            <a:fld id="{C1FF6DA9-008F-8B48-92A6-B652298478BF}" type="slidenum">
              <a:rPr lang="en-US" smtClean="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p:cNvSpPr>
            <a:spLocks noGrp="1"/>
          </p:cNvSpPr>
          <p:nvPr>
            <p:ph type="ctrTitle"/>
          </p:nvPr>
        </p:nvSpPr>
        <p:spPr/>
        <p:txBody>
          <a:bodyPr>
            <a:normAutofit/>
          </a:bodyPr>
          <a:lstStyle/>
          <a:p>
            <a:r>
              <a:rPr lang="da-DK" dirty="0"/>
              <a:t>Konsekvenser af måleusikkerhed og målebias</a:t>
            </a:r>
          </a:p>
        </p:txBody>
      </p:sp>
      <p:sp>
        <p:nvSpPr>
          <p:cNvPr id="7" name="Undertitel 6"/>
          <p:cNvSpPr>
            <a:spLocks noGrp="1"/>
          </p:cNvSpPr>
          <p:nvPr>
            <p:ph type="subTitle" idx="1"/>
          </p:nvPr>
        </p:nvSpPr>
        <p:spPr/>
        <p:txBody>
          <a:bodyPr/>
          <a:lstStyle/>
          <a:p>
            <a:endParaRPr lang="da-DK"/>
          </a:p>
        </p:txBody>
      </p:sp>
      <p:sp>
        <p:nvSpPr>
          <p:cNvPr id="2" name="Pladsholder til slidenummer 1"/>
          <p:cNvSpPr>
            <a:spLocks noGrp="1"/>
          </p:cNvSpPr>
          <p:nvPr>
            <p:ph type="sldNum" sz="quarter" idx="12"/>
          </p:nvPr>
        </p:nvSpPr>
        <p:spPr/>
        <p:txBody>
          <a:bodyPr/>
          <a:lstStyle/>
          <a:p>
            <a:fld id="{C1FF6DA9-008F-8B48-92A6-B652298478BF}" type="slidenum">
              <a:rPr lang="en-US" smtClean="0"/>
              <a:t>16</a:t>
            </a:fld>
            <a:endParaRPr lang="en-US"/>
          </a:p>
        </p:txBody>
      </p:sp>
    </p:spTree>
    <p:extLst>
      <p:ext uri="{BB962C8B-B14F-4D97-AF65-F5344CB8AC3E}">
        <p14:creationId xmlns:p14="http://schemas.microsoft.com/office/powerpoint/2010/main" val="35901273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da-DK" dirty="0"/>
              <a:t>Konsekvenser af måleusikkerhed</a:t>
            </a:r>
            <a:endParaRPr dirty="0"/>
          </a:p>
        </p:txBody>
      </p:sp>
      <p:sp>
        <p:nvSpPr>
          <p:cNvPr id="3" name="Content Placeholder 2"/>
          <p:cNvSpPr>
            <a:spLocks noGrp="1"/>
          </p:cNvSpPr>
          <p:nvPr>
            <p:ph idx="1"/>
          </p:nvPr>
        </p:nvSpPr>
        <p:spPr/>
        <p:txBody>
          <a:bodyPr>
            <a:normAutofit/>
          </a:bodyPr>
          <a:lstStyle/>
          <a:p>
            <a:pPr>
              <a:defRPr sz="1800"/>
            </a:pPr>
            <a:r>
              <a:rPr lang="da-DK" dirty="0"/>
              <a:t>Måleusikkerhed giver en tilfældig variation</a:t>
            </a:r>
          </a:p>
          <a:p>
            <a:pPr>
              <a:defRPr sz="1800"/>
            </a:pPr>
            <a:r>
              <a:rPr lang="da-DK" dirty="0"/>
              <a:t>Det slører billedet og en eventuel forskel mellem to grupper</a:t>
            </a:r>
          </a:p>
          <a:p>
            <a:pPr>
              <a:defRPr sz="1800"/>
            </a:pPr>
            <a:r>
              <a:rPr lang="da-DK" dirty="0"/>
              <a:t>Øger sandsynligheden for at overse en faktisk forskel (type 2 fejl)</a:t>
            </a:r>
          </a:p>
          <a:p>
            <a:pPr>
              <a:defRPr sz="1800"/>
            </a:pPr>
            <a:r>
              <a:rPr lang="da-DK" dirty="0"/>
              <a:t>Kan ikke skabe forskelle, der ikke er der (type 1 fejl).</a:t>
            </a:r>
          </a:p>
          <a:p>
            <a:pPr>
              <a:defRPr sz="1800"/>
            </a:pPr>
            <a:r>
              <a:rPr lang="da-DK" dirty="0"/>
              <a:t>Måleusikkerhed kan være både lille og stor</a:t>
            </a:r>
          </a:p>
        </p:txBody>
      </p:sp>
      <p:sp>
        <p:nvSpPr>
          <p:cNvPr id="4" name="Pladsholder til slidenummer 3"/>
          <p:cNvSpPr>
            <a:spLocks noGrp="1"/>
          </p:cNvSpPr>
          <p:nvPr>
            <p:ph type="sldNum" sz="quarter" idx="12"/>
          </p:nvPr>
        </p:nvSpPr>
        <p:spPr/>
        <p:txBody>
          <a:bodyPr/>
          <a:lstStyle/>
          <a:p>
            <a:fld id="{C1FF6DA9-008F-8B48-92A6-B652298478BF}" type="slidenum">
              <a:rPr lang="en-US" smtClean="0"/>
              <a:t>17</a:t>
            </a:fld>
            <a:endParaRPr lang="en-US"/>
          </a:p>
        </p:txBody>
      </p:sp>
    </p:spTree>
    <p:extLst>
      <p:ext uri="{BB962C8B-B14F-4D97-AF65-F5344CB8AC3E}">
        <p14:creationId xmlns:p14="http://schemas.microsoft.com/office/powerpoint/2010/main" val="17705182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da-DK" dirty="0"/>
              <a:t>Ikke-</a:t>
            </a:r>
            <a:r>
              <a:rPr lang="da-DK" dirty="0" err="1"/>
              <a:t>diffentieret</a:t>
            </a:r>
            <a:r>
              <a:rPr lang="da-DK" dirty="0"/>
              <a:t> målebias</a:t>
            </a:r>
            <a:endParaRPr dirty="0"/>
          </a:p>
        </p:txBody>
      </p:sp>
      <p:sp>
        <p:nvSpPr>
          <p:cNvPr id="3" name="Content Placeholder 2"/>
          <p:cNvSpPr>
            <a:spLocks noGrp="1"/>
          </p:cNvSpPr>
          <p:nvPr>
            <p:ph idx="1"/>
          </p:nvPr>
        </p:nvSpPr>
        <p:spPr/>
        <p:txBody>
          <a:bodyPr>
            <a:normAutofit/>
          </a:bodyPr>
          <a:lstStyle/>
          <a:p>
            <a:pPr marL="0" indent="0">
              <a:buNone/>
              <a:defRPr sz="1800"/>
            </a:pPr>
            <a:r>
              <a:rPr lang="da-DK" b="1" dirty="0"/>
              <a:t>Ikke-</a:t>
            </a:r>
            <a:r>
              <a:rPr lang="da-DK" b="1" dirty="0" err="1"/>
              <a:t>diffentieret</a:t>
            </a:r>
            <a:r>
              <a:rPr lang="da-DK" b="1" dirty="0"/>
              <a:t> målebias: </a:t>
            </a:r>
            <a:r>
              <a:rPr lang="da-DK" dirty="0"/>
              <a:t>Bias er uafhængig af sygdom og eksponering = ens for alle.</a:t>
            </a:r>
          </a:p>
          <a:p>
            <a:pPr>
              <a:defRPr sz="1800"/>
            </a:pPr>
            <a:r>
              <a:rPr lang="da-DK" i="1" dirty="0"/>
              <a:t>Eksempel</a:t>
            </a:r>
            <a:r>
              <a:rPr lang="da-DK" b="1" dirty="0"/>
              <a:t>: </a:t>
            </a:r>
            <a:r>
              <a:rPr lang="da-DK" dirty="0"/>
              <a:t>I et </a:t>
            </a:r>
            <a:r>
              <a:rPr lang="da-DK" dirty="0" err="1"/>
              <a:t>randomiseret</a:t>
            </a:r>
            <a:r>
              <a:rPr lang="da-DK" dirty="0"/>
              <a:t> studie måles håndgrebsstyrken ved baseline med apparat A. Ved </a:t>
            </a:r>
            <a:r>
              <a:rPr lang="da-DK" dirty="0" err="1"/>
              <a:t>follow-up</a:t>
            </a:r>
            <a:r>
              <a:rPr lang="da-DK" dirty="0"/>
              <a:t> måles håndgrebsstyrken med et apparat, der konsekvent måler 10% for lavt — i begge grupper.</a:t>
            </a:r>
            <a:endParaRPr lang="da-DK" b="1" dirty="0"/>
          </a:p>
          <a:p>
            <a:pPr lvl="1">
              <a:defRPr sz="1800"/>
            </a:pPr>
            <a:endParaRPr lang="da-DK" b="1" dirty="0"/>
          </a:p>
        </p:txBody>
      </p:sp>
      <p:sp>
        <p:nvSpPr>
          <p:cNvPr id="4" name="Pladsholder til slidenummer 3"/>
          <p:cNvSpPr>
            <a:spLocks noGrp="1"/>
          </p:cNvSpPr>
          <p:nvPr>
            <p:ph type="sldNum" sz="quarter" idx="12"/>
          </p:nvPr>
        </p:nvSpPr>
        <p:spPr/>
        <p:txBody>
          <a:bodyPr/>
          <a:lstStyle/>
          <a:p>
            <a:fld id="{C1FF6DA9-008F-8B48-92A6-B652298478BF}" type="slidenum">
              <a:rPr lang="en-US" smtClean="0"/>
              <a:t>18</a:t>
            </a:fld>
            <a:endParaRPr lang="en-US"/>
          </a:p>
        </p:txBody>
      </p:sp>
    </p:spTree>
    <p:extLst>
      <p:ext uri="{BB962C8B-B14F-4D97-AF65-F5344CB8AC3E}">
        <p14:creationId xmlns:p14="http://schemas.microsoft.com/office/powerpoint/2010/main" val="1645454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da-DK" dirty="0" err="1"/>
              <a:t>Diffentieret</a:t>
            </a:r>
            <a:r>
              <a:rPr lang="da-DK" dirty="0"/>
              <a:t> målebias</a:t>
            </a:r>
            <a:endParaRPr dirty="0"/>
          </a:p>
        </p:txBody>
      </p:sp>
      <p:sp>
        <p:nvSpPr>
          <p:cNvPr id="3" name="Content Placeholder 2"/>
          <p:cNvSpPr>
            <a:spLocks noGrp="1"/>
          </p:cNvSpPr>
          <p:nvPr>
            <p:ph idx="1"/>
          </p:nvPr>
        </p:nvSpPr>
        <p:spPr/>
        <p:txBody>
          <a:bodyPr>
            <a:normAutofit/>
          </a:bodyPr>
          <a:lstStyle/>
          <a:p>
            <a:pPr marL="0" indent="0">
              <a:buNone/>
              <a:defRPr sz="1800"/>
            </a:pPr>
            <a:r>
              <a:rPr lang="da-DK" b="1" dirty="0" err="1"/>
              <a:t>Diffentieret</a:t>
            </a:r>
            <a:r>
              <a:rPr lang="da-DK" b="1" dirty="0"/>
              <a:t> målebias: </a:t>
            </a:r>
            <a:r>
              <a:rPr lang="da-DK" dirty="0"/>
              <a:t>Fejlen afhænger af sygdom eller eksponering (eller både sygdom og eksponering, men ret sjældent).</a:t>
            </a:r>
          </a:p>
          <a:p>
            <a:pPr>
              <a:defRPr sz="1800"/>
            </a:pPr>
            <a:r>
              <a:rPr lang="da-DK" i="1" dirty="0"/>
              <a:t>Eksempel</a:t>
            </a:r>
            <a:r>
              <a:rPr lang="da-DK" b="1" dirty="0"/>
              <a:t>: </a:t>
            </a:r>
            <a:r>
              <a:rPr lang="da-DK" dirty="0"/>
              <a:t>I et </a:t>
            </a:r>
            <a:r>
              <a:rPr lang="da-DK" dirty="0" err="1"/>
              <a:t>randomiseret</a:t>
            </a:r>
            <a:r>
              <a:rPr lang="da-DK" dirty="0"/>
              <a:t> studie måles håndgrebsstyrken ved baseline med apparat A. Ved </a:t>
            </a:r>
            <a:r>
              <a:rPr lang="da-DK" dirty="0" err="1"/>
              <a:t>follow-up</a:t>
            </a:r>
            <a:r>
              <a:rPr lang="da-DK" dirty="0"/>
              <a:t> måles interventionsgruppen igen med apparat A, mens kontrolgruppen måles med et andet apparat, som måler konsekvent 10% for lavt.</a:t>
            </a:r>
          </a:p>
          <a:p>
            <a:pPr lvl="1">
              <a:defRPr sz="1800"/>
            </a:pPr>
            <a:r>
              <a:rPr lang="da-DK" b="1" dirty="0"/>
              <a:t>Målefejlen afhænger derfor af eksponeringsgruppen, hvilket giver differentieret målebias.</a:t>
            </a:r>
          </a:p>
        </p:txBody>
      </p:sp>
      <p:sp>
        <p:nvSpPr>
          <p:cNvPr id="4" name="Pladsholder til slidenummer 3"/>
          <p:cNvSpPr>
            <a:spLocks noGrp="1"/>
          </p:cNvSpPr>
          <p:nvPr>
            <p:ph type="sldNum" sz="quarter" idx="12"/>
          </p:nvPr>
        </p:nvSpPr>
        <p:spPr/>
        <p:txBody>
          <a:bodyPr/>
          <a:lstStyle/>
          <a:p>
            <a:fld id="{C1FF6DA9-008F-8B48-92A6-B652298478BF}" type="slidenum">
              <a:rPr lang="en-US" smtClean="0"/>
              <a:t>19</a:t>
            </a:fld>
            <a:endParaRPr lang="en-US"/>
          </a:p>
        </p:txBody>
      </p:sp>
    </p:spTree>
    <p:extLst>
      <p:ext uri="{BB962C8B-B14F-4D97-AF65-F5344CB8AC3E}">
        <p14:creationId xmlns:p14="http://schemas.microsoft.com/office/powerpoint/2010/main" val="2964785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da-DK" dirty="0"/>
              <a:t>Konsekvenser af bias</a:t>
            </a:r>
            <a:endParaRPr dirty="0"/>
          </a:p>
        </p:txBody>
      </p:sp>
      <p:graphicFrame>
        <p:nvGraphicFramePr>
          <p:cNvPr id="5" name="Tabel 4"/>
          <p:cNvGraphicFramePr>
            <a:graphicFrameLocks noGrp="1"/>
          </p:cNvGraphicFramePr>
          <p:nvPr>
            <p:extLst>
              <p:ext uri="{D42A27DB-BD31-4B8C-83A1-F6EECF244321}">
                <p14:modId xmlns:p14="http://schemas.microsoft.com/office/powerpoint/2010/main" val="3068365871"/>
              </p:ext>
            </p:extLst>
          </p:nvPr>
        </p:nvGraphicFramePr>
        <p:xfrm>
          <a:off x="203199" y="2307431"/>
          <a:ext cx="8858252" cy="2194560"/>
        </p:xfrm>
        <a:graphic>
          <a:graphicData uri="http://schemas.openxmlformats.org/drawingml/2006/table">
            <a:tbl>
              <a:tblPr/>
              <a:tblGrid>
                <a:gridCol w="1927490">
                  <a:extLst>
                    <a:ext uri="{9D8B030D-6E8A-4147-A177-3AD203B41FA5}">
                      <a16:colId xmlns:a16="http://schemas.microsoft.com/office/drawing/2014/main" val="571080077"/>
                    </a:ext>
                  </a:extLst>
                </a:gridCol>
                <a:gridCol w="2296584">
                  <a:extLst>
                    <a:ext uri="{9D8B030D-6E8A-4147-A177-3AD203B41FA5}">
                      <a16:colId xmlns:a16="http://schemas.microsoft.com/office/drawing/2014/main" val="3554032230"/>
                    </a:ext>
                  </a:extLst>
                </a:gridCol>
                <a:gridCol w="2419615">
                  <a:extLst>
                    <a:ext uri="{9D8B030D-6E8A-4147-A177-3AD203B41FA5}">
                      <a16:colId xmlns:a16="http://schemas.microsoft.com/office/drawing/2014/main" val="2632442372"/>
                    </a:ext>
                  </a:extLst>
                </a:gridCol>
                <a:gridCol w="2214563">
                  <a:extLst>
                    <a:ext uri="{9D8B030D-6E8A-4147-A177-3AD203B41FA5}">
                      <a16:colId xmlns:a16="http://schemas.microsoft.com/office/drawing/2014/main" val="1155234317"/>
                    </a:ext>
                  </a:extLst>
                </a:gridCol>
              </a:tblGrid>
              <a:tr h="0">
                <a:tc>
                  <a:txBody>
                    <a:bodyPr/>
                    <a:lstStyle/>
                    <a:p>
                      <a:r>
                        <a:rPr lang="da-DK" b="1"/>
                        <a:t>Type af målebias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da-DK" b="1"/>
                        <a:t>Definition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da-DK" b="1" dirty="0"/>
                        <a:t>Eksempel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da-DK" b="1" dirty="0"/>
                        <a:t>Konsekvens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92083291"/>
                  </a:ext>
                </a:extLst>
              </a:tr>
              <a:tr h="0">
                <a:tc>
                  <a:txBody>
                    <a:bodyPr/>
                    <a:lstStyle/>
                    <a:p>
                      <a:r>
                        <a:rPr lang="da-DK" b="1" dirty="0"/>
                        <a:t>Differentieret</a:t>
                      </a:r>
                      <a:endParaRPr lang="da-DK"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da-DK" dirty="0"/>
                        <a:t>Fejlen afhænger af sygdom</a:t>
                      </a:r>
                      <a:r>
                        <a:rPr lang="da-DK" baseline="0" dirty="0"/>
                        <a:t> og/eller </a:t>
                      </a:r>
                      <a:r>
                        <a:rPr lang="da-DK" dirty="0"/>
                        <a:t>eksponering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da-DK" dirty="0"/>
                        <a:t>Kun kontrolgruppen måles med et apparat, der viser 10% for lavt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da-DK"/>
                        <a:t>Kan føre til over- eller underestimering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94609334"/>
                  </a:ext>
                </a:extLst>
              </a:tr>
              <a:tr h="0">
                <a:tc>
                  <a:txBody>
                    <a:bodyPr/>
                    <a:lstStyle/>
                    <a:p>
                      <a:r>
                        <a:rPr lang="da-DK" b="1"/>
                        <a:t>Ikke-differentieret</a:t>
                      </a:r>
                      <a:endParaRPr lang="da-DK"/>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da-DK" dirty="0"/>
                        <a:t>Fejlen er ens i alle grupper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da-DK" dirty="0"/>
                        <a:t>Begge grupper måles med et apparat, der viser 10% for lavt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da-DK" dirty="0"/>
                        <a:t>Bias mod nul (svækkelse af sammenhængen)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32548865"/>
                  </a:ext>
                </a:extLst>
              </a:tr>
            </a:tbl>
          </a:graphicData>
        </a:graphic>
      </p:graphicFrame>
      <p:sp>
        <p:nvSpPr>
          <p:cNvPr id="3" name="Pladsholder til slidenummer 2"/>
          <p:cNvSpPr>
            <a:spLocks noGrp="1"/>
          </p:cNvSpPr>
          <p:nvPr>
            <p:ph type="sldNum" sz="quarter" idx="12"/>
          </p:nvPr>
        </p:nvSpPr>
        <p:spPr/>
        <p:txBody>
          <a:bodyPr/>
          <a:lstStyle/>
          <a:p>
            <a:fld id="{C1FF6DA9-008F-8B48-92A6-B652298478BF}" type="slidenum">
              <a:rPr lang="en-US" smtClean="0"/>
              <a:t>20</a:t>
            </a:fld>
            <a:endParaRPr lang="en-US"/>
          </a:p>
        </p:txBody>
      </p:sp>
    </p:spTree>
    <p:extLst>
      <p:ext uri="{BB962C8B-B14F-4D97-AF65-F5344CB8AC3E}">
        <p14:creationId xmlns:p14="http://schemas.microsoft.com/office/powerpoint/2010/main" val="5622862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da-DK" dirty="0"/>
              <a:t>Eksempler på typer af informations</a:t>
            </a:r>
            <a:r>
              <a:rPr dirty="0"/>
              <a:t>bias</a:t>
            </a:r>
          </a:p>
        </p:txBody>
      </p:sp>
      <p:sp>
        <p:nvSpPr>
          <p:cNvPr id="3" name="Content Placeholder 2"/>
          <p:cNvSpPr>
            <a:spLocks noGrp="1"/>
          </p:cNvSpPr>
          <p:nvPr>
            <p:ph idx="1"/>
          </p:nvPr>
        </p:nvSpPr>
        <p:spPr/>
        <p:txBody>
          <a:bodyPr>
            <a:normAutofit/>
          </a:bodyPr>
          <a:lstStyle/>
          <a:p>
            <a:pPr marL="0" indent="0">
              <a:buNone/>
              <a:defRPr sz="1800"/>
            </a:pPr>
            <a:r>
              <a:rPr sz="2000" b="1" dirty="0"/>
              <a:t>Recall </a:t>
            </a:r>
            <a:r>
              <a:rPr sz="2000" b="1" dirty="0" err="1"/>
              <a:t>bia</a:t>
            </a:r>
            <a:r>
              <a:rPr lang="da-DK" sz="2000" b="1" dirty="0"/>
              <a:t>s</a:t>
            </a:r>
          </a:p>
          <a:p>
            <a:pPr>
              <a:defRPr sz="1800"/>
            </a:pPr>
            <a:r>
              <a:rPr lang="da-DK" dirty="0"/>
              <a:t>Opstår, når personers evne til at huske tidligere begivenheder er upræcis eller systematisk forvrænget.</a:t>
            </a:r>
          </a:p>
          <a:p>
            <a:pPr>
              <a:defRPr sz="1800"/>
            </a:pPr>
            <a:r>
              <a:rPr lang="da-DK" dirty="0"/>
              <a:t>Typisk et problem i særlige studiedesigns såsom case-</a:t>
            </a:r>
            <a:r>
              <a:rPr lang="da-DK" dirty="0" err="1"/>
              <a:t>control</a:t>
            </a:r>
            <a:r>
              <a:rPr lang="da-DK" dirty="0"/>
              <a:t> og tværsnitsstudier.</a:t>
            </a:r>
          </a:p>
          <a:p>
            <a:pPr>
              <a:defRPr sz="1800"/>
            </a:pPr>
            <a:r>
              <a:rPr lang="da-DK" i="1" dirty="0"/>
              <a:t>Eksempel</a:t>
            </a:r>
            <a:r>
              <a:rPr lang="da-DK" dirty="0"/>
              <a:t>: En person, der har fået en sygdom, husker måske meget tydeligt, at de var udsat for en mulig årsag (som et kemikalie), mens raske deltagere ikke husker det eller slet ikke nævner det.</a:t>
            </a:r>
          </a:p>
        </p:txBody>
      </p:sp>
      <p:sp>
        <p:nvSpPr>
          <p:cNvPr id="4" name="Pladsholder til slidenummer 3"/>
          <p:cNvSpPr>
            <a:spLocks noGrp="1"/>
          </p:cNvSpPr>
          <p:nvPr>
            <p:ph type="sldNum" sz="quarter" idx="12"/>
          </p:nvPr>
        </p:nvSpPr>
        <p:spPr/>
        <p:txBody>
          <a:bodyPr/>
          <a:lstStyle/>
          <a:p>
            <a:fld id="{C1FF6DA9-008F-8B48-92A6-B652298478BF}" type="slidenum">
              <a:rPr lang="en-US" smtClean="0"/>
              <a:t>21</a:t>
            </a:fld>
            <a:endParaRPr lang="en-US"/>
          </a:p>
        </p:txBody>
      </p:sp>
    </p:spTree>
    <p:extLst>
      <p:ext uri="{BB962C8B-B14F-4D97-AF65-F5344CB8AC3E}">
        <p14:creationId xmlns:p14="http://schemas.microsoft.com/office/powerpoint/2010/main" val="7823804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da-DK" dirty="0"/>
              <a:t>Eksempler på typer af informations</a:t>
            </a:r>
            <a:r>
              <a:rPr dirty="0"/>
              <a:t>bias</a:t>
            </a:r>
          </a:p>
        </p:txBody>
      </p:sp>
      <p:sp>
        <p:nvSpPr>
          <p:cNvPr id="3" name="Content Placeholder 2"/>
          <p:cNvSpPr>
            <a:spLocks noGrp="1"/>
          </p:cNvSpPr>
          <p:nvPr>
            <p:ph idx="1"/>
          </p:nvPr>
        </p:nvSpPr>
        <p:spPr/>
        <p:txBody>
          <a:bodyPr>
            <a:normAutofit fontScale="92500" lnSpcReduction="20000"/>
          </a:bodyPr>
          <a:lstStyle/>
          <a:p>
            <a:pPr marL="0" indent="0">
              <a:buNone/>
              <a:defRPr sz="1800"/>
            </a:pPr>
            <a:r>
              <a:rPr sz="2000" b="1" dirty="0"/>
              <a:t>Recall </a:t>
            </a:r>
            <a:r>
              <a:rPr sz="2000" b="1" dirty="0" err="1"/>
              <a:t>bia</a:t>
            </a:r>
            <a:r>
              <a:rPr lang="da-DK" sz="2000" b="1" dirty="0"/>
              <a:t>s</a:t>
            </a:r>
          </a:p>
          <a:p>
            <a:pPr>
              <a:defRPr sz="1800"/>
            </a:pPr>
            <a:r>
              <a:rPr lang="da-DK" dirty="0"/>
              <a:t>Et case-control-studie undersøger, om rygning under graviditeten øger risikoen for, at barnet udvikler astma.</a:t>
            </a:r>
          </a:p>
          <a:p>
            <a:pPr>
              <a:defRPr sz="1800"/>
            </a:pPr>
            <a:endParaRPr lang="da-DK" dirty="0"/>
          </a:p>
          <a:p>
            <a:pPr>
              <a:defRPr sz="1800"/>
            </a:pPr>
            <a:r>
              <a:rPr lang="da-DK" dirty="0"/>
              <a:t>Hvordan </a:t>
            </a:r>
            <a:r>
              <a:rPr lang="da-DK" dirty="0" err="1"/>
              <a:t>recall</a:t>
            </a:r>
            <a:r>
              <a:rPr lang="da-DK" dirty="0"/>
              <a:t> bias opstår:</a:t>
            </a:r>
          </a:p>
          <a:p>
            <a:pPr lvl="1">
              <a:defRPr sz="1800"/>
            </a:pPr>
            <a:r>
              <a:rPr lang="da-DK" dirty="0"/>
              <a:t>Mødre til børn med astma (cases) bliver spurgt om deres rygning under graviditeten.</a:t>
            </a:r>
          </a:p>
          <a:p>
            <a:pPr lvl="1">
              <a:defRPr sz="1800"/>
            </a:pPr>
            <a:r>
              <a:rPr lang="da-DK" dirty="0"/>
              <a:t>Mødre til børn uden astma (kontroller) bliver spurgt om det samme.</a:t>
            </a:r>
          </a:p>
          <a:p>
            <a:pPr lvl="1">
              <a:defRPr sz="1800"/>
            </a:pPr>
            <a:endParaRPr lang="da-DK" dirty="0"/>
          </a:p>
          <a:p>
            <a:pPr>
              <a:defRPr sz="1800"/>
            </a:pPr>
            <a:r>
              <a:rPr lang="da-DK" dirty="0"/>
              <a:t>Problemet:</a:t>
            </a:r>
          </a:p>
          <a:p>
            <a:pPr lvl="1">
              <a:defRPr sz="1800"/>
            </a:pPr>
            <a:r>
              <a:rPr lang="da-DK" dirty="0"/>
              <a:t>Mødrene til børn med astma vil måske tænke: “Måske gjorde jeg noget galt — jeg røg jo lidt dengang…”</a:t>
            </a:r>
          </a:p>
          <a:p>
            <a:pPr lvl="1">
              <a:defRPr sz="1800"/>
            </a:pPr>
            <a:r>
              <a:rPr lang="da-DK" dirty="0"/>
              <a:t>Cases kan derfor overrapportere deres rygning, fordi de forsøger at finde en forklaring.</a:t>
            </a:r>
          </a:p>
          <a:p>
            <a:pPr lvl="1">
              <a:defRPr sz="1800"/>
            </a:pPr>
            <a:r>
              <a:rPr lang="da-DK" dirty="0"/>
              <a:t>Kontrolmødrene har ikke den samme motivation og kan underrapportere eller glemme det.</a:t>
            </a:r>
          </a:p>
          <a:p>
            <a:pPr lvl="1">
              <a:defRPr sz="1800"/>
            </a:pPr>
            <a:endParaRPr lang="da-DK" dirty="0"/>
          </a:p>
          <a:p>
            <a:pPr>
              <a:defRPr sz="1800"/>
            </a:pPr>
            <a:r>
              <a:rPr lang="da-DK" dirty="0"/>
              <a:t>Resultat: Systematisk forskel i, hvordan grupperne husker og rapporterer — </a:t>
            </a:r>
            <a:r>
              <a:rPr lang="da-DK" b="1" u="sng" dirty="0" err="1"/>
              <a:t>recall</a:t>
            </a:r>
            <a:r>
              <a:rPr lang="da-DK" b="1" u="sng" dirty="0"/>
              <a:t> bias</a:t>
            </a:r>
            <a:r>
              <a:rPr lang="da-DK" dirty="0"/>
              <a:t>.</a:t>
            </a:r>
          </a:p>
        </p:txBody>
      </p:sp>
      <p:sp>
        <p:nvSpPr>
          <p:cNvPr id="4" name="Pladsholder til slidenummer 3"/>
          <p:cNvSpPr>
            <a:spLocks noGrp="1"/>
          </p:cNvSpPr>
          <p:nvPr>
            <p:ph type="sldNum" sz="quarter" idx="12"/>
          </p:nvPr>
        </p:nvSpPr>
        <p:spPr/>
        <p:txBody>
          <a:bodyPr/>
          <a:lstStyle/>
          <a:p>
            <a:fld id="{C1FF6DA9-008F-8B48-92A6-B652298478BF}" type="slidenum">
              <a:rPr lang="en-US" smtClean="0"/>
              <a:t>22</a:t>
            </a:fld>
            <a:endParaRPr lang="en-US"/>
          </a:p>
        </p:txBody>
      </p:sp>
    </p:spTree>
    <p:extLst>
      <p:ext uri="{BB962C8B-B14F-4D97-AF65-F5344CB8AC3E}">
        <p14:creationId xmlns:p14="http://schemas.microsoft.com/office/powerpoint/2010/main" val="1871494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fade">
                                      <p:cBhvr>
                                        <p:cTn id="18" dur="500"/>
                                        <p:tgtEl>
                                          <p:spTgt spid="3">
                                            <p:txEl>
                                              <p:pRg st="5" end="5"/>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animEffect transition="in" filter="fade">
                                      <p:cBhvr>
                                        <p:cTn id="23" dur="500"/>
                                        <p:tgtEl>
                                          <p:spTgt spid="3">
                                            <p:txEl>
                                              <p:pRg st="7" end="7"/>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
                                            <p:txEl>
                                              <p:pRg st="8" end="8"/>
                                            </p:txEl>
                                          </p:spTgt>
                                        </p:tgtEl>
                                        <p:attrNameLst>
                                          <p:attrName>style.visibility</p:attrName>
                                        </p:attrNameLst>
                                      </p:cBhvr>
                                      <p:to>
                                        <p:strVal val="visible"/>
                                      </p:to>
                                    </p:set>
                                    <p:animEffect transition="in" filter="fade">
                                      <p:cBhvr>
                                        <p:cTn id="26" dur="500"/>
                                        <p:tgtEl>
                                          <p:spTgt spid="3">
                                            <p:txEl>
                                              <p:pRg st="8" end="8"/>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animEffect transition="in" filter="fade">
                                      <p:cBhvr>
                                        <p:cTn id="29" dur="500"/>
                                        <p:tgtEl>
                                          <p:spTgt spid="3">
                                            <p:txEl>
                                              <p:pRg st="9" end="9"/>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
                                            <p:txEl>
                                              <p:pRg st="10" end="10"/>
                                            </p:txEl>
                                          </p:spTgt>
                                        </p:tgtEl>
                                        <p:attrNameLst>
                                          <p:attrName>style.visibility</p:attrName>
                                        </p:attrNameLst>
                                      </p:cBhvr>
                                      <p:to>
                                        <p:strVal val="visible"/>
                                      </p:to>
                                    </p:set>
                                    <p:animEffect transition="in" filter="fade">
                                      <p:cBhvr>
                                        <p:cTn id="32" dur="500"/>
                                        <p:tgtEl>
                                          <p:spTgt spid="3">
                                            <p:txEl>
                                              <p:pRg st="10" end="1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12" end="12"/>
                                            </p:txEl>
                                          </p:spTgt>
                                        </p:tgtEl>
                                        <p:attrNameLst>
                                          <p:attrName>style.visibility</p:attrName>
                                        </p:attrNameLst>
                                      </p:cBhvr>
                                      <p:to>
                                        <p:strVal val="visible"/>
                                      </p:to>
                                    </p:set>
                                    <p:animEffect transition="in" filter="fade">
                                      <p:cBhvr>
                                        <p:cTn id="37"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da-DK" dirty="0"/>
              <a:t>Eksempler på typer af informations</a:t>
            </a:r>
            <a:r>
              <a:rPr dirty="0"/>
              <a:t>bias</a:t>
            </a:r>
          </a:p>
        </p:txBody>
      </p:sp>
      <p:sp>
        <p:nvSpPr>
          <p:cNvPr id="3" name="Content Placeholder 2"/>
          <p:cNvSpPr>
            <a:spLocks noGrp="1"/>
          </p:cNvSpPr>
          <p:nvPr>
            <p:ph idx="1"/>
          </p:nvPr>
        </p:nvSpPr>
        <p:spPr/>
        <p:txBody>
          <a:bodyPr>
            <a:normAutofit/>
          </a:bodyPr>
          <a:lstStyle/>
          <a:p>
            <a:pPr marL="0" indent="0">
              <a:buNone/>
              <a:defRPr sz="1800"/>
            </a:pPr>
            <a:r>
              <a:rPr lang="da-DK" sz="2000" b="1" dirty="0"/>
              <a:t>Ingen r</a:t>
            </a:r>
            <a:r>
              <a:rPr sz="2000" b="1" dirty="0" err="1"/>
              <a:t>ecall</a:t>
            </a:r>
            <a:r>
              <a:rPr sz="2000" b="1" dirty="0"/>
              <a:t> </a:t>
            </a:r>
            <a:r>
              <a:rPr sz="2000" b="1" dirty="0" err="1"/>
              <a:t>bia</a:t>
            </a:r>
            <a:r>
              <a:rPr lang="da-DK" sz="2000" b="1" dirty="0"/>
              <a:t>s</a:t>
            </a:r>
          </a:p>
          <a:p>
            <a:pPr>
              <a:defRPr sz="1800"/>
            </a:pPr>
            <a:r>
              <a:rPr lang="da-DK" dirty="0"/>
              <a:t>Et case-control-studie undersøger, om antal gange man har spist fisk de sidste 12 måneder er forbundet med risiko for forhøjet blodtryk.</a:t>
            </a:r>
          </a:p>
          <a:p>
            <a:pPr>
              <a:defRPr sz="1800"/>
            </a:pPr>
            <a:endParaRPr lang="da-DK" dirty="0"/>
          </a:p>
          <a:p>
            <a:pPr>
              <a:defRPr sz="1800"/>
            </a:pPr>
            <a:r>
              <a:rPr lang="da-DK" dirty="0"/>
              <a:t>Design:</a:t>
            </a:r>
          </a:p>
          <a:p>
            <a:pPr lvl="1">
              <a:defRPr sz="1800"/>
            </a:pPr>
            <a:r>
              <a:rPr lang="da-DK" dirty="0"/>
              <a:t>Cases = personer med forhøjet blodtryk</a:t>
            </a:r>
          </a:p>
          <a:p>
            <a:pPr lvl="1">
              <a:defRPr sz="1800"/>
            </a:pPr>
            <a:r>
              <a:rPr lang="da-DK" dirty="0"/>
              <a:t>Kontroller = personer med normalt blodtryk</a:t>
            </a:r>
          </a:p>
          <a:p>
            <a:pPr lvl="1">
              <a:defRPr sz="1800"/>
            </a:pPr>
            <a:endParaRPr lang="da-DK" dirty="0"/>
          </a:p>
          <a:p>
            <a:pPr>
              <a:defRPr sz="1800"/>
            </a:pPr>
            <a:r>
              <a:rPr lang="da-DK" dirty="0"/>
              <a:t>Hvad sker der?</a:t>
            </a:r>
          </a:p>
          <a:p>
            <a:pPr lvl="1">
              <a:defRPr sz="1800"/>
            </a:pPr>
            <a:r>
              <a:rPr lang="da-DK" dirty="0"/>
              <a:t>Det er generelt svært at huske præcist, hvor ofte man har spist fisk over et helt år — alle gætter lidt. Men personer med forhøjet blodtryk har ikke nogen særlig grund til at huske det anderledes end andre.</a:t>
            </a:r>
          </a:p>
          <a:p>
            <a:pPr lvl="1">
              <a:defRPr sz="1800"/>
            </a:pPr>
            <a:endParaRPr lang="da-DK" dirty="0"/>
          </a:p>
          <a:p>
            <a:pPr>
              <a:defRPr sz="1800"/>
            </a:pPr>
            <a:r>
              <a:rPr lang="da-DK" dirty="0"/>
              <a:t>Resultat: Hukommelsen er upræcis, men tilfældigt upræcis, </a:t>
            </a:r>
            <a:r>
              <a:rPr lang="da-DK" b="1" u="sng" dirty="0"/>
              <a:t>ingen </a:t>
            </a:r>
            <a:r>
              <a:rPr lang="da-DK" b="1" u="sng" dirty="0" err="1"/>
              <a:t>recall</a:t>
            </a:r>
            <a:r>
              <a:rPr lang="da-DK" b="1" u="sng" dirty="0"/>
              <a:t> bias</a:t>
            </a:r>
          </a:p>
        </p:txBody>
      </p:sp>
      <p:sp>
        <p:nvSpPr>
          <p:cNvPr id="4" name="Pladsholder til slidenummer 3"/>
          <p:cNvSpPr>
            <a:spLocks noGrp="1"/>
          </p:cNvSpPr>
          <p:nvPr>
            <p:ph type="sldNum" sz="quarter" idx="12"/>
          </p:nvPr>
        </p:nvSpPr>
        <p:spPr/>
        <p:txBody>
          <a:bodyPr/>
          <a:lstStyle/>
          <a:p>
            <a:fld id="{C1FF6DA9-008F-8B48-92A6-B652298478BF}" type="slidenum">
              <a:rPr lang="en-US" smtClean="0"/>
              <a:t>23</a:t>
            </a:fld>
            <a:endParaRPr lang="en-US"/>
          </a:p>
        </p:txBody>
      </p:sp>
    </p:spTree>
    <p:extLst>
      <p:ext uri="{BB962C8B-B14F-4D97-AF65-F5344CB8AC3E}">
        <p14:creationId xmlns:p14="http://schemas.microsoft.com/office/powerpoint/2010/main" val="2610034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fade">
                                      <p:cBhvr>
                                        <p:cTn id="18" dur="500"/>
                                        <p:tgtEl>
                                          <p:spTgt spid="3">
                                            <p:txEl>
                                              <p:pRg st="5" end="5"/>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animEffect transition="in" filter="fade">
                                      <p:cBhvr>
                                        <p:cTn id="23" dur="500"/>
                                        <p:tgtEl>
                                          <p:spTgt spid="3">
                                            <p:txEl>
                                              <p:pRg st="7" end="7"/>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
                                            <p:txEl>
                                              <p:pRg st="8" end="8"/>
                                            </p:txEl>
                                          </p:spTgt>
                                        </p:tgtEl>
                                        <p:attrNameLst>
                                          <p:attrName>style.visibility</p:attrName>
                                        </p:attrNameLst>
                                      </p:cBhvr>
                                      <p:to>
                                        <p:strVal val="visible"/>
                                      </p:to>
                                    </p:set>
                                    <p:animEffect transition="in" filter="fade">
                                      <p:cBhvr>
                                        <p:cTn id="26" dur="500"/>
                                        <p:tgtEl>
                                          <p:spTgt spid="3">
                                            <p:txEl>
                                              <p:pRg st="8" end="8"/>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animEffect transition="in" filter="fade">
                                      <p:cBhvr>
                                        <p:cTn id="31"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da-DK" dirty="0"/>
              <a:t>Eksempler på typer af informations</a:t>
            </a:r>
            <a:r>
              <a:rPr dirty="0"/>
              <a:t>bias</a:t>
            </a:r>
          </a:p>
        </p:txBody>
      </p:sp>
      <p:sp>
        <p:nvSpPr>
          <p:cNvPr id="3" name="Content Placeholder 2"/>
          <p:cNvSpPr>
            <a:spLocks noGrp="1"/>
          </p:cNvSpPr>
          <p:nvPr>
            <p:ph idx="1"/>
          </p:nvPr>
        </p:nvSpPr>
        <p:spPr/>
        <p:txBody>
          <a:bodyPr>
            <a:normAutofit/>
          </a:bodyPr>
          <a:lstStyle/>
          <a:p>
            <a:pPr marL="0" indent="0">
              <a:buNone/>
              <a:defRPr sz="1800"/>
            </a:pPr>
            <a:r>
              <a:rPr lang="da-DK" sz="2000" b="1" dirty="0"/>
              <a:t>Observer bias</a:t>
            </a:r>
            <a:endParaRPr lang="da-DK" b="1" dirty="0"/>
          </a:p>
          <a:p>
            <a:pPr>
              <a:defRPr sz="1800"/>
            </a:pPr>
            <a:r>
              <a:rPr lang="da-DK" dirty="0"/>
              <a:t>Opstår når forskerens eller observatørens egne forventninger, forudindtagede holdninger eller viden påvirker måden, data bliver registreret eller vurderet på.</a:t>
            </a:r>
          </a:p>
          <a:p>
            <a:pPr>
              <a:defRPr sz="1800"/>
            </a:pPr>
            <a:r>
              <a:rPr lang="da-DK" dirty="0"/>
              <a:t>Typisk et problem i kliniske eller eksperimentelle studier, især hvor vurderinger ikke er blindet.</a:t>
            </a:r>
          </a:p>
          <a:p>
            <a:pPr>
              <a:defRPr sz="1800"/>
            </a:pPr>
            <a:r>
              <a:rPr lang="da-DK" i="1" dirty="0"/>
              <a:t>Eksempel</a:t>
            </a:r>
            <a:r>
              <a:rPr lang="da-DK" dirty="0"/>
              <a:t>: En observatør, der ved, hvilken behandling en patient har fået, kan ubevidst overvurdere forbedring hos patienter, der fik den "bedre" behandling.</a:t>
            </a:r>
          </a:p>
        </p:txBody>
      </p:sp>
      <p:sp>
        <p:nvSpPr>
          <p:cNvPr id="4" name="Pladsholder til slidenummer 3"/>
          <p:cNvSpPr>
            <a:spLocks noGrp="1"/>
          </p:cNvSpPr>
          <p:nvPr>
            <p:ph type="sldNum" sz="quarter" idx="12"/>
          </p:nvPr>
        </p:nvSpPr>
        <p:spPr/>
        <p:txBody>
          <a:bodyPr/>
          <a:lstStyle/>
          <a:p>
            <a:fld id="{C1FF6DA9-008F-8B48-92A6-B652298478BF}" type="slidenum">
              <a:rPr lang="en-US" smtClean="0"/>
              <a:t>24</a:t>
            </a:fld>
            <a:endParaRPr lang="en-US"/>
          </a:p>
        </p:txBody>
      </p:sp>
    </p:spTree>
    <p:extLst>
      <p:ext uri="{BB962C8B-B14F-4D97-AF65-F5344CB8AC3E}">
        <p14:creationId xmlns:p14="http://schemas.microsoft.com/office/powerpoint/2010/main" val="1514813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da-DK" dirty="0"/>
              <a:t>Eksempler på typer af informations</a:t>
            </a:r>
            <a:r>
              <a:rPr dirty="0"/>
              <a:t>bias</a:t>
            </a:r>
          </a:p>
        </p:txBody>
      </p:sp>
      <p:sp>
        <p:nvSpPr>
          <p:cNvPr id="3" name="Content Placeholder 2"/>
          <p:cNvSpPr>
            <a:spLocks noGrp="1"/>
          </p:cNvSpPr>
          <p:nvPr>
            <p:ph idx="1"/>
          </p:nvPr>
        </p:nvSpPr>
        <p:spPr/>
        <p:txBody>
          <a:bodyPr>
            <a:normAutofit lnSpcReduction="10000"/>
          </a:bodyPr>
          <a:lstStyle/>
          <a:p>
            <a:pPr marL="0" indent="0">
              <a:buNone/>
              <a:defRPr sz="1800"/>
            </a:pPr>
            <a:r>
              <a:rPr lang="da-DK" sz="2000" b="1" dirty="0"/>
              <a:t>Observer bias</a:t>
            </a:r>
          </a:p>
          <a:p>
            <a:pPr>
              <a:defRPr sz="1800"/>
            </a:pPr>
            <a:r>
              <a:rPr lang="da-DK" dirty="0"/>
              <a:t>Et klinisk studie undersøger, om et nyt sovemiddel virker bedre end placebo. Søvnen vurderes af sygeplejersker, som observerer patienternes søvnkvalitet hver nat.</a:t>
            </a:r>
          </a:p>
          <a:p>
            <a:pPr>
              <a:defRPr sz="1800"/>
            </a:pPr>
            <a:endParaRPr lang="da-DK" dirty="0"/>
          </a:p>
          <a:p>
            <a:pPr>
              <a:defRPr sz="1800"/>
            </a:pPr>
            <a:r>
              <a:rPr lang="da-DK" dirty="0"/>
              <a:t>Hvad sker der?</a:t>
            </a:r>
          </a:p>
          <a:p>
            <a:pPr lvl="1">
              <a:defRPr sz="1800"/>
            </a:pPr>
            <a:r>
              <a:rPr lang="da-DK" dirty="0"/>
              <a:t>Sygeplejerskerne ved, hvem der har fået det nye lægemiddel og hvem der har fået placebo. De forventer, at lægemidlet virker. Derfor vurderer de (ubevidst) patienterne i den aktive gruppe som “mere rolige” eller “sover bedre”, selvom forskellen reelt er lille eller ingen.</a:t>
            </a:r>
          </a:p>
          <a:p>
            <a:pPr lvl="1">
              <a:defRPr sz="1800"/>
            </a:pPr>
            <a:endParaRPr lang="da-DK" dirty="0"/>
          </a:p>
          <a:p>
            <a:pPr>
              <a:defRPr sz="1800"/>
            </a:pPr>
            <a:r>
              <a:rPr lang="da-DK" dirty="0"/>
              <a:t>Resultat: Systematisk forskel i måden observatøren vurderer grupperne på → </a:t>
            </a:r>
            <a:r>
              <a:rPr lang="da-DK" b="1" u="sng" dirty="0"/>
              <a:t>observer bias</a:t>
            </a:r>
            <a:r>
              <a:rPr lang="da-DK" dirty="0"/>
              <a:t>.</a:t>
            </a:r>
          </a:p>
          <a:p>
            <a:pPr>
              <a:defRPr sz="1800"/>
            </a:pPr>
            <a:endParaRPr lang="da-DK" dirty="0"/>
          </a:p>
          <a:p>
            <a:pPr>
              <a:defRPr sz="1800"/>
            </a:pPr>
            <a:r>
              <a:rPr lang="da-DK" dirty="0"/>
              <a:t>(Kan undgås med blinding: observatøren bør ikke vide, hvem der får hvad)</a:t>
            </a:r>
          </a:p>
        </p:txBody>
      </p:sp>
      <p:sp>
        <p:nvSpPr>
          <p:cNvPr id="4" name="Pladsholder til slidenummer 3"/>
          <p:cNvSpPr>
            <a:spLocks noGrp="1"/>
          </p:cNvSpPr>
          <p:nvPr>
            <p:ph type="sldNum" sz="quarter" idx="12"/>
          </p:nvPr>
        </p:nvSpPr>
        <p:spPr/>
        <p:txBody>
          <a:bodyPr/>
          <a:lstStyle/>
          <a:p>
            <a:fld id="{C1FF6DA9-008F-8B48-92A6-B652298478BF}" type="slidenum">
              <a:rPr lang="en-US" smtClean="0"/>
              <a:t>25</a:t>
            </a:fld>
            <a:endParaRPr lang="en-US"/>
          </a:p>
        </p:txBody>
      </p:sp>
    </p:spTree>
    <p:extLst>
      <p:ext uri="{BB962C8B-B14F-4D97-AF65-F5344CB8AC3E}">
        <p14:creationId xmlns:p14="http://schemas.microsoft.com/office/powerpoint/2010/main" val="738944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6" end="6"/>
                                            </p:txEl>
                                          </p:spTgt>
                                        </p:tgtEl>
                                        <p:attrNameLst>
                                          <p:attrName>style.visibility</p:attrName>
                                        </p:attrNameLst>
                                      </p:cBhvr>
                                      <p:to>
                                        <p:strVal val="visible"/>
                                      </p:to>
                                    </p:set>
                                    <p:animEffect transition="in" filter="fade">
                                      <p:cBhvr>
                                        <p:cTn id="20" dur="500"/>
                                        <p:tgtEl>
                                          <p:spTgt spid="3">
                                            <p:txEl>
                                              <p:pRg st="6" end="6"/>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animEffect transition="in" filter="fade">
                                      <p:cBhvr>
                                        <p:cTn id="25"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da-DK" dirty="0"/>
              <a:t>Eksempler på typer af informations</a:t>
            </a:r>
            <a:r>
              <a:rPr dirty="0"/>
              <a:t>bias</a:t>
            </a:r>
          </a:p>
        </p:txBody>
      </p:sp>
      <p:sp>
        <p:nvSpPr>
          <p:cNvPr id="3" name="Content Placeholder 2"/>
          <p:cNvSpPr>
            <a:spLocks noGrp="1"/>
          </p:cNvSpPr>
          <p:nvPr>
            <p:ph idx="1"/>
          </p:nvPr>
        </p:nvSpPr>
        <p:spPr/>
        <p:txBody>
          <a:bodyPr>
            <a:normAutofit/>
          </a:bodyPr>
          <a:lstStyle/>
          <a:p>
            <a:pPr marL="0" indent="0">
              <a:buNone/>
              <a:defRPr sz="1800"/>
            </a:pPr>
            <a:r>
              <a:rPr lang="da-DK" sz="2000" b="1" dirty="0"/>
              <a:t>Observer bias</a:t>
            </a:r>
          </a:p>
          <a:p>
            <a:pPr>
              <a:defRPr sz="1800"/>
            </a:pPr>
            <a:r>
              <a:rPr lang="da-DK" dirty="0"/>
              <a:t>Et forskerhold måler blodtryk på en gruppe forsøgspersoner for at se, om motion påvirker hvileblodtrykket over tid. Alle målinger udføres med et blodtryksapparat, der har en ±5 </a:t>
            </a:r>
            <a:r>
              <a:rPr lang="da-DK" dirty="0" err="1"/>
              <a:t>mmHg</a:t>
            </a:r>
            <a:r>
              <a:rPr lang="da-DK" dirty="0"/>
              <a:t> usikkerhed.</a:t>
            </a:r>
          </a:p>
          <a:p>
            <a:pPr>
              <a:defRPr sz="1800"/>
            </a:pPr>
            <a:endParaRPr lang="da-DK" dirty="0"/>
          </a:p>
          <a:p>
            <a:pPr>
              <a:defRPr sz="1800"/>
            </a:pPr>
            <a:r>
              <a:rPr lang="da-DK" dirty="0"/>
              <a:t>Hvad sker der?</a:t>
            </a:r>
          </a:p>
          <a:p>
            <a:pPr lvl="1">
              <a:defRPr sz="1800"/>
            </a:pPr>
            <a:r>
              <a:rPr lang="da-DK" dirty="0"/>
              <a:t>Apparatet kan måle lidt for højt eller lidt for lavt hver gang — tilfældigt.</a:t>
            </a:r>
          </a:p>
          <a:p>
            <a:pPr lvl="1">
              <a:defRPr sz="1800"/>
            </a:pPr>
            <a:r>
              <a:rPr lang="da-DK" dirty="0"/>
              <a:t>Fejlen er ikke relateret til, om personen motionerer meget eller lidt.</a:t>
            </a:r>
          </a:p>
          <a:p>
            <a:pPr lvl="1">
              <a:defRPr sz="1800"/>
            </a:pPr>
            <a:endParaRPr lang="da-DK" dirty="0"/>
          </a:p>
          <a:p>
            <a:pPr>
              <a:defRPr sz="1800"/>
            </a:pPr>
            <a:r>
              <a:rPr lang="da-DK" dirty="0"/>
              <a:t>Resultat: Tilfældige målefejl, som bare gør data mere støjende → måleusikkerhed, men </a:t>
            </a:r>
            <a:r>
              <a:rPr lang="da-DK" b="1" dirty="0"/>
              <a:t>ingen observer bias</a:t>
            </a:r>
            <a:r>
              <a:rPr lang="da-DK" dirty="0"/>
              <a:t>.</a:t>
            </a:r>
          </a:p>
        </p:txBody>
      </p:sp>
      <p:sp>
        <p:nvSpPr>
          <p:cNvPr id="4" name="Pladsholder til slidenummer 3"/>
          <p:cNvSpPr>
            <a:spLocks noGrp="1"/>
          </p:cNvSpPr>
          <p:nvPr>
            <p:ph type="sldNum" sz="quarter" idx="12"/>
          </p:nvPr>
        </p:nvSpPr>
        <p:spPr/>
        <p:txBody>
          <a:bodyPr/>
          <a:lstStyle/>
          <a:p>
            <a:fld id="{C1FF6DA9-008F-8B48-92A6-B652298478BF}" type="slidenum">
              <a:rPr lang="en-US" smtClean="0"/>
              <a:t>26</a:t>
            </a:fld>
            <a:endParaRPr lang="en-US"/>
          </a:p>
        </p:txBody>
      </p:sp>
    </p:spTree>
    <p:extLst>
      <p:ext uri="{BB962C8B-B14F-4D97-AF65-F5344CB8AC3E}">
        <p14:creationId xmlns:p14="http://schemas.microsoft.com/office/powerpoint/2010/main" val="34248822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ctrTitle"/>
          </p:nvPr>
        </p:nvSpPr>
        <p:spPr/>
        <p:txBody>
          <a:bodyPr/>
          <a:lstStyle/>
          <a:p>
            <a:r>
              <a:rPr lang="da-DK" dirty="0"/>
              <a:t>Misklassifikation</a:t>
            </a:r>
          </a:p>
        </p:txBody>
      </p:sp>
      <p:sp>
        <p:nvSpPr>
          <p:cNvPr id="5" name="Undertitel 4"/>
          <p:cNvSpPr>
            <a:spLocks noGrp="1"/>
          </p:cNvSpPr>
          <p:nvPr>
            <p:ph type="subTitle" idx="1"/>
          </p:nvPr>
        </p:nvSpPr>
        <p:spPr/>
        <p:txBody>
          <a:bodyPr/>
          <a:lstStyle/>
          <a:p>
            <a:endParaRPr lang="da-DK"/>
          </a:p>
        </p:txBody>
      </p:sp>
      <p:sp>
        <p:nvSpPr>
          <p:cNvPr id="2" name="Pladsholder til slidenummer 1"/>
          <p:cNvSpPr>
            <a:spLocks noGrp="1"/>
          </p:cNvSpPr>
          <p:nvPr>
            <p:ph type="sldNum" sz="quarter" idx="12"/>
          </p:nvPr>
        </p:nvSpPr>
        <p:spPr/>
        <p:txBody>
          <a:bodyPr/>
          <a:lstStyle/>
          <a:p>
            <a:fld id="{C1FF6DA9-008F-8B48-92A6-B652298478BF}" type="slidenum">
              <a:rPr lang="en-US" smtClean="0"/>
              <a:t>27</a:t>
            </a:fld>
            <a:endParaRPr lang="en-US"/>
          </a:p>
        </p:txBody>
      </p:sp>
    </p:spTree>
    <p:extLst>
      <p:ext uri="{BB962C8B-B14F-4D97-AF65-F5344CB8AC3E}">
        <p14:creationId xmlns:p14="http://schemas.microsoft.com/office/powerpoint/2010/main" val="11258764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da-DK" dirty="0"/>
              <a:t>Misklassifikation</a:t>
            </a:r>
            <a:endParaRPr dirty="0"/>
          </a:p>
        </p:txBody>
      </p:sp>
      <p:sp>
        <p:nvSpPr>
          <p:cNvPr id="9" name="Content Placeholder 2"/>
          <p:cNvSpPr txBox="1">
            <a:spLocks/>
          </p:cNvSpPr>
          <p:nvPr/>
        </p:nvSpPr>
        <p:spPr>
          <a:xfrm>
            <a:off x="609600" y="1666238"/>
            <a:ext cx="8229600" cy="275812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da-DK" sz="1800" dirty="0"/>
              <a:t>Misklassifikation dækker over forkert klassifikation af eksponering og/eller sygdom</a:t>
            </a:r>
          </a:p>
          <a:p>
            <a:pPr marL="0" indent="0">
              <a:buNone/>
            </a:pPr>
            <a:endParaRPr lang="da-DK" sz="1800" dirty="0"/>
          </a:p>
          <a:p>
            <a:pPr marL="0" indent="0">
              <a:buNone/>
            </a:pPr>
            <a:r>
              <a:rPr lang="da-DK" sz="1800" dirty="0"/>
              <a:t>Der er to mulige fejl i forbindelse med eksponering:</a:t>
            </a:r>
          </a:p>
          <a:p>
            <a:pPr marL="800100" lvl="1" indent="-342900">
              <a:buFont typeface="+mj-lt"/>
              <a:buAutoNum type="arabicPeriod"/>
            </a:pPr>
            <a:r>
              <a:rPr lang="da-DK" sz="1400" dirty="0"/>
              <a:t>En eksponeret person kan ud fra en test blive kategoriseret som ikke-eksponeret (falsk negativ)</a:t>
            </a:r>
          </a:p>
          <a:p>
            <a:pPr marL="800100" lvl="1" indent="-342900">
              <a:buFont typeface="+mj-lt"/>
              <a:buAutoNum type="arabicPeriod"/>
            </a:pPr>
            <a:r>
              <a:rPr lang="da-DK" sz="1400" dirty="0"/>
              <a:t>En ikke-eksponeret person kan ud fra en test blive kategoriseret som eksponeret (falsk positiv)</a:t>
            </a:r>
          </a:p>
          <a:p>
            <a:pPr marL="0" indent="0">
              <a:buNone/>
            </a:pPr>
            <a:endParaRPr lang="da-DK" sz="1800" dirty="0"/>
          </a:p>
          <a:p>
            <a:pPr marL="0" indent="0">
              <a:buNone/>
            </a:pPr>
            <a:r>
              <a:rPr lang="da-DK" sz="1800" dirty="0"/>
              <a:t>Der er to mulige fejl i forbindelse med sygdom:</a:t>
            </a:r>
          </a:p>
          <a:p>
            <a:pPr marL="800100" lvl="1" indent="-342900">
              <a:buFont typeface="+mj-lt"/>
              <a:buAutoNum type="arabicPeriod"/>
            </a:pPr>
            <a:r>
              <a:rPr lang="da-DK" sz="1400" dirty="0"/>
              <a:t>En syg person kan ud fra en test blive kategoriseret som ikke-syg (falsk negativ)</a:t>
            </a:r>
          </a:p>
          <a:p>
            <a:pPr marL="800100" lvl="1" indent="-342900">
              <a:buFont typeface="+mj-lt"/>
              <a:buAutoNum type="arabicPeriod"/>
            </a:pPr>
            <a:r>
              <a:rPr lang="da-DK" sz="1400" dirty="0"/>
              <a:t>En rask person kan ud fra en test blive kategoriseret som syg (falsk positiv)</a:t>
            </a:r>
          </a:p>
          <a:p>
            <a:pPr marL="0" indent="0">
              <a:buNone/>
            </a:pPr>
            <a:endParaRPr lang="da-DK" sz="1400" dirty="0"/>
          </a:p>
          <a:p>
            <a:pPr marL="457200" lvl="1" indent="0">
              <a:buNone/>
            </a:pPr>
            <a:endParaRPr lang="da-DK" sz="1400" dirty="0"/>
          </a:p>
          <a:p>
            <a:pPr marL="457200" lvl="1" indent="0">
              <a:buNone/>
            </a:pPr>
            <a:endParaRPr lang="da-DK" sz="1400" dirty="0"/>
          </a:p>
          <a:p>
            <a:pPr lvl="1"/>
            <a:endParaRPr lang="da-DK" sz="1400" dirty="0"/>
          </a:p>
        </p:txBody>
      </p:sp>
      <p:sp>
        <p:nvSpPr>
          <p:cNvPr id="4" name="Pladsholder til slidenummer 3"/>
          <p:cNvSpPr>
            <a:spLocks noGrp="1"/>
          </p:cNvSpPr>
          <p:nvPr>
            <p:ph type="sldNum" sz="quarter" idx="12"/>
          </p:nvPr>
        </p:nvSpPr>
        <p:spPr/>
        <p:txBody>
          <a:bodyPr/>
          <a:lstStyle/>
          <a:p>
            <a:fld id="{C1FF6DA9-008F-8B48-92A6-B652298478BF}" type="slidenum">
              <a:rPr lang="en-US" smtClean="0"/>
              <a:t>28</a:t>
            </a:fld>
            <a:endParaRPr lang="en-US"/>
          </a:p>
        </p:txBody>
      </p:sp>
    </p:spTree>
    <p:extLst>
      <p:ext uri="{BB962C8B-B14F-4D97-AF65-F5344CB8AC3E}">
        <p14:creationId xmlns:p14="http://schemas.microsoft.com/office/powerpoint/2010/main" val="4035642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2" end="2"/>
                                            </p:txEl>
                                          </p:spTgt>
                                        </p:tgtEl>
                                        <p:attrNameLst>
                                          <p:attrName>style.visibility</p:attrName>
                                        </p:attrNameLst>
                                      </p:cBhvr>
                                      <p:to>
                                        <p:strVal val="visible"/>
                                      </p:to>
                                    </p:set>
                                    <p:animEffect transition="in" filter="fade">
                                      <p:cBhvr>
                                        <p:cTn id="12" dur="500"/>
                                        <p:tgtEl>
                                          <p:spTgt spid="9">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9">
                                            <p:txEl>
                                              <p:pRg st="3" end="3"/>
                                            </p:txEl>
                                          </p:spTgt>
                                        </p:tgtEl>
                                        <p:attrNameLst>
                                          <p:attrName>style.visibility</p:attrName>
                                        </p:attrNameLst>
                                      </p:cBhvr>
                                      <p:to>
                                        <p:strVal val="visible"/>
                                      </p:to>
                                    </p:set>
                                    <p:animEffect transition="in" filter="fade">
                                      <p:cBhvr>
                                        <p:cTn id="15" dur="500"/>
                                        <p:tgtEl>
                                          <p:spTgt spid="9">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9">
                                            <p:txEl>
                                              <p:pRg st="4" end="4"/>
                                            </p:txEl>
                                          </p:spTgt>
                                        </p:tgtEl>
                                        <p:attrNameLst>
                                          <p:attrName>style.visibility</p:attrName>
                                        </p:attrNameLst>
                                      </p:cBhvr>
                                      <p:to>
                                        <p:strVal val="visible"/>
                                      </p:to>
                                    </p:set>
                                    <p:animEffect transition="in" filter="fade">
                                      <p:cBhvr>
                                        <p:cTn id="18" dur="500"/>
                                        <p:tgtEl>
                                          <p:spTgt spid="9">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9">
                                            <p:txEl>
                                              <p:pRg st="6" end="6"/>
                                            </p:txEl>
                                          </p:spTgt>
                                        </p:tgtEl>
                                        <p:attrNameLst>
                                          <p:attrName>style.visibility</p:attrName>
                                        </p:attrNameLst>
                                      </p:cBhvr>
                                      <p:to>
                                        <p:strVal val="visible"/>
                                      </p:to>
                                    </p:set>
                                    <p:animEffect transition="in" filter="fade">
                                      <p:cBhvr>
                                        <p:cTn id="23" dur="500"/>
                                        <p:tgtEl>
                                          <p:spTgt spid="9">
                                            <p:txEl>
                                              <p:pRg st="6" end="6"/>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9">
                                            <p:txEl>
                                              <p:pRg st="7" end="7"/>
                                            </p:txEl>
                                          </p:spTgt>
                                        </p:tgtEl>
                                        <p:attrNameLst>
                                          <p:attrName>style.visibility</p:attrName>
                                        </p:attrNameLst>
                                      </p:cBhvr>
                                      <p:to>
                                        <p:strVal val="visible"/>
                                      </p:to>
                                    </p:set>
                                    <p:animEffect transition="in" filter="fade">
                                      <p:cBhvr>
                                        <p:cTn id="26" dur="500"/>
                                        <p:tgtEl>
                                          <p:spTgt spid="9">
                                            <p:txEl>
                                              <p:pRg st="7" end="7"/>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9">
                                            <p:txEl>
                                              <p:pRg st="8" end="8"/>
                                            </p:txEl>
                                          </p:spTgt>
                                        </p:tgtEl>
                                        <p:attrNameLst>
                                          <p:attrName>style.visibility</p:attrName>
                                        </p:attrNameLst>
                                      </p:cBhvr>
                                      <p:to>
                                        <p:strVal val="visible"/>
                                      </p:to>
                                    </p:set>
                                    <p:animEffect transition="in" filter="fade">
                                      <p:cBhvr>
                                        <p:cTn id="29" dur="500"/>
                                        <p:tgtEl>
                                          <p:spTgt spid="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da-DK" dirty="0"/>
              <a:t>Misklassifikation</a:t>
            </a:r>
            <a:endParaRPr dirty="0"/>
          </a:p>
        </p:txBody>
      </p:sp>
      <p:sp>
        <p:nvSpPr>
          <p:cNvPr id="3" name="Content Placeholder 2"/>
          <p:cNvSpPr>
            <a:spLocks noGrp="1"/>
          </p:cNvSpPr>
          <p:nvPr>
            <p:ph idx="1"/>
          </p:nvPr>
        </p:nvSpPr>
        <p:spPr/>
        <p:txBody>
          <a:bodyPr/>
          <a:lstStyle/>
          <a:p>
            <a:endParaRPr dirty="0"/>
          </a:p>
          <a:p>
            <a:pPr marL="0" indent="0">
              <a:buNone/>
              <a:defRPr sz="1800"/>
            </a:pPr>
            <a:endParaRPr lang="da-DK" dirty="0"/>
          </a:p>
          <a:p>
            <a:pPr marL="0" indent="0">
              <a:buNone/>
              <a:defRPr sz="1800"/>
            </a:pPr>
            <a:endParaRPr lang="da-DK" dirty="0"/>
          </a:p>
          <a:p>
            <a:pPr marL="0" indent="0">
              <a:buNone/>
              <a:defRPr sz="1800"/>
            </a:pPr>
            <a:endParaRPr lang="da-DK" dirty="0"/>
          </a:p>
          <a:p>
            <a:pPr marL="0" indent="0">
              <a:buNone/>
              <a:defRPr sz="1800"/>
            </a:pPr>
            <a:endParaRPr lang="da-DK" dirty="0"/>
          </a:p>
          <a:p>
            <a:pPr marL="0" indent="0">
              <a:buNone/>
              <a:defRPr sz="1800"/>
            </a:pPr>
            <a:endParaRPr lang="da-DK" dirty="0"/>
          </a:p>
          <a:p>
            <a:pPr marL="0" indent="0">
              <a:buNone/>
              <a:defRPr sz="1800"/>
            </a:pPr>
            <a:endParaRPr lang="da-DK" dirty="0"/>
          </a:p>
          <a:p>
            <a:pPr marL="0" indent="0">
              <a:buNone/>
              <a:defRPr sz="1800"/>
            </a:pPr>
            <a:endParaRPr lang="da-DK" dirty="0"/>
          </a:p>
          <a:p>
            <a:pPr marL="0" indent="0">
              <a:buNone/>
              <a:defRPr sz="1800"/>
            </a:pPr>
            <a:endParaRPr lang="da-DK" dirty="0"/>
          </a:p>
          <a:p>
            <a:pPr marL="0" indent="0">
              <a:buNone/>
              <a:defRPr sz="1800"/>
            </a:pPr>
            <a:endParaRPr dirty="0"/>
          </a:p>
        </p:txBody>
      </p:sp>
      <p:graphicFrame>
        <p:nvGraphicFramePr>
          <p:cNvPr id="4" name="Tabel 3"/>
          <p:cNvGraphicFramePr>
            <a:graphicFrameLocks noGrp="1"/>
          </p:cNvGraphicFramePr>
          <p:nvPr>
            <p:extLst>
              <p:ext uri="{D42A27DB-BD31-4B8C-83A1-F6EECF244321}">
                <p14:modId xmlns:p14="http://schemas.microsoft.com/office/powerpoint/2010/main" val="1012330453"/>
              </p:ext>
            </p:extLst>
          </p:nvPr>
        </p:nvGraphicFramePr>
        <p:xfrm>
          <a:off x="685800" y="2185042"/>
          <a:ext cx="8077200" cy="1854200"/>
        </p:xfrm>
        <a:graphic>
          <a:graphicData uri="http://schemas.openxmlformats.org/drawingml/2006/table">
            <a:tbl>
              <a:tblPr firstRow="1" bandRow="1">
                <a:tableStyleId>{5940675A-B579-460E-94D1-54222C63F5DA}</a:tableStyleId>
              </a:tblPr>
              <a:tblGrid>
                <a:gridCol w="595162">
                  <a:extLst>
                    <a:ext uri="{9D8B030D-6E8A-4147-A177-3AD203B41FA5}">
                      <a16:colId xmlns:a16="http://schemas.microsoft.com/office/drawing/2014/main" val="2814819751"/>
                    </a:ext>
                  </a:extLst>
                </a:gridCol>
                <a:gridCol w="1313607">
                  <a:extLst>
                    <a:ext uri="{9D8B030D-6E8A-4147-A177-3AD203B41FA5}">
                      <a16:colId xmlns:a16="http://schemas.microsoft.com/office/drawing/2014/main" val="1404300600"/>
                    </a:ext>
                  </a:extLst>
                </a:gridCol>
                <a:gridCol w="1986254">
                  <a:extLst>
                    <a:ext uri="{9D8B030D-6E8A-4147-A177-3AD203B41FA5}">
                      <a16:colId xmlns:a16="http://schemas.microsoft.com/office/drawing/2014/main" val="2262213251"/>
                    </a:ext>
                  </a:extLst>
                </a:gridCol>
                <a:gridCol w="2107933">
                  <a:extLst>
                    <a:ext uri="{9D8B030D-6E8A-4147-A177-3AD203B41FA5}">
                      <a16:colId xmlns:a16="http://schemas.microsoft.com/office/drawing/2014/main" val="594636143"/>
                    </a:ext>
                  </a:extLst>
                </a:gridCol>
                <a:gridCol w="2074244">
                  <a:extLst>
                    <a:ext uri="{9D8B030D-6E8A-4147-A177-3AD203B41FA5}">
                      <a16:colId xmlns:a16="http://schemas.microsoft.com/office/drawing/2014/main" val="1623399239"/>
                    </a:ext>
                  </a:extLst>
                </a:gridCol>
              </a:tblGrid>
              <a:tr h="370840">
                <a:tc rowSpan="2" gridSpan="2">
                  <a:txBody>
                    <a:bodyPr/>
                    <a:lstStyle/>
                    <a:p>
                      <a:endParaRPr lang="da-DK" dirty="0"/>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2" hMerge="1">
                  <a:txBody>
                    <a:bodyPr/>
                    <a:lstStyle/>
                    <a:p>
                      <a:endParaRPr lang="da-DK"/>
                    </a:p>
                  </a:txBody>
                  <a:tcPr/>
                </a:tc>
                <a:tc gridSpan="2">
                  <a:txBody>
                    <a:bodyPr/>
                    <a:lstStyle/>
                    <a:p>
                      <a:pPr algn="ctr"/>
                      <a:r>
                        <a:rPr lang="da-DK" b="1" dirty="0"/>
                        <a:t>Sandheden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6CDED1"/>
                    </a:solidFill>
                  </a:tcPr>
                </a:tc>
                <a:tc hMerge="1">
                  <a:txBody>
                    <a:bodyPr/>
                    <a:lstStyle/>
                    <a:p>
                      <a:endParaRPr lang="da-DK" dirty="0"/>
                    </a:p>
                  </a:txBody>
                  <a:tcPr/>
                </a:tc>
                <a:tc rowSpan="2">
                  <a:txBody>
                    <a:bodyPr/>
                    <a:lstStyle/>
                    <a:p>
                      <a:endParaRPr lang="da-DK" dirty="0"/>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71603173"/>
                  </a:ext>
                </a:extLst>
              </a:tr>
              <a:tr h="370840">
                <a:tc gridSpan="2" vMerge="1">
                  <a:txBody>
                    <a:bodyPr/>
                    <a:lstStyle/>
                    <a:p>
                      <a:endParaRPr lang="da-DK" dirty="0"/>
                    </a:p>
                  </a:txBody>
                  <a:tcPr/>
                </a:tc>
                <a:tc hMerge="1" vMerge="1">
                  <a:txBody>
                    <a:bodyPr/>
                    <a:lstStyle/>
                    <a:p>
                      <a:endParaRPr lang="da-DK" dirty="0"/>
                    </a:p>
                  </a:txBody>
                  <a:tcPr/>
                </a:tc>
                <a:tc>
                  <a:txBody>
                    <a:bodyPr/>
                    <a:lstStyle/>
                    <a:p>
                      <a:r>
                        <a:rPr lang="da-DK" dirty="0"/>
                        <a:t>Syg</a:t>
                      </a:r>
                    </a:p>
                  </a:txBody>
                  <a:tcPr>
                    <a:lnL w="12700" cap="flat" cmpd="sng" algn="ctr">
                      <a:solidFill>
                        <a:schemeClr val="tx1"/>
                      </a:solidFill>
                      <a:prstDash val="solid"/>
                      <a:round/>
                      <a:headEnd type="none" w="med" len="med"/>
                      <a:tailEnd type="none" w="med" len="med"/>
                    </a:lnL>
                    <a:solidFill>
                      <a:srgbClr val="6CDED1"/>
                    </a:solidFill>
                  </a:tcPr>
                </a:tc>
                <a:tc>
                  <a:txBody>
                    <a:bodyPr/>
                    <a:lstStyle/>
                    <a:p>
                      <a:r>
                        <a:rPr lang="da-DK" dirty="0"/>
                        <a:t>Ikke-syg</a:t>
                      </a:r>
                    </a:p>
                  </a:txBody>
                  <a:tcPr>
                    <a:lnR w="12700" cap="flat" cmpd="sng" algn="ctr">
                      <a:solidFill>
                        <a:schemeClr val="tx1"/>
                      </a:solidFill>
                      <a:prstDash val="solid"/>
                      <a:round/>
                      <a:headEnd type="none" w="med" len="med"/>
                      <a:tailEnd type="none" w="med" len="med"/>
                    </a:lnR>
                    <a:solidFill>
                      <a:srgbClr val="6CDED1"/>
                    </a:solidFill>
                  </a:tcPr>
                </a:tc>
                <a:tc vMerge="1">
                  <a:txBody>
                    <a:bodyPr/>
                    <a:lstStyle/>
                    <a:p>
                      <a:endParaRPr lang="da-DK" dirty="0"/>
                    </a:p>
                  </a:txBody>
                  <a:tcPr/>
                </a:tc>
                <a:extLst>
                  <a:ext uri="{0D108BD9-81ED-4DB2-BD59-A6C34878D82A}">
                    <a16:rowId xmlns:a16="http://schemas.microsoft.com/office/drawing/2014/main" val="1946744012"/>
                  </a:ext>
                </a:extLst>
              </a:tr>
              <a:tr h="370840">
                <a:tc rowSpan="2">
                  <a:txBody>
                    <a:bodyPr/>
                    <a:lstStyle/>
                    <a:p>
                      <a:pPr algn="ctr"/>
                      <a:r>
                        <a:rPr lang="da-DK" b="1" dirty="0"/>
                        <a:t>TEST</a:t>
                      </a:r>
                    </a:p>
                  </a:txBody>
                  <a:tcPr vert="vert27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B49BA"/>
                    </a:solidFill>
                  </a:tcPr>
                </a:tc>
                <a:tc>
                  <a:txBody>
                    <a:bodyPr/>
                    <a:lstStyle/>
                    <a:p>
                      <a:r>
                        <a:rPr lang="da-DK" dirty="0"/>
                        <a:t>Syg</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AB49BA"/>
                    </a:solidFill>
                  </a:tcPr>
                </a:tc>
                <a:tc>
                  <a:txBody>
                    <a:bodyPr/>
                    <a:lstStyle/>
                    <a:p>
                      <a:r>
                        <a:rPr lang="da-DK" dirty="0"/>
                        <a:t>Sand positiv (SP)</a:t>
                      </a:r>
                    </a:p>
                  </a:txBody>
                  <a:tcPr>
                    <a:lnL w="12700" cap="flat" cmpd="sng" algn="ctr">
                      <a:solidFill>
                        <a:schemeClr val="tx1"/>
                      </a:solidFill>
                      <a:prstDash val="solid"/>
                      <a:round/>
                      <a:headEnd type="none" w="med" len="med"/>
                      <a:tailEnd type="none" w="med" len="med"/>
                    </a:lnL>
                  </a:tcPr>
                </a:tc>
                <a:tc>
                  <a:txBody>
                    <a:bodyPr/>
                    <a:lstStyle/>
                    <a:p>
                      <a:r>
                        <a:rPr lang="da-DK" dirty="0"/>
                        <a:t>Falsk positiv (FP)</a:t>
                      </a:r>
                    </a:p>
                  </a:txBody>
                  <a:tcPr>
                    <a:lnR w="12700" cap="flat" cmpd="sng" algn="ctr">
                      <a:solidFill>
                        <a:schemeClr val="tx1"/>
                      </a:solidFill>
                      <a:prstDash val="solid"/>
                      <a:round/>
                      <a:headEnd type="none" w="med" len="med"/>
                      <a:tailEnd type="none" w="med" len="med"/>
                    </a:lnR>
                  </a:tcPr>
                </a:tc>
                <a:tc>
                  <a:txBody>
                    <a:bodyPr/>
                    <a:lstStyle/>
                    <a:p>
                      <a:r>
                        <a:rPr lang="da-DK" dirty="0"/>
                        <a:t>Alle testet syge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880634497"/>
                  </a:ext>
                </a:extLst>
              </a:tr>
              <a:tr h="370840">
                <a:tc vMerge="1">
                  <a:txBody>
                    <a:bodyPr/>
                    <a:lstStyle/>
                    <a:p>
                      <a:endParaRPr lang="da-DK" dirty="0"/>
                    </a:p>
                  </a:txBody>
                  <a:tcPr/>
                </a:tc>
                <a:tc>
                  <a:txBody>
                    <a:bodyPr/>
                    <a:lstStyle/>
                    <a:p>
                      <a:r>
                        <a:rPr lang="da-DK" dirty="0"/>
                        <a:t>Ikke-syg</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AB49BA"/>
                    </a:solidFill>
                  </a:tcPr>
                </a:tc>
                <a:tc>
                  <a:txBody>
                    <a:bodyPr/>
                    <a:lstStyle/>
                    <a:p>
                      <a:r>
                        <a:rPr lang="da-DK" dirty="0"/>
                        <a:t>Falsk</a:t>
                      </a:r>
                      <a:r>
                        <a:rPr lang="da-DK" baseline="0" dirty="0"/>
                        <a:t> negativ (FN)</a:t>
                      </a:r>
                      <a:endParaRPr lang="da-DK" dirty="0"/>
                    </a:p>
                  </a:txBody>
                  <a:tcPr>
                    <a:lnL w="12700" cap="flat" cmpd="sng" algn="ctr">
                      <a:solidFill>
                        <a:schemeClr val="tx1"/>
                      </a:solidFill>
                      <a:prstDash val="solid"/>
                      <a:round/>
                      <a:headEnd type="none" w="med" len="med"/>
                      <a:tailEnd type="none" w="med" len="med"/>
                    </a:lnL>
                  </a:tcPr>
                </a:tc>
                <a:tc>
                  <a:txBody>
                    <a:bodyPr/>
                    <a:lstStyle/>
                    <a:p>
                      <a:r>
                        <a:rPr lang="da-DK" dirty="0"/>
                        <a:t>Sand negativ (SN)</a:t>
                      </a:r>
                    </a:p>
                  </a:txBody>
                  <a:tcPr>
                    <a:lnR w="12700" cap="flat" cmpd="sng" algn="ctr">
                      <a:solidFill>
                        <a:schemeClr val="tx1"/>
                      </a:solidFill>
                      <a:prstDash val="solid"/>
                      <a:round/>
                      <a:headEnd type="none" w="med" len="med"/>
                      <a:tailEnd type="none" w="med" len="med"/>
                    </a:lnR>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da-DK" dirty="0"/>
                        <a:t>Alle testet ikke-syge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30289120"/>
                  </a:ext>
                </a:extLst>
              </a:tr>
              <a:tr h="370840">
                <a:tc gridSpan="2">
                  <a:txBody>
                    <a:bodyPr/>
                    <a:lstStyle/>
                    <a:p>
                      <a:endParaRPr lang="da-DK" dirty="0"/>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hMerge="1">
                  <a:txBody>
                    <a:bodyPr/>
                    <a:lstStyle/>
                    <a:p>
                      <a:endParaRPr lang="da-DK" dirty="0"/>
                    </a:p>
                  </a:txBody>
                  <a:tcPr/>
                </a:tc>
                <a:tc>
                  <a:txBody>
                    <a:bodyPr/>
                    <a:lstStyle/>
                    <a:p>
                      <a:r>
                        <a:rPr lang="da-DK" dirty="0"/>
                        <a:t>Alle sande syge</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r>
                        <a:rPr lang="da-DK" dirty="0"/>
                        <a:t>Alle sande ikke-syge</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endParaRPr lang="da-DK" dirty="0"/>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04136754"/>
                  </a:ext>
                </a:extLst>
              </a:tr>
            </a:tbl>
          </a:graphicData>
        </a:graphic>
      </p:graphicFrame>
      <p:sp>
        <p:nvSpPr>
          <p:cNvPr id="9" name="Content Placeholder 2"/>
          <p:cNvSpPr txBox="1">
            <a:spLocks/>
          </p:cNvSpPr>
          <p:nvPr/>
        </p:nvSpPr>
        <p:spPr>
          <a:xfrm>
            <a:off x="609600" y="1666238"/>
            <a:ext cx="8229600" cy="275812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457200" lvl="1" indent="0">
              <a:buNone/>
            </a:pPr>
            <a:endParaRPr lang="da-DK" sz="1400" dirty="0"/>
          </a:p>
          <a:p>
            <a:pPr marL="457200" lvl="1" indent="0">
              <a:buNone/>
            </a:pPr>
            <a:endParaRPr lang="da-DK" sz="1400" dirty="0"/>
          </a:p>
          <a:p>
            <a:pPr lvl="1"/>
            <a:endParaRPr lang="da-DK" sz="1400" dirty="0"/>
          </a:p>
        </p:txBody>
      </p:sp>
      <p:sp>
        <p:nvSpPr>
          <p:cNvPr id="5" name="Pladsholder til slidenummer 4"/>
          <p:cNvSpPr>
            <a:spLocks noGrp="1"/>
          </p:cNvSpPr>
          <p:nvPr>
            <p:ph type="sldNum" sz="quarter" idx="12"/>
          </p:nvPr>
        </p:nvSpPr>
        <p:spPr/>
        <p:txBody>
          <a:bodyPr/>
          <a:lstStyle/>
          <a:p>
            <a:fld id="{C1FF6DA9-008F-8B48-92A6-B652298478BF}" type="slidenum">
              <a:rPr lang="en-US" smtClean="0"/>
              <a:t>29</a:t>
            </a:fld>
            <a:endParaRPr lang="en-US"/>
          </a:p>
        </p:txBody>
      </p:sp>
    </p:spTree>
    <p:extLst>
      <p:ext uri="{BB962C8B-B14F-4D97-AF65-F5344CB8AC3E}">
        <p14:creationId xmlns:p14="http://schemas.microsoft.com/office/powerpoint/2010/main" val="28810056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da-DK" dirty="0"/>
              <a:t>Sensitivitet og specificitet</a:t>
            </a:r>
            <a:endParaRPr dirty="0"/>
          </a:p>
        </p:txBody>
      </p:sp>
      <p:sp>
        <p:nvSpPr>
          <p:cNvPr id="3" name="Content Placeholder 2"/>
          <p:cNvSpPr>
            <a:spLocks noGrp="1"/>
          </p:cNvSpPr>
          <p:nvPr>
            <p:ph idx="1"/>
          </p:nvPr>
        </p:nvSpPr>
        <p:spPr/>
        <p:txBody>
          <a:bodyPr/>
          <a:lstStyle/>
          <a:p>
            <a:endParaRPr dirty="0"/>
          </a:p>
          <a:p>
            <a:pPr marL="0" indent="0">
              <a:buNone/>
              <a:defRPr sz="1800"/>
            </a:pPr>
            <a:endParaRPr lang="da-DK" dirty="0"/>
          </a:p>
          <a:p>
            <a:pPr marL="0" indent="0">
              <a:buNone/>
              <a:defRPr sz="1800"/>
            </a:pPr>
            <a:endParaRPr lang="da-DK" dirty="0"/>
          </a:p>
          <a:p>
            <a:pPr marL="0" indent="0">
              <a:buNone/>
              <a:defRPr sz="1800"/>
            </a:pPr>
            <a:endParaRPr lang="da-DK" dirty="0"/>
          </a:p>
          <a:p>
            <a:pPr marL="0" indent="0">
              <a:buNone/>
              <a:defRPr sz="1800"/>
            </a:pPr>
            <a:endParaRPr lang="da-DK" dirty="0"/>
          </a:p>
          <a:p>
            <a:pPr marL="0" indent="0">
              <a:buNone/>
              <a:defRPr sz="1800"/>
            </a:pPr>
            <a:endParaRPr lang="da-DK" dirty="0"/>
          </a:p>
          <a:p>
            <a:pPr marL="0" indent="0">
              <a:buNone/>
              <a:defRPr sz="1800"/>
            </a:pPr>
            <a:endParaRPr lang="da-DK" dirty="0"/>
          </a:p>
          <a:p>
            <a:pPr marL="0" indent="0">
              <a:buNone/>
              <a:defRPr sz="1800"/>
            </a:pPr>
            <a:endParaRPr lang="da-DK" dirty="0"/>
          </a:p>
          <a:p>
            <a:pPr marL="0" indent="0">
              <a:buNone/>
              <a:defRPr sz="1800"/>
            </a:pPr>
            <a:endParaRPr lang="da-DK" dirty="0"/>
          </a:p>
          <a:p>
            <a:pPr marL="0" indent="0">
              <a:buNone/>
              <a:defRPr sz="1800"/>
            </a:pPr>
            <a:endParaRPr dirty="0"/>
          </a:p>
        </p:txBody>
      </p:sp>
      <p:sp>
        <p:nvSpPr>
          <p:cNvPr id="9" name="Content Placeholder 2"/>
          <p:cNvSpPr txBox="1">
            <a:spLocks/>
          </p:cNvSpPr>
          <p:nvPr/>
        </p:nvSpPr>
        <p:spPr>
          <a:xfrm>
            <a:off x="609600" y="1743075"/>
            <a:ext cx="8229600" cy="4535487"/>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da-DK" sz="1800" b="1" dirty="0"/>
              <a:t>Sensitivitet</a:t>
            </a:r>
            <a:r>
              <a:rPr lang="da-DK" sz="1800" dirty="0"/>
              <a:t> måles som SP / (SP + FN). Angiver hvor god testen er til at identificere de ægte syge. </a:t>
            </a:r>
          </a:p>
          <a:p>
            <a:endParaRPr lang="da-DK" sz="1800" dirty="0"/>
          </a:p>
          <a:p>
            <a:r>
              <a:rPr lang="da-DK" sz="1800" b="1" dirty="0"/>
              <a:t>Specificitet</a:t>
            </a:r>
            <a:r>
              <a:rPr lang="da-DK" sz="1800" dirty="0"/>
              <a:t> måles som SN / (SN + FP). Angiver hvor god testen er til at identificere de ægte ikke-syge. </a:t>
            </a:r>
          </a:p>
          <a:p>
            <a:endParaRPr lang="da-DK" sz="1800" dirty="0"/>
          </a:p>
        </p:txBody>
      </p:sp>
      <p:sp>
        <p:nvSpPr>
          <p:cNvPr id="4" name="Pladsholder til slidenummer 3"/>
          <p:cNvSpPr>
            <a:spLocks noGrp="1"/>
          </p:cNvSpPr>
          <p:nvPr>
            <p:ph type="sldNum" sz="quarter" idx="12"/>
          </p:nvPr>
        </p:nvSpPr>
        <p:spPr/>
        <p:txBody>
          <a:bodyPr/>
          <a:lstStyle/>
          <a:p>
            <a:fld id="{C1FF6DA9-008F-8B48-92A6-B652298478BF}" type="slidenum">
              <a:rPr lang="en-US" smtClean="0"/>
              <a:t>30</a:t>
            </a:fld>
            <a:endParaRPr lang="en-US"/>
          </a:p>
        </p:txBody>
      </p:sp>
      <p:graphicFrame>
        <p:nvGraphicFramePr>
          <p:cNvPr id="6" name="Tabel 5"/>
          <p:cNvGraphicFramePr>
            <a:graphicFrameLocks noGrp="1"/>
          </p:cNvGraphicFramePr>
          <p:nvPr>
            <p:extLst>
              <p:ext uri="{D42A27DB-BD31-4B8C-83A1-F6EECF244321}">
                <p14:modId xmlns:p14="http://schemas.microsoft.com/office/powerpoint/2010/main" val="1551212789"/>
              </p:ext>
            </p:extLst>
          </p:nvPr>
        </p:nvGraphicFramePr>
        <p:xfrm>
          <a:off x="685800" y="3752585"/>
          <a:ext cx="8077200" cy="1854200"/>
        </p:xfrm>
        <a:graphic>
          <a:graphicData uri="http://schemas.openxmlformats.org/drawingml/2006/table">
            <a:tbl>
              <a:tblPr firstRow="1" bandRow="1">
                <a:tableStyleId>{5940675A-B579-460E-94D1-54222C63F5DA}</a:tableStyleId>
              </a:tblPr>
              <a:tblGrid>
                <a:gridCol w="595162">
                  <a:extLst>
                    <a:ext uri="{9D8B030D-6E8A-4147-A177-3AD203B41FA5}">
                      <a16:colId xmlns:a16="http://schemas.microsoft.com/office/drawing/2014/main" val="2814819751"/>
                    </a:ext>
                  </a:extLst>
                </a:gridCol>
                <a:gridCol w="1313607">
                  <a:extLst>
                    <a:ext uri="{9D8B030D-6E8A-4147-A177-3AD203B41FA5}">
                      <a16:colId xmlns:a16="http://schemas.microsoft.com/office/drawing/2014/main" val="1404300600"/>
                    </a:ext>
                  </a:extLst>
                </a:gridCol>
                <a:gridCol w="1986254">
                  <a:extLst>
                    <a:ext uri="{9D8B030D-6E8A-4147-A177-3AD203B41FA5}">
                      <a16:colId xmlns:a16="http://schemas.microsoft.com/office/drawing/2014/main" val="2262213251"/>
                    </a:ext>
                  </a:extLst>
                </a:gridCol>
                <a:gridCol w="2107933">
                  <a:extLst>
                    <a:ext uri="{9D8B030D-6E8A-4147-A177-3AD203B41FA5}">
                      <a16:colId xmlns:a16="http://schemas.microsoft.com/office/drawing/2014/main" val="594636143"/>
                    </a:ext>
                  </a:extLst>
                </a:gridCol>
                <a:gridCol w="2074244">
                  <a:extLst>
                    <a:ext uri="{9D8B030D-6E8A-4147-A177-3AD203B41FA5}">
                      <a16:colId xmlns:a16="http://schemas.microsoft.com/office/drawing/2014/main" val="1623399239"/>
                    </a:ext>
                  </a:extLst>
                </a:gridCol>
              </a:tblGrid>
              <a:tr h="370840">
                <a:tc rowSpan="2" gridSpan="2">
                  <a:txBody>
                    <a:bodyPr/>
                    <a:lstStyle/>
                    <a:p>
                      <a:endParaRPr lang="da-DK" dirty="0"/>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2" hMerge="1">
                  <a:txBody>
                    <a:bodyPr/>
                    <a:lstStyle/>
                    <a:p>
                      <a:endParaRPr lang="da-DK"/>
                    </a:p>
                  </a:txBody>
                  <a:tcPr/>
                </a:tc>
                <a:tc gridSpan="2">
                  <a:txBody>
                    <a:bodyPr/>
                    <a:lstStyle/>
                    <a:p>
                      <a:pPr algn="ctr"/>
                      <a:r>
                        <a:rPr lang="da-DK" b="1" dirty="0"/>
                        <a:t>Sandheden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6CDED1"/>
                    </a:solidFill>
                  </a:tcPr>
                </a:tc>
                <a:tc hMerge="1">
                  <a:txBody>
                    <a:bodyPr/>
                    <a:lstStyle/>
                    <a:p>
                      <a:endParaRPr lang="da-DK" dirty="0"/>
                    </a:p>
                  </a:txBody>
                  <a:tcPr/>
                </a:tc>
                <a:tc rowSpan="2">
                  <a:txBody>
                    <a:bodyPr/>
                    <a:lstStyle/>
                    <a:p>
                      <a:endParaRPr lang="da-DK" dirty="0"/>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71603173"/>
                  </a:ext>
                </a:extLst>
              </a:tr>
              <a:tr h="370840">
                <a:tc gridSpan="2" vMerge="1">
                  <a:txBody>
                    <a:bodyPr/>
                    <a:lstStyle/>
                    <a:p>
                      <a:endParaRPr lang="da-DK" dirty="0"/>
                    </a:p>
                  </a:txBody>
                  <a:tcPr/>
                </a:tc>
                <a:tc hMerge="1" vMerge="1">
                  <a:txBody>
                    <a:bodyPr/>
                    <a:lstStyle/>
                    <a:p>
                      <a:endParaRPr lang="da-DK" dirty="0"/>
                    </a:p>
                  </a:txBody>
                  <a:tcPr/>
                </a:tc>
                <a:tc>
                  <a:txBody>
                    <a:bodyPr/>
                    <a:lstStyle/>
                    <a:p>
                      <a:r>
                        <a:rPr lang="da-DK" dirty="0"/>
                        <a:t>Syg</a:t>
                      </a:r>
                    </a:p>
                  </a:txBody>
                  <a:tcPr>
                    <a:lnL w="12700" cap="flat" cmpd="sng" algn="ctr">
                      <a:solidFill>
                        <a:schemeClr val="tx1"/>
                      </a:solidFill>
                      <a:prstDash val="solid"/>
                      <a:round/>
                      <a:headEnd type="none" w="med" len="med"/>
                      <a:tailEnd type="none" w="med" len="med"/>
                    </a:lnL>
                    <a:solidFill>
                      <a:srgbClr val="6CDED1"/>
                    </a:solidFill>
                  </a:tcPr>
                </a:tc>
                <a:tc>
                  <a:txBody>
                    <a:bodyPr/>
                    <a:lstStyle/>
                    <a:p>
                      <a:r>
                        <a:rPr lang="da-DK" dirty="0"/>
                        <a:t>Ikke-syg</a:t>
                      </a:r>
                    </a:p>
                  </a:txBody>
                  <a:tcPr>
                    <a:lnR w="12700" cap="flat" cmpd="sng" algn="ctr">
                      <a:solidFill>
                        <a:schemeClr val="tx1"/>
                      </a:solidFill>
                      <a:prstDash val="solid"/>
                      <a:round/>
                      <a:headEnd type="none" w="med" len="med"/>
                      <a:tailEnd type="none" w="med" len="med"/>
                    </a:lnR>
                    <a:solidFill>
                      <a:srgbClr val="6CDED1"/>
                    </a:solidFill>
                  </a:tcPr>
                </a:tc>
                <a:tc vMerge="1">
                  <a:txBody>
                    <a:bodyPr/>
                    <a:lstStyle/>
                    <a:p>
                      <a:endParaRPr lang="da-DK" dirty="0"/>
                    </a:p>
                  </a:txBody>
                  <a:tcPr/>
                </a:tc>
                <a:extLst>
                  <a:ext uri="{0D108BD9-81ED-4DB2-BD59-A6C34878D82A}">
                    <a16:rowId xmlns:a16="http://schemas.microsoft.com/office/drawing/2014/main" val="1946744012"/>
                  </a:ext>
                </a:extLst>
              </a:tr>
              <a:tr h="370840">
                <a:tc rowSpan="2">
                  <a:txBody>
                    <a:bodyPr/>
                    <a:lstStyle/>
                    <a:p>
                      <a:pPr algn="ctr"/>
                      <a:r>
                        <a:rPr lang="da-DK" b="1" dirty="0"/>
                        <a:t>TEST</a:t>
                      </a:r>
                    </a:p>
                  </a:txBody>
                  <a:tcPr vert="vert27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B49BA"/>
                    </a:solidFill>
                  </a:tcPr>
                </a:tc>
                <a:tc>
                  <a:txBody>
                    <a:bodyPr/>
                    <a:lstStyle/>
                    <a:p>
                      <a:r>
                        <a:rPr lang="da-DK" dirty="0"/>
                        <a:t>Syg</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AB49BA"/>
                    </a:solidFill>
                  </a:tcPr>
                </a:tc>
                <a:tc>
                  <a:txBody>
                    <a:bodyPr/>
                    <a:lstStyle/>
                    <a:p>
                      <a:r>
                        <a:rPr lang="da-DK" dirty="0"/>
                        <a:t>Sand positiv (SP)</a:t>
                      </a:r>
                    </a:p>
                  </a:txBody>
                  <a:tcPr>
                    <a:lnL w="12700" cap="flat" cmpd="sng" algn="ctr">
                      <a:solidFill>
                        <a:schemeClr val="tx1"/>
                      </a:solidFill>
                      <a:prstDash val="solid"/>
                      <a:round/>
                      <a:headEnd type="none" w="med" len="med"/>
                      <a:tailEnd type="none" w="med" len="med"/>
                    </a:lnL>
                  </a:tcPr>
                </a:tc>
                <a:tc>
                  <a:txBody>
                    <a:bodyPr/>
                    <a:lstStyle/>
                    <a:p>
                      <a:r>
                        <a:rPr lang="da-DK" dirty="0"/>
                        <a:t>Falsk positiv (FP)</a:t>
                      </a:r>
                    </a:p>
                  </a:txBody>
                  <a:tcPr>
                    <a:lnR w="12700" cap="flat" cmpd="sng" algn="ctr">
                      <a:solidFill>
                        <a:schemeClr val="tx1"/>
                      </a:solidFill>
                      <a:prstDash val="solid"/>
                      <a:round/>
                      <a:headEnd type="none" w="med" len="med"/>
                      <a:tailEnd type="none" w="med" len="med"/>
                    </a:lnR>
                  </a:tcPr>
                </a:tc>
                <a:tc>
                  <a:txBody>
                    <a:bodyPr/>
                    <a:lstStyle/>
                    <a:p>
                      <a:r>
                        <a:rPr lang="da-DK" dirty="0"/>
                        <a:t>Alle testet syge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880634497"/>
                  </a:ext>
                </a:extLst>
              </a:tr>
              <a:tr h="370840">
                <a:tc vMerge="1">
                  <a:txBody>
                    <a:bodyPr/>
                    <a:lstStyle/>
                    <a:p>
                      <a:endParaRPr lang="da-DK" dirty="0"/>
                    </a:p>
                  </a:txBody>
                  <a:tcPr/>
                </a:tc>
                <a:tc>
                  <a:txBody>
                    <a:bodyPr/>
                    <a:lstStyle/>
                    <a:p>
                      <a:r>
                        <a:rPr lang="da-DK" dirty="0"/>
                        <a:t>Ikke-syg</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AB49BA"/>
                    </a:solidFill>
                  </a:tcPr>
                </a:tc>
                <a:tc>
                  <a:txBody>
                    <a:bodyPr/>
                    <a:lstStyle/>
                    <a:p>
                      <a:r>
                        <a:rPr lang="da-DK" dirty="0"/>
                        <a:t>Falsk</a:t>
                      </a:r>
                      <a:r>
                        <a:rPr lang="da-DK" baseline="0" dirty="0"/>
                        <a:t> negativ (FN)</a:t>
                      </a:r>
                      <a:endParaRPr lang="da-DK" dirty="0"/>
                    </a:p>
                  </a:txBody>
                  <a:tcPr>
                    <a:lnL w="12700" cap="flat" cmpd="sng" algn="ctr">
                      <a:solidFill>
                        <a:schemeClr val="tx1"/>
                      </a:solidFill>
                      <a:prstDash val="solid"/>
                      <a:round/>
                      <a:headEnd type="none" w="med" len="med"/>
                      <a:tailEnd type="none" w="med" len="med"/>
                    </a:lnL>
                  </a:tcPr>
                </a:tc>
                <a:tc>
                  <a:txBody>
                    <a:bodyPr/>
                    <a:lstStyle/>
                    <a:p>
                      <a:r>
                        <a:rPr lang="da-DK" dirty="0"/>
                        <a:t>Sand negativ (SN)</a:t>
                      </a:r>
                    </a:p>
                  </a:txBody>
                  <a:tcPr>
                    <a:lnR w="12700" cap="flat" cmpd="sng" algn="ctr">
                      <a:solidFill>
                        <a:schemeClr val="tx1"/>
                      </a:solidFill>
                      <a:prstDash val="solid"/>
                      <a:round/>
                      <a:headEnd type="none" w="med" len="med"/>
                      <a:tailEnd type="none" w="med" len="med"/>
                    </a:lnR>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da-DK" dirty="0"/>
                        <a:t>Alle testet ikke-syge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30289120"/>
                  </a:ext>
                </a:extLst>
              </a:tr>
              <a:tr h="370840">
                <a:tc gridSpan="2">
                  <a:txBody>
                    <a:bodyPr/>
                    <a:lstStyle/>
                    <a:p>
                      <a:endParaRPr lang="da-DK" dirty="0"/>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hMerge="1">
                  <a:txBody>
                    <a:bodyPr/>
                    <a:lstStyle/>
                    <a:p>
                      <a:endParaRPr lang="da-DK" dirty="0"/>
                    </a:p>
                  </a:txBody>
                  <a:tcPr/>
                </a:tc>
                <a:tc>
                  <a:txBody>
                    <a:bodyPr/>
                    <a:lstStyle/>
                    <a:p>
                      <a:r>
                        <a:rPr lang="da-DK" dirty="0"/>
                        <a:t>Alle sande syge</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r>
                        <a:rPr lang="da-DK" dirty="0"/>
                        <a:t>Alle sande ikke-syge</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endParaRPr lang="da-DK" dirty="0"/>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04136754"/>
                  </a:ext>
                </a:extLst>
              </a:tr>
            </a:tbl>
          </a:graphicData>
        </a:graphic>
      </p:graphicFrame>
      <p:sp>
        <p:nvSpPr>
          <p:cNvPr id="5" name="Rektangel 4"/>
          <p:cNvSpPr/>
          <p:nvPr/>
        </p:nvSpPr>
        <p:spPr>
          <a:xfrm>
            <a:off x="2586446" y="4101737"/>
            <a:ext cx="1976845" cy="1505048"/>
          </a:xfrm>
          <a:prstGeom prst="rect">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a-DK"/>
          </a:p>
        </p:txBody>
      </p:sp>
      <p:sp>
        <p:nvSpPr>
          <p:cNvPr id="8" name="Rektangel 7"/>
          <p:cNvSpPr/>
          <p:nvPr/>
        </p:nvSpPr>
        <p:spPr>
          <a:xfrm>
            <a:off x="4585068" y="4102090"/>
            <a:ext cx="2111823" cy="1505048"/>
          </a:xfrm>
          <a:prstGeom prst="rect">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a-DK"/>
          </a:p>
        </p:txBody>
      </p:sp>
    </p:spTree>
    <p:extLst>
      <p:ext uri="{BB962C8B-B14F-4D97-AF65-F5344CB8AC3E}">
        <p14:creationId xmlns:p14="http://schemas.microsoft.com/office/powerpoint/2010/main" val="1861720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par>
                                <p:cTn id="8" presetID="10" presetClass="entr" presetSubtype="0" fill="hold" grpId="0" nodeType="withEffect">
                                  <p:stCondLst>
                                    <p:cond delay="100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animEffect transition="in" filter="fade">
                                      <p:cBhvr>
                                        <p:cTn id="15" dur="500"/>
                                        <p:tgtEl>
                                          <p:spTgt spid="9">
                                            <p:txEl>
                                              <p:pRg st="2" end="2"/>
                                            </p:txEl>
                                          </p:spTgt>
                                        </p:tgtEl>
                                      </p:cBhvr>
                                    </p:animEffect>
                                  </p:childTnLst>
                                </p:cTn>
                              </p:par>
                              <p:par>
                                <p:cTn id="16" presetID="10" presetClass="exit" presetSubtype="0" fill="hold" grpId="1" nodeType="withEffect">
                                  <p:stCondLst>
                                    <p:cond delay="0"/>
                                  </p:stCondLst>
                                  <p:childTnLst>
                                    <p:animEffect transition="out" filter="fade">
                                      <p:cBhvr>
                                        <p:cTn id="17" dur="500"/>
                                        <p:tgtEl>
                                          <p:spTgt spid="5"/>
                                        </p:tgtEl>
                                      </p:cBhvr>
                                    </p:animEffect>
                                    <p:set>
                                      <p:cBhvr>
                                        <p:cTn id="18" dur="1" fill="hold">
                                          <p:stCondLst>
                                            <p:cond delay="499"/>
                                          </p:stCondLst>
                                        </p:cTn>
                                        <p:tgtEl>
                                          <p:spTgt spid="5"/>
                                        </p:tgtEl>
                                        <p:attrNameLst>
                                          <p:attrName>style.visibility</p:attrName>
                                        </p:attrNameLst>
                                      </p:cBhvr>
                                      <p:to>
                                        <p:strVal val="hidden"/>
                                      </p:to>
                                    </p:set>
                                  </p:childTnLst>
                                </p:cTn>
                              </p:par>
                              <p:par>
                                <p:cTn id="19" presetID="10" presetClass="entr" presetSubtype="0" fill="hold" grpId="0" nodeType="withEffect">
                                  <p:stCondLst>
                                    <p:cond delay="100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8"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da-DK" dirty="0"/>
              <a:t>Misklassifikation</a:t>
            </a:r>
            <a:endParaRPr dirty="0"/>
          </a:p>
        </p:txBody>
      </p:sp>
      <p:sp>
        <p:nvSpPr>
          <p:cNvPr id="9" name="Content Placeholder 2"/>
          <p:cNvSpPr txBox="1">
            <a:spLocks/>
          </p:cNvSpPr>
          <p:nvPr/>
        </p:nvSpPr>
        <p:spPr>
          <a:xfrm>
            <a:off x="609600" y="1424856"/>
            <a:ext cx="8229600" cy="275812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da-DK" sz="1800" b="1" dirty="0"/>
              <a:t>Validiteten </a:t>
            </a:r>
            <a:r>
              <a:rPr lang="da-DK" sz="1800" dirty="0"/>
              <a:t>af en test vurderes ud fra sensitivitet og specificitet</a:t>
            </a:r>
          </a:p>
          <a:p>
            <a:pPr marL="0" indent="0">
              <a:buNone/>
            </a:pPr>
            <a:endParaRPr lang="da-DK" sz="1800" dirty="0"/>
          </a:p>
          <a:p>
            <a:pPr marL="0" indent="0">
              <a:buNone/>
            </a:pPr>
            <a:r>
              <a:rPr lang="da-DK" sz="1800" dirty="0"/>
              <a:t>Hvis en test vurderes ud fra en kontinuerlig skala, vil valget af cut-</a:t>
            </a:r>
            <a:r>
              <a:rPr lang="da-DK" sz="1800" dirty="0" err="1"/>
              <a:t>off</a:t>
            </a:r>
            <a:r>
              <a:rPr lang="da-DK" sz="1800" dirty="0"/>
              <a:t> have stor betydning for sensitivitet og specificitet. Normalt ønskes en form for </a:t>
            </a:r>
            <a:r>
              <a:rPr lang="da-DK" sz="1800" dirty="0" err="1"/>
              <a:t>trade-off</a:t>
            </a:r>
            <a:r>
              <a:rPr lang="da-DK" sz="1800" dirty="0"/>
              <a:t> men i nogle tilfælde ønskes højere sensitivitet (f.eks. cancerscreening) eller højere specificitet (f.eks. cancerpakkeforløb).</a:t>
            </a:r>
          </a:p>
          <a:p>
            <a:pPr marL="0" indent="0">
              <a:buNone/>
            </a:pPr>
            <a:r>
              <a:rPr lang="da-DK" sz="1800" dirty="0"/>
              <a:t> </a:t>
            </a:r>
          </a:p>
          <a:p>
            <a:pPr marL="0" indent="0">
              <a:buNone/>
            </a:pPr>
            <a:r>
              <a:rPr lang="da-DK" sz="1800" dirty="0"/>
              <a:t>Eksempel med test langtidsblodsukker diabetes:</a:t>
            </a:r>
          </a:p>
        </p:txBody>
      </p:sp>
      <p:pic>
        <p:nvPicPr>
          <p:cNvPr id="1026" name="Picture 2" descr="Sensitivity and specificity of different HbA1c cut- off value for diagnosing diabetes and prediabetes"/>
          <p:cNvPicPr>
            <a:picLocks noChangeAspect="1" noChangeArrowheads="1"/>
          </p:cNvPicPr>
          <p:nvPr/>
        </p:nvPicPr>
        <p:blipFill rotWithShape="1">
          <a:blip r:embed="rId2">
            <a:extLst>
              <a:ext uri="{28A0092B-C50C-407E-A947-70E740481C1C}">
                <a14:useLocalDpi xmlns:a14="http://schemas.microsoft.com/office/drawing/2010/main" val="0"/>
              </a:ext>
            </a:extLst>
          </a:blip>
          <a:srcRect b="45814"/>
          <a:stretch/>
        </p:blipFill>
        <p:spPr bwMode="auto">
          <a:xfrm>
            <a:off x="723424" y="3874969"/>
            <a:ext cx="2400776" cy="2447423"/>
          </a:xfrm>
          <a:prstGeom prst="rect">
            <a:avLst/>
          </a:prstGeom>
          <a:noFill/>
          <a:extLst>
            <a:ext uri="{909E8E84-426E-40DD-AFC4-6F175D3DCCD1}">
              <a14:hiddenFill xmlns:a14="http://schemas.microsoft.com/office/drawing/2010/main">
                <a:solidFill>
                  <a:srgbClr val="FFFFFF"/>
                </a:solidFill>
              </a14:hiddenFill>
            </a:ext>
          </a:extLst>
        </p:spPr>
      </p:pic>
      <p:sp>
        <p:nvSpPr>
          <p:cNvPr id="3" name="Pladsholder til slidenummer 2"/>
          <p:cNvSpPr>
            <a:spLocks noGrp="1"/>
          </p:cNvSpPr>
          <p:nvPr>
            <p:ph type="sldNum" sz="quarter" idx="12"/>
          </p:nvPr>
        </p:nvSpPr>
        <p:spPr/>
        <p:txBody>
          <a:bodyPr/>
          <a:lstStyle/>
          <a:p>
            <a:fld id="{C1FF6DA9-008F-8B48-92A6-B652298478BF}" type="slidenum">
              <a:rPr lang="en-US" smtClean="0"/>
              <a:t>31</a:t>
            </a:fld>
            <a:endParaRPr lang="en-US"/>
          </a:p>
        </p:txBody>
      </p:sp>
    </p:spTree>
    <p:extLst>
      <p:ext uri="{BB962C8B-B14F-4D97-AF65-F5344CB8AC3E}">
        <p14:creationId xmlns:p14="http://schemas.microsoft.com/office/powerpoint/2010/main" val="985451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2" end="2"/>
                                            </p:txEl>
                                          </p:spTgt>
                                        </p:tgtEl>
                                        <p:attrNameLst>
                                          <p:attrName>style.visibility</p:attrName>
                                        </p:attrNameLst>
                                      </p:cBhvr>
                                      <p:to>
                                        <p:strVal val="visible"/>
                                      </p:to>
                                    </p:set>
                                    <p:animEffect transition="in" filter="fade">
                                      <p:cBhvr>
                                        <p:cTn id="12" dur="500"/>
                                        <p:tgtEl>
                                          <p:spTgt spid="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xEl>
                                              <p:pRg st="4" end="4"/>
                                            </p:txEl>
                                          </p:spTgt>
                                        </p:tgtEl>
                                        <p:attrNameLst>
                                          <p:attrName>style.visibility</p:attrName>
                                        </p:attrNameLst>
                                      </p:cBhvr>
                                      <p:to>
                                        <p:strVal val="visible"/>
                                      </p:to>
                                    </p:set>
                                    <p:animEffect transition="in" filter="fade">
                                      <p:cBhvr>
                                        <p:cTn id="17" dur="500"/>
                                        <p:tgtEl>
                                          <p:spTgt spid="9">
                                            <p:txEl>
                                              <p:pRg st="4" end="4"/>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1026"/>
                                        </p:tgtEl>
                                        <p:attrNameLst>
                                          <p:attrName>style.visibility</p:attrName>
                                        </p:attrNameLst>
                                      </p:cBhvr>
                                      <p:to>
                                        <p:strVal val="visible"/>
                                      </p:to>
                                    </p:set>
                                    <p:animEffect transition="in" filter="fade">
                                      <p:cBhvr>
                                        <p:cTn id="20"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da-DK" dirty="0"/>
              <a:t>Misklassifikation</a:t>
            </a:r>
            <a:endParaRPr dirty="0"/>
          </a:p>
        </p:txBody>
      </p:sp>
      <p:sp>
        <p:nvSpPr>
          <p:cNvPr id="3" name="Content Placeholder 2"/>
          <p:cNvSpPr>
            <a:spLocks noGrp="1"/>
          </p:cNvSpPr>
          <p:nvPr>
            <p:ph idx="1"/>
          </p:nvPr>
        </p:nvSpPr>
        <p:spPr/>
        <p:txBody>
          <a:bodyPr/>
          <a:lstStyle/>
          <a:p>
            <a:endParaRPr dirty="0"/>
          </a:p>
          <a:p>
            <a:pPr marL="0" indent="0">
              <a:buNone/>
              <a:defRPr sz="1800"/>
            </a:pPr>
            <a:endParaRPr lang="da-DK" dirty="0"/>
          </a:p>
          <a:p>
            <a:pPr marL="0" indent="0">
              <a:buNone/>
              <a:defRPr sz="1800"/>
            </a:pPr>
            <a:endParaRPr lang="da-DK" dirty="0"/>
          </a:p>
          <a:p>
            <a:pPr marL="0" indent="0">
              <a:buNone/>
              <a:defRPr sz="1800"/>
            </a:pPr>
            <a:endParaRPr lang="da-DK" dirty="0"/>
          </a:p>
          <a:p>
            <a:pPr marL="0" indent="0">
              <a:buNone/>
              <a:defRPr sz="1800"/>
            </a:pPr>
            <a:endParaRPr lang="da-DK" dirty="0"/>
          </a:p>
          <a:p>
            <a:pPr marL="0" indent="0">
              <a:buNone/>
              <a:defRPr sz="1800"/>
            </a:pPr>
            <a:endParaRPr lang="da-DK" dirty="0"/>
          </a:p>
          <a:p>
            <a:pPr marL="0" indent="0">
              <a:buNone/>
              <a:defRPr sz="1800"/>
            </a:pPr>
            <a:endParaRPr lang="da-DK" dirty="0"/>
          </a:p>
          <a:p>
            <a:pPr marL="0" indent="0">
              <a:buNone/>
              <a:defRPr sz="1800"/>
            </a:pPr>
            <a:endParaRPr lang="da-DK" dirty="0"/>
          </a:p>
          <a:p>
            <a:pPr marL="0" indent="0">
              <a:buNone/>
              <a:defRPr sz="1800"/>
            </a:pPr>
            <a:endParaRPr lang="da-DK" dirty="0"/>
          </a:p>
          <a:p>
            <a:pPr marL="0" indent="0">
              <a:buNone/>
              <a:defRPr sz="1800"/>
            </a:pPr>
            <a:endParaRPr dirty="0"/>
          </a:p>
        </p:txBody>
      </p:sp>
      <p:sp>
        <p:nvSpPr>
          <p:cNvPr id="9" name="Content Placeholder 2"/>
          <p:cNvSpPr txBox="1">
            <a:spLocks/>
          </p:cNvSpPr>
          <p:nvPr/>
        </p:nvSpPr>
        <p:spPr>
          <a:xfrm>
            <a:off x="609600" y="1743075"/>
            <a:ext cx="8229600" cy="4535487"/>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da-DK" sz="1800" b="1" dirty="0"/>
              <a:t>Positiv </a:t>
            </a:r>
            <a:r>
              <a:rPr lang="da-DK" sz="1800" b="1" dirty="0" err="1"/>
              <a:t>prædiktiv</a:t>
            </a:r>
            <a:r>
              <a:rPr lang="da-DK" sz="1800" b="1" dirty="0"/>
              <a:t> værdi</a:t>
            </a:r>
            <a:r>
              <a:rPr lang="da-DK" sz="1800" dirty="0"/>
              <a:t> måles som SP / (SP + FP). Angiver sandsynligheden for at være ægte syg, når testen er positiv. </a:t>
            </a:r>
          </a:p>
          <a:p>
            <a:endParaRPr lang="da-DK" sz="1800" dirty="0"/>
          </a:p>
          <a:p>
            <a:r>
              <a:rPr lang="da-DK" sz="1800" b="1" dirty="0"/>
              <a:t>Negativ </a:t>
            </a:r>
            <a:r>
              <a:rPr lang="da-DK" sz="1800" b="1" dirty="0" err="1"/>
              <a:t>prædiktiv</a:t>
            </a:r>
            <a:r>
              <a:rPr lang="da-DK" sz="1800" b="1" dirty="0"/>
              <a:t> værdi</a:t>
            </a:r>
            <a:r>
              <a:rPr lang="da-DK" sz="1800" dirty="0"/>
              <a:t> måles som SN / (SN + FN). Angiver sandsynligheden for at være ægte ikke-syg, når testen er negativ. </a:t>
            </a:r>
          </a:p>
          <a:p>
            <a:endParaRPr lang="da-DK" sz="1800" dirty="0"/>
          </a:p>
        </p:txBody>
      </p:sp>
      <p:sp>
        <p:nvSpPr>
          <p:cNvPr id="4" name="Pladsholder til slidenummer 3"/>
          <p:cNvSpPr>
            <a:spLocks noGrp="1"/>
          </p:cNvSpPr>
          <p:nvPr>
            <p:ph type="sldNum" sz="quarter" idx="12"/>
          </p:nvPr>
        </p:nvSpPr>
        <p:spPr/>
        <p:txBody>
          <a:bodyPr/>
          <a:lstStyle/>
          <a:p>
            <a:fld id="{C1FF6DA9-008F-8B48-92A6-B652298478BF}" type="slidenum">
              <a:rPr lang="en-US" smtClean="0"/>
              <a:t>32</a:t>
            </a:fld>
            <a:endParaRPr lang="en-US"/>
          </a:p>
        </p:txBody>
      </p:sp>
      <p:graphicFrame>
        <p:nvGraphicFramePr>
          <p:cNvPr id="6" name="Tabel 5"/>
          <p:cNvGraphicFramePr>
            <a:graphicFrameLocks noGrp="1"/>
          </p:cNvGraphicFramePr>
          <p:nvPr>
            <p:extLst>
              <p:ext uri="{D42A27DB-BD31-4B8C-83A1-F6EECF244321}">
                <p14:modId xmlns:p14="http://schemas.microsoft.com/office/powerpoint/2010/main" val="183134212"/>
              </p:ext>
            </p:extLst>
          </p:nvPr>
        </p:nvGraphicFramePr>
        <p:xfrm>
          <a:off x="685800" y="3752585"/>
          <a:ext cx="8077200" cy="1854200"/>
        </p:xfrm>
        <a:graphic>
          <a:graphicData uri="http://schemas.openxmlformats.org/drawingml/2006/table">
            <a:tbl>
              <a:tblPr firstRow="1" bandRow="1">
                <a:tableStyleId>{5940675A-B579-460E-94D1-54222C63F5DA}</a:tableStyleId>
              </a:tblPr>
              <a:tblGrid>
                <a:gridCol w="595162">
                  <a:extLst>
                    <a:ext uri="{9D8B030D-6E8A-4147-A177-3AD203B41FA5}">
                      <a16:colId xmlns:a16="http://schemas.microsoft.com/office/drawing/2014/main" val="2814819751"/>
                    </a:ext>
                  </a:extLst>
                </a:gridCol>
                <a:gridCol w="1313607">
                  <a:extLst>
                    <a:ext uri="{9D8B030D-6E8A-4147-A177-3AD203B41FA5}">
                      <a16:colId xmlns:a16="http://schemas.microsoft.com/office/drawing/2014/main" val="1404300600"/>
                    </a:ext>
                  </a:extLst>
                </a:gridCol>
                <a:gridCol w="1986254">
                  <a:extLst>
                    <a:ext uri="{9D8B030D-6E8A-4147-A177-3AD203B41FA5}">
                      <a16:colId xmlns:a16="http://schemas.microsoft.com/office/drawing/2014/main" val="2262213251"/>
                    </a:ext>
                  </a:extLst>
                </a:gridCol>
                <a:gridCol w="2107933">
                  <a:extLst>
                    <a:ext uri="{9D8B030D-6E8A-4147-A177-3AD203B41FA5}">
                      <a16:colId xmlns:a16="http://schemas.microsoft.com/office/drawing/2014/main" val="594636143"/>
                    </a:ext>
                  </a:extLst>
                </a:gridCol>
                <a:gridCol w="2074244">
                  <a:extLst>
                    <a:ext uri="{9D8B030D-6E8A-4147-A177-3AD203B41FA5}">
                      <a16:colId xmlns:a16="http://schemas.microsoft.com/office/drawing/2014/main" val="1623399239"/>
                    </a:ext>
                  </a:extLst>
                </a:gridCol>
              </a:tblGrid>
              <a:tr h="370840">
                <a:tc rowSpan="2" gridSpan="2">
                  <a:txBody>
                    <a:bodyPr/>
                    <a:lstStyle/>
                    <a:p>
                      <a:endParaRPr lang="da-DK" dirty="0"/>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2" hMerge="1">
                  <a:txBody>
                    <a:bodyPr/>
                    <a:lstStyle/>
                    <a:p>
                      <a:endParaRPr lang="da-DK"/>
                    </a:p>
                  </a:txBody>
                  <a:tcPr/>
                </a:tc>
                <a:tc gridSpan="2">
                  <a:txBody>
                    <a:bodyPr/>
                    <a:lstStyle/>
                    <a:p>
                      <a:pPr algn="ctr"/>
                      <a:r>
                        <a:rPr lang="da-DK" b="1" dirty="0"/>
                        <a:t>Sandheden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6CDED1"/>
                    </a:solidFill>
                  </a:tcPr>
                </a:tc>
                <a:tc hMerge="1">
                  <a:txBody>
                    <a:bodyPr/>
                    <a:lstStyle/>
                    <a:p>
                      <a:endParaRPr lang="da-DK" dirty="0"/>
                    </a:p>
                  </a:txBody>
                  <a:tcPr/>
                </a:tc>
                <a:tc rowSpan="2">
                  <a:txBody>
                    <a:bodyPr/>
                    <a:lstStyle/>
                    <a:p>
                      <a:endParaRPr lang="da-DK" dirty="0"/>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71603173"/>
                  </a:ext>
                </a:extLst>
              </a:tr>
              <a:tr h="370840">
                <a:tc gridSpan="2" vMerge="1">
                  <a:txBody>
                    <a:bodyPr/>
                    <a:lstStyle/>
                    <a:p>
                      <a:endParaRPr lang="da-DK" dirty="0"/>
                    </a:p>
                  </a:txBody>
                  <a:tcPr/>
                </a:tc>
                <a:tc hMerge="1" vMerge="1">
                  <a:txBody>
                    <a:bodyPr/>
                    <a:lstStyle/>
                    <a:p>
                      <a:endParaRPr lang="da-DK" dirty="0"/>
                    </a:p>
                  </a:txBody>
                  <a:tcPr/>
                </a:tc>
                <a:tc>
                  <a:txBody>
                    <a:bodyPr/>
                    <a:lstStyle/>
                    <a:p>
                      <a:r>
                        <a:rPr lang="da-DK" dirty="0"/>
                        <a:t>Syg</a:t>
                      </a:r>
                    </a:p>
                  </a:txBody>
                  <a:tcPr>
                    <a:lnL w="12700" cap="flat" cmpd="sng" algn="ctr">
                      <a:solidFill>
                        <a:schemeClr val="tx1"/>
                      </a:solidFill>
                      <a:prstDash val="solid"/>
                      <a:round/>
                      <a:headEnd type="none" w="med" len="med"/>
                      <a:tailEnd type="none" w="med" len="med"/>
                    </a:lnL>
                    <a:solidFill>
                      <a:srgbClr val="6CDED1"/>
                    </a:solidFill>
                  </a:tcPr>
                </a:tc>
                <a:tc>
                  <a:txBody>
                    <a:bodyPr/>
                    <a:lstStyle/>
                    <a:p>
                      <a:r>
                        <a:rPr lang="da-DK" dirty="0"/>
                        <a:t>Ikke-syg</a:t>
                      </a:r>
                    </a:p>
                  </a:txBody>
                  <a:tcPr>
                    <a:lnR w="12700" cap="flat" cmpd="sng" algn="ctr">
                      <a:solidFill>
                        <a:schemeClr val="tx1"/>
                      </a:solidFill>
                      <a:prstDash val="solid"/>
                      <a:round/>
                      <a:headEnd type="none" w="med" len="med"/>
                      <a:tailEnd type="none" w="med" len="med"/>
                    </a:lnR>
                    <a:solidFill>
                      <a:srgbClr val="6CDED1"/>
                    </a:solidFill>
                  </a:tcPr>
                </a:tc>
                <a:tc vMerge="1">
                  <a:txBody>
                    <a:bodyPr/>
                    <a:lstStyle/>
                    <a:p>
                      <a:endParaRPr lang="da-DK" dirty="0"/>
                    </a:p>
                  </a:txBody>
                  <a:tcPr/>
                </a:tc>
                <a:extLst>
                  <a:ext uri="{0D108BD9-81ED-4DB2-BD59-A6C34878D82A}">
                    <a16:rowId xmlns:a16="http://schemas.microsoft.com/office/drawing/2014/main" val="1946744012"/>
                  </a:ext>
                </a:extLst>
              </a:tr>
              <a:tr h="370840">
                <a:tc rowSpan="2">
                  <a:txBody>
                    <a:bodyPr/>
                    <a:lstStyle/>
                    <a:p>
                      <a:pPr algn="ctr"/>
                      <a:r>
                        <a:rPr lang="da-DK" b="1" dirty="0"/>
                        <a:t>TEST</a:t>
                      </a:r>
                    </a:p>
                  </a:txBody>
                  <a:tcPr vert="vert27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B49BA"/>
                    </a:solidFill>
                  </a:tcPr>
                </a:tc>
                <a:tc>
                  <a:txBody>
                    <a:bodyPr/>
                    <a:lstStyle/>
                    <a:p>
                      <a:r>
                        <a:rPr lang="da-DK" dirty="0"/>
                        <a:t>Syg</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AB49BA"/>
                    </a:solidFill>
                  </a:tcPr>
                </a:tc>
                <a:tc>
                  <a:txBody>
                    <a:bodyPr/>
                    <a:lstStyle/>
                    <a:p>
                      <a:r>
                        <a:rPr lang="da-DK" dirty="0"/>
                        <a:t>Sand positiv (SP)</a:t>
                      </a:r>
                    </a:p>
                  </a:txBody>
                  <a:tcPr>
                    <a:lnL w="12700" cap="flat" cmpd="sng" algn="ctr">
                      <a:solidFill>
                        <a:schemeClr val="tx1"/>
                      </a:solidFill>
                      <a:prstDash val="solid"/>
                      <a:round/>
                      <a:headEnd type="none" w="med" len="med"/>
                      <a:tailEnd type="none" w="med" len="med"/>
                    </a:lnL>
                  </a:tcPr>
                </a:tc>
                <a:tc>
                  <a:txBody>
                    <a:bodyPr/>
                    <a:lstStyle/>
                    <a:p>
                      <a:r>
                        <a:rPr lang="da-DK" dirty="0"/>
                        <a:t>Falsk positiv (FP)</a:t>
                      </a:r>
                    </a:p>
                  </a:txBody>
                  <a:tcPr>
                    <a:lnR w="12700" cap="flat" cmpd="sng" algn="ctr">
                      <a:solidFill>
                        <a:schemeClr val="tx1"/>
                      </a:solidFill>
                      <a:prstDash val="solid"/>
                      <a:round/>
                      <a:headEnd type="none" w="med" len="med"/>
                      <a:tailEnd type="none" w="med" len="med"/>
                    </a:lnR>
                  </a:tcPr>
                </a:tc>
                <a:tc>
                  <a:txBody>
                    <a:bodyPr/>
                    <a:lstStyle/>
                    <a:p>
                      <a:r>
                        <a:rPr lang="da-DK" dirty="0"/>
                        <a:t>Alle testet syge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880634497"/>
                  </a:ext>
                </a:extLst>
              </a:tr>
              <a:tr h="370840">
                <a:tc vMerge="1">
                  <a:txBody>
                    <a:bodyPr/>
                    <a:lstStyle/>
                    <a:p>
                      <a:endParaRPr lang="da-DK" dirty="0"/>
                    </a:p>
                  </a:txBody>
                  <a:tcPr/>
                </a:tc>
                <a:tc>
                  <a:txBody>
                    <a:bodyPr/>
                    <a:lstStyle/>
                    <a:p>
                      <a:r>
                        <a:rPr lang="da-DK" dirty="0"/>
                        <a:t>Ikke-syg</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AB49BA"/>
                    </a:solidFill>
                  </a:tcPr>
                </a:tc>
                <a:tc>
                  <a:txBody>
                    <a:bodyPr/>
                    <a:lstStyle/>
                    <a:p>
                      <a:r>
                        <a:rPr lang="da-DK" dirty="0"/>
                        <a:t>Falsk</a:t>
                      </a:r>
                      <a:r>
                        <a:rPr lang="da-DK" baseline="0" dirty="0"/>
                        <a:t> negativ (FN)</a:t>
                      </a:r>
                      <a:endParaRPr lang="da-DK" dirty="0"/>
                    </a:p>
                  </a:txBody>
                  <a:tcPr>
                    <a:lnL w="12700" cap="flat" cmpd="sng" algn="ctr">
                      <a:solidFill>
                        <a:schemeClr val="tx1"/>
                      </a:solidFill>
                      <a:prstDash val="solid"/>
                      <a:round/>
                      <a:headEnd type="none" w="med" len="med"/>
                      <a:tailEnd type="none" w="med" len="med"/>
                    </a:lnL>
                  </a:tcPr>
                </a:tc>
                <a:tc>
                  <a:txBody>
                    <a:bodyPr/>
                    <a:lstStyle/>
                    <a:p>
                      <a:r>
                        <a:rPr lang="da-DK" dirty="0"/>
                        <a:t>Sand negativ (SN)</a:t>
                      </a:r>
                    </a:p>
                  </a:txBody>
                  <a:tcPr>
                    <a:lnR w="12700" cap="flat" cmpd="sng" algn="ctr">
                      <a:solidFill>
                        <a:schemeClr val="tx1"/>
                      </a:solidFill>
                      <a:prstDash val="solid"/>
                      <a:round/>
                      <a:headEnd type="none" w="med" len="med"/>
                      <a:tailEnd type="none" w="med" len="med"/>
                    </a:lnR>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da-DK" dirty="0"/>
                        <a:t>Alle testet ikke-syge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30289120"/>
                  </a:ext>
                </a:extLst>
              </a:tr>
              <a:tr h="370840">
                <a:tc gridSpan="2">
                  <a:txBody>
                    <a:bodyPr/>
                    <a:lstStyle/>
                    <a:p>
                      <a:endParaRPr lang="da-DK" dirty="0"/>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hMerge="1">
                  <a:txBody>
                    <a:bodyPr/>
                    <a:lstStyle/>
                    <a:p>
                      <a:endParaRPr lang="da-DK" dirty="0"/>
                    </a:p>
                  </a:txBody>
                  <a:tcPr/>
                </a:tc>
                <a:tc>
                  <a:txBody>
                    <a:bodyPr/>
                    <a:lstStyle/>
                    <a:p>
                      <a:r>
                        <a:rPr lang="da-DK" dirty="0"/>
                        <a:t>Alle sande syge</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r>
                        <a:rPr lang="da-DK" dirty="0"/>
                        <a:t>Alle sande ikke-syge</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endParaRPr lang="da-DK" dirty="0"/>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04136754"/>
                  </a:ext>
                </a:extLst>
              </a:tr>
            </a:tbl>
          </a:graphicData>
        </a:graphic>
      </p:graphicFrame>
      <p:sp>
        <p:nvSpPr>
          <p:cNvPr id="7" name="Rektangel 6"/>
          <p:cNvSpPr/>
          <p:nvPr/>
        </p:nvSpPr>
        <p:spPr>
          <a:xfrm>
            <a:off x="1304926" y="4514849"/>
            <a:ext cx="7458074" cy="371475"/>
          </a:xfrm>
          <a:prstGeom prst="rect">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a-DK"/>
          </a:p>
        </p:txBody>
      </p:sp>
      <p:sp>
        <p:nvSpPr>
          <p:cNvPr id="8" name="Rektangel 7"/>
          <p:cNvSpPr/>
          <p:nvPr/>
        </p:nvSpPr>
        <p:spPr>
          <a:xfrm>
            <a:off x="1304926" y="4864001"/>
            <a:ext cx="7458074" cy="347760"/>
          </a:xfrm>
          <a:prstGeom prst="rect">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a-DK"/>
          </a:p>
        </p:txBody>
      </p:sp>
    </p:spTree>
    <p:extLst>
      <p:ext uri="{BB962C8B-B14F-4D97-AF65-F5344CB8AC3E}">
        <p14:creationId xmlns:p14="http://schemas.microsoft.com/office/powerpoint/2010/main" val="1534847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animEffect transition="in" filter="fade">
                                      <p:cBhvr>
                                        <p:cTn id="15" dur="500"/>
                                        <p:tgtEl>
                                          <p:spTgt spid="9">
                                            <p:txEl>
                                              <p:pRg st="2" end="2"/>
                                            </p:txEl>
                                          </p:spTgt>
                                        </p:tgtEl>
                                      </p:cBhvr>
                                    </p:animEffect>
                                  </p:childTnLst>
                                </p:cTn>
                              </p:par>
                              <p:par>
                                <p:cTn id="16" presetID="10" presetClass="exit" presetSubtype="0" fill="hold" grpId="1" nodeType="withEffect">
                                  <p:stCondLst>
                                    <p:cond delay="0"/>
                                  </p:stCondLst>
                                  <p:childTnLst>
                                    <p:animEffect transition="out" filter="fade">
                                      <p:cBhvr>
                                        <p:cTn id="17" dur="500"/>
                                        <p:tgtEl>
                                          <p:spTgt spid="7"/>
                                        </p:tgtEl>
                                      </p:cBhvr>
                                    </p:animEffect>
                                    <p:set>
                                      <p:cBhvr>
                                        <p:cTn id="18" dur="1" fill="hold">
                                          <p:stCondLst>
                                            <p:cond delay="499"/>
                                          </p:stCondLst>
                                        </p:cTn>
                                        <p:tgtEl>
                                          <p:spTgt spid="7"/>
                                        </p:tgtEl>
                                        <p:attrNameLst>
                                          <p:attrName>style.visibility</p:attrName>
                                        </p:attrNameLst>
                                      </p:cBhvr>
                                      <p:to>
                                        <p:strVal val="hidden"/>
                                      </p:to>
                                    </p:set>
                                  </p:childTnLst>
                                </p:cTn>
                              </p:par>
                              <p:par>
                                <p:cTn id="19" presetID="10"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8"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da-DK" dirty="0"/>
              <a:t>Misklassifikation</a:t>
            </a:r>
            <a:endParaRPr dirty="0"/>
          </a:p>
        </p:txBody>
      </p:sp>
      <p:sp>
        <p:nvSpPr>
          <p:cNvPr id="3" name="Content Placeholder 2"/>
          <p:cNvSpPr>
            <a:spLocks noGrp="1"/>
          </p:cNvSpPr>
          <p:nvPr>
            <p:ph idx="1"/>
          </p:nvPr>
        </p:nvSpPr>
        <p:spPr/>
        <p:txBody>
          <a:bodyPr/>
          <a:lstStyle/>
          <a:p>
            <a:endParaRPr dirty="0"/>
          </a:p>
          <a:p>
            <a:pPr marL="0" indent="0">
              <a:buNone/>
              <a:defRPr sz="1800"/>
            </a:pPr>
            <a:endParaRPr lang="da-DK" dirty="0"/>
          </a:p>
          <a:p>
            <a:pPr marL="0" indent="0">
              <a:buNone/>
              <a:defRPr sz="1800"/>
            </a:pPr>
            <a:endParaRPr lang="da-DK" dirty="0"/>
          </a:p>
          <a:p>
            <a:pPr marL="0" indent="0">
              <a:buNone/>
              <a:defRPr sz="1800"/>
            </a:pPr>
            <a:endParaRPr lang="da-DK" dirty="0"/>
          </a:p>
          <a:p>
            <a:pPr marL="0" indent="0">
              <a:buNone/>
              <a:defRPr sz="1800"/>
            </a:pPr>
            <a:endParaRPr lang="da-DK" dirty="0"/>
          </a:p>
          <a:p>
            <a:pPr marL="0" indent="0">
              <a:buNone/>
              <a:defRPr sz="1800"/>
            </a:pPr>
            <a:endParaRPr lang="da-DK" dirty="0"/>
          </a:p>
          <a:p>
            <a:pPr marL="0" indent="0">
              <a:buNone/>
              <a:defRPr sz="1800"/>
            </a:pPr>
            <a:endParaRPr lang="da-DK" dirty="0"/>
          </a:p>
          <a:p>
            <a:pPr marL="0" indent="0">
              <a:buNone/>
              <a:defRPr sz="1800"/>
            </a:pPr>
            <a:endParaRPr lang="da-DK" dirty="0"/>
          </a:p>
          <a:p>
            <a:pPr marL="0" indent="0">
              <a:buNone/>
              <a:defRPr sz="1800"/>
            </a:pPr>
            <a:endParaRPr lang="da-DK" dirty="0"/>
          </a:p>
          <a:p>
            <a:pPr marL="0" indent="0">
              <a:buNone/>
              <a:defRPr sz="1800"/>
            </a:pPr>
            <a:endParaRPr dirty="0"/>
          </a:p>
        </p:txBody>
      </p:sp>
      <p:sp>
        <p:nvSpPr>
          <p:cNvPr id="9" name="Content Placeholder 2"/>
          <p:cNvSpPr txBox="1">
            <a:spLocks/>
          </p:cNvSpPr>
          <p:nvPr/>
        </p:nvSpPr>
        <p:spPr>
          <a:xfrm>
            <a:off x="609600" y="1743075"/>
            <a:ext cx="8229600" cy="4535487"/>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da-DK" sz="1800" b="1" dirty="0"/>
              <a:t>Konsekvenser af misklassifikation</a:t>
            </a:r>
            <a:r>
              <a:rPr lang="da-DK" sz="1800" dirty="0"/>
              <a:t> afhænger af flere ting. </a:t>
            </a:r>
          </a:p>
          <a:p>
            <a:endParaRPr lang="da-DK" sz="1800" dirty="0"/>
          </a:p>
          <a:p>
            <a:r>
              <a:rPr lang="da-DK" sz="1800" dirty="0"/>
              <a:t>Lav sensitivitet vil føre til </a:t>
            </a:r>
            <a:r>
              <a:rPr lang="da-DK" sz="1800" b="1" dirty="0"/>
              <a:t>undervurdering af prævalensen</a:t>
            </a:r>
            <a:r>
              <a:rPr lang="da-DK" sz="1800" dirty="0"/>
              <a:t>, mens lav specificitet vil føre til </a:t>
            </a:r>
            <a:r>
              <a:rPr lang="da-DK" sz="1800" b="1" dirty="0"/>
              <a:t>overvurdering af prævalensen</a:t>
            </a:r>
            <a:r>
              <a:rPr lang="da-DK" sz="1800" dirty="0"/>
              <a:t> i beskrivende studier.</a:t>
            </a:r>
          </a:p>
          <a:p>
            <a:endParaRPr lang="da-DK" sz="1800" dirty="0"/>
          </a:p>
          <a:p>
            <a:endParaRPr lang="da-DK" sz="1800" dirty="0"/>
          </a:p>
        </p:txBody>
      </p:sp>
      <p:sp>
        <p:nvSpPr>
          <p:cNvPr id="4" name="Pladsholder til slidenummer 3"/>
          <p:cNvSpPr>
            <a:spLocks noGrp="1"/>
          </p:cNvSpPr>
          <p:nvPr>
            <p:ph type="sldNum" sz="quarter" idx="12"/>
          </p:nvPr>
        </p:nvSpPr>
        <p:spPr/>
        <p:txBody>
          <a:bodyPr/>
          <a:lstStyle/>
          <a:p>
            <a:fld id="{C1FF6DA9-008F-8B48-92A6-B652298478BF}" type="slidenum">
              <a:rPr lang="en-US" smtClean="0"/>
              <a:t>33</a:t>
            </a:fld>
            <a:endParaRPr lang="en-US"/>
          </a:p>
        </p:txBody>
      </p:sp>
    </p:spTree>
    <p:extLst>
      <p:ext uri="{BB962C8B-B14F-4D97-AF65-F5344CB8AC3E}">
        <p14:creationId xmlns:p14="http://schemas.microsoft.com/office/powerpoint/2010/main" val="22548951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da-DK" dirty="0"/>
              <a:t>Misklassifikation</a:t>
            </a:r>
            <a:endParaRPr dirty="0"/>
          </a:p>
        </p:txBody>
      </p:sp>
      <p:sp>
        <p:nvSpPr>
          <p:cNvPr id="3" name="Content Placeholder 2"/>
          <p:cNvSpPr>
            <a:spLocks noGrp="1"/>
          </p:cNvSpPr>
          <p:nvPr>
            <p:ph idx="1"/>
          </p:nvPr>
        </p:nvSpPr>
        <p:spPr/>
        <p:txBody>
          <a:bodyPr/>
          <a:lstStyle/>
          <a:p>
            <a:endParaRPr dirty="0"/>
          </a:p>
          <a:p>
            <a:pPr marL="0" indent="0">
              <a:buNone/>
              <a:defRPr sz="1800"/>
            </a:pPr>
            <a:endParaRPr lang="da-DK" dirty="0"/>
          </a:p>
          <a:p>
            <a:pPr marL="0" indent="0">
              <a:buNone/>
              <a:defRPr sz="1800"/>
            </a:pPr>
            <a:endParaRPr lang="da-DK" dirty="0"/>
          </a:p>
          <a:p>
            <a:pPr marL="0" indent="0">
              <a:buNone/>
              <a:defRPr sz="1800"/>
            </a:pPr>
            <a:endParaRPr lang="da-DK" dirty="0"/>
          </a:p>
          <a:p>
            <a:pPr marL="0" indent="0">
              <a:buNone/>
              <a:defRPr sz="1800"/>
            </a:pPr>
            <a:endParaRPr lang="da-DK" dirty="0"/>
          </a:p>
          <a:p>
            <a:pPr marL="0" indent="0">
              <a:buNone/>
              <a:defRPr sz="1800"/>
            </a:pPr>
            <a:endParaRPr lang="da-DK" dirty="0"/>
          </a:p>
          <a:p>
            <a:pPr marL="0" indent="0">
              <a:buNone/>
              <a:defRPr sz="1800"/>
            </a:pPr>
            <a:endParaRPr lang="da-DK" dirty="0"/>
          </a:p>
          <a:p>
            <a:pPr marL="0" indent="0">
              <a:buNone/>
              <a:defRPr sz="1800"/>
            </a:pPr>
            <a:endParaRPr lang="da-DK" dirty="0"/>
          </a:p>
          <a:p>
            <a:pPr marL="0" indent="0">
              <a:buNone/>
              <a:defRPr sz="1800"/>
            </a:pPr>
            <a:endParaRPr lang="da-DK" dirty="0"/>
          </a:p>
          <a:p>
            <a:pPr marL="0" indent="0">
              <a:buNone/>
              <a:defRPr sz="1800"/>
            </a:pPr>
            <a:endParaRPr dirty="0"/>
          </a:p>
        </p:txBody>
      </p:sp>
      <p:sp>
        <p:nvSpPr>
          <p:cNvPr id="9" name="Content Placeholder 2"/>
          <p:cNvSpPr txBox="1">
            <a:spLocks/>
          </p:cNvSpPr>
          <p:nvPr/>
        </p:nvSpPr>
        <p:spPr>
          <a:xfrm>
            <a:off x="609600" y="1743075"/>
            <a:ext cx="8229600" cy="4535487"/>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da-DK" sz="1800" b="1" dirty="0"/>
              <a:t>Ikke-differentieret misklassifikation</a:t>
            </a:r>
            <a:r>
              <a:rPr lang="da-DK" sz="1800" dirty="0"/>
              <a:t> betyder, at der er samme grad af misklassifikation (ift. eksponering eller udfald) i de to grupper, der sammenlignes.</a:t>
            </a:r>
          </a:p>
          <a:p>
            <a:endParaRPr lang="da-DK" sz="1800" dirty="0"/>
          </a:p>
          <a:p>
            <a:r>
              <a:rPr lang="da-DK" sz="1800" dirty="0"/>
              <a:t>Sensitivitet og specificitet behøver ikke at være perfekt, men de skal være ens i sammenligningsgrupperne. </a:t>
            </a:r>
          </a:p>
          <a:p>
            <a:endParaRPr lang="da-DK" sz="1800" dirty="0"/>
          </a:p>
          <a:p>
            <a:r>
              <a:rPr lang="da-DK" sz="1800" dirty="0"/>
              <a:t>Ikke-differentieret misklassifikation fører ofte til en undervurdering af sammenhængen (og aldrig overvurdering).</a:t>
            </a:r>
          </a:p>
          <a:p>
            <a:endParaRPr lang="da-DK" sz="1800" dirty="0"/>
          </a:p>
          <a:p>
            <a:endParaRPr lang="da-DK" sz="1800" dirty="0"/>
          </a:p>
          <a:p>
            <a:endParaRPr lang="da-DK" sz="1800" dirty="0"/>
          </a:p>
        </p:txBody>
      </p:sp>
      <p:sp>
        <p:nvSpPr>
          <p:cNvPr id="4" name="Pladsholder til slidenummer 3"/>
          <p:cNvSpPr>
            <a:spLocks noGrp="1"/>
          </p:cNvSpPr>
          <p:nvPr>
            <p:ph type="sldNum" sz="quarter" idx="12"/>
          </p:nvPr>
        </p:nvSpPr>
        <p:spPr/>
        <p:txBody>
          <a:bodyPr/>
          <a:lstStyle/>
          <a:p>
            <a:fld id="{C1FF6DA9-008F-8B48-92A6-B652298478BF}" type="slidenum">
              <a:rPr lang="en-US" smtClean="0"/>
              <a:t>34</a:t>
            </a:fld>
            <a:endParaRPr lang="en-US"/>
          </a:p>
        </p:txBody>
      </p:sp>
    </p:spTree>
    <p:extLst>
      <p:ext uri="{BB962C8B-B14F-4D97-AF65-F5344CB8AC3E}">
        <p14:creationId xmlns:p14="http://schemas.microsoft.com/office/powerpoint/2010/main" val="2362359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2" end="2"/>
                                            </p:txEl>
                                          </p:spTgt>
                                        </p:tgtEl>
                                        <p:attrNameLst>
                                          <p:attrName>style.visibility</p:attrName>
                                        </p:attrNameLst>
                                      </p:cBhvr>
                                      <p:to>
                                        <p:strVal val="visible"/>
                                      </p:to>
                                    </p:set>
                                    <p:animEffect transition="in" filter="fade">
                                      <p:cBhvr>
                                        <p:cTn id="12" dur="500"/>
                                        <p:tgtEl>
                                          <p:spTgt spid="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xEl>
                                              <p:pRg st="4" end="4"/>
                                            </p:txEl>
                                          </p:spTgt>
                                        </p:tgtEl>
                                        <p:attrNameLst>
                                          <p:attrName>style.visibility</p:attrName>
                                        </p:attrNameLst>
                                      </p:cBhvr>
                                      <p:to>
                                        <p:strVal val="visible"/>
                                      </p:to>
                                    </p:set>
                                    <p:animEffect transition="in" filter="fade">
                                      <p:cBhvr>
                                        <p:cTn id="17" dur="500"/>
                                        <p:tgtEl>
                                          <p:spTgt spid="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da-DK" dirty="0"/>
              <a:t>Misklassifikation</a:t>
            </a:r>
            <a:endParaRPr dirty="0"/>
          </a:p>
        </p:txBody>
      </p:sp>
      <p:sp>
        <p:nvSpPr>
          <p:cNvPr id="3" name="Content Placeholder 2"/>
          <p:cNvSpPr>
            <a:spLocks noGrp="1"/>
          </p:cNvSpPr>
          <p:nvPr>
            <p:ph idx="1"/>
          </p:nvPr>
        </p:nvSpPr>
        <p:spPr/>
        <p:txBody>
          <a:bodyPr/>
          <a:lstStyle/>
          <a:p>
            <a:endParaRPr dirty="0"/>
          </a:p>
          <a:p>
            <a:pPr marL="0" indent="0">
              <a:buNone/>
              <a:defRPr sz="1800"/>
            </a:pPr>
            <a:endParaRPr lang="da-DK" dirty="0"/>
          </a:p>
          <a:p>
            <a:pPr marL="0" indent="0">
              <a:buNone/>
              <a:defRPr sz="1800"/>
            </a:pPr>
            <a:endParaRPr lang="da-DK" dirty="0"/>
          </a:p>
          <a:p>
            <a:pPr marL="0" indent="0">
              <a:buNone/>
              <a:defRPr sz="1800"/>
            </a:pPr>
            <a:endParaRPr lang="da-DK" dirty="0"/>
          </a:p>
          <a:p>
            <a:pPr marL="0" indent="0">
              <a:buNone/>
              <a:defRPr sz="1800"/>
            </a:pPr>
            <a:endParaRPr lang="da-DK" dirty="0"/>
          </a:p>
          <a:p>
            <a:pPr marL="0" indent="0">
              <a:buNone/>
              <a:defRPr sz="1800"/>
            </a:pPr>
            <a:endParaRPr lang="da-DK" dirty="0"/>
          </a:p>
          <a:p>
            <a:pPr marL="0" indent="0">
              <a:buNone/>
              <a:defRPr sz="1800"/>
            </a:pPr>
            <a:endParaRPr lang="da-DK" dirty="0"/>
          </a:p>
          <a:p>
            <a:pPr marL="0" indent="0">
              <a:buNone/>
              <a:defRPr sz="1800"/>
            </a:pPr>
            <a:endParaRPr lang="da-DK" dirty="0"/>
          </a:p>
          <a:p>
            <a:pPr marL="0" indent="0">
              <a:buNone/>
              <a:defRPr sz="1800"/>
            </a:pPr>
            <a:endParaRPr lang="da-DK" dirty="0"/>
          </a:p>
          <a:p>
            <a:pPr marL="0" indent="0">
              <a:buNone/>
              <a:defRPr sz="1800"/>
            </a:pPr>
            <a:endParaRPr dirty="0"/>
          </a:p>
        </p:txBody>
      </p:sp>
      <p:sp>
        <p:nvSpPr>
          <p:cNvPr id="9" name="Content Placeholder 2"/>
          <p:cNvSpPr txBox="1">
            <a:spLocks/>
          </p:cNvSpPr>
          <p:nvPr/>
        </p:nvSpPr>
        <p:spPr>
          <a:xfrm>
            <a:off x="609600" y="1743075"/>
            <a:ext cx="8229600" cy="4535487"/>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da-DK" sz="1800" b="1" dirty="0"/>
              <a:t>Differentieret misklassifikation</a:t>
            </a:r>
            <a:r>
              <a:rPr lang="da-DK" sz="1800" dirty="0"/>
              <a:t> betyder, at der </a:t>
            </a:r>
            <a:r>
              <a:rPr lang="da-DK" sz="1800" u="sng" dirty="0"/>
              <a:t>ikke</a:t>
            </a:r>
            <a:r>
              <a:rPr lang="da-DK" sz="1800" dirty="0"/>
              <a:t> er samme grad af misklassifikation (ift. eksponering eller udfald) i de to grupper, der sammenlignes.</a:t>
            </a:r>
          </a:p>
          <a:p>
            <a:endParaRPr lang="da-DK" sz="1800" dirty="0"/>
          </a:p>
          <a:p>
            <a:r>
              <a:rPr lang="da-DK" sz="1800" dirty="0"/>
              <a:t>Differentieret misklassifikation kan føre til både undervurdering og overvurdering af sammenhængen. Det er uforudsigeligt og skidt. </a:t>
            </a:r>
          </a:p>
          <a:p>
            <a:endParaRPr lang="da-DK" sz="1800" dirty="0"/>
          </a:p>
          <a:p>
            <a:pPr marL="0" indent="0">
              <a:buNone/>
            </a:pPr>
            <a:r>
              <a:rPr lang="da-DK" sz="1800" b="1" dirty="0"/>
              <a:t>Eksempel 5-4 fra </a:t>
            </a:r>
            <a:r>
              <a:rPr lang="da-DK" sz="1800" b="1" i="1" dirty="0"/>
              <a:t>Epidemiologi og evidens</a:t>
            </a:r>
          </a:p>
          <a:p>
            <a:pPr marL="0" indent="0">
              <a:buNone/>
            </a:pPr>
            <a:r>
              <a:rPr lang="da-DK" sz="1800" dirty="0"/>
              <a:t>Antag, at man med et case-kontrol-studie undersøger en hypotese om, at aspirin tidligt i graviditeten øger risikoen for fostermisdannelser. Cases er børn født med en misdannelse; kontrollerne er en tilfældig stikprøve af kildepopulationen: de børn, der blev født i samme periode som cases. Eksponeringsinformationen indhentes fra mødrene. Mødrene til børn med misdannelser har brugt mange kræfter på at spekulere over mulige forklaringer og husker godt, mens mødrene til raske børn retter opmærksomheden mod nuet og fremtiden; mange af dem har glemt, hvad de var udsat for.</a:t>
            </a:r>
          </a:p>
          <a:p>
            <a:endParaRPr lang="da-DK" sz="1800" dirty="0"/>
          </a:p>
        </p:txBody>
      </p:sp>
      <p:sp>
        <p:nvSpPr>
          <p:cNvPr id="4" name="Pladsholder til slidenummer 3"/>
          <p:cNvSpPr>
            <a:spLocks noGrp="1"/>
          </p:cNvSpPr>
          <p:nvPr>
            <p:ph type="sldNum" sz="quarter" idx="12"/>
          </p:nvPr>
        </p:nvSpPr>
        <p:spPr/>
        <p:txBody>
          <a:bodyPr/>
          <a:lstStyle/>
          <a:p>
            <a:fld id="{C1FF6DA9-008F-8B48-92A6-B652298478BF}" type="slidenum">
              <a:rPr lang="en-US" smtClean="0"/>
              <a:t>35</a:t>
            </a:fld>
            <a:endParaRPr lang="en-US"/>
          </a:p>
        </p:txBody>
      </p:sp>
    </p:spTree>
    <p:extLst>
      <p:ext uri="{BB962C8B-B14F-4D97-AF65-F5344CB8AC3E}">
        <p14:creationId xmlns:p14="http://schemas.microsoft.com/office/powerpoint/2010/main" val="661775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2" end="2"/>
                                            </p:txEl>
                                          </p:spTgt>
                                        </p:tgtEl>
                                        <p:attrNameLst>
                                          <p:attrName>style.visibility</p:attrName>
                                        </p:attrNameLst>
                                      </p:cBhvr>
                                      <p:to>
                                        <p:strVal val="visible"/>
                                      </p:to>
                                    </p:set>
                                    <p:animEffect transition="in" filter="fade">
                                      <p:cBhvr>
                                        <p:cTn id="12" dur="500"/>
                                        <p:tgtEl>
                                          <p:spTgt spid="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xEl>
                                              <p:pRg st="4" end="4"/>
                                            </p:txEl>
                                          </p:spTgt>
                                        </p:tgtEl>
                                        <p:attrNameLst>
                                          <p:attrName>style.visibility</p:attrName>
                                        </p:attrNameLst>
                                      </p:cBhvr>
                                      <p:to>
                                        <p:strVal val="visible"/>
                                      </p:to>
                                    </p:set>
                                    <p:animEffect transition="in" filter="fade">
                                      <p:cBhvr>
                                        <p:cTn id="17" dur="500"/>
                                        <p:tgtEl>
                                          <p:spTgt spid="9">
                                            <p:txEl>
                                              <p:pRg st="4" end="4"/>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9">
                                            <p:txEl>
                                              <p:pRg st="5" end="5"/>
                                            </p:txEl>
                                          </p:spTgt>
                                        </p:tgtEl>
                                        <p:attrNameLst>
                                          <p:attrName>style.visibility</p:attrName>
                                        </p:attrNameLst>
                                      </p:cBhvr>
                                      <p:to>
                                        <p:strVal val="visible"/>
                                      </p:to>
                                    </p:set>
                                    <p:animEffect transition="in" filter="fade">
                                      <p:cBhvr>
                                        <p:cTn id="20" dur="500"/>
                                        <p:tgtEl>
                                          <p:spTgt spid="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ctrTitle"/>
          </p:nvPr>
        </p:nvSpPr>
        <p:spPr/>
        <p:txBody>
          <a:bodyPr/>
          <a:lstStyle/>
          <a:p>
            <a:r>
              <a:rPr lang="da-DK" dirty="0"/>
              <a:t>Virkelighed og data</a:t>
            </a:r>
          </a:p>
        </p:txBody>
      </p:sp>
      <p:sp>
        <p:nvSpPr>
          <p:cNvPr id="5" name="Undertitel 4"/>
          <p:cNvSpPr>
            <a:spLocks noGrp="1"/>
          </p:cNvSpPr>
          <p:nvPr>
            <p:ph type="subTitle" idx="1"/>
          </p:nvPr>
        </p:nvSpPr>
        <p:spPr/>
        <p:txBody>
          <a:bodyPr/>
          <a:lstStyle/>
          <a:p>
            <a:endParaRPr lang="da-DK"/>
          </a:p>
        </p:txBody>
      </p:sp>
      <p:sp>
        <p:nvSpPr>
          <p:cNvPr id="2" name="Pladsholder til slidenummer 1"/>
          <p:cNvSpPr>
            <a:spLocks noGrp="1"/>
          </p:cNvSpPr>
          <p:nvPr>
            <p:ph type="sldNum" sz="quarter" idx="12"/>
          </p:nvPr>
        </p:nvSpPr>
        <p:spPr/>
        <p:txBody>
          <a:bodyPr/>
          <a:lstStyle/>
          <a:p>
            <a:fld id="{C1FF6DA9-008F-8B48-92A6-B652298478BF}" type="slidenum">
              <a:rPr lang="en-US" smtClean="0"/>
              <a:t>36</a:t>
            </a:fld>
            <a:endParaRPr lang="en-US"/>
          </a:p>
        </p:txBody>
      </p:sp>
    </p:spTree>
    <p:extLst>
      <p:ext uri="{BB962C8B-B14F-4D97-AF65-F5344CB8AC3E}">
        <p14:creationId xmlns:p14="http://schemas.microsoft.com/office/powerpoint/2010/main" val="33505626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err="1"/>
              <a:t>Virkelighed</a:t>
            </a:r>
            <a:r>
              <a:rPr dirty="0"/>
              <a:t> vs data</a:t>
            </a:r>
          </a:p>
        </p:txBody>
      </p:sp>
      <p:sp>
        <p:nvSpPr>
          <p:cNvPr id="3" name="Content Placeholder 2"/>
          <p:cNvSpPr>
            <a:spLocks noGrp="1"/>
          </p:cNvSpPr>
          <p:nvPr>
            <p:ph idx="1"/>
          </p:nvPr>
        </p:nvSpPr>
        <p:spPr/>
        <p:txBody>
          <a:bodyPr/>
          <a:lstStyle/>
          <a:p>
            <a:endParaRPr dirty="0"/>
          </a:p>
          <a:p>
            <a:pPr>
              <a:defRPr sz="1800"/>
            </a:pPr>
            <a:r>
              <a:rPr dirty="0"/>
              <a:t>Data </a:t>
            </a:r>
            <a:r>
              <a:rPr dirty="0" err="1"/>
              <a:t>er</a:t>
            </a:r>
            <a:r>
              <a:rPr dirty="0"/>
              <a:t> et </a:t>
            </a:r>
            <a:r>
              <a:rPr dirty="0" err="1"/>
              <a:t>forsøg</a:t>
            </a:r>
            <a:r>
              <a:rPr dirty="0"/>
              <a:t> </a:t>
            </a:r>
            <a:r>
              <a:rPr dirty="0" err="1"/>
              <a:t>på</a:t>
            </a:r>
            <a:r>
              <a:rPr dirty="0"/>
              <a:t> at </a:t>
            </a:r>
            <a:r>
              <a:rPr dirty="0" err="1"/>
              <a:t>repræsentere</a:t>
            </a:r>
            <a:r>
              <a:rPr dirty="0"/>
              <a:t> </a:t>
            </a:r>
            <a:r>
              <a:rPr dirty="0" err="1"/>
              <a:t>virkeligheden</a:t>
            </a:r>
            <a:r>
              <a:rPr dirty="0"/>
              <a:t>. Der </a:t>
            </a:r>
            <a:r>
              <a:rPr dirty="0" err="1"/>
              <a:t>er</a:t>
            </a:r>
            <a:r>
              <a:rPr dirty="0"/>
              <a:t> </a:t>
            </a:r>
            <a:r>
              <a:rPr dirty="0" err="1"/>
              <a:t>altid</a:t>
            </a:r>
            <a:r>
              <a:rPr dirty="0"/>
              <a:t> et </a:t>
            </a:r>
            <a:r>
              <a:rPr dirty="0" err="1"/>
              <a:t>abstraktionslag</a:t>
            </a:r>
            <a:r>
              <a:rPr dirty="0"/>
              <a:t>.</a:t>
            </a:r>
            <a:endParaRPr lang="da-DK" dirty="0"/>
          </a:p>
          <a:p>
            <a:pPr>
              <a:defRPr sz="1800"/>
            </a:pPr>
            <a:endParaRPr lang="da-DK" dirty="0"/>
          </a:p>
          <a:p>
            <a:pPr>
              <a:defRPr sz="1800"/>
            </a:pPr>
            <a:r>
              <a:rPr lang="da-DK" dirty="0"/>
              <a:t>Virkeligheden = de faktiske fænomener: sygdom, eksponering, adfærd.</a:t>
            </a:r>
          </a:p>
          <a:p>
            <a:pPr>
              <a:defRPr sz="1800"/>
            </a:pPr>
            <a:r>
              <a:rPr lang="da-DK" dirty="0"/>
              <a:t>Data = tal eller klassifikationer, der repræsenterer dele af virkeligheden.</a:t>
            </a:r>
          </a:p>
          <a:p>
            <a:pPr>
              <a:defRPr sz="1800"/>
            </a:pPr>
            <a:r>
              <a:rPr lang="da-DK" dirty="0"/>
              <a:t>Eksempler:</a:t>
            </a:r>
          </a:p>
          <a:p>
            <a:pPr lvl="1">
              <a:defRPr sz="1800"/>
            </a:pPr>
            <a:r>
              <a:rPr lang="da-DK" dirty="0"/>
              <a:t>Lungefunktion → målt som FEV₁.</a:t>
            </a:r>
          </a:p>
          <a:p>
            <a:pPr lvl="1">
              <a:defRPr sz="1800"/>
            </a:pPr>
            <a:r>
              <a:rPr lang="da-DK" dirty="0"/>
              <a:t>Overvægt → målt som BMI.</a:t>
            </a:r>
          </a:p>
          <a:p>
            <a:pPr lvl="1">
              <a:defRPr sz="1800"/>
            </a:pPr>
            <a:r>
              <a:rPr lang="da-DK" dirty="0"/>
              <a:t>Depression → målt som diagnose eller spørgeskema-score.</a:t>
            </a:r>
          </a:p>
          <a:p>
            <a:pPr marL="0" indent="0">
              <a:buNone/>
              <a:defRPr sz="1800"/>
            </a:pPr>
            <a:endParaRPr dirty="0"/>
          </a:p>
        </p:txBody>
      </p:sp>
      <p:sp>
        <p:nvSpPr>
          <p:cNvPr id="4" name="Pladsholder til slidenummer 3"/>
          <p:cNvSpPr>
            <a:spLocks noGrp="1"/>
          </p:cNvSpPr>
          <p:nvPr>
            <p:ph type="sldNum" sz="quarter" idx="12"/>
          </p:nvPr>
        </p:nvSpPr>
        <p:spPr/>
        <p:txBody>
          <a:bodyPr/>
          <a:lstStyle/>
          <a:p>
            <a:fld id="{C1FF6DA9-008F-8B48-92A6-B652298478BF}" type="slidenum">
              <a:rPr lang="en-US" smtClean="0"/>
              <a:t>37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fade">
                                      <p:cBhvr>
                                        <p:cTn id="25" dur="500"/>
                                        <p:tgtEl>
                                          <p:spTgt spid="3">
                                            <p:txEl>
                                              <p:pRg st="6" end="6"/>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fade">
                                      <p:cBhvr>
                                        <p:cTn id="28" dur="500"/>
                                        <p:tgtEl>
                                          <p:spTgt spid="3">
                                            <p:txEl>
                                              <p:pRg st="7" end="7"/>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animEffect transition="in" filter="fade">
                                      <p:cBhvr>
                                        <p:cTn id="31"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a-DK" dirty="0"/>
              <a:t>Operationalisering</a:t>
            </a:r>
            <a:endParaRPr dirty="0"/>
          </a:p>
        </p:txBody>
      </p:sp>
      <p:sp>
        <p:nvSpPr>
          <p:cNvPr id="3" name="Content Placeholder 2"/>
          <p:cNvSpPr>
            <a:spLocks noGrp="1"/>
          </p:cNvSpPr>
          <p:nvPr>
            <p:ph idx="1"/>
          </p:nvPr>
        </p:nvSpPr>
        <p:spPr/>
        <p:txBody>
          <a:bodyPr>
            <a:normAutofit/>
          </a:bodyPr>
          <a:lstStyle/>
          <a:p>
            <a:r>
              <a:rPr lang="da-DK" sz="2400" dirty="0"/>
              <a:t>Operationalisering = oversættelsen fra begreb → målelig størrelse.</a:t>
            </a:r>
          </a:p>
          <a:p>
            <a:r>
              <a:rPr lang="da-DK" sz="2400" dirty="0"/>
              <a:t>Gøres gennem målbare kriterier: </a:t>
            </a:r>
          </a:p>
          <a:p>
            <a:pPr lvl="1"/>
            <a:r>
              <a:rPr lang="da-DK" sz="2000" dirty="0"/>
              <a:t>BMI &gt; 25 → overvægt.</a:t>
            </a:r>
          </a:p>
          <a:p>
            <a:pPr lvl="1"/>
            <a:r>
              <a:rPr lang="da-DK" sz="2000" dirty="0"/>
              <a:t>Indkomst &gt; 75. </a:t>
            </a:r>
            <a:r>
              <a:rPr lang="da-DK" sz="2000" dirty="0" err="1"/>
              <a:t>percentil</a:t>
            </a:r>
            <a:r>
              <a:rPr lang="da-DK" sz="2000" dirty="0"/>
              <a:t> → høj indkomst</a:t>
            </a:r>
          </a:p>
          <a:p>
            <a:pPr lvl="1"/>
            <a:r>
              <a:rPr lang="da-DK" sz="2000" dirty="0"/>
              <a:t>Indløsning af recept på </a:t>
            </a:r>
            <a:r>
              <a:rPr lang="da-DK" sz="2000" dirty="0" err="1"/>
              <a:t>antidepressiva</a:t>
            </a:r>
            <a:r>
              <a:rPr lang="da-DK" sz="2000" dirty="0"/>
              <a:t> → depression</a:t>
            </a:r>
          </a:p>
          <a:p>
            <a:r>
              <a:rPr lang="da-DK" sz="2400" dirty="0"/>
              <a:t>Skal være praktisk og konsistent, men kan skabe forenklinger.</a:t>
            </a:r>
            <a:endParaRPr sz="2400" dirty="0"/>
          </a:p>
        </p:txBody>
      </p:sp>
      <p:sp>
        <p:nvSpPr>
          <p:cNvPr id="4" name="Pladsholder til slidenummer 3"/>
          <p:cNvSpPr>
            <a:spLocks noGrp="1"/>
          </p:cNvSpPr>
          <p:nvPr>
            <p:ph type="sldNum" sz="quarter" idx="12"/>
          </p:nvPr>
        </p:nvSpPr>
        <p:spPr/>
        <p:txBody>
          <a:bodyPr/>
          <a:lstStyle/>
          <a:p>
            <a:fld id="{C1FF6DA9-008F-8B48-92A6-B652298478BF}" type="slidenum">
              <a:rPr lang="en-US" smtClean="0"/>
              <a:t>38</a:t>
            </a:fld>
            <a:endParaRPr lang="en-US"/>
          </a:p>
        </p:txBody>
      </p:sp>
    </p:spTree>
    <p:extLst>
      <p:ext uri="{BB962C8B-B14F-4D97-AF65-F5344CB8AC3E}">
        <p14:creationId xmlns:p14="http://schemas.microsoft.com/office/powerpoint/2010/main" val="3804076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da-DK" dirty="0"/>
              <a:t>Begrebsmæssig validitet (</a:t>
            </a:r>
            <a:r>
              <a:rPr lang="da-DK" dirty="0" err="1"/>
              <a:t>Construct</a:t>
            </a:r>
            <a:r>
              <a:rPr lang="da-DK" dirty="0"/>
              <a:t> </a:t>
            </a:r>
            <a:r>
              <a:rPr lang="da-DK" dirty="0" err="1"/>
              <a:t>validity</a:t>
            </a:r>
            <a:r>
              <a:rPr lang="da-DK" dirty="0"/>
              <a:t>)</a:t>
            </a:r>
            <a:endParaRPr dirty="0"/>
          </a:p>
        </p:txBody>
      </p:sp>
      <p:sp>
        <p:nvSpPr>
          <p:cNvPr id="3" name="Content Placeholder 2"/>
          <p:cNvSpPr>
            <a:spLocks noGrp="1"/>
          </p:cNvSpPr>
          <p:nvPr>
            <p:ph idx="1"/>
          </p:nvPr>
        </p:nvSpPr>
        <p:spPr/>
        <p:txBody>
          <a:bodyPr>
            <a:normAutofit/>
          </a:bodyPr>
          <a:lstStyle/>
          <a:p>
            <a:r>
              <a:rPr lang="da-DK" sz="2400" dirty="0"/>
              <a:t>Spørgsmålet: Måler vi virkelig det, vi tror, vi måler?</a:t>
            </a:r>
          </a:p>
          <a:p>
            <a:endParaRPr lang="da-DK" sz="2400" dirty="0"/>
          </a:p>
          <a:p>
            <a:r>
              <a:rPr lang="da-DK" sz="2400" dirty="0"/>
              <a:t>Bruges især ved psykologiske og livskvalitetsmål.</a:t>
            </a:r>
          </a:p>
          <a:p>
            <a:endParaRPr lang="da-DK" sz="2400" dirty="0"/>
          </a:p>
          <a:p>
            <a:r>
              <a:rPr lang="da-DK" sz="2400" dirty="0"/>
              <a:t>Autisme skal diagnosticeres af en psykiater</a:t>
            </a:r>
          </a:p>
          <a:p>
            <a:pPr lvl="1"/>
            <a:r>
              <a:rPr lang="da-DK" sz="2000" dirty="0"/>
              <a:t>Inden da kan der screenes, men måler screening på det rigtige?</a:t>
            </a:r>
          </a:p>
        </p:txBody>
      </p:sp>
      <p:sp>
        <p:nvSpPr>
          <p:cNvPr id="4" name="Pladsholder til slidenummer 3"/>
          <p:cNvSpPr>
            <a:spLocks noGrp="1"/>
          </p:cNvSpPr>
          <p:nvPr>
            <p:ph type="sldNum" sz="quarter" idx="12"/>
          </p:nvPr>
        </p:nvSpPr>
        <p:spPr/>
        <p:txBody>
          <a:bodyPr/>
          <a:lstStyle/>
          <a:p>
            <a:fld id="{C1FF6DA9-008F-8B48-92A6-B652298478BF}" type="slidenum">
              <a:rPr lang="en-US" smtClean="0"/>
              <a:t>39</a:t>
            </a:fld>
            <a:endParaRPr lang="en-US"/>
          </a:p>
        </p:txBody>
      </p:sp>
    </p:spTree>
    <p:extLst>
      <p:ext uri="{BB962C8B-B14F-4D97-AF65-F5344CB8AC3E}">
        <p14:creationId xmlns:p14="http://schemas.microsoft.com/office/powerpoint/2010/main" val="4029929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500"/>
                                        <p:tgtEl>
                                          <p:spTgt spid="3">
                                            <p:txEl>
                                              <p:pRg st="4" end="4"/>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fade">
                                      <p:cBhvr>
                                        <p:cTn id="10"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da-DK" dirty="0"/>
              <a:t>Estimering af virkeligheden</a:t>
            </a:r>
            <a:endParaRPr dirty="0"/>
          </a:p>
        </p:txBody>
      </p:sp>
      <p:sp>
        <p:nvSpPr>
          <p:cNvPr id="9" name="Content Placeholder 2"/>
          <p:cNvSpPr txBox="1">
            <a:spLocks/>
          </p:cNvSpPr>
          <p:nvPr/>
        </p:nvSpPr>
        <p:spPr>
          <a:xfrm>
            <a:off x="609600" y="1666238"/>
            <a:ext cx="8229600" cy="275812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da-DK" sz="1800" dirty="0"/>
              <a:t>Sandheden/den ”rigtige” værdi defineres typisk ud fra en gold standard</a:t>
            </a:r>
          </a:p>
          <a:p>
            <a:pPr marL="0" indent="0">
              <a:buNone/>
            </a:pPr>
            <a:endParaRPr lang="da-DK" sz="1800" dirty="0"/>
          </a:p>
          <a:p>
            <a:pPr marL="0" indent="0">
              <a:buNone/>
            </a:pPr>
            <a:r>
              <a:rPr lang="da-DK" sz="1800" dirty="0"/>
              <a:t>Nye/billigere/hurtigere/smartere målemetoder kan sammenlignes med denne gold standard</a:t>
            </a:r>
          </a:p>
          <a:p>
            <a:pPr marL="0" indent="0">
              <a:buNone/>
            </a:pPr>
            <a:endParaRPr lang="da-DK" sz="1800" dirty="0"/>
          </a:p>
          <a:p>
            <a:pPr marL="0" indent="0">
              <a:buNone/>
            </a:pPr>
            <a:r>
              <a:rPr lang="da-DK" sz="1800" dirty="0"/>
              <a:t>Eksempel: VO2-max test</a:t>
            </a:r>
          </a:p>
          <a:p>
            <a:pPr marL="0" indent="0">
              <a:buNone/>
            </a:pPr>
            <a:endParaRPr lang="da-DK" sz="1400" dirty="0"/>
          </a:p>
          <a:p>
            <a:pPr marL="457200" lvl="1" indent="0">
              <a:buNone/>
            </a:pPr>
            <a:endParaRPr lang="da-DK" sz="1400" dirty="0"/>
          </a:p>
          <a:p>
            <a:pPr marL="457200" lvl="1" indent="0">
              <a:buNone/>
            </a:pPr>
            <a:endParaRPr lang="da-DK" sz="1400" dirty="0"/>
          </a:p>
          <a:p>
            <a:pPr lvl="1"/>
            <a:endParaRPr lang="da-DK" sz="1400" dirty="0"/>
          </a:p>
        </p:txBody>
      </p:sp>
      <p:pic>
        <p:nvPicPr>
          <p:cNvPr id="1026" name="Picture 2" descr="How to Test Your VO2 Max"/>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4332121"/>
            <a:ext cx="3434115" cy="1929040"/>
          </a:xfrm>
          <a:prstGeom prst="rect">
            <a:avLst/>
          </a:prstGeom>
          <a:noFill/>
          <a:extLst>
            <a:ext uri="{909E8E84-426E-40DD-AFC4-6F175D3DCCD1}">
              <a14:hiddenFill xmlns:a14="http://schemas.microsoft.com/office/drawing/2010/main">
                <a:solidFill>
                  <a:srgbClr val="FFFFFF"/>
                </a:solidFill>
              </a14:hiddenFill>
            </a:ext>
          </a:extLst>
        </p:spPr>
      </p:pic>
      <p:sp>
        <p:nvSpPr>
          <p:cNvPr id="5" name="Tekstfelt 4"/>
          <p:cNvSpPr txBox="1"/>
          <p:nvPr/>
        </p:nvSpPr>
        <p:spPr>
          <a:xfrm>
            <a:off x="553453" y="4079183"/>
            <a:ext cx="3260558" cy="276999"/>
          </a:xfrm>
          <a:prstGeom prst="rect">
            <a:avLst/>
          </a:prstGeom>
          <a:noFill/>
        </p:spPr>
        <p:txBody>
          <a:bodyPr wrap="square" rtlCol="0">
            <a:spAutoFit/>
          </a:bodyPr>
          <a:lstStyle/>
          <a:p>
            <a:r>
              <a:rPr lang="da-DK" sz="1200" b="1" dirty="0"/>
              <a:t>Gold standard måler den faktiske iltoptagelse </a:t>
            </a:r>
          </a:p>
        </p:txBody>
      </p:sp>
      <p:pic>
        <p:nvPicPr>
          <p:cNvPr id="1028" name="Picture 4" descr="Bip test er ikke min stærkeste siden | MaiHjelmgaard"/>
          <p:cNvPicPr>
            <a:picLocks noChangeAspect="1" noChangeArrowheads="1"/>
          </p:cNvPicPr>
          <p:nvPr/>
        </p:nvPicPr>
        <p:blipFill rotWithShape="1">
          <a:blip r:embed="rId3">
            <a:extLst>
              <a:ext uri="{28A0092B-C50C-407E-A947-70E740481C1C}">
                <a14:useLocalDpi xmlns:a14="http://schemas.microsoft.com/office/drawing/2010/main" val="0"/>
              </a:ext>
            </a:extLst>
          </a:blip>
          <a:srcRect l="11443" t="2748" r="10658" b="19191"/>
          <a:stretch/>
        </p:blipFill>
        <p:spPr bwMode="auto">
          <a:xfrm>
            <a:off x="5482389" y="4324005"/>
            <a:ext cx="2380248" cy="1937155"/>
          </a:xfrm>
          <a:prstGeom prst="rect">
            <a:avLst/>
          </a:prstGeom>
          <a:noFill/>
          <a:extLst>
            <a:ext uri="{909E8E84-426E-40DD-AFC4-6F175D3DCCD1}">
              <a14:hiddenFill xmlns:a14="http://schemas.microsoft.com/office/drawing/2010/main">
                <a:solidFill>
                  <a:srgbClr val="FFFFFF"/>
                </a:solidFill>
              </a14:hiddenFill>
            </a:ext>
          </a:extLst>
        </p:spPr>
      </p:pic>
      <p:sp>
        <p:nvSpPr>
          <p:cNvPr id="10" name="Tekstfelt 9"/>
          <p:cNvSpPr txBox="1"/>
          <p:nvPr/>
        </p:nvSpPr>
        <p:spPr>
          <a:xfrm>
            <a:off x="5438274" y="4079183"/>
            <a:ext cx="3260558" cy="276999"/>
          </a:xfrm>
          <a:prstGeom prst="rect">
            <a:avLst/>
          </a:prstGeom>
          <a:noFill/>
        </p:spPr>
        <p:txBody>
          <a:bodyPr wrap="square" rtlCol="0">
            <a:spAutoFit/>
          </a:bodyPr>
          <a:lstStyle/>
          <a:p>
            <a:r>
              <a:rPr lang="da-DK" sz="1200" b="1" dirty="0"/>
              <a:t>Bip-test estimerer iltoptagelsen </a:t>
            </a:r>
          </a:p>
        </p:txBody>
      </p:sp>
      <p:sp>
        <p:nvSpPr>
          <p:cNvPr id="3" name="Pladsholder til slidenummer 2"/>
          <p:cNvSpPr>
            <a:spLocks noGrp="1"/>
          </p:cNvSpPr>
          <p:nvPr>
            <p:ph type="sldNum" sz="quarter" idx="12"/>
          </p:nvPr>
        </p:nvSpPr>
        <p:spPr/>
        <p:txBody>
          <a:bodyPr/>
          <a:lstStyle/>
          <a:p>
            <a:fld id="{C1FF6DA9-008F-8B48-92A6-B652298478BF}" type="slidenum">
              <a:rPr lang="en-US" smtClean="0"/>
              <a:t>40</a:t>
            </a:fld>
            <a:endParaRPr lang="en-US"/>
          </a:p>
        </p:txBody>
      </p:sp>
    </p:spTree>
    <p:extLst>
      <p:ext uri="{BB962C8B-B14F-4D97-AF65-F5344CB8AC3E}">
        <p14:creationId xmlns:p14="http://schemas.microsoft.com/office/powerpoint/2010/main" val="1597068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2" end="2"/>
                                            </p:txEl>
                                          </p:spTgt>
                                        </p:tgtEl>
                                        <p:attrNameLst>
                                          <p:attrName>style.visibility</p:attrName>
                                        </p:attrNameLst>
                                      </p:cBhvr>
                                      <p:to>
                                        <p:strVal val="visible"/>
                                      </p:to>
                                    </p:set>
                                    <p:animEffect transition="in" filter="fade">
                                      <p:cBhvr>
                                        <p:cTn id="12" dur="500"/>
                                        <p:tgtEl>
                                          <p:spTgt spid="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xEl>
                                              <p:pRg st="4" end="4"/>
                                            </p:txEl>
                                          </p:spTgt>
                                        </p:tgtEl>
                                        <p:attrNameLst>
                                          <p:attrName>style.visibility</p:attrName>
                                        </p:attrNameLst>
                                      </p:cBhvr>
                                      <p:to>
                                        <p:strVal val="visible"/>
                                      </p:to>
                                    </p:set>
                                    <p:animEffect transition="in" filter="fade">
                                      <p:cBhvr>
                                        <p:cTn id="17" dur="500"/>
                                        <p:tgtEl>
                                          <p:spTgt spid="9">
                                            <p:txEl>
                                              <p:pRg st="4" end="4"/>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1026"/>
                                        </p:tgtEl>
                                        <p:attrNameLst>
                                          <p:attrName>style.visibility</p:attrName>
                                        </p:attrNameLst>
                                      </p:cBhvr>
                                      <p:to>
                                        <p:strVal val="visible"/>
                                      </p:to>
                                    </p:set>
                                    <p:animEffect transition="in" filter="fade">
                                      <p:cBhvr>
                                        <p:cTn id="20" dur="500"/>
                                        <p:tgtEl>
                                          <p:spTgt spid="1026"/>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par>
                                <p:cTn id="24" presetID="10" presetClass="entr" presetSubtype="0" fill="hold" nodeType="withEffect">
                                  <p:stCondLst>
                                    <p:cond delay="0"/>
                                  </p:stCondLst>
                                  <p:childTnLst>
                                    <p:set>
                                      <p:cBhvr>
                                        <p:cTn id="25" dur="1" fill="hold">
                                          <p:stCondLst>
                                            <p:cond delay="0"/>
                                          </p:stCondLst>
                                        </p:cTn>
                                        <p:tgtEl>
                                          <p:spTgt spid="1028"/>
                                        </p:tgtEl>
                                        <p:attrNameLst>
                                          <p:attrName>style.visibility</p:attrName>
                                        </p:attrNameLst>
                                      </p:cBhvr>
                                      <p:to>
                                        <p:strVal val="visible"/>
                                      </p:to>
                                    </p:set>
                                    <p:animEffect transition="in" filter="fade">
                                      <p:cBhvr>
                                        <p:cTn id="26" dur="500"/>
                                        <p:tgtEl>
                                          <p:spTgt spid="1028"/>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0"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Objektivitet og subjektivitet</a:t>
            </a:r>
          </a:p>
        </p:txBody>
      </p:sp>
      <p:sp>
        <p:nvSpPr>
          <p:cNvPr id="3" name="Content Placeholder 2"/>
          <p:cNvSpPr>
            <a:spLocks noGrp="1"/>
          </p:cNvSpPr>
          <p:nvPr>
            <p:ph idx="1"/>
          </p:nvPr>
        </p:nvSpPr>
        <p:spPr/>
        <p:txBody>
          <a:bodyPr/>
          <a:lstStyle/>
          <a:p>
            <a:endParaRPr dirty="0"/>
          </a:p>
          <a:p>
            <a:pPr>
              <a:defRPr sz="1800"/>
            </a:pPr>
            <a:r>
              <a:rPr dirty="0" err="1"/>
              <a:t>Objektiv</a:t>
            </a:r>
            <a:r>
              <a:rPr dirty="0"/>
              <a:t>: </a:t>
            </a:r>
            <a:r>
              <a:rPr dirty="0" err="1"/>
              <a:t>Målinger</a:t>
            </a:r>
            <a:r>
              <a:rPr dirty="0"/>
              <a:t> der </a:t>
            </a:r>
            <a:r>
              <a:rPr dirty="0" err="1"/>
              <a:t>ikke</a:t>
            </a:r>
            <a:r>
              <a:rPr dirty="0"/>
              <a:t> </a:t>
            </a:r>
            <a:r>
              <a:rPr dirty="0" err="1"/>
              <a:t>afhænger</a:t>
            </a:r>
            <a:r>
              <a:rPr dirty="0"/>
              <a:t> </a:t>
            </a:r>
            <a:r>
              <a:rPr dirty="0" err="1"/>
              <a:t>af</a:t>
            </a:r>
            <a:r>
              <a:rPr dirty="0"/>
              <a:t> </a:t>
            </a:r>
            <a:r>
              <a:rPr dirty="0" err="1"/>
              <a:t>observatørens</a:t>
            </a:r>
            <a:r>
              <a:rPr dirty="0"/>
              <a:t> </a:t>
            </a:r>
            <a:r>
              <a:rPr dirty="0" err="1"/>
              <a:t>vurdering</a:t>
            </a:r>
            <a:r>
              <a:rPr dirty="0"/>
              <a:t>.</a:t>
            </a:r>
          </a:p>
          <a:p>
            <a:pPr>
              <a:defRPr sz="1800"/>
            </a:pPr>
            <a:r>
              <a:rPr dirty="0" err="1"/>
              <a:t>Subjektiv</a:t>
            </a:r>
            <a:r>
              <a:rPr dirty="0"/>
              <a:t>: </a:t>
            </a:r>
            <a:r>
              <a:rPr dirty="0" err="1"/>
              <a:t>Fx</a:t>
            </a:r>
            <a:r>
              <a:rPr dirty="0"/>
              <a:t> </a:t>
            </a:r>
            <a:r>
              <a:rPr dirty="0" err="1"/>
              <a:t>smerteniveau</a:t>
            </a:r>
            <a:r>
              <a:rPr dirty="0"/>
              <a:t>, </a:t>
            </a:r>
            <a:r>
              <a:rPr dirty="0" err="1"/>
              <a:t>livskvalitet</a:t>
            </a:r>
            <a:r>
              <a:rPr dirty="0"/>
              <a:t>.</a:t>
            </a:r>
            <a:endParaRPr lang="da-DK" dirty="0"/>
          </a:p>
          <a:p>
            <a:pPr>
              <a:defRPr sz="1800"/>
            </a:pPr>
            <a:endParaRPr lang="da-DK" dirty="0"/>
          </a:p>
          <a:p>
            <a:pPr>
              <a:defRPr sz="1800"/>
            </a:pPr>
            <a:r>
              <a:rPr lang="da-DK" dirty="0"/>
              <a:t>Der kan være stor forskel!</a:t>
            </a:r>
          </a:p>
          <a:p>
            <a:pPr lvl="1">
              <a:defRPr sz="1800"/>
            </a:pPr>
            <a:r>
              <a:rPr lang="da-DK" dirty="0"/>
              <a:t>F.eks. på knæsmerter og scanning af knæ</a:t>
            </a:r>
            <a:endParaRPr dirty="0"/>
          </a:p>
        </p:txBody>
      </p:sp>
      <p:sp>
        <p:nvSpPr>
          <p:cNvPr id="4" name="Pladsholder til slidenummer 3"/>
          <p:cNvSpPr>
            <a:spLocks noGrp="1"/>
          </p:cNvSpPr>
          <p:nvPr>
            <p:ph type="sldNum" sz="quarter" idx="12"/>
          </p:nvPr>
        </p:nvSpPr>
        <p:spPr/>
        <p:txBody>
          <a:bodyPr/>
          <a:lstStyle/>
          <a:p>
            <a:fld id="{C1FF6DA9-008F-8B48-92A6-B652298478BF}" type="slidenum">
              <a:rPr lang="en-US" smtClean="0"/>
              <a:t>41</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Effect transition="in" filter="fade">
                                      <p:cBhvr>
                                        <p:cTn id="20"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a-DK" dirty="0"/>
              <a:t>Data er altid en fortolkning</a:t>
            </a:r>
            <a:endParaRPr dirty="0"/>
          </a:p>
        </p:txBody>
      </p:sp>
      <p:sp>
        <p:nvSpPr>
          <p:cNvPr id="3" name="Content Placeholder 2"/>
          <p:cNvSpPr>
            <a:spLocks noGrp="1"/>
          </p:cNvSpPr>
          <p:nvPr>
            <p:ph idx="1"/>
          </p:nvPr>
        </p:nvSpPr>
        <p:spPr/>
        <p:txBody>
          <a:bodyPr/>
          <a:lstStyle/>
          <a:p>
            <a:r>
              <a:rPr lang="da-DK" dirty="0"/>
              <a:t>Der findes ingen fuldstændig objektive målinger.</a:t>
            </a:r>
          </a:p>
          <a:p>
            <a:r>
              <a:rPr lang="da-DK" dirty="0"/>
              <a:t>Alle data er produkter af:</a:t>
            </a:r>
          </a:p>
          <a:p>
            <a:pPr lvl="1"/>
            <a:r>
              <a:rPr lang="da-DK" dirty="0"/>
              <a:t>Måleinstrumentet.</a:t>
            </a:r>
          </a:p>
          <a:p>
            <a:pPr lvl="1"/>
            <a:r>
              <a:rPr lang="da-DK" dirty="0"/>
              <a:t>Observatøren.</a:t>
            </a:r>
          </a:p>
          <a:p>
            <a:pPr lvl="1"/>
            <a:r>
              <a:rPr lang="da-DK" dirty="0"/>
              <a:t>Den kontekst, de er indsamlet i.</a:t>
            </a:r>
          </a:p>
          <a:p>
            <a:r>
              <a:rPr lang="da-DK" dirty="0"/>
              <a:t>Vigtigt: Gør dine operationaliseringer og definitioner eksplicitte i metodeafsnittet.</a:t>
            </a:r>
          </a:p>
        </p:txBody>
      </p:sp>
      <p:sp>
        <p:nvSpPr>
          <p:cNvPr id="4" name="Pladsholder til slidenummer 3"/>
          <p:cNvSpPr>
            <a:spLocks noGrp="1"/>
          </p:cNvSpPr>
          <p:nvPr>
            <p:ph type="sldNum" sz="quarter" idx="12"/>
          </p:nvPr>
        </p:nvSpPr>
        <p:spPr/>
        <p:txBody>
          <a:bodyPr/>
          <a:lstStyle/>
          <a:p>
            <a:fld id="{C1FF6DA9-008F-8B48-92A6-B652298478BF}" type="slidenum">
              <a:rPr lang="en-US" smtClean="0"/>
              <a:t>42</a:t>
            </a:fld>
            <a:endParaRPr lang="en-US"/>
          </a:p>
        </p:txBody>
      </p:sp>
    </p:spTree>
    <p:extLst>
      <p:ext uri="{BB962C8B-B14F-4D97-AF65-F5344CB8AC3E}">
        <p14:creationId xmlns:p14="http://schemas.microsoft.com/office/powerpoint/2010/main" val="3222733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da-DK" dirty="0"/>
              <a:t>Opsummering</a:t>
            </a:r>
            <a:endParaRPr dirty="0"/>
          </a:p>
        </p:txBody>
      </p:sp>
      <p:sp>
        <p:nvSpPr>
          <p:cNvPr id="3" name="Content Placeholder 2"/>
          <p:cNvSpPr>
            <a:spLocks noGrp="1"/>
          </p:cNvSpPr>
          <p:nvPr>
            <p:ph idx="1"/>
          </p:nvPr>
        </p:nvSpPr>
        <p:spPr/>
        <p:txBody>
          <a:bodyPr>
            <a:normAutofit lnSpcReduction="10000"/>
          </a:bodyPr>
          <a:lstStyle/>
          <a:p>
            <a:pPr>
              <a:buFont typeface="+mj-lt"/>
              <a:buAutoNum type="arabicPeriod"/>
              <a:defRPr sz="1800"/>
            </a:pPr>
            <a:r>
              <a:rPr lang="da-DK" dirty="0"/>
              <a:t>Informationsproblemer opstår, når data ikke afspejler virkeligheden – skyldes måleusikkerhed, bias eller misklassifikation.</a:t>
            </a:r>
          </a:p>
          <a:p>
            <a:pPr>
              <a:buFont typeface="+mj-lt"/>
              <a:buAutoNum type="arabicPeriod"/>
              <a:defRPr sz="1800"/>
            </a:pPr>
            <a:endParaRPr lang="da-DK" dirty="0"/>
          </a:p>
          <a:p>
            <a:pPr>
              <a:buFont typeface="+mj-lt"/>
              <a:buAutoNum type="arabicPeriod"/>
              <a:defRPr sz="1800"/>
            </a:pPr>
            <a:r>
              <a:rPr lang="da-DK" dirty="0"/>
              <a:t>Måleusikkerhed (tilfældige fejl) skaber støj og slører reelle sammenhænge (risiko for type II-fejl).</a:t>
            </a:r>
          </a:p>
          <a:p>
            <a:pPr lvl="1">
              <a:defRPr sz="1800"/>
            </a:pPr>
            <a:r>
              <a:rPr lang="da-DK" dirty="0"/>
              <a:t>Bias (systematiske fejl) skubber resultater i en bestemt retning </a:t>
            </a:r>
          </a:p>
          <a:p>
            <a:pPr lvl="1">
              <a:defRPr sz="1800"/>
            </a:pPr>
            <a:r>
              <a:rPr lang="da-DK" dirty="0"/>
              <a:t>Ikke-differentieret bias svækker sammenhæng (mod nulhypotesen).</a:t>
            </a:r>
          </a:p>
          <a:p>
            <a:pPr lvl="1">
              <a:defRPr sz="1800"/>
            </a:pPr>
            <a:r>
              <a:rPr lang="da-DK" dirty="0"/>
              <a:t>Differentieret bias kan give både over- og undervurdering.</a:t>
            </a:r>
          </a:p>
          <a:p>
            <a:pPr>
              <a:buFont typeface="+mj-lt"/>
              <a:buAutoNum type="arabicPeriod"/>
              <a:defRPr sz="1800"/>
            </a:pPr>
            <a:endParaRPr lang="da-DK" dirty="0"/>
          </a:p>
          <a:p>
            <a:pPr>
              <a:buFont typeface="+mj-lt"/>
              <a:buAutoNum type="arabicPeriod"/>
              <a:defRPr sz="1800"/>
            </a:pPr>
            <a:r>
              <a:rPr lang="da-DK" dirty="0"/>
              <a:t>Misklassifikation = forkert kategorisering af eksponering/sygdom.</a:t>
            </a:r>
          </a:p>
          <a:p>
            <a:pPr lvl="1">
              <a:defRPr sz="1800"/>
            </a:pPr>
            <a:r>
              <a:rPr lang="da-DK" dirty="0"/>
              <a:t>Ikke-differentieret misklassifikation giver bias </a:t>
            </a:r>
            <a:r>
              <a:rPr lang="da-DK"/>
              <a:t>mod nulhypotesen.</a:t>
            </a:r>
            <a:endParaRPr lang="da-DK" dirty="0"/>
          </a:p>
          <a:p>
            <a:pPr lvl="1">
              <a:defRPr sz="1800"/>
            </a:pPr>
            <a:r>
              <a:rPr lang="da-DK" dirty="0"/>
              <a:t>Differentieret misklassifikation giver bias i ukendt retning</a:t>
            </a:r>
          </a:p>
          <a:p>
            <a:pPr lvl="1">
              <a:defRPr sz="1800"/>
            </a:pPr>
            <a:endParaRPr lang="da-DK" dirty="0"/>
          </a:p>
          <a:p>
            <a:pPr>
              <a:buFont typeface="+mj-lt"/>
              <a:buAutoNum type="arabicPeriod"/>
              <a:defRPr sz="1800"/>
            </a:pPr>
            <a:r>
              <a:rPr lang="da-DK" dirty="0"/>
              <a:t>Virkelighed ≠ data – alle målinger er fortolkninger; vær eksplicit om operationaliseringer og metoder.</a:t>
            </a:r>
          </a:p>
          <a:p>
            <a:pPr>
              <a:buFont typeface="+mj-lt"/>
              <a:buAutoNum type="arabicPeriod"/>
              <a:defRPr sz="1800"/>
            </a:pPr>
            <a:endParaRPr lang="da-DK" dirty="0"/>
          </a:p>
          <a:p>
            <a:pPr>
              <a:buFont typeface="+mj-lt"/>
              <a:buAutoNum type="arabicPeriod"/>
              <a:defRPr sz="1800"/>
            </a:pPr>
            <a:endParaRPr dirty="0"/>
          </a:p>
        </p:txBody>
      </p:sp>
      <p:sp>
        <p:nvSpPr>
          <p:cNvPr id="9" name="Content Placeholder 2"/>
          <p:cNvSpPr txBox="1">
            <a:spLocks/>
          </p:cNvSpPr>
          <p:nvPr/>
        </p:nvSpPr>
        <p:spPr>
          <a:xfrm>
            <a:off x="609600" y="1666238"/>
            <a:ext cx="8229600" cy="275812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lvl="1"/>
            <a:endParaRPr lang="da-DK" sz="1400" dirty="0"/>
          </a:p>
        </p:txBody>
      </p:sp>
      <p:sp>
        <p:nvSpPr>
          <p:cNvPr id="4" name="Pladsholder til slidenummer 3"/>
          <p:cNvSpPr>
            <a:spLocks noGrp="1"/>
          </p:cNvSpPr>
          <p:nvPr>
            <p:ph type="sldNum" sz="quarter" idx="12"/>
          </p:nvPr>
        </p:nvSpPr>
        <p:spPr/>
        <p:txBody>
          <a:bodyPr/>
          <a:lstStyle/>
          <a:p>
            <a:fld id="{C1FF6DA9-008F-8B48-92A6-B652298478BF}" type="slidenum">
              <a:rPr lang="en-US" smtClean="0"/>
              <a:t>43</a:t>
            </a:fld>
            <a:endParaRPr lang="en-US"/>
          </a:p>
        </p:txBody>
      </p:sp>
    </p:spTree>
    <p:extLst>
      <p:ext uri="{BB962C8B-B14F-4D97-AF65-F5344CB8AC3E}">
        <p14:creationId xmlns:p14="http://schemas.microsoft.com/office/powerpoint/2010/main" val="1724624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500"/>
                                        <p:tgtEl>
                                          <p:spTgt spid="3">
                                            <p:txEl>
                                              <p:pRg st="5" end="5"/>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
                                            <p:txEl>
                                              <p:pRg st="7" end="7"/>
                                            </p:txEl>
                                          </p:spTgt>
                                        </p:tgtEl>
                                        <p:attrNameLst>
                                          <p:attrName>style.visibility</p:attrName>
                                        </p:attrNameLst>
                                      </p:cBhvr>
                                      <p:to>
                                        <p:strVal val="visible"/>
                                      </p:to>
                                    </p:set>
                                    <p:animEffect transition="in" filter="fade">
                                      <p:cBhvr>
                                        <p:cTn id="26" dur="500"/>
                                        <p:tgtEl>
                                          <p:spTgt spid="3">
                                            <p:txEl>
                                              <p:pRg st="7" end="7"/>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animEffect transition="in" filter="fade">
                                      <p:cBhvr>
                                        <p:cTn id="29" dur="500"/>
                                        <p:tgtEl>
                                          <p:spTgt spid="3">
                                            <p:txEl>
                                              <p:pRg st="8" end="8"/>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
                                            <p:txEl>
                                              <p:pRg st="9" end="9"/>
                                            </p:txEl>
                                          </p:spTgt>
                                        </p:tgtEl>
                                        <p:attrNameLst>
                                          <p:attrName>style.visibility</p:attrName>
                                        </p:attrNameLst>
                                      </p:cBhvr>
                                      <p:to>
                                        <p:strVal val="visible"/>
                                      </p:to>
                                    </p:set>
                                    <p:animEffect transition="in" filter="fade">
                                      <p:cBhvr>
                                        <p:cTn id="32" dur="500"/>
                                        <p:tgtEl>
                                          <p:spTgt spid="3">
                                            <p:txEl>
                                              <p:pRg st="9" end="9"/>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11" end="11"/>
                                            </p:txEl>
                                          </p:spTgt>
                                        </p:tgtEl>
                                        <p:attrNameLst>
                                          <p:attrName>style.visibility</p:attrName>
                                        </p:attrNameLst>
                                      </p:cBhvr>
                                      <p:to>
                                        <p:strVal val="visible"/>
                                      </p:to>
                                    </p:set>
                                    <p:animEffect transition="in" filter="fade">
                                      <p:cBhvr>
                                        <p:cTn id="37"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ctrTitle"/>
          </p:nvPr>
        </p:nvSpPr>
        <p:spPr/>
        <p:txBody>
          <a:bodyPr/>
          <a:lstStyle/>
          <a:p>
            <a:r>
              <a:rPr lang="da-DK"/>
              <a:t>Eksamen</a:t>
            </a:r>
            <a:endParaRPr lang="da-DK" dirty="0"/>
          </a:p>
        </p:txBody>
      </p:sp>
      <p:sp>
        <p:nvSpPr>
          <p:cNvPr id="5" name="Undertitel 4"/>
          <p:cNvSpPr>
            <a:spLocks noGrp="1"/>
          </p:cNvSpPr>
          <p:nvPr>
            <p:ph type="subTitle" idx="1"/>
          </p:nvPr>
        </p:nvSpPr>
        <p:spPr/>
        <p:txBody>
          <a:bodyPr/>
          <a:lstStyle/>
          <a:p>
            <a:endParaRPr lang="da-DK"/>
          </a:p>
        </p:txBody>
      </p:sp>
      <p:sp>
        <p:nvSpPr>
          <p:cNvPr id="2" name="Pladsholder til slidenummer 1"/>
          <p:cNvSpPr>
            <a:spLocks noGrp="1"/>
          </p:cNvSpPr>
          <p:nvPr>
            <p:ph type="sldNum" sz="quarter" idx="12"/>
          </p:nvPr>
        </p:nvSpPr>
        <p:spPr/>
        <p:txBody>
          <a:bodyPr/>
          <a:lstStyle/>
          <a:p>
            <a:fld id="{C1FF6DA9-008F-8B48-92A6-B652298478BF}" type="slidenum">
              <a:rPr lang="en-US" smtClean="0"/>
              <a:t>44</a:t>
            </a:fld>
            <a:endParaRPr lang="en-US"/>
          </a:p>
        </p:txBody>
      </p:sp>
    </p:spTree>
    <p:extLst>
      <p:ext uri="{BB962C8B-B14F-4D97-AF65-F5344CB8AC3E}">
        <p14:creationId xmlns:p14="http://schemas.microsoft.com/office/powerpoint/2010/main" val="37219967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tema">
  <a:themeElements>
    <a:clrScheme name="Kont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ontor">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ont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1608</TotalTime>
  <Words>2375</Words>
  <Application>Microsoft Office PowerPoint</Application>
  <PresentationFormat>Skærmshow (4:3)</PresentationFormat>
  <Paragraphs>442</Paragraphs>
  <Slides>44</Slides>
  <Notes>13</Notes>
  <HiddenSlides>0</HiddenSlides>
  <MMClips>0</MMClips>
  <ScaleCrop>false</ScaleCrop>
  <HeadingPairs>
    <vt:vector size="6" baseType="variant">
      <vt:variant>
        <vt:lpstr>Benyttede skrifttyper</vt:lpstr>
      </vt:variant>
      <vt:variant>
        <vt:i4>3</vt:i4>
      </vt:variant>
      <vt:variant>
        <vt:lpstr>Tema</vt:lpstr>
      </vt:variant>
      <vt:variant>
        <vt:i4>1</vt:i4>
      </vt:variant>
      <vt:variant>
        <vt:lpstr>Slidetitler</vt:lpstr>
      </vt:variant>
      <vt:variant>
        <vt:i4>44</vt:i4>
      </vt:variant>
    </vt:vector>
  </HeadingPairs>
  <TitlesOfParts>
    <vt:vector size="48" baseType="lpstr">
      <vt:lpstr>Arial</vt:lpstr>
      <vt:lpstr>Calibri</vt:lpstr>
      <vt:lpstr>Calibri Light</vt:lpstr>
      <vt:lpstr>Office Theme</vt:lpstr>
      <vt:lpstr>PowerPoint-præsentation</vt:lpstr>
      <vt:lpstr>Formål med forelæsningen</vt:lpstr>
      <vt:lpstr>Dagens program</vt:lpstr>
      <vt:lpstr>Grundbegreber</vt:lpstr>
      <vt:lpstr>Hvad er informationsproblemer?</vt:lpstr>
      <vt:lpstr>Validitet og reliabilitet</vt:lpstr>
      <vt:lpstr>Usikkerhed vs. bias</vt:lpstr>
      <vt:lpstr>Validitet, reliabilitet og bias</vt:lpstr>
      <vt:lpstr>Målefejl</vt:lpstr>
      <vt:lpstr>Tilfældig fejl</vt:lpstr>
      <vt:lpstr>Måleusikkerhed</vt:lpstr>
      <vt:lpstr>Biologisk korttidsvariation</vt:lpstr>
      <vt:lpstr>Måleusikkerhed</vt:lpstr>
      <vt:lpstr>Systematisk fejl</vt:lpstr>
      <vt:lpstr>Bias</vt:lpstr>
      <vt:lpstr>Konsekvenser af måleusikkerhed og målebias</vt:lpstr>
      <vt:lpstr>Konsekvenser af måleusikkerhed</vt:lpstr>
      <vt:lpstr>Ikke-diffentieret målebias</vt:lpstr>
      <vt:lpstr>Diffentieret målebias</vt:lpstr>
      <vt:lpstr>Konsekvenser af bias</vt:lpstr>
      <vt:lpstr>Eksempler på typer af informationsbias</vt:lpstr>
      <vt:lpstr>Eksempler på typer af informationsbias</vt:lpstr>
      <vt:lpstr>Eksempler på typer af informationsbias</vt:lpstr>
      <vt:lpstr>Eksempler på typer af informationsbias</vt:lpstr>
      <vt:lpstr>Eksempler på typer af informationsbias</vt:lpstr>
      <vt:lpstr>Eksempler på typer af informationsbias</vt:lpstr>
      <vt:lpstr>Misklassifikation</vt:lpstr>
      <vt:lpstr>Misklassifikation</vt:lpstr>
      <vt:lpstr>Misklassifikation</vt:lpstr>
      <vt:lpstr>Sensitivitet og specificitet</vt:lpstr>
      <vt:lpstr>Misklassifikation</vt:lpstr>
      <vt:lpstr>Misklassifikation</vt:lpstr>
      <vt:lpstr>Misklassifikation</vt:lpstr>
      <vt:lpstr>Misklassifikation</vt:lpstr>
      <vt:lpstr>Misklassifikation</vt:lpstr>
      <vt:lpstr>Virkelighed og data</vt:lpstr>
      <vt:lpstr>Virkelighed vs data</vt:lpstr>
      <vt:lpstr>Operationalisering</vt:lpstr>
      <vt:lpstr>Begrebsmæssig validitet (Construct validity)</vt:lpstr>
      <vt:lpstr>Estimering af virkeligheden</vt:lpstr>
      <vt:lpstr>Objektivitet og subjektivitet</vt:lpstr>
      <vt:lpstr>Data er altid en fortolkning</vt:lpstr>
      <vt:lpstr>Opsummering</vt:lpstr>
      <vt:lpstr>Eksamen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Titel</dc:title>
  <dc:subject/>
  <dc:creator>Jens-Jakob Kjer Møller</dc:creator>
  <cp:keywords/>
  <dc:description>generated using python-pptx</dc:description>
  <cp:lastModifiedBy>Jens-Jakob Kjer Møller</cp:lastModifiedBy>
  <cp:revision>104</cp:revision>
  <dcterms:created xsi:type="dcterms:W3CDTF">2013-01-27T09:14:16Z</dcterms:created>
  <dcterms:modified xsi:type="dcterms:W3CDTF">2026-03-12T10:09:49Z</dcterms:modified>
  <cp:category/>
</cp:coreProperties>
</file>