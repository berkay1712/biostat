
<file path=[Content_Types].xml><?xml version="1.0" encoding="utf-8"?>
<Types xmlns="http://schemas.openxmlformats.org/package/2006/content-types">
  <Default Extension="bin" ContentType="image/x-e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notesMasterIdLst>
    <p:notesMasterId r:id="rId14"/>
  </p:notesMasterIdLst>
  <p:sldIdLst>
    <p:sldId id="256" r:id="rId6"/>
    <p:sldId id="257" r:id="rId7"/>
    <p:sldId id="261" r:id="rId8"/>
    <p:sldId id="262" r:id="rId9"/>
    <p:sldId id="258" r:id="rId10"/>
    <p:sldId id="259" r:id="rId11"/>
    <p:sldId id="263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2" autoAdjust="0"/>
  </p:normalViewPr>
  <p:slideViewPr>
    <p:cSldViewPr snapToGrid="0" showGuides="1">
      <p:cViewPr varScale="1">
        <p:scale>
          <a:sx n="55" d="100"/>
          <a:sy n="55" d="100"/>
        </p:scale>
        <p:origin x="1096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D72A38B-F9FA-4036-A084-652409E98F08}" type="datetimeFigureOut">
              <a:rPr lang="en-GB"/>
              <a:pPr/>
              <a:t>24/02/2026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9436F85-577F-4A92-A47F-D540A2BCC821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09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Hint: se </a:t>
            </a:r>
            <a:r>
              <a:rPr lang="en-US" dirty="0" err="1"/>
              <a:t>punkt</a:t>
            </a:r>
            <a:r>
              <a:rPr lang="en-US" dirty="0"/>
              <a:t> g. </a:t>
            </a:r>
            <a:br>
              <a:rPr lang="en-US" dirty="0"/>
            </a:br>
            <a:r>
              <a:rPr lang="en-US" dirty="0" err="1"/>
              <a:t>Tid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galdeblæresygdom</a:t>
            </a:r>
            <a:r>
              <a:rPr lang="en-US" dirty="0"/>
              <a:t> </a:t>
            </a:r>
            <a:r>
              <a:rPr lang="en-US" dirty="0" err="1"/>
              <a:t>eller</a:t>
            </a:r>
            <a:r>
              <a:rPr lang="en-US" dirty="0"/>
              <a:t> end-of-follow-up/</a:t>
            </a:r>
            <a:r>
              <a:rPr lang="en-US" dirty="0" err="1"/>
              <a:t>censorering</a:t>
            </a:r>
            <a:r>
              <a:rPr lang="en-US" dirty="0"/>
              <a:t> </a:t>
            </a:r>
          </a:p>
          <a:p>
            <a:r>
              <a:rPr lang="en-US" dirty="0"/>
              <a:t>Man burger cox, </a:t>
            </a:r>
            <a:r>
              <a:rPr lang="en-US" dirty="0" err="1"/>
              <a:t>når</a:t>
            </a:r>
            <a:r>
              <a:rPr lang="en-US" dirty="0"/>
              <a:t> </a:t>
            </a:r>
            <a:r>
              <a:rPr lang="en-US" dirty="0" err="1"/>
              <a:t>vores</a:t>
            </a:r>
            <a:r>
              <a:rPr lang="en-US" dirty="0"/>
              <a:t> outcome er et </a:t>
            </a:r>
            <a:r>
              <a:rPr lang="en-US" dirty="0" err="1"/>
              <a:t>tid-til-hændelse</a:t>
            </a:r>
            <a:r>
              <a:rPr lang="en-US" dirty="0"/>
              <a:t> (time-to-event).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36F85-577F-4A92-A47F-D540A2BCC821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1284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vid 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9384" y="1760373"/>
            <a:ext cx="10069011" cy="4070408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94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</a:p>
        </p:txBody>
      </p:sp>
      <p:sp>
        <p:nvSpPr>
          <p:cNvPr id="13" name="Date Placeholder 14">
            <a:extLst>
              <a:ext uri="{FF2B5EF4-FFF2-40B4-BE49-F238E27FC236}">
                <a16:creationId xmlns:a16="http://schemas.microsoft.com/office/drawing/2014/main" id="{5161ABAB-6DB4-433A-ACC8-A0EC0AACA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BC3A8B03-9EA5-416E-BD54-B87E6C4A6781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903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1A9A-6ADC-4F72-A312-ED1DBEF01B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028246"/>
            <a:ext cx="10962000" cy="671967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11163" y="1989138"/>
            <a:ext cx="10961237" cy="386446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tekst, klik ikon for at tilføje graf/tabel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pic>
        <p:nvPicPr>
          <p:cNvPr id="22" name="Logo black">
            <a:extLst>
              <a:ext uri="{FF2B5EF4-FFF2-40B4-BE49-F238E27FC236}">
                <a16:creationId xmlns:a16="http://schemas.microsoft.com/office/drawing/2014/main" id="{CAAF367F-3818-457C-9EE1-320E9050AE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779A9-E4FE-4412-9D9E-BF5BF84D02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949DE-6D77-480D-A4A9-E2E53BE1CE8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61292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rt 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BBCAF46D-9983-4AEE-9B8A-24654CDEDDB0}"/>
              </a:ext>
            </a:extLst>
          </p:cNvPr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da-DK" sz="1600" dirty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9384" y="1760373"/>
            <a:ext cx="10069011" cy="4070408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94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pic>
        <p:nvPicPr>
          <p:cNvPr id="7" name="Logo black">
            <a:extLst>
              <a:ext uri="{FF2B5EF4-FFF2-40B4-BE49-F238E27FC236}">
                <a16:creationId xmlns:a16="http://schemas.microsoft.com/office/drawing/2014/main" id="{E6E48129-FB3C-4F39-A5A1-63313B41D3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00" y="6296400"/>
            <a:ext cx="786874" cy="212400"/>
          </a:xfrm>
          <a:prstGeom prst="rect">
            <a:avLst/>
          </a:prstGeom>
        </p:spPr>
      </p:pic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D4E1389B-CA3B-4709-956D-F396D960B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8A94F1C1-AE36-4BBA-B958-8FC614A9472A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5C6B8E24-66E4-1DDA-ADCF-C1D6EB952142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67525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AC5FF5C-5A1F-4EF8-85A8-E1370E4FA7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pic>
        <p:nvPicPr>
          <p:cNvPr id="13" name="Logo black">
            <a:extLst>
              <a:ext uri="{FF2B5EF4-FFF2-40B4-BE49-F238E27FC236}">
                <a16:creationId xmlns:a16="http://schemas.microsoft.com/office/drawing/2014/main" id="{8790A71A-B09B-4B5F-9D31-846A17201C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7" name="Date Placeholder 14">
            <a:extLst>
              <a:ext uri="{FF2B5EF4-FFF2-40B4-BE49-F238E27FC236}">
                <a16:creationId xmlns:a16="http://schemas.microsoft.com/office/drawing/2014/main" id="{D63CFED0-47FC-4852-81C1-6B705FD6417D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69D838CB-E753-1CD5-AF9E-101E63EE7002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09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A915360E-F247-49FB-821B-5399F132647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FB068F22-0263-44BB-8333-C5643293F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8" name="Date Placeholder 14">
            <a:extLst>
              <a:ext uri="{FF2B5EF4-FFF2-40B4-BE49-F238E27FC236}">
                <a16:creationId xmlns:a16="http://schemas.microsoft.com/office/drawing/2014/main" id="{2D08A2CA-4B19-4B39-B540-F97244C446A4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5003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D41ADC-5992-4476-8E55-8A709AA1B4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73356" y="1700212"/>
            <a:ext cx="4693920" cy="41417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tekst, klik ikon for at tilføje graf/tabel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10" name="Date Placeholder 14">
            <a:extLst>
              <a:ext uri="{FF2B5EF4-FFF2-40B4-BE49-F238E27FC236}">
                <a16:creationId xmlns:a16="http://schemas.microsoft.com/office/drawing/2014/main" id="{BBCDE8CE-8147-4B12-B358-7B7ACA92F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7ACE2053-07AA-42FA-A789-E1430CAF7988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CBB1C-1FE3-42F2-ACED-70B0664062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096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indhol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1A9A-6ADC-4F72-A312-ED1DBEF01B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028246"/>
            <a:ext cx="5366267" cy="1884283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56000" y="1028246"/>
            <a:ext cx="5216400" cy="482535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tekst, klik ikon for at tilføje graf/tabel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pic>
        <p:nvPicPr>
          <p:cNvPr id="22" name="Logo black">
            <a:extLst>
              <a:ext uri="{FF2B5EF4-FFF2-40B4-BE49-F238E27FC236}">
                <a16:creationId xmlns:a16="http://schemas.microsoft.com/office/drawing/2014/main" id="{CAAF367F-3818-457C-9EE1-320E9050AE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F779A9-E4FE-4412-9D9E-BF5BF84D02A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5949DE-6D77-480D-A4A9-E2E53BE1CE8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1771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dhold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92202" y="1006605"/>
            <a:ext cx="4680000" cy="193833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B99C08-64C3-4ADA-9CD2-FBE2ED8551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2202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pic>
        <p:nvPicPr>
          <p:cNvPr id="16" name="Logo black">
            <a:extLst>
              <a:ext uri="{FF2B5EF4-FFF2-40B4-BE49-F238E27FC236}">
                <a16:creationId xmlns:a16="http://schemas.microsoft.com/office/drawing/2014/main" id="{B52757AD-346A-4AA0-A5D6-36F8B1FE48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A09FC7B4-885C-4F9D-BD71-AE2FBDB38698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FEE58-0FE9-4218-904C-188D46CD214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2432" y="1000443"/>
            <a:ext cx="5077365" cy="48531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tekst, klik ikon for at tilføje graf/tabel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F302217-B569-449A-8422-B6650C9BB0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58D7263E-B2E5-4CB9-9AAF-C0006E4A040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D1BE9BA7-ED5E-4943-A249-9704A0A8F736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654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9A67-E62D-400C-BC42-A3A96AAED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1028247"/>
            <a:ext cx="2502000" cy="432000"/>
          </a:xfrm>
        </p:spPr>
        <p:txBody>
          <a:bodyPr/>
          <a:lstStyle>
            <a:lvl1pPr>
              <a:lnSpc>
                <a:spcPct val="110000"/>
              </a:lnSpc>
              <a:defRPr sz="1200"/>
            </a:lvl1pPr>
          </a:lstStyle>
          <a:p>
            <a:r>
              <a:rPr lang="da-DK" noProof="0" dirty="0"/>
              <a:t>Klik for at tilføje underoverskrift</a:t>
            </a:r>
            <a:endParaRPr lang="da-DK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0E8CAC-51BD-4862-8B6E-BD3E315677C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noProof="0" dirty="0"/>
              <a:t>Klik for at tilføje tekst</a:t>
            </a:r>
            <a:endParaRPr lang="da-DK"/>
          </a:p>
          <a:p>
            <a:pPr lvl="1"/>
            <a:r>
              <a:rPr lang="da-DK" noProof="0" dirty="0"/>
              <a:t>Second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2"/>
            <a:r>
              <a:rPr lang="da-DK" noProof="0" dirty="0"/>
              <a:t>Third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3"/>
            <a:r>
              <a:rPr lang="da-DK" noProof="0" dirty="0" err="1"/>
              <a:t>Fourth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4"/>
            <a:r>
              <a:rPr lang="da-DK" noProof="0" dirty="0"/>
              <a:t>Fifth </a:t>
            </a:r>
            <a:r>
              <a:rPr lang="da-DK" noProof="0" dirty="0" err="1"/>
              <a:t>level</a:t>
            </a:r>
            <a:endParaRPr lang="da-DK" noProof="0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25135A09-8F8A-4D87-8C43-B3A0A80BE2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73164" y="1028246"/>
            <a:ext cx="2502000" cy="432000"/>
          </a:xfrm>
        </p:spPr>
        <p:txBody>
          <a:bodyPr/>
          <a:lstStyle>
            <a:lvl1pPr marL="0" indent="0" algn="l">
              <a:buNone/>
              <a:defRPr sz="1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noProof="0" dirty="0"/>
              <a:t>Klik for at tilføje underoverskrift</a:t>
            </a:r>
            <a:endParaRPr lang="da-DK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62D92C6-668E-491E-B394-72897FAB308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273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noProof="0" dirty="0"/>
              <a:t>Klik for at tilføje tekst</a:t>
            </a:r>
            <a:endParaRPr lang="da-DK"/>
          </a:p>
          <a:p>
            <a:pPr lvl="1"/>
            <a:r>
              <a:rPr lang="da-DK" noProof="0" dirty="0"/>
              <a:t>Second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2"/>
            <a:r>
              <a:rPr lang="da-DK" noProof="0" dirty="0"/>
              <a:t>Third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3"/>
            <a:r>
              <a:rPr lang="da-DK" noProof="0" dirty="0" err="1"/>
              <a:t>Fourth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4"/>
            <a:r>
              <a:rPr lang="da-DK" noProof="0" dirty="0"/>
              <a:t>Fifth </a:t>
            </a:r>
            <a:r>
              <a:rPr lang="da-DK" noProof="0" dirty="0" err="1"/>
              <a:t>level</a:t>
            </a:r>
            <a:endParaRPr lang="da-DK" noProof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0F1B1F1-CA40-4EA4-AB68-69DBBD61ED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35163" y="1028246"/>
            <a:ext cx="2502000" cy="432000"/>
          </a:xfrm>
        </p:spPr>
        <p:txBody>
          <a:bodyPr/>
          <a:lstStyle>
            <a:lvl1pPr marL="0" indent="0">
              <a:buNone/>
              <a:defRPr sz="1200" b="1"/>
            </a:lvl1pPr>
            <a:lvl2pPr marL="252000" indent="0">
              <a:buNone/>
              <a:defRPr/>
            </a:lvl2pPr>
          </a:lstStyle>
          <a:p>
            <a:pPr lvl="0"/>
            <a:r>
              <a:rPr lang="da-DK" noProof="0" dirty="0"/>
              <a:t>Klik for at tilføje underoverskrift</a:t>
            </a:r>
            <a:endParaRPr lang="da-DK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DBEE0FF-2C0E-499E-ACAF-B6F421AF13D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35163" y="1475354"/>
            <a:ext cx="2502000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noProof="0" dirty="0"/>
              <a:t>Klik for at tilføje tekst</a:t>
            </a:r>
            <a:endParaRPr lang="da-DK"/>
          </a:p>
          <a:p>
            <a:pPr lvl="1"/>
            <a:r>
              <a:rPr lang="da-DK" noProof="0" dirty="0"/>
              <a:t>Second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2"/>
            <a:r>
              <a:rPr lang="da-DK" noProof="0" dirty="0"/>
              <a:t>Third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3"/>
            <a:r>
              <a:rPr lang="da-DK" noProof="0" dirty="0" err="1"/>
              <a:t>Fourth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4"/>
            <a:r>
              <a:rPr lang="da-DK" noProof="0" dirty="0"/>
              <a:t>Fifth </a:t>
            </a:r>
            <a:r>
              <a:rPr lang="da-DK" noProof="0" dirty="0" err="1"/>
              <a:t>level</a:t>
            </a:r>
            <a:endParaRPr lang="da-DK" noProof="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091117C-5AED-4416-88BA-F1C88ACD7A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97162" y="1028247"/>
            <a:ext cx="2502000" cy="432000"/>
          </a:xfrm>
        </p:spPr>
        <p:txBody>
          <a:bodyPr/>
          <a:lstStyle>
            <a:lvl1pPr marL="0" indent="0">
              <a:buNone/>
              <a:defRPr sz="1200" b="1"/>
            </a:lvl1pPr>
            <a:lvl2pPr marL="252000" indent="0">
              <a:buNone/>
              <a:defRPr/>
            </a:lvl2pPr>
          </a:lstStyle>
          <a:p>
            <a:pPr lvl="0"/>
            <a:r>
              <a:rPr lang="da-DK" noProof="0" dirty="0"/>
              <a:t>Klik for at tilføje underoverskrift</a:t>
            </a:r>
            <a:endParaRPr lang="da-DK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C66F31E1-769E-4E9A-9DCC-2C64321A89C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997161" y="1475354"/>
            <a:ext cx="2501999" cy="436664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a-DK" noProof="0" dirty="0"/>
              <a:t>Klik for at tilføje tekst</a:t>
            </a:r>
            <a:endParaRPr lang="da-DK"/>
          </a:p>
          <a:p>
            <a:pPr lvl="1"/>
            <a:r>
              <a:rPr lang="da-DK" noProof="0" dirty="0"/>
              <a:t>Second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2"/>
            <a:r>
              <a:rPr lang="da-DK" noProof="0" dirty="0"/>
              <a:t>Third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3"/>
            <a:r>
              <a:rPr lang="da-DK" noProof="0" dirty="0" err="1"/>
              <a:t>Fourth</a:t>
            </a:r>
            <a:r>
              <a:rPr lang="da-DK" noProof="0" dirty="0"/>
              <a:t> </a:t>
            </a:r>
            <a:r>
              <a:rPr lang="da-DK" noProof="0" dirty="0" err="1"/>
              <a:t>level</a:t>
            </a:r>
            <a:endParaRPr lang="da-DK" noProof="0" dirty="0"/>
          </a:p>
          <a:p>
            <a:pPr lvl="4"/>
            <a:r>
              <a:rPr lang="da-DK" noProof="0" dirty="0"/>
              <a:t>Fifth </a:t>
            </a:r>
            <a:r>
              <a:rPr lang="da-DK" noProof="0" dirty="0" err="1"/>
              <a:t>level</a:t>
            </a:r>
            <a:endParaRPr lang="da-DK" noProof="0" dirty="0"/>
          </a:p>
        </p:txBody>
      </p:sp>
      <p:sp>
        <p:nvSpPr>
          <p:cNvPr id="28" name="Date Placeholder 14">
            <a:extLst>
              <a:ext uri="{FF2B5EF4-FFF2-40B4-BE49-F238E27FC236}">
                <a16:creationId xmlns:a16="http://schemas.microsoft.com/office/drawing/2014/main" id="{1DCD95D8-07B6-42C0-8767-A640B7CA8534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88C40-671D-463C-8463-D77B96C28D8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93800-6F51-413B-BA21-0A9967FF33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41953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lede og ind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dsholder til billede 3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099300" cy="68580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6692401" y="1076109"/>
            <a:ext cx="4680000" cy="1822734"/>
          </a:xfrm>
        </p:spPr>
        <p:txBody>
          <a:bodyPr/>
          <a:lstStyle>
            <a:lvl1pPr>
              <a:defRPr/>
            </a:lvl1pPr>
          </a:lstStyle>
          <a:p>
            <a:r>
              <a:rPr lang="da-DK" dirty="0"/>
              <a:t>Klik for at tilføje overskrift, maksimalt 3 linjer</a:t>
            </a:r>
            <a:endParaRPr lang="da-DK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256969-981A-4869-9324-B595DF89D12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692400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pic>
        <p:nvPicPr>
          <p:cNvPr id="20" name="Logo black">
            <a:extLst>
              <a:ext uri="{FF2B5EF4-FFF2-40B4-BE49-F238E27FC236}">
                <a16:creationId xmlns:a16="http://schemas.microsoft.com/office/drawing/2014/main" id="{1421C492-A651-4EE4-BB8B-C6886E7B5C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400" y="6294893"/>
            <a:ext cx="784800" cy="211840"/>
          </a:xfrm>
          <a:prstGeom prst="rect">
            <a:avLst/>
          </a:prstGeom>
        </p:spPr>
      </p:pic>
      <p:sp>
        <p:nvSpPr>
          <p:cNvPr id="30" name="Date Placeholder 14">
            <a:extLst>
              <a:ext uri="{FF2B5EF4-FFF2-40B4-BE49-F238E27FC236}">
                <a16:creationId xmlns:a16="http://schemas.microsoft.com/office/drawing/2014/main" id="{2C4B35A0-F8F7-420F-9E06-CC0AAAA0B84F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9" name="TextBox 19">
            <a:extLst>
              <a:ext uri="{FF2B5EF4-FFF2-40B4-BE49-F238E27FC236}">
                <a16:creationId xmlns:a16="http://schemas.microsoft.com/office/drawing/2014/main" id="{77BCC6E7-9279-FA89-A785-CF0077EE4743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072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lede og tekst (CV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6710399" y="1700213"/>
            <a:ext cx="4677070" cy="1436392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 dirty="0"/>
              <a:t>Overskrift i </a:t>
            </a:r>
            <a:r>
              <a:rPr lang="da-DK" dirty="0" err="1"/>
              <a:t>maks</a:t>
            </a:r>
            <a:r>
              <a:rPr lang="da-DK" dirty="0"/>
              <a:t> 2 linjer</a:t>
            </a:r>
            <a:endParaRPr lang="da-DK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FAAEFF0-FCE4-48D6-A0D1-A458F3CD3E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92202" y="3387600"/>
            <a:ext cx="4680000" cy="24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a-DK" dirty="0"/>
              <a:t>Klik for at tilføje tekst</a:t>
            </a:r>
            <a:endParaRPr lang="da-DK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21E6D3-406B-4DA0-9B5A-6A2F208BAF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10399" y="452437"/>
            <a:ext cx="4659277" cy="790493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da-DK" dirty="0"/>
              <a:t>Klik for at indsætte tekst (f.eks. job titel)</a:t>
            </a:r>
            <a:endParaRPr lang="da-DK"/>
          </a:p>
        </p:txBody>
      </p:sp>
      <p:sp>
        <p:nvSpPr>
          <p:cNvPr id="10" name="Pladsholder til billede 3"/>
          <p:cNvSpPr>
            <a:spLocks noGrp="1"/>
          </p:cNvSpPr>
          <p:nvPr>
            <p:ph type="pic" sz="quarter" idx="13" hasCustomPrompt="1"/>
          </p:nvPr>
        </p:nvSpPr>
        <p:spPr>
          <a:xfrm>
            <a:off x="411163" y="1016000"/>
            <a:ext cx="4043879" cy="4804038"/>
          </a:xfrm>
          <a:noFill/>
        </p:spPr>
        <p:txBody>
          <a:bodyPr/>
          <a:lstStyle>
            <a:lvl1pPr marL="0" indent="0" algn="ctr">
              <a:buNone/>
              <a:defRPr sz="11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4AC2696B-BD55-4932-A36E-BCC4318F22B0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91D0A-163E-46D9-B4AE-DA279145732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A9685AE-678B-466E-B97B-590BC795CFD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  <p:pic>
        <p:nvPicPr>
          <p:cNvPr id="13" name="Logo black">
            <a:extLst>
              <a:ext uri="{FF2B5EF4-FFF2-40B4-BE49-F238E27FC236}">
                <a16:creationId xmlns:a16="http://schemas.microsoft.com/office/drawing/2014/main" id="{16CDF92D-C78F-4CBE-853B-4E3CD39D2A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14" name="TextBox 19">
            <a:extLst>
              <a:ext uri="{FF2B5EF4-FFF2-40B4-BE49-F238E27FC236}">
                <a16:creationId xmlns:a16="http://schemas.microsoft.com/office/drawing/2014/main" id="{84BAC96C-D3F0-4589-BA68-661284F36D77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72234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AC5FF5C-5A1F-4EF8-85A8-E1370E4FA7C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15848" y="1000443"/>
            <a:ext cx="4951428" cy="4841557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da-DK" dirty="0"/>
              <a:t>Vælg pladsholderen og indsæt billede via Templafy/Skyfish eller ikon eller logo via Templafy/Billeder</a:t>
            </a:r>
            <a:endParaRPr lang="da-DK"/>
          </a:p>
        </p:txBody>
      </p:sp>
      <p:sp>
        <p:nvSpPr>
          <p:cNvPr id="17" name="Date Placeholder 14">
            <a:extLst>
              <a:ext uri="{FF2B5EF4-FFF2-40B4-BE49-F238E27FC236}">
                <a16:creationId xmlns:a16="http://schemas.microsoft.com/office/drawing/2014/main" id="{360EC57D-D72D-43A3-90BC-3ACC9F8BC9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36B2A848-B2AD-472A-AC10-0002D162D52D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D6F82-73FC-4F13-BFEC-9200E77E15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18304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e 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A71C01-3350-42F9-9392-0F3379095A9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32902" y="1700213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da-DK" dirty="0"/>
              <a:t>Indsæt logo: Vælg pladsholderen, indsæt logo via Templafy/Billeder</a:t>
            </a:r>
            <a:endParaRPr lang="da-DK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A09C85-3CCC-44AB-A808-AA96845B12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32902" y="2733129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1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da-DK"/>
              <a:t>Klik for at tilføje overskrift</a:t>
            </a:r>
          </a:p>
          <a:p>
            <a:pPr lvl="1"/>
            <a:r>
              <a:rPr lang="da-DK"/>
              <a:t>Second level</a:t>
            </a:r>
          </a:p>
          <a:p>
            <a:pPr lvl="2"/>
            <a:endParaRPr lang="da-DK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F35B7FD-E0E2-4581-BAC7-8858E530AF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34000" y="4012975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da-DK" dirty="0"/>
              <a:t>Indsæt logo: Vælg pladsholderen, indsæt logo via Templafy/Billeder</a:t>
            </a:r>
            <a:endParaRPr lang="da-DK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C92166-E723-47D5-9A87-3354EB28C4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32112" y="509324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252000" indent="0">
              <a:buNone/>
              <a:defRPr/>
            </a:lvl3pPr>
          </a:lstStyle>
          <a:p>
            <a:pPr lvl="0"/>
            <a:r>
              <a:rPr lang="da-DK" dirty="0"/>
              <a:t>Klik for at </a:t>
            </a:r>
            <a:r>
              <a:rPr lang="da-DK"/>
              <a:t>tilføje overskrift</a:t>
            </a:r>
          </a:p>
          <a:p>
            <a:pPr lvl="1"/>
            <a:r>
              <a:rPr lang="da-DK"/>
              <a:t>Second level</a:t>
            </a:r>
            <a:endParaRPr lang="da-DK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E23DA26-37CC-4CA7-8253-FD9AB459D2E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74740" y="1700213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  <a:lvl2pPr marL="252000" indent="0">
              <a:buNone/>
              <a:defRPr sz="1000"/>
            </a:lvl2pPr>
          </a:lstStyle>
          <a:p>
            <a:pPr lvl="0"/>
            <a:r>
              <a:rPr lang="da-DK" dirty="0"/>
              <a:t>Indsæt logo: Vælg pladsholderen, indsæt logo via Templafy/Billeder</a:t>
            </a:r>
            <a:endParaRPr lang="da-DK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2682726-03AB-4490-8664-993881FA0B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59663" y="273240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da-DK" dirty="0"/>
              <a:t>Klik for at </a:t>
            </a:r>
            <a:r>
              <a:rPr lang="da-DK"/>
              <a:t>tilføje overskrift</a:t>
            </a:r>
          </a:p>
          <a:p>
            <a:pPr lvl="1"/>
            <a:r>
              <a:rPr lang="da-DK"/>
              <a:t>Second level</a:t>
            </a:r>
          </a:p>
          <a:p>
            <a:pPr lvl="2"/>
            <a:endParaRPr lang="da-DK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62625AB-198B-4F37-9382-C78FD9118D5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459663" y="4012975"/>
            <a:ext cx="936000" cy="936000"/>
          </a:xfrm>
        </p:spPr>
        <p:txBody>
          <a:bodyPr wrap="none"/>
          <a:lstStyle>
            <a:lvl1pPr marL="0" indent="0">
              <a:buNone/>
              <a:defRPr sz="1000"/>
            </a:lvl1pPr>
          </a:lstStyle>
          <a:p>
            <a:pPr lvl="0"/>
            <a:r>
              <a:rPr lang="da-DK" dirty="0"/>
              <a:t>Indsæt logo: Vælg pladsholderen, indsæt logo via Templafy/Billeder</a:t>
            </a:r>
            <a:endParaRPr lang="da-DK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8AE7F93-F2C6-4199-8D16-CFB4D977F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73948" y="5093240"/>
            <a:ext cx="3564000" cy="75600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2000" b="1"/>
            </a:lvl1pPr>
            <a:lvl2pPr marL="252000">
              <a:defRPr/>
            </a:lvl2pPr>
            <a:lvl3pPr marL="504000">
              <a:defRPr/>
            </a:lvl3pPr>
          </a:lstStyle>
          <a:p>
            <a:pPr lvl="0"/>
            <a:r>
              <a:rPr lang="da-DK" dirty="0"/>
              <a:t>Klik for at </a:t>
            </a:r>
            <a:r>
              <a:rPr lang="da-DK"/>
              <a:t>tilføje overskrift</a:t>
            </a:r>
          </a:p>
          <a:p>
            <a:pPr lvl="1"/>
            <a:r>
              <a:rPr lang="da-DK"/>
              <a:t>Second level</a:t>
            </a:r>
            <a:endParaRPr lang="da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33E6A-A4F4-491B-846E-1DACC83D9BB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8E8B2-EC82-4BE1-85C6-8F272596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82921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skrift og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6F8A6A9-890A-4EA2-8FA4-EA834B1A12F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4697" y="1700212"/>
            <a:ext cx="5367600" cy="4141787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da-DK" dirty="0"/>
              <a:t>Klik for at tilføje overskrift</a:t>
            </a:r>
            <a:endParaRPr lang="da-DK"/>
          </a:p>
        </p:txBody>
      </p:sp>
      <p:sp>
        <p:nvSpPr>
          <p:cNvPr id="11" name="Date Placeholder 14">
            <a:extLst>
              <a:ext uri="{FF2B5EF4-FFF2-40B4-BE49-F238E27FC236}">
                <a16:creationId xmlns:a16="http://schemas.microsoft.com/office/drawing/2014/main" id="{705F52FC-7E26-46C0-8E8B-4445D500B9C7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1B1D99-4B52-4731-AEC4-C722464A7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452C39-88DE-4155-8ED8-643714B1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9852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0400" y="1028247"/>
            <a:ext cx="11379347" cy="1602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 dirty="0"/>
              <a:t>Klik for at redigere i master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0400" y="3369040"/>
            <a:ext cx="11371905" cy="24729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a-DK" dirty="0"/>
              <a:t>Første niveau, bullet 16 </a:t>
            </a:r>
            <a:r>
              <a:rPr lang="da-DK" dirty="0" err="1"/>
              <a:t>pkt</a:t>
            </a:r>
            <a:endParaRPr lang="da-DK" dirty="0"/>
          </a:p>
          <a:p>
            <a:pPr lvl="1"/>
            <a:r>
              <a:rPr lang="da-DK" dirty="0"/>
              <a:t>Andet niveau, bullet 14 </a:t>
            </a:r>
            <a:r>
              <a:rPr lang="da-DK" dirty="0" err="1"/>
              <a:t>pkt</a:t>
            </a:r>
            <a:endParaRPr lang="da-DK" dirty="0"/>
          </a:p>
          <a:p>
            <a:pPr lvl="2"/>
            <a:r>
              <a:rPr lang="da-DK" dirty="0"/>
              <a:t>Tredje niveau, bullet 12 </a:t>
            </a:r>
            <a:r>
              <a:rPr lang="da-DK" dirty="0" err="1"/>
              <a:t>pkt</a:t>
            </a:r>
            <a:endParaRPr lang="da-DK" dirty="0"/>
          </a:p>
          <a:p>
            <a:pPr lvl="3"/>
            <a:r>
              <a:rPr lang="da-DK" dirty="0"/>
              <a:t>Fjerde niveau, Header bold 16 </a:t>
            </a:r>
            <a:r>
              <a:rPr lang="da-DK" dirty="0" err="1"/>
              <a:t>pkt</a:t>
            </a:r>
            <a:endParaRPr lang="da-DK" dirty="0"/>
          </a:p>
          <a:p>
            <a:pPr lvl="4"/>
            <a:r>
              <a:rPr lang="da-DK" dirty="0"/>
              <a:t>Femte niveau, Body </a:t>
            </a:r>
            <a:r>
              <a:rPr lang="da-DK" dirty="0" err="1"/>
              <a:t>regular</a:t>
            </a:r>
            <a:r>
              <a:rPr lang="da-DK" dirty="0"/>
              <a:t> 16 </a:t>
            </a:r>
            <a:r>
              <a:rPr lang="da-DK" dirty="0" err="1"/>
              <a:t>pkt</a:t>
            </a:r>
            <a:endParaRPr lang="da-DK" dirty="0"/>
          </a:p>
          <a:p>
            <a:pPr lvl="5"/>
            <a:r>
              <a:rPr lang="da-DK" dirty="0"/>
              <a:t>Sjette niveau, bullet 12 </a:t>
            </a:r>
            <a:r>
              <a:rPr lang="da-DK" dirty="0" err="1"/>
              <a:t>pkt</a:t>
            </a:r>
            <a:endParaRPr lang="da-DK" dirty="0"/>
          </a:p>
          <a:p>
            <a:pPr lvl="6"/>
            <a:r>
              <a:rPr lang="da-DK" dirty="0"/>
              <a:t>Syvende niveau, bullet 12 </a:t>
            </a:r>
            <a:r>
              <a:rPr lang="da-DK" dirty="0" err="1"/>
              <a:t>pkt</a:t>
            </a:r>
            <a:r>
              <a:rPr lang="da-DK" dirty="0"/>
              <a:t> (indryk 1 gang)</a:t>
            </a:r>
          </a:p>
          <a:p>
            <a:pPr lvl="7"/>
            <a:r>
              <a:rPr lang="da-DK" dirty="0"/>
              <a:t>Ottende niveau, Header bold, 12 </a:t>
            </a:r>
            <a:r>
              <a:rPr lang="da-DK" dirty="0" err="1"/>
              <a:t>pkt</a:t>
            </a:r>
            <a:endParaRPr lang="da-DK" dirty="0"/>
          </a:p>
          <a:p>
            <a:pPr lvl="8"/>
            <a:r>
              <a:rPr lang="da-DK" dirty="0"/>
              <a:t>Niende niveau, Body </a:t>
            </a:r>
            <a:r>
              <a:rPr lang="da-DK" dirty="0" err="1"/>
              <a:t>regular</a:t>
            </a:r>
            <a:r>
              <a:rPr lang="da-DK" dirty="0"/>
              <a:t>, 12 </a:t>
            </a:r>
            <a:r>
              <a:rPr lang="da-DK" dirty="0" err="1"/>
              <a:t>pkt</a:t>
            </a:r>
            <a:endParaRPr lang="da-DK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56ADEC3-98E1-4CEA-9AF5-46F4CDD2F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pic>
        <p:nvPicPr>
          <p:cNvPr id="25" name="Logo black">
            <a:extLst>
              <a:ext uri="{FF2B5EF4-FFF2-40B4-BE49-F238E27FC236}">
                <a16:creationId xmlns:a16="http://schemas.microsoft.com/office/drawing/2014/main" id="{860AC4C2-E6D6-4DCE-950A-C298C0AE9B87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46" y="6294893"/>
            <a:ext cx="784800" cy="21184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ctr">
              <a:defRPr sz="100">
                <a:noFill/>
              </a:defRPr>
            </a:lvl1pPr>
          </a:lstStyle>
          <a:p>
            <a:fld id="{45D37B1E-C366-494F-A587-962AD9AABC83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8" name="Date Placeholder 14">
            <a:extLst>
              <a:ext uri="{FF2B5EF4-FFF2-40B4-BE49-F238E27FC236}">
                <a16:creationId xmlns:a16="http://schemas.microsoft.com/office/drawing/2014/main" id="{7DF98717-AAEA-4E2B-96B8-AAAFF896C0EA}"/>
              </a:ext>
            </a:extLst>
          </p:cNvPr>
          <p:cNvSpPr txBox="1">
            <a:spLocks/>
          </p:cNvSpPr>
          <p:nvPr userDrawn="1"/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A13B18-F5ED-4611-8DBB-F05123AFBA22}" type="datetimeFigureOut">
              <a:rPr lang="da-DK" smtClean="0"/>
              <a:pPr/>
              <a:t>24-02-2026</a:t>
            </a:fld>
            <a:endParaRPr lang="da-DK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FEA46720-1AC7-3FC2-4AB2-8DA6DE7D6F8D}"/>
              </a:ext>
            </a:extLst>
          </p:cNvPr>
          <p:cNvSpPr txBox="1"/>
          <p:nvPr userDrawn="1"/>
        </p:nvSpPr>
        <p:spPr>
          <a:xfrm>
            <a:off x="0" y="-349741"/>
            <a:ext cx="1145718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50" b="1" noProof="1"/>
              <a:t>Skift baggrundsfarve. </a:t>
            </a:r>
            <a:r>
              <a:rPr lang="da-DK" sz="1050" noProof="1"/>
              <a:t>Højreklik på slidet og vælg </a:t>
            </a:r>
            <a:r>
              <a:rPr lang="da-DK" sz="1050" b="1" noProof="1"/>
              <a:t>Formatér baggrund</a:t>
            </a:r>
            <a:r>
              <a:rPr lang="da-DK" sz="1050" noProof="1"/>
              <a:t>. Klik på </a:t>
            </a:r>
            <a:r>
              <a:rPr lang="da-DK" sz="1050" b="1" noProof="1"/>
              <a:t>Fyld farve </a:t>
            </a:r>
            <a:r>
              <a:rPr lang="da-DK" sz="1050" noProof="1"/>
              <a:t>i Formater baggrund vinduet og vælg farve fra øverste række i SDU’s farve palette eller fra den brugerdefinerede farvepalette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4352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92" r:id="rId2"/>
    <p:sldLayoutId id="2147483679" r:id="rId3"/>
    <p:sldLayoutId id="2147483680" r:id="rId4"/>
    <p:sldLayoutId id="2147483688" r:id="rId5"/>
    <p:sldLayoutId id="2147483690" r:id="rId6"/>
    <p:sldLayoutId id="2147483686" r:id="rId7"/>
    <p:sldLayoutId id="2147483682" r:id="rId8"/>
    <p:sldLayoutId id="2147483689" r:id="rId9"/>
    <p:sldLayoutId id="2147483676" r:id="rId10"/>
    <p:sldLayoutId id="2147483654" r:id="rId11"/>
    <p:sldLayoutId id="2147483685" r:id="rId12"/>
    <p:sldLayoutId id="2147483691" r:id="rId13"/>
    <p:sldLayoutId id="2147483662" r:id="rId14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tabLst>
          <a:tab pos="1438275" algn="l"/>
        </a:tabLst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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​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2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04000" indent="-252000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à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anose="020B0604020202020204" pitchFamily="34" charset="0"/>
        <a:buChar char="​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85" userDrawn="1">
          <p15:clr>
            <a:srgbClr val="F26B43"/>
          </p15:clr>
        </p15:guide>
        <p15:guide id="4" orient="horz" pos="1071" userDrawn="1">
          <p15:clr>
            <a:srgbClr val="F26B43"/>
          </p15:clr>
        </p15:guide>
        <p15:guide id="5" pos="259" userDrawn="1">
          <p15:clr>
            <a:srgbClr val="F26B43"/>
          </p15:clr>
        </p15:guide>
        <p15:guide id="6" pos="7421" userDrawn="1">
          <p15:clr>
            <a:srgbClr val="F26B43"/>
          </p15:clr>
        </p15:guide>
        <p15:guide id="7" orient="horz" pos="1253" userDrawn="1">
          <p15:clr>
            <a:srgbClr val="F26B43"/>
          </p15:clr>
        </p15:guide>
        <p15:guide id="8" orient="horz" pos="3680" userDrawn="1">
          <p15:clr>
            <a:srgbClr val="F26B43"/>
          </p15:clr>
        </p15:guide>
        <p15:guide id="9" orient="horz" pos="3916" userDrawn="1">
          <p15:clr>
            <a:srgbClr val="F26B43"/>
          </p15:clr>
        </p15:guide>
        <p15:guide id="10" orient="horz" pos="4094" userDrawn="1">
          <p15:clr>
            <a:srgbClr val="F26B43"/>
          </p15:clr>
        </p15:guide>
        <p15:guide id="11" pos="54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2A6DEA-3DCA-8EA2-DAF3-BEF97E5D81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Biostat w5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34884DF-0ED0-65A1-D524-AF6BD67B0B0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4957A0E-FA20-4CE6-9ABE-A816EF9E2568}" type="datetime1">
              <a:rPr lang="da-DK" smtClean="0"/>
              <a:t>24-02-2026</a:t>
            </a:fld>
            <a:endParaRPr lang="da-DK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750023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D53C049-C36E-58FF-843A-E79B8B297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83465"/>
            <a:ext cx="10962000" cy="671967"/>
          </a:xfrm>
        </p:spPr>
        <p:txBody>
          <a:bodyPr/>
          <a:lstStyle/>
          <a:p>
            <a:r>
              <a:rPr lang="en-US" sz="1600" dirty="0" err="1"/>
              <a:t>Opgave</a:t>
            </a:r>
            <a:r>
              <a:rPr lang="en-US" sz="1600" dirty="0"/>
              <a:t> 1. </a:t>
            </a:r>
            <a:r>
              <a:rPr lang="en-US" sz="1600" dirty="0" err="1"/>
              <a:t>Tabellen</a:t>
            </a:r>
            <a:r>
              <a:rPr lang="en-US" sz="1600" dirty="0"/>
              <a:t> </a:t>
            </a:r>
            <a:r>
              <a:rPr lang="en-US" sz="1600" dirty="0" err="1"/>
              <a:t>viser</a:t>
            </a:r>
            <a:r>
              <a:rPr lang="en-US" sz="1600" dirty="0"/>
              <a:t> </a:t>
            </a:r>
            <a:r>
              <a:rPr lang="en-US" sz="1600" dirty="0" err="1"/>
              <a:t>resultater</a:t>
            </a:r>
            <a:r>
              <a:rPr lang="en-US" sz="1600" dirty="0"/>
              <a:t> </a:t>
            </a:r>
            <a:r>
              <a:rPr lang="en-US" sz="1600" dirty="0" err="1"/>
              <a:t>fra</a:t>
            </a:r>
            <a:r>
              <a:rPr lang="en-US" sz="1600" dirty="0"/>
              <a:t> </a:t>
            </a:r>
            <a:r>
              <a:rPr lang="en-US" sz="1600" dirty="0" err="1"/>
              <a:t>Cóx-regressioner</a:t>
            </a:r>
            <a:r>
              <a:rPr lang="en-US" sz="1600" dirty="0"/>
              <a:t>, der </a:t>
            </a:r>
            <a:r>
              <a:rPr lang="en-US" sz="1600" dirty="0" err="1"/>
              <a:t>undersøger</a:t>
            </a:r>
            <a:r>
              <a:rPr lang="en-US" sz="1600" dirty="0"/>
              <a:t> om </a:t>
            </a:r>
            <a:r>
              <a:rPr lang="en-US" sz="1600" dirty="0" err="1"/>
              <a:t>galdeblæresygdom</a:t>
            </a:r>
            <a:r>
              <a:rPr lang="en-US" sz="1600" dirty="0"/>
              <a:t> (GBD) er </a:t>
            </a:r>
            <a:r>
              <a:rPr lang="en-US" sz="1600" dirty="0" err="1"/>
              <a:t>associeret</a:t>
            </a:r>
            <a:r>
              <a:rPr lang="en-US" sz="1600" dirty="0"/>
              <a:t> med type 2 diabetes </a:t>
            </a:r>
            <a:br>
              <a:rPr lang="en-US" sz="1600" dirty="0"/>
            </a:br>
            <a:br>
              <a:rPr lang="en-US" sz="1600" dirty="0"/>
            </a:br>
            <a:br>
              <a:rPr lang="en-US" sz="1600" b="0" dirty="0"/>
            </a:br>
            <a:r>
              <a:rPr lang="en-US" sz="1600" b="0" dirty="0"/>
              <a:t>a) </a:t>
            </a:r>
            <a:r>
              <a:rPr lang="en-US" sz="1600" b="0" dirty="0" err="1"/>
              <a:t>Fortolk</a:t>
            </a:r>
            <a:r>
              <a:rPr lang="en-US" sz="1600" b="0" dirty="0"/>
              <a:t> </a:t>
            </a:r>
            <a:r>
              <a:rPr lang="en-US" sz="1600" b="0" dirty="0" err="1"/>
              <a:t>resultatet</a:t>
            </a:r>
            <a:r>
              <a:rPr lang="en-US" sz="1600" b="0" dirty="0"/>
              <a:t> </a:t>
            </a:r>
            <a:r>
              <a:rPr lang="en-US" sz="1600" b="0" dirty="0" err="1"/>
              <a:t>fra</a:t>
            </a:r>
            <a:r>
              <a:rPr lang="en-US" sz="1600" b="0" dirty="0"/>
              <a:t> table 2, </a:t>
            </a:r>
            <a:r>
              <a:rPr lang="en-US" sz="1600" b="0" dirty="0" err="1"/>
              <a:t>som</a:t>
            </a:r>
            <a:r>
              <a:rPr lang="en-US" sz="1600" b="0" dirty="0"/>
              <a:t> </a:t>
            </a:r>
            <a:r>
              <a:rPr lang="en-US" sz="1600" b="0" dirty="0" err="1"/>
              <a:t>kan</a:t>
            </a:r>
            <a:r>
              <a:rPr lang="en-US" sz="1600" b="0" dirty="0"/>
              <a:t> </a:t>
            </a:r>
            <a:r>
              <a:rPr lang="en-US" sz="1600" b="0" dirty="0" err="1"/>
              <a:t>ses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nedenstående</a:t>
            </a:r>
            <a:r>
              <a:rPr lang="en-US" sz="1600" b="0" dirty="0"/>
              <a:t>. </a:t>
            </a:r>
            <a:r>
              <a:rPr lang="en-US" sz="1600" b="0" dirty="0" err="1"/>
              <a:t>Inddrag</a:t>
            </a:r>
            <a:r>
              <a:rPr lang="en-US" sz="1600" b="0" dirty="0"/>
              <a:t> </a:t>
            </a:r>
            <a:r>
              <a:rPr lang="en-US" sz="1600" b="0" dirty="0" err="1"/>
              <a:t>estimater</a:t>
            </a:r>
            <a:r>
              <a:rPr lang="en-US" sz="1600" b="0" dirty="0"/>
              <a:t>, 95% </a:t>
            </a:r>
            <a:r>
              <a:rPr lang="en-US" sz="1600" b="0" dirty="0" err="1"/>
              <a:t>konfidensintervaller</a:t>
            </a:r>
            <a:r>
              <a:rPr lang="en-US" sz="1600" b="0" dirty="0"/>
              <a:t> </a:t>
            </a:r>
            <a:r>
              <a:rPr lang="en-US" sz="1600" b="0" dirty="0" err="1"/>
              <a:t>og</a:t>
            </a:r>
            <a:r>
              <a:rPr lang="en-US" sz="1600" b="0" dirty="0"/>
              <a:t> p-</a:t>
            </a:r>
            <a:r>
              <a:rPr lang="en-US" sz="1600" b="0" dirty="0" err="1"/>
              <a:t>værdier</a:t>
            </a:r>
            <a:r>
              <a:rPr lang="en-US" sz="1600" b="0" dirty="0"/>
              <a:t> </a:t>
            </a:r>
            <a:r>
              <a:rPr lang="en-US" sz="1600" b="0" dirty="0" err="1"/>
              <a:t>til</a:t>
            </a:r>
            <a:r>
              <a:rPr lang="en-US" sz="1600" b="0" dirty="0"/>
              <a:t> at </a:t>
            </a:r>
            <a:r>
              <a:rPr lang="en-US" sz="1600" b="0" dirty="0" err="1"/>
              <a:t>sammenligne</a:t>
            </a:r>
            <a:r>
              <a:rPr lang="en-US" sz="1600" b="0" dirty="0"/>
              <a:t> de to </a:t>
            </a:r>
            <a:r>
              <a:rPr lang="en-US" sz="1600" b="0" dirty="0" err="1"/>
              <a:t>modeller</a:t>
            </a:r>
            <a:endParaRPr lang="en-US" sz="1600" b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7046C-7B88-C009-28F3-C94149D9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63" y="2140169"/>
            <a:ext cx="10961237" cy="3562399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284F3-AF6C-1B5B-72F2-1F0AF31A3B8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DCA060F-6702-4A0B-9A7D-BE6BD2D947A9}" type="datetime1">
              <a:rPr lang="da-DK" smtClean="0"/>
              <a:pPr>
                <a:spcAft>
                  <a:spcPts val="600"/>
                </a:spcAft>
              </a:pPr>
              <a:t>24-02-2026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DB483-AD56-C379-36CC-88F5BC1052A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4729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AD4BD-1D91-0B3F-1D23-C95D213EB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802FDE2-0D85-1BF4-BF43-C5FDAB737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83465"/>
            <a:ext cx="10962000" cy="671967"/>
          </a:xfrm>
        </p:spPr>
        <p:txBody>
          <a:bodyPr/>
          <a:lstStyle/>
          <a:p>
            <a:r>
              <a:rPr lang="en-US" sz="1600" dirty="0" err="1"/>
              <a:t>Opgave</a:t>
            </a:r>
            <a:r>
              <a:rPr lang="en-US" sz="1600" dirty="0"/>
              <a:t> 1. </a:t>
            </a:r>
            <a:r>
              <a:rPr lang="en-US" sz="1600" dirty="0" err="1"/>
              <a:t>Tabellen</a:t>
            </a:r>
            <a:r>
              <a:rPr lang="en-US" sz="1600" dirty="0"/>
              <a:t> </a:t>
            </a:r>
            <a:r>
              <a:rPr lang="en-US" sz="1600" dirty="0" err="1"/>
              <a:t>viser</a:t>
            </a:r>
            <a:r>
              <a:rPr lang="en-US" sz="1600" dirty="0"/>
              <a:t> </a:t>
            </a:r>
            <a:r>
              <a:rPr lang="en-US" sz="1600" dirty="0" err="1"/>
              <a:t>resultater</a:t>
            </a:r>
            <a:r>
              <a:rPr lang="en-US" sz="1600" dirty="0"/>
              <a:t> </a:t>
            </a:r>
            <a:r>
              <a:rPr lang="en-US" sz="1600" dirty="0" err="1"/>
              <a:t>fra</a:t>
            </a:r>
            <a:r>
              <a:rPr lang="en-US" sz="1600" dirty="0"/>
              <a:t> </a:t>
            </a:r>
            <a:r>
              <a:rPr lang="en-US" sz="1600" dirty="0" err="1"/>
              <a:t>Cóx-regressioner</a:t>
            </a:r>
            <a:r>
              <a:rPr lang="en-US" sz="1600" dirty="0"/>
              <a:t>, der </a:t>
            </a:r>
            <a:r>
              <a:rPr lang="en-US" sz="1600" dirty="0" err="1"/>
              <a:t>undersøger</a:t>
            </a:r>
            <a:r>
              <a:rPr lang="en-US" sz="1600" dirty="0"/>
              <a:t> om </a:t>
            </a:r>
            <a:r>
              <a:rPr lang="en-US" sz="1600" dirty="0" err="1"/>
              <a:t>galdeblæresygdom</a:t>
            </a:r>
            <a:r>
              <a:rPr lang="en-US" sz="1600" dirty="0"/>
              <a:t> (GBD) er </a:t>
            </a:r>
            <a:r>
              <a:rPr lang="en-US" sz="1600" dirty="0" err="1"/>
              <a:t>associeret</a:t>
            </a:r>
            <a:r>
              <a:rPr lang="en-US" sz="1600" dirty="0"/>
              <a:t> med type 2 diabetes </a:t>
            </a:r>
            <a:br>
              <a:rPr lang="en-US" sz="1600" dirty="0"/>
            </a:br>
            <a:br>
              <a:rPr lang="en-US" sz="1600" dirty="0"/>
            </a:br>
            <a:br>
              <a:rPr lang="en-US" sz="1600" b="0" dirty="0"/>
            </a:br>
            <a:r>
              <a:rPr lang="en-US" sz="1600" b="0" dirty="0"/>
              <a:t>a) </a:t>
            </a:r>
            <a:r>
              <a:rPr lang="en-US" sz="1600" b="0" dirty="0" err="1"/>
              <a:t>Fortolk</a:t>
            </a:r>
            <a:r>
              <a:rPr lang="en-US" sz="1600" b="0" dirty="0"/>
              <a:t> </a:t>
            </a:r>
            <a:r>
              <a:rPr lang="en-US" sz="1600" b="0" dirty="0" err="1"/>
              <a:t>resultatet</a:t>
            </a:r>
            <a:r>
              <a:rPr lang="en-US" sz="1600" b="0" dirty="0"/>
              <a:t> </a:t>
            </a:r>
            <a:r>
              <a:rPr lang="en-US" sz="1600" b="0" dirty="0" err="1"/>
              <a:t>fra</a:t>
            </a:r>
            <a:r>
              <a:rPr lang="en-US" sz="1600" b="0" dirty="0"/>
              <a:t> table 2, </a:t>
            </a:r>
            <a:r>
              <a:rPr lang="en-US" sz="1600" b="0" dirty="0" err="1"/>
              <a:t>som</a:t>
            </a:r>
            <a:r>
              <a:rPr lang="en-US" sz="1600" b="0" dirty="0"/>
              <a:t> </a:t>
            </a:r>
            <a:r>
              <a:rPr lang="en-US" sz="1600" b="0" dirty="0" err="1"/>
              <a:t>kan</a:t>
            </a:r>
            <a:r>
              <a:rPr lang="en-US" sz="1600" b="0" dirty="0"/>
              <a:t> </a:t>
            </a:r>
            <a:r>
              <a:rPr lang="en-US" sz="1600" b="0" dirty="0" err="1"/>
              <a:t>ses</a:t>
            </a:r>
            <a:r>
              <a:rPr lang="en-US" sz="1600" b="0" dirty="0"/>
              <a:t> </a:t>
            </a:r>
            <a:r>
              <a:rPr lang="en-US" sz="1600" b="0" dirty="0" err="1"/>
              <a:t>i</a:t>
            </a:r>
            <a:r>
              <a:rPr lang="en-US" sz="1600" b="0" dirty="0"/>
              <a:t> </a:t>
            </a:r>
            <a:r>
              <a:rPr lang="en-US" sz="1600" b="0" dirty="0" err="1"/>
              <a:t>nedenstående</a:t>
            </a:r>
            <a:r>
              <a:rPr lang="en-US" sz="1600" b="0" dirty="0"/>
              <a:t>. </a:t>
            </a:r>
            <a:r>
              <a:rPr lang="en-US" sz="1600" b="0" dirty="0" err="1"/>
              <a:t>Inddrag</a:t>
            </a:r>
            <a:r>
              <a:rPr lang="en-US" sz="1600" b="0" dirty="0"/>
              <a:t> </a:t>
            </a:r>
            <a:r>
              <a:rPr lang="en-US" sz="1600" b="0" dirty="0" err="1"/>
              <a:t>estimater</a:t>
            </a:r>
            <a:r>
              <a:rPr lang="en-US" sz="1600" b="0" dirty="0"/>
              <a:t>, 95% </a:t>
            </a:r>
            <a:r>
              <a:rPr lang="en-US" sz="1600" b="0" dirty="0" err="1"/>
              <a:t>konfidensintervaller</a:t>
            </a:r>
            <a:r>
              <a:rPr lang="en-US" sz="1600" b="0" dirty="0"/>
              <a:t> </a:t>
            </a:r>
            <a:r>
              <a:rPr lang="en-US" sz="1600" b="0" dirty="0" err="1"/>
              <a:t>og</a:t>
            </a:r>
            <a:r>
              <a:rPr lang="en-US" sz="1600" b="0" dirty="0"/>
              <a:t> p-</a:t>
            </a:r>
            <a:r>
              <a:rPr lang="en-US" sz="1600" b="0" dirty="0" err="1"/>
              <a:t>værdier</a:t>
            </a:r>
            <a:r>
              <a:rPr lang="en-US" sz="1600" b="0" dirty="0"/>
              <a:t> </a:t>
            </a:r>
            <a:r>
              <a:rPr lang="en-US" sz="1600" b="0" dirty="0" err="1"/>
              <a:t>til</a:t>
            </a:r>
            <a:r>
              <a:rPr lang="en-US" sz="1600" b="0" dirty="0"/>
              <a:t> at </a:t>
            </a:r>
            <a:r>
              <a:rPr lang="en-US" sz="1600" b="0" dirty="0" err="1"/>
              <a:t>sammenligne</a:t>
            </a:r>
            <a:r>
              <a:rPr lang="en-US" sz="1600" b="0" dirty="0"/>
              <a:t> de to </a:t>
            </a:r>
            <a:r>
              <a:rPr lang="en-US" sz="1600" b="0" dirty="0" err="1"/>
              <a:t>modeller</a:t>
            </a:r>
            <a:endParaRPr lang="en-US" sz="1600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8ADA1-1912-D664-32E4-C3290787E69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DCA060F-6702-4A0B-9A7D-BE6BD2D947A9}" type="datetime1">
              <a:rPr lang="da-DK" smtClean="0"/>
              <a:pPr>
                <a:spcAft>
                  <a:spcPts val="600"/>
                </a:spcAft>
              </a:pPr>
              <a:t>24-02-2026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0EB83-3153-65C8-F25D-10EC04F773E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3</a:t>
            </a:fld>
            <a:endParaRPr lang="da-D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31D55F-7FA4-E232-C053-1F6ACE70CBA4}"/>
              </a:ext>
            </a:extLst>
          </p:cNvPr>
          <p:cNvSpPr txBox="1">
            <a:spLocks/>
          </p:cNvSpPr>
          <p:nvPr/>
        </p:nvSpPr>
        <p:spPr>
          <a:xfrm>
            <a:off x="410400" y="2432581"/>
            <a:ext cx="10962000" cy="67196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7000"/>
              </a:lnSpc>
              <a:spcBef>
                <a:spcPct val="0"/>
              </a:spcBef>
              <a:buNone/>
              <a:tabLst>
                <a:tab pos="1438275" algn="l"/>
              </a:tabLst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0" dirty="0"/>
              <a:t>Model 1: </a:t>
            </a:r>
            <a:r>
              <a:rPr lang="en-US" sz="1600" b="0" dirty="0" err="1"/>
              <a:t>Galdeblæresygdom</a:t>
            </a:r>
            <a:r>
              <a:rPr lang="en-US" sz="1600" b="0" dirty="0"/>
              <a:t> (GBD) er significant </a:t>
            </a:r>
            <a:r>
              <a:rPr lang="en-US" sz="1600" b="0" dirty="0" err="1"/>
              <a:t>associeret</a:t>
            </a:r>
            <a:r>
              <a:rPr lang="en-US" sz="1600" b="0" dirty="0"/>
              <a:t> med </a:t>
            </a:r>
            <a:r>
              <a:rPr lang="en-US" sz="1600" b="0" dirty="0" err="1"/>
              <a:t>øget</a:t>
            </a:r>
            <a:r>
              <a:rPr lang="en-US" sz="1600" b="0" dirty="0"/>
              <a:t> </a:t>
            </a:r>
            <a:r>
              <a:rPr lang="en-US" sz="1600" b="0" dirty="0" err="1"/>
              <a:t>risiko</a:t>
            </a:r>
            <a:r>
              <a:rPr lang="en-US" sz="1600" b="0" dirty="0"/>
              <a:t> for </a:t>
            </a:r>
            <a:r>
              <a:rPr lang="en-US" sz="1600" b="0" dirty="0" err="1"/>
              <a:t>udvikling</a:t>
            </a:r>
            <a:r>
              <a:rPr lang="en-US" sz="1600" b="0" dirty="0"/>
              <a:t> </a:t>
            </a:r>
            <a:r>
              <a:rPr lang="en-US" sz="1600" b="0" dirty="0" err="1"/>
              <a:t>af</a:t>
            </a:r>
            <a:r>
              <a:rPr lang="en-US" sz="1600" b="0" dirty="0"/>
              <a:t> type 2 diabetes I </a:t>
            </a:r>
            <a:r>
              <a:rPr lang="en-US" sz="1600" b="0" dirty="0" err="1"/>
              <a:t>en</a:t>
            </a:r>
            <a:r>
              <a:rPr lang="en-US" sz="1600" b="0" dirty="0"/>
              <a:t> model, </a:t>
            </a:r>
            <a:r>
              <a:rPr lang="en-US" sz="1600" b="0" dirty="0" err="1"/>
              <a:t>hvor</a:t>
            </a:r>
            <a:r>
              <a:rPr lang="en-US" sz="1600" b="0" dirty="0"/>
              <a:t> der </a:t>
            </a:r>
            <a:r>
              <a:rPr lang="en-US" sz="1600" b="0" dirty="0" err="1"/>
              <a:t>kun</a:t>
            </a:r>
            <a:r>
              <a:rPr lang="en-US" sz="1600" b="0" dirty="0"/>
              <a:t> er </a:t>
            </a:r>
            <a:r>
              <a:rPr lang="en-US" sz="1600" b="0" dirty="0" err="1"/>
              <a:t>justeret</a:t>
            </a:r>
            <a:r>
              <a:rPr lang="en-US" sz="1600" b="0" dirty="0"/>
              <a:t> for alder. HR = 1.76, 95% CI: 1.68, 1.85, p &lt; 0.0001</a:t>
            </a:r>
          </a:p>
          <a:p>
            <a:endParaRPr lang="en-US" sz="1600" b="0" dirty="0"/>
          </a:p>
          <a:p>
            <a:r>
              <a:rPr lang="en-US" sz="1600" b="0" dirty="0"/>
              <a:t>Model 2: GBD er significant </a:t>
            </a:r>
            <a:r>
              <a:rPr lang="en-US" sz="1600" b="0" dirty="0" err="1"/>
              <a:t>associeret</a:t>
            </a:r>
            <a:r>
              <a:rPr lang="en-US" sz="1600" b="0" dirty="0"/>
              <a:t> med </a:t>
            </a:r>
            <a:r>
              <a:rPr lang="en-US" sz="1600" b="0" dirty="0" err="1"/>
              <a:t>øget</a:t>
            </a:r>
            <a:r>
              <a:rPr lang="en-US" sz="1600" b="0" dirty="0"/>
              <a:t> </a:t>
            </a:r>
            <a:r>
              <a:rPr lang="en-US" sz="1600" b="0" dirty="0" err="1"/>
              <a:t>risiko</a:t>
            </a:r>
            <a:r>
              <a:rPr lang="en-US" sz="1600" b="0" dirty="0"/>
              <a:t> for </a:t>
            </a:r>
            <a:r>
              <a:rPr lang="en-US" sz="1600" b="0" dirty="0" err="1"/>
              <a:t>udvikling</a:t>
            </a:r>
            <a:r>
              <a:rPr lang="en-US" sz="1600" b="0" dirty="0"/>
              <a:t> </a:t>
            </a:r>
            <a:r>
              <a:rPr lang="en-US" sz="1600" b="0" dirty="0" err="1"/>
              <a:t>af</a:t>
            </a:r>
            <a:r>
              <a:rPr lang="en-US" sz="1600" b="0" dirty="0"/>
              <a:t> type 2 diabetes I </a:t>
            </a:r>
            <a:r>
              <a:rPr lang="en-US" sz="1600" b="0" dirty="0" err="1"/>
              <a:t>en</a:t>
            </a:r>
            <a:r>
              <a:rPr lang="en-US" sz="1600" b="0" dirty="0"/>
              <a:t> model, </a:t>
            </a:r>
            <a:r>
              <a:rPr lang="en-US" sz="1600" b="0" dirty="0" err="1"/>
              <a:t>hvor</a:t>
            </a:r>
            <a:r>
              <a:rPr lang="en-US" sz="1600" b="0" dirty="0"/>
              <a:t> der er </a:t>
            </a:r>
            <a:r>
              <a:rPr lang="en-US" sz="1600" b="0" dirty="0" err="1"/>
              <a:t>justeret</a:t>
            </a:r>
            <a:r>
              <a:rPr lang="en-US" sz="1600" b="0" dirty="0"/>
              <a:t> for alder, </a:t>
            </a:r>
            <a:r>
              <a:rPr lang="en-US" sz="1600" b="0" dirty="0" err="1"/>
              <a:t>etnicitet</a:t>
            </a:r>
            <a:r>
              <a:rPr lang="en-US" sz="1600" b="0" dirty="0"/>
              <a:t>, </a:t>
            </a:r>
            <a:r>
              <a:rPr lang="en-US" sz="1600" b="0" dirty="0" err="1"/>
              <a:t>uddannelse</a:t>
            </a:r>
            <a:r>
              <a:rPr lang="en-US" sz="1600" b="0" dirty="0"/>
              <a:t>, </a:t>
            </a:r>
            <a:r>
              <a:rPr lang="en-US" sz="1600" b="0" dirty="0" err="1"/>
              <a:t>fysisk</a:t>
            </a:r>
            <a:r>
              <a:rPr lang="en-US" sz="1600" b="0" dirty="0"/>
              <a:t> </a:t>
            </a:r>
            <a:r>
              <a:rPr lang="en-US" sz="1600" b="0" dirty="0" err="1"/>
              <a:t>aktivitet</a:t>
            </a:r>
            <a:r>
              <a:rPr lang="en-US" sz="1600" b="0" dirty="0"/>
              <a:t>, </a:t>
            </a:r>
            <a:r>
              <a:rPr lang="en-US" sz="1600" b="0" dirty="0" err="1"/>
              <a:t>familiehistorie</a:t>
            </a:r>
            <a:r>
              <a:rPr lang="en-US" sz="1600" b="0" dirty="0"/>
              <a:t>, </a:t>
            </a:r>
            <a:r>
              <a:rPr lang="en-US" sz="1600" b="0" dirty="0" err="1"/>
              <a:t>rygning</a:t>
            </a:r>
            <a:r>
              <a:rPr lang="en-US" sz="1600" b="0" dirty="0"/>
              <a:t>, alcohol, central </a:t>
            </a:r>
            <a:r>
              <a:rPr lang="en-US" sz="1600" b="0" dirty="0" err="1"/>
              <a:t>fedme</a:t>
            </a:r>
            <a:r>
              <a:rPr lang="en-US" sz="1600" b="0" dirty="0"/>
              <a:t>, </a:t>
            </a:r>
            <a:r>
              <a:rPr lang="en-US" sz="1600" b="0" dirty="0" err="1"/>
              <a:t>madvaner</a:t>
            </a:r>
            <a:r>
              <a:rPr lang="en-US" sz="1600" b="0" dirty="0"/>
              <a:t> </a:t>
            </a:r>
            <a:r>
              <a:rPr lang="en-US" sz="1600" b="0" dirty="0" err="1"/>
              <a:t>og</a:t>
            </a:r>
            <a:r>
              <a:rPr lang="en-US" sz="1600" b="0" dirty="0"/>
              <a:t> </a:t>
            </a:r>
            <a:r>
              <a:rPr lang="en-US" sz="1600" b="0" dirty="0" err="1"/>
              <a:t>studiekomponent</a:t>
            </a:r>
            <a:r>
              <a:rPr lang="en-US" sz="1600" b="0" dirty="0"/>
              <a:t>. HR = 1.52, 95% CI: 1.38, 1.67, p &lt; 0.0001</a:t>
            </a:r>
          </a:p>
        </p:txBody>
      </p:sp>
    </p:spTree>
    <p:extLst>
      <p:ext uri="{BB962C8B-B14F-4D97-AF65-F5344CB8AC3E}">
        <p14:creationId xmlns:p14="http://schemas.microsoft.com/office/powerpoint/2010/main" val="68674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0858-B606-30A9-8860-C173F1E7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3122473-6BE3-C3E2-F7B2-DE1127519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83465"/>
            <a:ext cx="10962000" cy="671967"/>
          </a:xfrm>
        </p:spPr>
        <p:txBody>
          <a:bodyPr/>
          <a:lstStyle/>
          <a:p>
            <a:r>
              <a:rPr lang="en-US" sz="1600" dirty="0" err="1"/>
              <a:t>Opgave</a:t>
            </a:r>
            <a:r>
              <a:rPr lang="en-US" sz="1600" dirty="0"/>
              <a:t> 1b) </a:t>
            </a:r>
            <a:r>
              <a:rPr lang="en-US" sz="1600" b="0" dirty="0" err="1"/>
              <a:t>Fortolk</a:t>
            </a:r>
            <a:r>
              <a:rPr lang="en-US" sz="1600" b="0" dirty="0"/>
              <a:t> </a:t>
            </a:r>
            <a:r>
              <a:rPr lang="en-US" sz="1600" b="0" dirty="0" err="1"/>
              <a:t>nedenstående</a:t>
            </a:r>
            <a:r>
              <a:rPr lang="en-US" sz="1600" b="0" dirty="0"/>
              <a:t> </a:t>
            </a:r>
            <a:r>
              <a:rPr lang="en-US" sz="1600" b="0" dirty="0" err="1"/>
              <a:t>resultater</a:t>
            </a:r>
            <a:r>
              <a:rPr lang="en-US" sz="1600" b="0" dirty="0"/>
              <a:t> </a:t>
            </a:r>
            <a:r>
              <a:rPr lang="en-US" sz="1600" b="0" dirty="0" err="1"/>
              <a:t>fra</a:t>
            </a:r>
            <a:r>
              <a:rPr lang="en-US" sz="1600" b="0" dirty="0"/>
              <a:t> model 2, </a:t>
            </a:r>
            <a:r>
              <a:rPr lang="en-US" sz="1600" b="0" dirty="0" err="1"/>
              <a:t>tabel</a:t>
            </a:r>
            <a:r>
              <a:rPr lang="en-US" sz="1600" b="0" dirty="0"/>
              <a:t> 3.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0FC66-AFF6-C12D-87DD-23B077A9BD1D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DCA060F-6702-4A0B-9A7D-BE6BD2D947A9}" type="datetime1">
              <a:rPr lang="da-DK" smtClean="0"/>
              <a:pPr>
                <a:spcAft>
                  <a:spcPts val="600"/>
                </a:spcAft>
              </a:pPr>
              <a:t>24-02-2026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28FFB-2140-F4F7-2944-F2CD373702B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4</a:t>
            </a:fld>
            <a:endParaRPr lang="da-DK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3752D9-9370-6351-54FB-071E0CD9E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6" y="1498625"/>
            <a:ext cx="11860847" cy="434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79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983DE-4EB4-6736-2D43-7A86F5A7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9FB0914-14D4-FD5A-D0D2-5FF325962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83465"/>
            <a:ext cx="10962000" cy="671967"/>
          </a:xfrm>
        </p:spPr>
        <p:txBody>
          <a:bodyPr/>
          <a:lstStyle/>
          <a:p>
            <a:r>
              <a:rPr lang="en-US" sz="1600" dirty="0" err="1"/>
              <a:t>Opgave</a:t>
            </a:r>
            <a:r>
              <a:rPr lang="en-US" sz="1600" dirty="0"/>
              <a:t> 1b) </a:t>
            </a:r>
            <a:r>
              <a:rPr lang="en-US" sz="1600" b="0" dirty="0" err="1"/>
              <a:t>Fortolk</a:t>
            </a:r>
            <a:r>
              <a:rPr lang="en-US" sz="1600" b="0" dirty="0"/>
              <a:t> </a:t>
            </a:r>
            <a:r>
              <a:rPr lang="en-US" sz="1600" b="0" dirty="0" err="1"/>
              <a:t>nedenstående</a:t>
            </a:r>
            <a:r>
              <a:rPr lang="en-US" sz="1600" b="0" dirty="0"/>
              <a:t> </a:t>
            </a:r>
            <a:r>
              <a:rPr lang="en-US" sz="1600" b="0" dirty="0" err="1"/>
              <a:t>resultater</a:t>
            </a:r>
            <a:r>
              <a:rPr lang="en-US" sz="1600" b="0" dirty="0"/>
              <a:t> </a:t>
            </a:r>
            <a:r>
              <a:rPr lang="en-US" sz="1600" b="0" dirty="0" err="1"/>
              <a:t>fra</a:t>
            </a:r>
            <a:r>
              <a:rPr lang="en-US" sz="1600" b="0" dirty="0"/>
              <a:t> model 2, </a:t>
            </a:r>
            <a:r>
              <a:rPr lang="en-US" sz="1600" b="0" dirty="0" err="1"/>
              <a:t>tabel</a:t>
            </a:r>
            <a:r>
              <a:rPr lang="en-US" sz="1600" b="0" dirty="0"/>
              <a:t> 3. </a:t>
            </a:r>
            <a:br>
              <a:rPr lang="en-US" sz="1600" b="0" dirty="0"/>
            </a:b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/>
              <a:t>Vi ser </a:t>
            </a:r>
            <a:r>
              <a:rPr lang="en-US" sz="1600" b="0" dirty="0" err="1"/>
              <a:t>altså</a:t>
            </a:r>
            <a:r>
              <a:rPr lang="en-US" sz="1600" b="0" dirty="0"/>
              <a:t> her </a:t>
            </a:r>
            <a:r>
              <a:rPr lang="en-US" sz="1600" b="0" dirty="0" err="1"/>
              <a:t>på</a:t>
            </a:r>
            <a:r>
              <a:rPr lang="en-US" sz="1600" b="0" dirty="0"/>
              <a:t> </a:t>
            </a:r>
            <a:r>
              <a:rPr lang="en-US" sz="1600" b="0" dirty="0" err="1"/>
              <a:t>hvorvidt</a:t>
            </a:r>
            <a:r>
              <a:rPr lang="en-US" sz="1600" b="0" dirty="0"/>
              <a:t> central </a:t>
            </a:r>
            <a:r>
              <a:rPr lang="en-US" sz="1600" b="0" dirty="0" err="1"/>
              <a:t>fedme</a:t>
            </a:r>
            <a:r>
              <a:rPr lang="en-US" sz="1600" b="0" dirty="0"/>
              <a:t> </a:t>
            </a:r>
            <a:r>
              <a:rPr lang="en-US" sz="1600" b="0" dirty="0" err="1"/>
              <a:t>påvirker</a:t>
            </a:r>
            <a:r>
              <a:rPr lang="en-US" sz="1600" b="0" dirty="0"/>
              <a:t> </a:t>
            </a:r>
            <a:r>
              <a:rPr lang="en-US" sz="1600" b="0" dirty="0" err="1"/>
              <a:t>risikoen</a:t>
            </a:r>
            <a:r>
              <a:rPr lang="en-US" sz="1600" b="0" dirty="0"/>
              <a:t> for at </a:t>
            </a:r>
            <a:r>
              <a:rPr lang="en-US" sz="1600" b="0" dirty="0" err="1"/>
              <a:t>udvikle</a:t>
            </a:r>
            <a:r>
              <a:rPr lang="en-US" sz="1600" b="0" dirty="0"/>
              <a:t> type-2 diabetes </a:t>
            </a:r>
            <a:r>
              <a:rPr lang="en-US" sz="1600" b="0" dirty="0" err="1"/>
              <a:t>når</a:t>
            </a:r>
            <a:r>
              <a:rPr lang="en-US" sz="1600" b="0" dirty="0"/>
              <a:t> man </a:t>
            </a:r>
            <a:r>
              <a:rPr lang="en-US" sz="1600" b="0" dirty="0" err="1"/>
              <a:t>har</a:t>
            </a:r>
            <a:r>
              <a:rPr lang="en-US" sz="1600" b="0" dirty="0"/>
              <a:t> GBD.</a:t>
            </a:r>
            <a:br>
              <a:rPr lang="en-US" sz="1600" b="0" dirty="0"/>
            </a:br>
            <a:br>
              <a:rPr lang="en-US" sz="1600" b="0" dirty="0"/>
            </a:br>
            <a:br>
              <a:rPr lang="en-US" sz="1600" dirty="0"/>
            </a:br>
            <a:r>
              <a:rPr lang="en-US" sz="1600" dirty="0"/>
              <a:t>Central </a:t>
            </a:r>
            <a:r>
              <a:rPr lang="en-US" sz="1600" dirty="0" err="1"/>
              <a:t>fedme</a:t>
            </a:r>
            <a:r>
              <a:rPr lang="en-US" sz="1600" dirty="0"/>
              <a:t> </a:t>
            </a:r>
            <a:br>
              <a:rPr lang="en-US" sz="1600" b="0" dirty="0"/>
            </a:br>
            <a:r>
              <a:rPr lang="en-US" sz="1600" b="0" dirty="0"/>
              <a:t>Ingen GBD (referent): 	HR = 1</a:t>
            </a:r>
            <a:br>
              <a:rPr lang="en-US" sz="1600" b="0" dirty="0"/>
            </a:br>
            <a:r>
              <a:rPr lang="en-US" sz="1600" b="0" dirty="0"/>
              <a:t>Med GBD: 			HR = 1.25 (1.19, 1.32), p &lt; 0.0001 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/>
              <a:t>=&gt; 25% </a:t>
            </a:r>
            <a:r>
              <a:rPr lang="en-US" sz="1600" b="0" dirty="0" err="1"/>
              <a:t>højere</a:t>
            </a:r>
            <a:r>
              <a:rPr lang="en-US" sz="1600" b="0" dirty="0"/>
              <a:t> </a:t>
            </a:r>
            <a:r>
              <a:rPr lang="en-US" sz="1600" b="0" dirty="0" err="1"/>
              <a:t>risiko</a:t>
            </a:r>
            <a:r>
              <a:rPr lang="en-US" sz="1600" b="0" dirty="0"/>
              <a:t> for T2D </a:t>
            </a:r>
            <a:r>
              <a:rPr lang="en-US" sz="1600" b="0" dirty="0" err="1"/>
              <a:t>ved</a:t>
            </a:r>
            <a:r>
              <a:rPr lang="en-US" sz="1600" b="0" dirty="0"/>
              <a:t> GBD </a:t>
            </a:r>
            <a:r>
              <a:rPr lang="en-US" sz="1600" b="0" dirty="0" err="1"/>
              <a:t>sammenlignet</a:t>
            </a:r>
            <a:r>
              <a:rPr lang="en-US" sz="1600" b="0" dirty="0"/>
              <a:t> med </a:t>
            </a:r>
            <a:r>
              <a:rPr lang="en-US" sz="1600" b="0" dirty="0" err="1"/>
              <a:t>ingen</a:t>
            </a:r>
            <a:r>
              <a:rPr lang="en-US" sz="1600" b="0" dirty="0"/>
              <a:t> GBD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dirty="0"/>
              <a:t>Uden central </a:t>
            </a:r>
            <a:r>
              <a:rPr lang="en-US" sz="1600" dirty="0" err="1"/>
              <a:t>fedme</a:t>
            </a:r>
            <a:r>
              <a:rPr lang="en-US" sz="1600" dirty="0"/>
              <a:t> </a:t>
            </a:r>
            <a:br>
              <a:rPr lang="en-US" sz="1600" b="0" dirty="0"/>
            </a:br>
            <a:r>
              <a:rPr lang="en-US" sz="1600" b="0" dirty="0"/>
              <a:t>Ingen GBD (referent):	HR = 1 </a:t>
            </a:r>
            <a:br>
              <a:rPr lang="en-US" sz="1600" b="0" dirty="0"/>
            </a:br>
            <a:r>
              <a:rPr lang="en-US" sz="1600" b="0" dirty="0"/>
              <a:t>Med GBD: 			HR = 1.48 (1.34, 1.63), p &lt; 0.0001	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/>
              <a:t>=&gt; 48% </a:t>
            </a:r>
            <a:r>
              <a:rPr lang="en-US" sz="1600" b="0" dirty="0" err="1"/>
              <a:t>højere</a:t>
            </a:r>
            <a:r>
              <a:rPr lang="en-US" sz="1600" b="0" dirty="0"/>
              <a:t> </a:t>
            </a:r>
            <a:r>
              <a:rPr lang="en-US" sz="1600" b="0" dirty="0" err="1"/>
              <a:t>risiko</a:t>
            </a:r>
            <a:r>
              <a:rPr lang="en-US" sz="1600" b="0" dirty="0"/>
              <a:t> for T2D </a:t>
            </a:r>
            <a:r>
              <a:rPr lang="en-US" sz="1600" b="0" dirty="0" err="1"/>
              <a:t>ved</a:t>
            </a:r>
            <a:r>
              <a:rPr lang="en-US" sz="1600" b="0" dirty="0"/>
              <a:t> GBD </a:t>
            </a:r>
            <a:r>
              <a:rPr lang="en-US" sz="1600" b="0" dirty="0" err="1"/>
              <a:t>sammenlignet</a:t>
            </a:r>
            <a:r>
              <a:rPr lang="en-US" sz="1600" b="0" dirty="0"/>
              <a:t> med </a:t>
            </a:r>
            <a:r>
              <a:rPr lang="en-US" sz="1600" b="0" dirty="0" err="1"/>
              <a:t>ingen</a:t>
            </a:r>
            <a:r>
              <a:rPr lang="en-US" sz="1600" b="0" dirty="0"/>
              <a:t> GBD</a:t>
            </a:r>
            <a:br>
              <a:rPr lang="en-US" sz="1600" b="0" dirty="0"/>
            </a:br>
            <a:br>
              <a:rPr lang="en-US" sz="1600" b="0" dirty="0"/>
            </a:b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/>
              <a:t>Model 2 </a:t>
            </a:r>
            <a:r>
              <a:rPr lang="en-US" sz="1600" b="0" dirty="0" err="1"/>
              <a:t>viser</a:t>
            </a:r>
            <a:r>
              <a:rPr lang="en-US" sz="1600" b="0" dirty="0"/>
              <a:t>, at GBD er </a:t>
            </a:r>
            <a:r>
              <a:rPr lang="en-US" sz="1600" b="0" dirty="0" err="1"/>
              <a:t>forbundet</a:t>
            </a:r>
            <a:r>
              <a:rPr lang="en-US" sz="1600" b="0" dirty="0"/>
              <a:t> med </a:t>
            </a:r>
            <a:r>
              <a:rPr lang="en-US" sz="1600" b="0" dirty="0" err="1"/>
              <a:t>øget</a:t>
            </a:r>
            <a:r>
              <a:rPr lang="en-US" sz="1600" b="0" dirty="0"/>
              <a:t> </a:t>
            </a:r>
            <a:r>
              <a:rPr lang="en-US" sz="1600" b="0" dirty="0" err="1"/>
              <a:t>risiko</a:t>
            </a:r>
            <a:r>
              <a:rPr lang="en-US" sz="1600" b="0" dirty="0"/>
              <a:t> for T2D </a:t>
            </a:r>
            <a:r>
              <a:rPr lang="en-US" sz="1600" b="0" dirty="0" err="1"/>
              <a:t>uanset</a:t>
            </a:r>
            <a:r>
              <a:rPr lang="en-US" sz="1600" b="0" dirty="0"/>
              <a:t> om man </a:t>
            </a:r>
            <a:r>
              <a:rPr lang="en-US" sz="1600" b="0" dirty="0" err="1"/>
              <a:t>har</a:t>
            </a:r>
            <a:r>
              <a:rPr lang="en-US" sz="1600" b="0" dirty="0"/>
              <a:t> central </a:t>
            </a:r>
            <a:r>
              <a:rPr lang="en-US" sz="1600" b="0" dirty="0" err="1"/>
              <a:t>fedme</a:t>
            </a:r>
            <a:r>
              <a:rPr lang="en-US" sz="1600" b="0" dirty="0"/>
              <a:t> </a:t>
            </a:r>
            <a:r>
              <a:rPr lang="en-US" sz="1600" b="0" dirty="0" err="1"/>
              <a:t>eller</a:t>
            </a:r>
            <a:r>
              <a:rPr lang="en-US" sz="1600" b="0" dirty="0"/>
              <a:t> </a:t>
            </a:r>
            <a:r>
              <a:rPr lang="en-US" sz="1600" b="0" dirty="0" err="1"/>
              <a:t>ej</a:t>
            </a:r>
            <a:r>
              <a:rPr lang="en-US" sz="1600" b="0" dirty="0"/>
              <a:t>. Hos </a:t>
            </a:r>
            <a:r>
              <a:rPr lang="en-US" sz="1600" b="0" dirty="0" err="1"/>
              <a:t>kvinder</a:t>
            </a:r>
            <a:r>
              <a:rPr lang="en-US" sz="1600" b="0" dirty="0"/>
              <a:t> med central </a:t>
            </a:r>
            <a:r>
              <a:rPr lang="en-US" sz="1600" b="0" dirty="0" err="1"/>
              <a:t>fedme</a:t>
            </a:r>
            <a:r>
              <a:rPr lang="en-US" sz="1600" b="0" dirty="0"/>
              <a:t> </a:t>
            </a:r>
            <a:r>
              <a:rPr lang="en-US" sz="1600" b="0" dirty="0" err="1"/>
              <a:t>øges</a:t>
            </a:r>
            <a:r>
              <a:rPr lang="en-US" sz="1600" b="0" dirty="0"/>
              <a:t> </a:t>
            </a:r>
            <a:r>
              <a:rPr lang="en-US" sz="1600" b="0" dirty="0" err="1"/>
              <a:t>risikoen</a:t>
            </a:r>
            <a:r>
              <a:rPr lang="en-US" sz="1600" b="0" dirty="0"/>
              <a:t> med 25%, men den </a:t>
            </a:r>
            <a:r>
              <a:rPr lang="en-US" sz="1600" b="0" dirty="0" err="1"/>
              <a:t>blandt</a:t>
            </a:r>
            <a:r>
              <a:rPr lang="en-US" sz="1600" b="0" dirty="0"/>
              <a:t> </a:t>
            </a:r>
            <a:r>
              <a:rPr lang="en-US" sz="1600" b="0" dirty="0" err="1"/>
              <a:t>kvinder</a:t>
            </a:r>
            <a:r>
              <a:rPr lang="en-US" sz="1600" b="0" dirty="0"/>
              <a:t> </a:t>
            </a:r>
            <a:r>
              <a:rPr lang="en-US" sz="1600" b="0" dirty="0" err="1"/>
              <a:t>uden</a:t>
            </a:r>
            <a:r>
              <a:rPr lang="en-US" sz="1600" b="0" dirty="0"/>
              <a:t> central </a:t>
            </a:r>
            <a:r>
              <a:rPr lang="en-US" sz="1600" b="0" dirty="0" err="1"/>
              <a:t>fedme</a:t>
            </a:r>
            <a:r>
              <a:rPr lang="en-US" sz="1600" b="0" dirty="0"/>
              <a:t> </a:t>
            </a:r>
            <a:r>
              <a:rPr lang="en-US" sz="1600" b="0" dirty="0" err="1"/>
              <a:t>øges</a:t>
            </a:r>
            <a:r>
              <a:rPr lang="en-US" sz="1600" b="0" dirty="0"/>
              <a:t> med 48%.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3AAE3-3B7C-CA96-19C9-A9307CE9C6C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DCA060F-6702-4A0B-9A7D-BE6BD2D947A9}" type="datetime1">
              <a:rPr lang="da-DK" smtClean="0"/>
              <a:pPr>
                <a:spcAft>
                  <a:spcPts val="600"/>
                </a:spcAft>
              </a:pPr>
              <a:t>24-02-2026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2609C-8AA2-42C5-7BD5-386798D5D59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9078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02D16-23A9-FAB2-F350-888C4D309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2B3D8E6-A459-9E7B-2694-FCB673FF4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83465"/>
            <a:ext cx="10962000" cy="671967"/>
          </a:xfrm>
        </p:spPr>
        <p:txBody>
          <a:bodyPr/>
          <a:lstStyle/>
          <a:p>
            <a:r>
              <a:rPr lang="en-US" sz="1600" dirty="0" err="1"/>
              <a:t>Opgave</a:t>
            </a:r>
            <a:r>
              <a:rPr lang="en-US" sz="1600" dirty="0"/>
              <a:t> 1c) </a:t>
            </a:r>
            <a:r>
              <a:rPr lang="en-US" sz="1600" dirty="0" err="1"/>
              <a:t>Angiv</a:t>
            </a:r>
            <a:r>
              <a:rPr lang="en-US" sz="1600" dirty="0"/>
              <a:t> </a:t>
            </a:r>
            <a:r>
              <a:rPr lang="en-US" sz="1600" dirty="0" err="1"/>
              <a:t>hvilke</a:t>
            </a:r>
            <a:r>
              <a:rPr lang="en-US" sz="1600" dirty="0"/>
              <a:t> </a:t>
            </a:r>
            <a:r>
              <a:rPr lang="en-US" sz="1600" dirty="0" err="1"/>
              <a:t>forudsætninger</a:t>
            </a:r>
            <a:r>
              <a:rPr lang="en-US" sz="1600" dirty="0"/>
              <a:t> der er for at lave Cox-regression,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beskriv</a:t>
            </a:r>
            <a:r>
              <a:rPr lang="en-US" sz="1600" dirty="0"/>
              <a:t> </a:t>
            </a:r>
            <a:r>
              <a:rPr lang="en-US" sz="1600" dirty="0" err="1"/>
              <a:t>hvad</a:t>
            </a:r>
            <a:r>
              <a:rPr lang="en-US" sz="1600" dirty="0"/>
              <a:t> </a:t>
            </a:r>
            <a:r>
              <a:rPr lang="en-US" sz="1600" dirty="0" err="1"/>
              <a:t>forfatterne</a:t>
            </a:r>
            <a:r>
              <a:rPr lang="en-US" sz="1600" dirty="0"/>
              <a:t> </a:t>
            </a:r>
            <a:r>
              <a:rPr lang="en-US" sz="1600" dirty="0" err="1"/>
              <a:t>skriver</a:t>
            </a:r>
            <a:r>
              <a:rPr lang="en-US" sz="1600" dirty="0"/>
              <a:t> </a:t>
            </a:r>
            <a:r>
              <a:rPr lang="en-US" sz="1600" dirty="0" err="1"/>
              <a:t>omkring</a:t>
            </a:r>
            <a:r>
              <a:rPr lang="en-US" sz="1600" dirty="0"/>
              <a:t> </a:t>
            </a:r>
            <a:r>
              <a:rPr lang="en-US" sz="1600" dirty="0" err="1"/>
              <a:t>disse</a:t>
            </a:r>
            <a:r>
              <a:rPr lang="en-US" sz="1600" dirty="0"/>
              <a:t> </a:t>
            </a:r>
            <a:r>
              <a:rPr lang="en-US" sz="1600" dirty="0" err="1"/>
              <a:t>forudsætninger</a:t>
            </a:r>
            <a:r>
              <a:rPr lang="en-US" sz="1600" dirty="0"/>
              <a:t> I </a:t>
            </a:r>
            <a:r>
              <a:rPr lang="en-US" sz="1600" dirty="0" err="1"/>
              <a:t>artiklen</a:t>
            </a:r>
            <a:br>
              <a:rPr lang="en-US" sz="1600" dirty="0"/>
            </a:br>
            <a:br>
              <a:rPr lang="en-US" sz="1600" dirty="0"/>
            </a:br>
            <a:br>
              <a:rPr lang="en-US" sz="1600" b="0" dirty="0"/>
            </a:br>
            <a:r>
              <a:rPr lang="en-US" sz="1600" b="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D5A53-9783-9ADA-3D7E-0C351592FED5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DCA060F-6702-4A0B-9A7D-BE6BD2D947A9}" type="datetime1">
              <a:rPr lang="da-DK" smtClean="0"/>
              <a:pPr>
                <a:spcAft>
                  <a:spcPts val="600"/>
                </a:spcAft>
              </a:pPr>
              <a:t>24-02-2026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0F10F-0AFC-D1C0-01F0-61AF3C5D2A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6608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D96EC-8484-A6C7-9978-8D29B7D0A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2906CE4-2A20-03C0-9B57-8BCB3A22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83465"/>
            <a:ext cx="10962000" cy="671967"/>
          </a:xfrm>
        </p:spPr>
        <p:txBody>
          <a:bodyPr/>
          <a:lstStyle/>
          <a:p>
            <a:r>
              <a:rPr lang="en-US" sz="1600" dirty="0" err="1"/>
              <a:t>Opgave</a:t>
            </a:r>
            <a:r>
              <a:rPr lang="en-US" sz="1600" dirty="0"/>
              <a:t> 1c) </a:t>
            </a:r>
            <a:r>
              <a:rPr lang="en-US" sz="1600" dirty="0" err="1"/>
              <a:t>Angiv</a:t>
            </a:r>
            <a:r>
              <a:rPr lang="en-US" sz="1600" dirty="0"/>
              <a:t> </a:t>
            </a:r>
            <a:r>
              <a:rPr lang="en-US" sz="1600" dirty="0" err="1"/>
              <a:t>hvilke</a:t>
            </a:r>
            <a:r>
              <a:rPr lang="en-US" sz="1600" dirty="0"/>
              <a:t> </a:t>
            </a:r>
            <a:r>
              <a:rPr lang="en-US" sz="1600" dirty="0" err="1"/>
              <a:t>forudsætninger</a:t>
            </a:r>
            <a:r>
              <a:rPr lang="en-US" sz="1600" dirty="0"/>
              <a:t> der er for at lave Cox-regression, </a:t>
            </a:r>
            <a:r>
              <a:rPr lang="en-US" sz="1600" dirty="0" err="1"/>
              <a:t>og</a:t>
            </a:r>
            <a:r>
              <a:rPr lang="en-US" sz="1600" dirty="0"/>
              <a:t> </a:t>
            </a:r>
            <a:r>
              <a:rPr lang="en-US" sz="1600" dirty="0" err="1"/>
              <a:t>beskriv</a:t>
            </a:r>
            <a:r>
              <a:rPr lang="en-US" sz="1600" dirty="0"/>
              <a:t> </a:t>
            </a:r>
            <a:r>
              <a:rPr lang="en-US" sz="1600" dirty="0" err="1"/>
              <a:t>hvad</a:t>
            </a:r>
            <a:r>
              <a:rPr lang="en-US" sz="1600" dirty="0"/>
              <a:t> </a:t>
            </a:r>
            <a:r>
              <a:rPr lang="en-US" sz="1600" dirty="0" err="1"/>
              <a:t>forfatterne</a:t>
            </a:r>
            <a:r>
              <a:rPr lang="en-US" sz="1600" dirty="0"/>
              <a:t> </a:t>
            </a:r>
            <a:r>
              <a:rPr lang="en-US" sz="1600" dirty="0" err="1"/>
              <a:t>skriver</a:t>
            </a:r>
            <a:r>
              <a:rPr lang="en-US" sz="1600" dirty="0"/>
              <a:t> </a:t>
            </a:r>
            <a:r>
              <a:rPr lang="en-US" sz="1600" dirty="0" err="1"/>
              <a:t>omkring</a:t>
            </a:r>
            <a:r>
              <a:rPr lang="en-US" sz="1600" dirty="0"/>
              <a:t> </a:t>
            </a:r>
            <a:r>
              <a:rPr lang="en-US" sz="1600" dirty="0" err="1"/>
              <a:t>disse</a:t>
            </a:r>
            <a:r>
              <a:rPr lang="en-US" sz="1600" dirty="0"/>
              <a:t> </a:t>
            </a:r>
            <a:r>
              <a:rPr lang="en-US" sz="1600" dirty="0" err="1"/>
              <a:t>forudsætninger</a:t>
            </a:r>
            <a:r>
              <a:rPr lang="en-US" sz="1600" dirty="0"/>
              <a:t> I </a:t>
            </a:r>
            <a:r>
              <a:rPr lang="en-US" sz="1600" dirty="0" err="1"/>
              <a:t>artiklen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b="0" dirty="0"/>
            </a:br>
            <a:r>
              <a:rPr lang="en-US" sz="1600" b="0" dirty="0" err="1"/>
              <a:t>Propotional</a:t>
            </a:r>
            <a:r>
              <a:rPr lang="en-US" sz="1600" b="0" dirty="0"/>
              <a:t> hazard </a:t>
            </a:r>
            <a:r>
              <a:rPr lang="en-US" sz="1600" b="0" dirty="0" err="1"/>
              <a:t>antagelse</a:t>
            </a:r>
            <a:r>
              <a:rPr lang="en-US" sz="1600" b="0" dirty="0"/>
              <a:t>: HR </a:t>
            </a:r>
            <a:r>
              <a:rPr lang="en-US" sz="1600" b="0" dirty="0" err="1"/>
              <a:t>mellem</a:t>
            </a:r>
            <a:r>
              <a:rPr lang="en-US" sz="1600" b="0" dirty="0"/>
              <a:t> </a:t>
            </a:r>
            <a:r>
              <a:rPr lang="en-US" sz="1600" b="0" dirty="0" err="1"/>
              <a:t>grupper</a:t>
            </a:r>
            <a:r>
              <a:rPr lang="en-US" sz="1600" b="0" dirty="0"/>
              <a:t> er constant over </a:t>
            </a:r>
            <a:r>
              <a:rPr lang="en-US" sz="1600" b="0" dirty="0" err="1"/>
              <a:t>tid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 err="1"/>
              <a:t>Uafhængighed</a:t>
            </a:r>
            <a:r>
              <a:rPr lang="en-US" sz="1600" b="0" dirty="0"/>
              <a:t> </a:t>
            </a:r>
            <a:r>
              <a:rPr lang="en-US" sz="1600" b="0" dirty="0" err="1"/>
              <a:t>mellem</a:t>
            </a:r>
            <a:r>
              <a:rPr lang="en-US" sz="1600" b="0" dirty="0"/>
              <a:t> </a:t>
            </a:r>
            <a:r>
              <a:rPr lang="en-US" sz="1600" b="0" dirty="0" err="1"/>
              <a:t>observationer</a:t>
            </a:r>
            <a:r>
              <a:rPr lang="en-US" sz="1600" b="0" dirty="0"/>
              <a:t>: </a:t>
            </a:r>
            <a:r>
              <a:rPr lang="en-US" sz="1600" b="0" dirty="0" err="1"/>
              <a:t>hvert</a:t>
            </a:r>
            <a:r>
              <a:rPr lang="en-US" sz="1600" b="0" dirty="0"/>
              <a:t> </a:t>
            </a:r>
            <a:r>
              <a:rPr lang="en-US" sz="1600" b="0" dirty="0" err="1"/>
              <a:t>individ</a:t>
            </a:r>
            <a:r>
              <a:rPr lang="en-US" sz="1600" b="0" dirty="0"/>
              <a:t> </a:t>
            </a:r>
            <a:r>
              <a:rPr lang="en-US" sz="1600" b="0" dirty="0" err="1"/>
              <a:t>skal</a:t>
            </a:r>
            <a:r>
              <a:rPr lang="en-US" sz="1600" b="0" dirty="0"/>
              <a:t> </a:t>
            </a:r>
            <a:r>
              <a:rPr lang="en-US" sz="1600" b="0" dirty="0" err="1"/>
              <a:t>være</a:t>
            </a:r>
            <a:r>
              <a:rPr lang="en-US" sz="1600" b="0" dirty="0"/>
              <a:t> </a:t>
            </a:r>
            <a:r>
              <a:rPr lang="en-US" sz="1600" b="0" dirty="0" err="1"/>
              <a:t>uafhængigt</a:t>
            </a:r>
            <a:r>
              <a:rPr lang="en-US" sz="1600" b="0" dirty="0"/>
              <a:t> </a:t>
            </a:r>
            <a:r>
              <a:rPr lang="en-US" sz="1600" b="0" dirty="0" err="1"/>
              <a:t>af</a:t>
            </a:r>
            <a:r>
              <a:rPr lang="en-US" sz="1600" b="0" dirty="0"/>
              <a:t> de </a:t>
            </a:r>
            <a:r>
              <a:rPr lang="en-US" sz="1600" b="0" dirty="0" err="1"/>
              <a:t>andre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 err="1"/>
              <a:t>Korrekt</a:t>
            </a:r>
            <a:r>
              <a:rPr lang="en-US" sz="1600" b="0" dirty="0"/>
              <a:t> </a:t>
            </a:r>
            <a:r>
              <a:rPr lang="en-US" sz="1600" b="0" dirty="0" err="1"/>
              <a:t>tidsskala</a:t>
            </a:r>
            <a:r>
              <a:rPr lang="en-US" sz="1600" b="0" dirty="0"/>
              <a:t>: </a:t>
            </a:r>
            <a:r>
              <a:rPr lang="en-US" sz="1600" b="0" dirty="0" err="1"/>
              <a:t>starttidspunkt</a:t>
            </a:r>
            <a:r>
              <a:rPr lang="en-US" sz="1600" b="0" dirty="0"/>
              <a:t>, </a:t>
            </a:r>
            <a:r>
              <a:rPr lang="en-US" sz="1600" b="0" dirty="0" err="1"/>
              <a:t>sluttidspunkt</a:t>
            </a:r>
            <a:r>
              <a:rPr lang="en-US" sz="1600" b="0" dirty="0"/>
              <a:t>/censoring, </a:t>
            </a:r>
            <a:r>
              <a:rPr lang="en-US" sz="1600" b="0" dirty="0" err="1"/>
              <a:t>hændelsestidspunkt</a:t>
            </a:r>
            <a:r>
              <a:rPr lang="en-US" sz="1600" b="0" dirty="0"/>
              <a:t> for outcome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 err="1"/>
              <a:t>Dataformat</a:t>
            </a:r>
            <a:r>
              <a:rPr lang="en-US" sz="1600" b="0" dirty="0"/>
              <a:t>:</a:t>
            </a:r>
            <a:br>
              <a:rPr lang="en-US" sz="1600" b="0" dirty="0"/>
            </a:br>
            <a:r>
              <a:rPr lang="en-US" sz="1600" b="0" dirty="0" err="1"/>
              <a:t>Overlevelsestid</a:t>
            </a:r>
            <a:r>
              <a:rPr lang="en-US" sz="1600" b="0" dirty="0"/>
              <a:t> </a:t>
            </a:r>
            <a:r>
              <a:rPr lang="en-US" sz="1600" b="0" dirty="0" err="1"/>
              <a:t>eller</a:t>
            </a:r>
            <a:r>
              <a:rPr lang="en-US" sz="1600" b="0" dirty="0"/>
              <a:t> </a:t>
            </a:r>
            <a:r>
              <a:rPr lang="en-US" sz="1600" b="0" dirty="0" err="1"/>
              <a:t>tid</a:t>
            </a:r>
            <a:r>
              <a:rPr lang="en-US" sz="1600" b="0" dirty="0"/>
              <a:t> </a:t>
            </a:r>
            <a:r>
              <a:rPr lang="en-US" sz="1600" b="0" dirty="0" err="1"/>
              <a:t>til</a:t>
            </a:r>
            <a:r>
              <a:rPr lang="en-US" sz="1600" b="0" dirty="0"/>
              <a:t> </a:t>
            </a:r>
            <a:r>
              <a:rPr lang="en-US" sz="1600" b="0" dirty="0" err="1"/>
              <a:t>hændelse</a:t>
            </a:r>
            <a:r>
              <a:rPr lang="en-US" sz="1600" b="0" dirty="0"/>
              <a:t> </a:t>
            </a:r>
            <a:br>
              <a:rPr lang="en-US" sz="1600" b="0" dirty="0"/>
            </a:br>
            <a:r>
              <a:rPr lang="en-US" sz="1600" b="0" dirty="0"/>
              <a:t>Status (</a:t>
            </a:r>
            <a:r>
              <a:rPr lang="en-US" sz="1600" b="0" dirty="0" err="1"/>
              <a:t>hændelse</a:t>
            </a:r>
            <a:r>
              <a:rPr lang="en-US" sz="1600" b="0" dirty="0"/>
              <a:t> </a:t>
            </a:r>
            <a:r>
              <a:rPr lang="en-US" sz="1600" b="0" dirty="0" err="1"/>
              <a:t>indtrådt</a:t>
            </a:r>
            <a:r>
              <a:rPr lang="en-US" sz="1600" b="0" dirty="0"/>
              <a:t> = 1, </a:t>
            </a:r>
            <a:r>
              <a:rPr lang="en-US" sz="1600" b="0" dirty="0" err="1"/>
              <a:t>censur</a:t>
            </a:r>
            <a:r>
              <a:rPr lang="en-US" sz="1600" b="0" dirty="0"/>
              <a:t> = 0)</a:t>
            </a:r>
            <a:br>
              <a:rPr lang="en-US" sz="1600" b="0" dirty="0"/>
            </a:br>
            <a:br>
              <a:rPr lang="en-US" sz="1600" b="0" dirty="0"/>
            </a:br>
            <a:r>
              <a:rPr lang="en-US" sz="1600" b="0" dirty="0" err="1"/>
              <a:t>Forskerne</a:t>
            </a:r>
            <a:r>
              <a:rPr lang="en-US" sz="1600" b="0" dirty="0"/>
              <a:t> </a:t>
            </a:r>
            <a:r>
              <a:rPr lang="en-US" sz="1600" b="0" dirty="0" err="1"/>
              <a:t>skriver</a:t>
            </a:r>
            <a:r>
              <a:rPr lang="en-US" sz="1600" b="0" dirty="0"/>
              <a:t> I </a:t>
            </a:r>
            <a:r>
              <a:rPr lang="en-US" sz="1600" b="0" dirty="0" err="1"/>
              <a:t>statiscal</a:t>
            </a:r>
            <a:r>
              <a:rPr lang="en-US" sz="1600" b="0" dirty="0"/>
              <a:t> analyses </a:t>
            </a:r>
            <a:r>
              <a:rPr lang="en-US" sz="1600" b="0" dirty="0" err="1"/>
              <a:t>sektionen</a:t>
            </a:r>
            <a:r>
              <a:rPr lang="en-US" sz="1600" b="0" dirty="0"/>
              <a:t> at </a:t>
            </a:r>
            <a:r>
              <a:rPr lang="en-US" sz="1600" b="0" dirty="0" err="1"/>
              <a:t>forudsætninger</a:t>
            </a:r>
            <a:r>
              <a:rPr lang="en-US" sz="1600" b="0" dirty="0"/>
              <a:t> er </a:t>
            </a:r>
            <a:r>
              <a:rPr lang="en-US" sz="1600" b="0" dirty="0" err="1"/>
              <a:t>blevet</a:t>
            </a:r>
            <a:r>
              <a:rPr lang="en-US" sz="1600" b="0" dirty="0"/>
              <a:t> </a:t>
            </a:r>
            <a:r>
              <a:rPr lang="en-US" sz="1600" b="0" dirty="0" err="1"/>
              <a:t>tjekket</a:t>
            </a:r>
            <a:r>
              <a:rPr lang="en-US" sz="1600" b="0" dirty="0"/>
              <a:t> </a:t>
            </a:r>
            <a:r>
              <a:rPr lang="en-US" sz="1600" b="0" dirty="0" err="1"/>
              <a:t>visuelt</a:t>
            </a:r>
            <a:r>
              <a:rPr lang="en-US" sz="1600" b="0" dirty="0"/>
              <a:t>. De </a:t>
            </a:r>
            <a:r>
              <a:rPr lang="en-US" sz="1600" b="0" dirty="0" err="1"/>
              <a:t>skriver</a:t>
            </a:r>
            <a:r>
              <a:rPr lang="en-US" sz="1600" b="0" dirty="0"/>
              <a:t> </a:t>
            </a:r>
            <a:r>
              <a:rPr lang="en-US" sz="1600" b="0" dirty="0" err="1"/>
              <a:t>følgende</a:t>
            </a:r>
            <a:r>
              <a:rPr lang="en-US" sz="1600" b="0" dirty="0"/>
              <a:t>: “Proportional hazard assumption was tested using graphical diagnostics based on scaled Schoenfield residuals </a:t>
            </a:r>
            <a:r>
              <a:rPr lang="en-US" sz="1600" b="0" dirty="0" err="1"/>
              <a:t>amd</a:t>
            </a:r>
            <a:r>
              <a:rPr lang="en-US" sz="1600" b="0" dirty="0"/>
              <a:t> seen to have been satisfied by all models”</a:t>
            </a:r>
            <a:br>
              <a:rPr lang="en-US" sz="1600" b="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b="0" dirty="0"/>
            </a:br>
            <a:r>
              <a:rPr lang="en-US" sz="1600" b="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335D-F17C-DF3F-1910-D8D35459169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DCA060F-6702-4A0B-9A7D-BE6BD2D947A9}" type="datetime1">
              <a:rPr lang="da-DK" smtClean="0"/>
              <a:pPr>
                <a:spcAft>
                  <a:spcPts val="600"/>
                </a:spcAft>
              </a:pPr>
              <a:t>24-02-2026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C51E0-3759-A71C-4689-BFF7A5B2880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088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9D47-4B37-532A-C0C2-0454CFD9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396389"/>
            <a:ext cx="3727170" cy="1111778"/>
          </a:xfrm>
        </p:spPr>
        <p:txBody>
          <a:bodyPr anchor="t">
            <a:normAutofit/>
          </a:bodyPr>
          <a:lstStyle/>
          <a:p>
            <a:r>
              <a:rPr lang="en-US" dirty="0" err="1"/>
              <a:t>Hvorfor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Cox-regression?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550FE9-5AAE-0A00-8029-8C57CB8CF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16" y="2869453"/>
            <a:ext cx="11734768" cy="3725786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66A4C-F303-78F3-8447-AEFD4D5CA5FC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C28E064-6902-44FC-85BB-E23230FF187E}" type="datetime1">
              <a:rPr lang="da-DK" smtClean="0"/>
              <a:pPr>
                <a:spcAft>
                  <a:spcPts val="600"/>
                </a:spcAft>
              </a:pPr>
              <a:t>24-02-2026</a:t>
            </a:fld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6CAAA-7C4F-5654-1765-FCDC02D948A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45D37B1E-C366-494F-A587-962AD9AABC83}" type="slidenum">
              <a:rPr lang="da-DK" smtClean="0"/>
              <a:pPr>
                <a:spcAft>
                  <a:spcPts val="600"/>
                </a:spcAft>
              </a:pPr>
              <a:t>8</a:t>
            </a:fld>
            <a:endParaRPr lang="da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14555B-6B02-77D9-803B-84BECC1AF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186" y="396388"/>
            <a:ext cx="7825814" cy="187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3661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SDU">
      <a:dk1>
        <a:srgbClr val="000000"/>
      </a:dk1>
      <a:lt1>
        <a:sysClr val="window" lastClr="FFFFFF"/>
      </a:lt1>
      <a:dk2>
        <a:srgbClr val="7A6040"/>
      </a:dk2>
      <a:lt2>
        <a:srgbClr val="DDCBA4"/>
      </a:lt2>
      <a:accent1>
        <a:srgbClr val="AEB862"/>
      </a:accent1>
      <a:accent2>
        <a:srgbClr val="789D4A"/>
      </a:accent2>
      <a:accent3>
        <a:srgbClr val="F2C75C"/>
      </a:accent3>
      <a:accent4>
        <a:srgbClr val="E07E3C"/>
      </a:accent4>
      <a:accent5>
        <a:srgbClr val="E1BBB4"/>
      </a:accent5>
      <a:accent6>
        <a:srgbClr val="D05A57"/>
      </a:accent6>
      <a:hlink>
        <a:srgbClr val="0563C1"/>
      </a:hlink>
      <a:folHlink>
        <a:srgbClr val="954F72"/>
      </a:folHlink>
    </a:clrScheme>
    <a:fontScheme name="SD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lIns="72000" tIns="72000" rIns="72000" bIns="72000" rtlCol="0" anchor="ctr"/>
      <a:lstStyle>
        <a:defPPr algn="ctr">
          <a:defRPr sz="16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/>
        </a:defPPr>
      </a:lstStyle>
    </a:txDef>
  </a:objectDefaults>
  <a:extraClrSchemeLst/>
  <a:custClrLst>
    <a:custClr name="Grøn 1">
      <a:srgbClr val="4E5B31"/>
    </a:custClr>
    <a:custClr name="Grøn 2">
      <a:srgbClr val="789D4A"/>
    </a:custClr>
    <a:custClr name="Grøn 3">
      <a:srgbClr val="AEB862"/>
    </a:custClr>
    <a:custClr name="Grøn 4">
      <a:srgbClr val="EAE7B9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Orange 1">
      <a:srgbClr val="D38235"/>
    </a:custClr>
    <a:custClr name="Orange 2">
      <a:srgbClr val="E0A526"/>
    </a:custClr>
    <a:custClr name="Orange 3">
      <a:srgbClr val="EED484"/>
    </a:custClr>
    <a:custClr name="Orange 4">
      <a:srgbClr val="FCF0C4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ød 1">
      <a:srgbClr val="862633"/>
    </a:custClr>
    <a:custClr name="Rød 2">
      <a:srgbClr val="D05A57"/>
    </a:custClr>
    <a:custClr name="Rød 3">
      <a:srgbClr val="E1BBB4"/>
    </a:custClr>
    <a:custClr name="Rød 4">
      <a:srgbClr val="F4E2D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run 1">
      <a:srgbClr val="473729"/>
    </a:custClr>
    <a:custClr name="Brun 2">
      <a:srgbClr val="946037"/>
    </a:custClr>
    <a:custClr name="Brun 3">
      <a:srgbClr val="DDCBA4"/>
    </a:custClr>
    <a:custClr name="Brun 4">
      <a:srgbClr val="EFE5D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ort">
      <a:srgbClr val="000000"/>
    </a:custClr>
    <a:custClr name="Hvid">
      <a:srgbClr val="FFFFFF"/>
    </a:custClr>
  </a:custClrLst>
  <a:extLst>
    <a:ext uri="{05A4C25C-085E-4340-85A3-A5531E510DB2}">
      <thm15:themeFamily xmlns:thm15="http://schemas.microsoft.com/office/thememl/2012/main" name="SDU widescreen.potx" id="{1C4F8E8D-0334-4267-96F7-9CAC143C1229}" vid="{6887ADA9-E5D5-4F4B-ACE2-4324069191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Grøn 1">
      <a:srgbClr val="4E5B31"/>
    </a:custClr>
    <a:custClr name="Grøn 2">
      <a:srgbClr val="789D4A"/>
    </a:custClr>
    <a:custClr name="Grøn 3">
      <a:srgbClr val="AEB862"/>
    </a:custClr>
    <a:custClr name="Grøn 4">
      <a:srgbClr val="EAE7B9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Orange 1">
      <a:srgbClr val="D38235"/>
    </a:custClr>
    <a:custClr name="Orange 2">
      <a:srgbClr val="E0A526"/>
    </a:custClr>
    <a:custClr name="Orange 3">
      <a:srgbClr val="EED484"/>
    </a:custClr>
    <a:custClr name="Orange 4">
      <a:srgbClr val="FCF0C4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ød 1">
      <a:srgbClr val="862633"/>
    </a:custClr>
    <a:custClr name="Rød 2">
      <a:srgbClr val="D05A57"/>
    </a:custClr>
    <a:custClr name="Rød 3">
      <a:srgbClr val="E1BBB4"/>
    </a:custClr>
    <a:custClr name="Rød 4">
      <a:srgbClr val="F4E2DE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run 1">
      <a:srgbClr val="473729"/>
    </a:custClr>
    <a:custClr name="Brun 2">
      <a:srgbClr val="946037"/>
    </a:custClr>
    <a:custClr name="Brun 3">
      <a:srgbClr val="DDCBA4"/>
    </a:custClr>
    <a:custClr name="Brun 4">
      <a:srgbClr val="EFE5D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Sort">
      <a:srgbClr val="000000"/>
    </a:custClr>
    <a:custClr name="Hvid">
      <a:srgbClr val="FFFFFF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emplafyFormConfiguration><![CDATA[{"formFields":[],"formDataEntries":[]}]]></TemplafyFormConfiguration>
</file>

<file path=customXml/item2.xml><?xml version="1.0" encoding="utf-8"?>
<TemplafyTemplateConfiguration><![CDATA[{"elementsMetadata":[],"transformationConfigurations":[],"templateName":"blank","templateDescription":"","enableDocumentContentUpdater":false,"version":"2.0"}]]></TemplafyTemplateConfiguration>
</file>

<file path=customXml/item3.xml><?xml version="1.0" encoding="utf-8"?>
<TemplafySlideTemplateConfiguration><![CDATA[{"slideVersion":1,"isValidatorEnabled":false,"isLocked":false,"elementsMetadata":[],"slideId":"637926266035515761","enableDocumentContentUpdater":false,"version":"2.0"}]]></TemplafySlideTemplateConfiguration>
</file>

<file path=customXml/item4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8A405656-6C4F-4C73-958C-1744EC0D04F1}">
  <ds:schemaRefs/>
</ds:datastoreItem>
</file>

<file path=customXml/itemProps2.xml><?xml version="1.0" encoding="utf-8"?>
<ds:datastoreItem xmlns:ds="http://schemas.openxmlformats.org/officeDocument/2006/customXml" ds:itemID="{E3874ABC-2065-4A7D-A58C-B9BA277BFB16}">
  <ds:schemaRefs/>
</ds:datastoreItem>
</file>

<file path=customXml/itemProps3.xml><?xml version="1.0" encoding="utf-8"?>
<ds:datastoreItem xmlns:ds="http://schemas.openxmlformats.org/officeDocument/2006/customXml" ds:itemID="{BAE0BCB8-EE3A-4095-9541-C1F1A3784F92}">
  <ds:schemaRefs/>
</ds:datastoreItem>
</file>

<file path=customXml/itemProps4.xml><?xml version="1.0" encoding="utf-8"?>
<ds:datastoreItem xmlns:ds="http://schemas.openxmlformats.org/officeDocument/2006/customXml" ds:itemID="{36DF640F-FDA4-4DAC-9AC0-9A12226415DA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SDU widescreen dateA</Template>
  <TotalTime>0</TotalTime>
  <Words>619</Words>
  <Application>Microsoft Office PowerPoint</Application>
  <PresentationFormat>Widescreen</PresentationFormat>
  <Paragraphs>29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Wingdings</vt:lpstr>
      <vt:lpstr>Blank</vt:lpstr>
      <vt:lpstr>Biostat w5</vt:lpstr>
      <vt:lpstr>Opgave 1. Tabellen viser resultater fra Cóx-regressioner, der undersøger om galdeblæresygdom (GBD) er associeret med type 2 diabetes    a) Fortolk resultatet fra table 2, som kan ses i nedenstående. Inddrag estimater, 95% konfidensintervaller og p-værdier til at sammenligne de to modeller</vt:lpstr>
      <vt:lpstr>Opgave 1. Tabellen viser resultater fra Cóx-regressioner, der undersøger om galdeblæresygdom (GBD) er associeret med type 2 diabetes    a) Fortolk resultatet fra table 2, som kan ses i nedenstående. Inddrag estimater, 95% konfidensintervaller og p-værdier til at sammenligne de to modeller</vt:lpstr>
      <vt:lpstr>Opgave 1b) Fortolk nedenstående resultater fra model 2, tabel 3. </vt:lpstr>
      <vt:lpstr>Opgave 1b) Fortolk nedenstående resultater fra model 2, tabel 3.    Vi ser altså her på hvorvidt central fedme påvirker risikoen for at udvikle type-2 diabetes når man har GBD.   Central fedme  Ingen GBD (referent):  HR = 1 Med GBD:    HR = 1.25 (1.19, 1.32), p &lt; 0.0001   =&gt; 25% højere risiko for T2D ved GBD sammenlignet med ingen GBD  Uden central fedme  Ingen GBD (referent): HR = 1  Med GBD:    HR = 1.48 (1.34, 1.63), p &lt; 0.0001   =&gt; 48% højere risiko for T2D ved GBD sammenlignet med ingen GBD    Model 2 viser, at GBD er forbundet med øget risiko for T2D uanset om man har central fedme eller ej. Hos kvinder med central fedme øges risikoen med 25%, men den blandt kvinder uden central fedme øges med 48%. </vt:lpstr>
      <vt:lpstr>Opgave 1c) Angiv hvilke forudsætninger der er for at lave Cox-regression, og beskriv hvad forfatterne skriver omkring disse forudsætninger I artiklen    </vt:lpstr>
      <vt:lpstr>Opgave 1c) Angiv hvilke forudsætninger der er for at lave Cox-regression, og beskriv hvad forfatterne skriver omkring disse forudsætninger I artiklen    Propotional hazard antagelse: HR mellem grupper er constant over tid  Uafhængighed mellem observationer: hvert individ skal være uafhængigt af de andre  Korrekt tidsskala: starttidspunkt, sluttidspunkt/censoring, hændelsestidspunkt for outcome  Dataformat: Overlevelsestid eller tid til hændelse  Status (hændelse indtrådt = 1, censur = 0)  Forskerne skriver I statiscal analyses sektionen at forudsætninger er blevet tjekket visuelt. De skriver følgende: “Proportional hazard assumption was tested using graphical diagnostics based on scaled Schoenfield residuals amd seen to have been satisfied by all models”     </vt:lpstr>
      <vt:lpstr>Hvorfor  Cox-regression?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2024-12-18T09:14:48Z</dcterms:created>
  <dcterms:modified xsi:type="dcterms:W3CDTF">2026-02-24T08:10:35Z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fyTimeStamp">
    <vt:lpwstr>2022-07-05T14:03:23</vt:lpwstr>
  </property>
  <property fmtid="{D5CDD505-2E9C-101B-9397-08002B2CF9AE}" pid="3" name="TemplafyTenantId">
    <vt:lpwstr>sdu</vt:lpwstr>
  </property>
  <property fmtid="{D5CDD505-2E9C-101B-9397-08002B2CF9AE}" pid="4" name="TemplafyTemplateId">
    <vt:lpwstr>637926266032732715</vt:lpwstr>
  </property>
  <property fmtid="{D5CDD505-2E9C-101B-9397-08002B2CF9AE}" pid="5" name="TemplafyUserProfileId">
    <vt:lpwstr>897630821874663463</vt:lpwstr>
  </property>
  <property fmtid="{D5CDD505-2E9C-101B-9397-08002B2CF9AE}" pid="6" name="TemplafyLanguageCode">
    <vt:lpwstr>en-GB</vt:lpwstr>
  </property>
  <property fmtid="{D5CDD505-2E9C-101B-9397-08002B2CF9AE}" pid="7" name="TemplafyFromBlank">
    <vt:bool>true</vt:bool>
  </property>
</Properties>
</file>