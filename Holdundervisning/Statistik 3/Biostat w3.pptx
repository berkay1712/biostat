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notesMasterIdLst>
    <p:notesMasterId r:id="rId18"/>
  </p:notesMasterIdLst>
  <p:sldIdLst>
    <p:sldId id="256" r:id="rId6"/>
    <p:sldId id="264" r:id="rId7"/>
    <p:sldId id="265" r:id="rId8"/>
    <p:sldId id="267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13695-1264-4A85-9A82-E500DD93E154}" v="2" dt="2026-02-12T11:47:36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 autoAdjust="0"/>
  </p:normalViewPr>
  <p:slideViewPr>
    <p:cSldViewPr snapToGrid="0" showGuides="1">
      <p:cViewPr varScale="1">
        <p:scale>
          <a:sx n="59" d="100"/>
          <a:sy n="59" d="100"/>
        </p:scale>
        <p:origin x="772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D72A38B-F9FA-4036-A084-652409E98F08}" type="datetimeFigureOut">
              <a:rPr lang="en-GB"/>
              <a:pPr/>
              <a:t>10/02/2026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436F85-577F-4A92-A47F-D540A2BCC821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Helle </a:t>
            </a:r>
            <a:r>
              <a:rPr lang="en-US" dirty="0" err="1"/>
              <a:t>skrev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mig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se </a:t>
            </a:r>
            <a:r>
              <a:rPr lang="en-US" dirty="0" err="1"/>
              <a:t>mening</a:t>
            </a:r>
            <a:r>
              <a:rPr lang="en-US" dirty="0"/>
              <a:t>, da </a:t>
            </a:r>
            <a:r>
              <a:rPr lang="en-US" dirty="0" err="1"/>
              <a:t>hun</a:t>
            </a:r>
            <a:r>
              <a:rPr lang="en-US" dirty="0"/>
              <a:t> </a:t>
            </a:r>
            <a:r>
              <a:rPr lang="en-US" dirty="0" err="1"/>
              <a:t>blev</a:t>
            </a:r>
            <a:r>
              <a:rPr lang="en-US" dirty="0"/>
              <a:t> </a:t>
            </a:r>
            <a:r>
              <a:rPr lang="en-US" dirty="0" err="1"/>
              <a:t>spurgt</a:t>
            </a:r>
            <a:r>
              <a:rPr lang="en-US" dirty="0"/>
              <a:t> –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spurgte</a:t>
            </a:r>
            <a:r>
              <a:rPr lang="en-US" dirty="0"/>
              <a:t> sig </a:t>
            </a:r>
            <a:r>
              <a:rPr lang="en-US" dirty="0" err="1"/>
              <a:t>mig</a:t>
            </a:r>
            <a:r>
              <a:rPr lang="en-US" dirty="0"/>
              <a:t>, om </a:t>
            </a:r>
            <a:r>
              <a:rPr lang="en-US" dirty="0" err="1"/>
              <a:t>jeg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ville</a:t>
            </a:r>
            <a:r>
              <a:rPr lang="en-US" dirty="0"/>
              <a:t> snake om det I </a:t>
            </a:r>
            <a:r>
              <a:rPr lang="en-US" dirty="0" err="1"/>
              <a:t>dag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411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262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Incidence rate in the exposed group divided by the incidence rate in the unexposed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157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13" name="Date Placeholder 14">
            <a:extLst>
              <a:ext uri="{FF2B5EF4-FFF2-40B4-BE49-F238E27FC236}">
                <a16:creationId xmlns:a16="http://schemas.microsoft.com/office/drawing/2014/main" id="{5161ABAB-6DB4-433A-ACC8-A0EC0AAC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BC3A8B03-9EA5-416E-BD54-B87E6C4A6781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903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10962000" cy="67196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1163" y="1989138"/>
            <a:ext cx="10961237" cy="38644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6129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rt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BBCAF46D-9983-4AEE-9B8A-24654CDEDDB0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a-DK" sz="16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pic>
        <p:nvPicPr>
          <p:cNvPr id="7" name="Logo black">
            <a:extLst>
              <a:ext uri="{FF2B5EF4-FFF2-40B4-BE49-F238E27FC236}">
                <a16:creationId xmlns:a16="http://schemas.microsoft.com/office/drawing/2014/main" id="{E6E48129-FB3C-4F39-A5A1-63313B41D3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" y="6296400"/>
            <a:ext cx="786874" cy="212400"/>
          </a:xfrm>
          <a:prstGeom prst="rect">
            <a:avLst/>
          </a:prstGeom>
        </p:spPr>
      </p:pic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D4E1389B-CA3B-4709-956D-F396D960B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8A94F1C1-AE36-4BBA-B958-8FC614A9472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5C6B8E24-66E4-1DDA-ADCF-C1D6EB952142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752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8790A71A-B09B-4B5F-9D31-846A17201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D63CFED0-47FC-4852-81C1-6B705FD6417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D838CB-E753-1CD5-AF9E-101E63EE7002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0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915360E-F247-49FB-821B-5399F13264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FB068F22-0263-44BB-8333-C5643293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Date Placeholder 14">
            <a:extLst>
              <a:ext uri="{FF2B5EF4-FFF2-40B4-BE49-F238E27FC236}">
                <a16:creationId xmlns:a16="http://schemas.microsoft.com/office/drawing/2014/main" id="{2D08A2CA-4B19-4B39-B540-F97244C446A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500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1ADC-5992-4476-8E55-8A709AA1B4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3356" y="1700212"/>
            <a:ext cx="4693920" cy="41417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0" name="Date Placeholder 14">
            <a:extLst>
              <a:ext uri="{FF2B5EF4-FFF2-40B4-BE49-F238E27FC236}">
                <a16:creationId xmlns:a16="http://schemas.microsoft.com/office/drawing/2014/main" id="{BBCDE8CE-8147-4B12-B358-7B7ACA92F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ACE2053-07AA-42FA-A789-E1430CAF798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BB1C-1FE3-42F2-ACED-70B0664062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9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5366267" cy="1884283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56000" y="1028246"/>
            <a:ext cx="5216400" cy="48253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1771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hold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92202" y="1006605"/>
            <a:ext cx="4680000" cy="193833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99C08-64C3-4ADA-9CD2-FBE2ED8551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16" name="Logo black">
            <a:extLst>
              <a:ext uri="{FF2B5EF4-FFF2-40B4-BE49-F238E27FC236}">
                <a16:creationId xmlns:a16="http://schemas.microsoft.com/office/drawing/2014/main" id="{B52757AD-346A-4AA0-A5D6-36F8B1FE4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A09FC7B4-885C-4F9D-BD71-AE2FBDB3869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FEE58-0FE9-4218-904C-188D46CD214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2432" y="1000443"/>
            <a:ext cx="5077365" cy="48531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F302217-B569-449A-8422-B6650C9B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8D7263E-B2E5-4CB9-9AAF-C0006E4A04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D1BE9BA7-ED5E-4943-A249-9704A0A8F736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54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9A67-E62D-400C-BC42-A3A96AAED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1028247"/>
            <a:ext cx="2502000" cy="432000"/>
          </a:xfrm>
        </p:spPr>
        <p:txBody>
          <a:bodyPr/>
          <a:lstStyle>
            <a:lvl1pPr>
              <a:lnSpc>
                <a:spcPct val="110000"/>
              </a:lnSpc>
              <a:defRPr sz="1200"/>
            </a:lvl1pPr>
          </a:lstStyle>
          <a:p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0E8CAC-51BD-4862-8B6E-BD3E315677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5135A09-8F8A-4D87-8C43-B3A0A80BE2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164" y="1028246"/>
            <a:ext cx="2502000" cy="432000"/>
          </a:xfrm>
        </p:spPr>
        <p:txBody>
          <a:bodyPr/>
          <a:lstStyle>
            <a:lvl1pPr marL="0" indent="0" algn="l">
              <a:buNone/>
              <a:defRPr sz="1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62D92C6-668E-491E-B394-72897FAB30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73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F1B1F1-CA40-4EA4-AB68-69DBBD61ED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5163" y="1028246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BEE0FF-2C0E-499E-ACAF-B6F421AF13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5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091117C-5AED-4416-88BA-F1C88ACD7A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7162" y="1028247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66F31E1-769E-4E9A-9DCC-2C64321A89C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97161" y="1475354"/>
            <a:ext cx="2501999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28" name="Date Placeholder 14">
            <a:extLst>
              <a:ext uri="{FF2B5EF4-FFF2-40B4-BE49-F238E27FC236}">
                <a16:creationId xmlns:a16="http://schemas.microsoft.com/office/drawing/2014/main" id="{1DCD95D8-07B6-42C0-8767-A640B7CA853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8C40-671D-463C-8463-D77B96C28D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3800-6F51-413B-BA21-0A9967FF33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195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9300" cy="6858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692401" y="1076109"/>
            <a:ext cx="4680000" cy="1822734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overskrift, maksimalt 3 linjer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692400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0" name="Logo black">
            <a:extLst>
              <a:ext uri="{FF2B5EF4-FFF2-40B4-BE49-F238E27FC236}">
                <a16:creationId xmlns:a16="http://schemas.microsoft.com/office/drawing/2014/main" id="{1421C492-A651-4EE4-BB8B-C6886E7B5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00" y="6294893"/>
            <a:ext cx="784800" cy="211840"/>
          </a:xfrm>
          <a:prstGeom prst="rect">
            <a:avLst/>
          </a:prstGeom>
        </p:spPr>
      </p:pic>
      <p:sp>
        <p:nvSpPr>
          <p:cNvPr id="30" name="Date Placeholder 14">
            <a:extLst>
              <a:ext uri="{FF2B5EF4-FFF2-40B4-BE49-F238E27FC236}">
                <a16:creationId xmlns:a16="http://schemas.microsoft.com/office/drawing/2014/main" id="{2C4B35A0-F8F7-420F-9E06-CC0AAAA0B84F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77BCC6E7-9279-FA89-A785-CF0077EE4743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07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tekst (C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710399" y="1700213"/>
            <a:ext cx="4677070" cy="1436392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 dirty="0"/>
              <a:t>Overskrift i </a:t>
            </a:r>
            <a:r>
              <a:rPr lang="da-DK" dirty="0" err="1"/>
              <a:t>maks</a:t>
            </a:r>
            <a:r>
              <a:rPr lang="da-DK" dirty="0"/>
              <a:t> 2 linjer</a:t>
            </a:r>
            <a:endParaRPr lang="da-DK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FAAEFF0-FCE4-48D6-A0D1-A458F3CD3E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21E6D3-406B-4DA0-9B5A-6A2F208BA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0399" y="452437"/>
            <a:ext cx="4659277" cy="79049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a-DK" dirty="0"/>
              <a:t>Klik for at indsætte tekst (f.eks. job titel)</a:t>
            </a:r>
            <a:endParaRPr lang="da-DK"/>
          </a:p>
        </p:txBody>
      </p:sp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411163" y="1016000"/>
            <a:ext cx="4043879" cy="4804038"/>
          </a:xfrm>
          <a:noFill/>
        </p:spPr>
        <p:txBody>
          <a:bodyPr/>
          <a:lstStyle>
            <a:lvl1pPr marL="0" indent="0" algn="ctr">
              <a:buNone/>
              <a:defRPr sz="11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4AC2696B-BD55-4932-A36E-BCC4318F22B0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1D0A-163E-46D9-B4AE-DA27914573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9685AE-678B-466E-B97B-590BC795CF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16CDF92D-C78F-4CBE-853B-4E3CD39D2A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4" name="TextBox 19">
            <a:extLst>
              <a:ext uri="{FF2B5EF4-FFF2-40B4-BE49-F238E27FC236}">
                <a16:creationId xmlns:a16="http://schemas.microsoft.com/office/drawing/2014/main" id="{84BAC96C-D3F0-4589-BA68-661284F36D77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223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360EC57D-D72D-43A3-90BC-3ACC9F8BC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36B2A848-B2AD-472A-AC10-0002D162D52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D6F82-73FC-4F13-BFEC-9200E77E15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830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A71C01-3350-42F9-9392-0F3379095A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32902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09C85-3CCC-44AB-A808-AA96845B1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2902" y="2733129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1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/>
              <a:t>Klik for at tilføje overskrift</a:t>
            </a:r>
          </a:p>
          <a:p>
            <a:pPr lvl="1"/>
            <a:r>
              <a:rPr lang="da-DK"/>
              <a:t>Second level</a:t>
            </a:r>
          </a:p>
          <a:p>
            <a:pPr lvl="2"/>
            <a:endParaRPr lang="da-DK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F35B7FD-E0E2-4581-BAC7-8858E530AF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34000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C92166-E723-47D5-9A87-3354EB28C4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2112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252000" indent="0">
              <a:buNone/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  <a:endParaRPr lang="da-DK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23DA26-37CC-4CA7-8253-FD9AB459D2E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74740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  <a:lvl2pPr marL="252000" indent="0">
              <a:buNone/>
              <a:defRPr sz="1000"/>
            </a:lvl2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682726-03AB-4490-8664-993881FA0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9663" y="273240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</a:p>
          <a:p>
            <a:pPr lvl="2"/>
            <a:endParaRPr lang="da-DK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62625AB-198B-4F37-9382-C78FD9118D5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459663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8AE7F93-F2C6-4199-8D16-CFB4D977F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3948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3E6A-A4F4-491B-846E-1DACC83D9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8E8B2-EC82-4BE1-85C6-8F272596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82921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8A6A9-890A-4EA2-8FA4-EA834B1A1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05F52FC-7E26-46C0-8E8B-4445D500B9C7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B1D99-4B52-4731-AEC4-C722464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452C39-88DE-4155-8ED8-643714B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852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0400" y="1028247"/>
            <a:ext cx="11379347" cy="1602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3369040"/>
            <a:ext cx="11371905" cy="247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Første niveau, bullet 16 </a:t>
            </a:r>
            <a:r>
              <a:rPr lang="da-DK" dirty="0" err="1"/>
              <a:t>pkt</a:t>
            </a:r>
            <a:endParaRPr lang="da-DK" dirty="0"/>
          </a:p>
          <a:p>
            <a:pPr lvl="1"/>
            <a:r>
              <a:rPr lang="da-DK" dirty="0"/>
              <a:t>Andet niveau, bullet 14 </a:t>
            </a:r>
            <a:r>
              <a:rPr lang="da-DK" dirty="0" err="1"/>
              <a:t>pkt</a:t>
            </a:r>
            <a:endParaRPr lang="da-DK" dirty="0"/>
          </a:p>
          <a:p>
            <a:pPr lvl="2"/>
            <a:r>
              <a:rPr lang="da-DK" dirty="0"/>
              <a:t>Tredje niveau, bullet 12 </a:t>
            </a:r>
            <a:r>
              <a:rPr lang="da-DK" dirty="0" err="1"/>
              <a:t>pkt</a:t>
            </a:r>
            <a:endParaRPr lang="da-DK" dirty="0"/>
          </a:p>
          <a:p>
            <a:pPr lvl="3"/>
            <a:r>
              <a:rPr lang="da-DK" dirty="0"/>
              <a:t>Fjerde niveau, Header bold 16 </a:t>
            </a:r>
            <a:r>
              <a:rPr lang="da-DK" dirty="0" err="1"/>
              <a:t>pkt</a:t>
            </a:r>
            <a:endParaRPr lang="da-DK" dirty="0"/>
          </a:p>
          <a:p>
            <a:pPr lvl="4"/>
            <a:r>
              <a:rPr lang="da-DK" dirty="0"/>
              <a:t>Femte niveau, Body </a:t>
            </a:r>
            <a:r>
              <a:rPr lang="da-DK" dirty="0" err="1"/>
              <a:t>regular</a:t>
            </a:r>
            <a:r>
              <a:rPr lang="da-DK" dirty="0"/>
              <a:t> 16 </a:t>
            </a:r>
            <a:r>
              <a:rPr lang="da-DK" dirty="0" err="1"/>
              <a:t>pkt</a:t>
            </a:r>
            <a:endParaRPr lang="da-DK" dirty="0"/>
          </a:p>
          <a:p>
            <a:pPr lvl="5"/>
            <a:r>
              <a:rPr lang="da-DK" dirty="0"/>
              <a:t>Sjette niveau, bullet 12 </a:t>
            </a:r>
            <a:r>
              <a:rPr lang="da-DK" dirty="0" err="1"/>
              <a:t>pkt</a:t>
            </a:r>
            <a:endParaRPr lang="da-DK" dirty="0"/>
          </a:p>
          <a:p>
            <a:pPr lvl="6"/>
            <a:r>
              <a:rPr lang="da-DK" dirty="0"/>
              <a:t>Syvende niveau, bullet 12 </a:t>
            </a:r>
            <a:r>
              <a:rPr lang="da-DK" dirty="0" err="1"/>
              <a:t>pkt</a:t>
            </a:r>
            <a:r>
              <a:rPr lang="da-DK" dirty="0"/>
              <a:t> (indryk 1 gang)</a:t>
            </a:r>
          </a:p>
          <a:p>
            <a:pPr lvl="7"/>
            <a:r>
              <a:rPr lang="da-DK" dirty="0"/>
              <a:t>Ottende niveau, Header bold, 12 </a:t>
            </a:r>
            <a:r>
              <a:rPr lang="da-DK" dirty="0" err="1"/>
              <a:t>pkt</a:t>
            </a:r>
            <a:endParaRPr lang="da-DK" dirty="0"/>
          </a:p>
          <a:p>
            <a:pPr lvl="8"/>
            <a:r>
              <a:rPr lang="da-DK" dirty="0"/>
              <a:t>Niende niveau, Body </a:t>
            </a:r>
            <a:r>
              <a:rPr lang="da-DK" dirty="0" err="1"/>
              <a:t>regular</a:t>
            </a:r>
            <a:r>
              <a:rPr lang="da-DK" dirty="0"/>
              <a:t>, 12 </a:t>
            </a:r>
            <a:r>
              <a:rPr lang="da-DK" dirty="0" err="1"/>
              <a:t>pkt</a:t>
            </a:r>
            <a:endParaRPr lang="da-DK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56ADEC3-98E1-4CEA-9AF5-46F4CDD2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pic>
        <p:nvPicPr>
          <p:cNvPr id="25" name="Logo black">
            <a:extLst>
              <a:ext uri="{FF2B5EF4-FFF2-40B4-BE49-F238E27FC236}">
                <a16:creationId xmlns:a16="http://schemas.microsoft.com/office/drawing/2014/main" id="{860AC4C2-E6D6-4DCE-950A-C298C0AE9B8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7DF98717-AAEA-4E2B-96B8-AAAFF896C0E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FEA46720-1AC7-3FC2-4AB2-8DA6DE7D6F8D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4352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2" r:id="rId2"/>
    <p:sldLayoutId id="2147483679" r:id="rId3"/>
    <p:sldLayoutId id="2147483680" r:id="rId4"/>
    <p:sldLayoutId id="2147483688" r:id="rId5"/>
    <p:sldLayoutId id="2147483690" r:id="rId6"/>
    <p:sldLayoutId id="2147483686" r:id="rId7"/>
    <p:sldLayoutId id="2147483682" r:id="rId8"/>
    <p:sldLayoutId id="2147483689" r:id="rId9"/>
    <p:sldLayoutId id="2147483676" r:id="rId10"/>
    <p:sldLayoutId id="2147483654" r:id="rId11"/>
    <p:sldLayoutId id="2147483685" r:id="rId12"/>
    <p:sldLayoutId id="2147483691" r:id="rId13"/>
    <p:sldLayoutId id="2147483662" r:id="rId14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tabLst>
          <a:tab pos="1438275" algn="l"/>
        </a:tabLs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85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pos="259" userDrawn="1">
          <p15:clr>
            <a:srgbClr val="F26B43"/>
          </p15:clr>
        </p15:guide>
        <p15:guide id="6" pos="7421" userDrawn="1">
          <p15:clr>
            <a:srgbClr val="F26B43"/>
          </p15:clr>
        </p15:guide>
        <p15:guide id="7" orient="horz" pos="1253" userDrawn="1">
          <p15:clr>
            <a:srgbClr val="F26B43"/>
          </p15:clr>
        </p15:guide>
        <p15:guide id="8" orient="horz" pos="3680" userDrawn="1">
          <p15:clr>
            <a:srgbClr val="F26B43"/>
          </p15:clr>
        </p15:guide>
        <p15:guide id="9" orient="horz" pos="3916" userDrawn="1">
          <p15:clr>
            <a:srgbClr val="F26B43"/>
          </p15:clr>
        </p15:guide>
        <p15:guide id="10" orient="horz" pos="4094" userDrawn="1">
          <p15:clr>
            <a:srgbClr val="F26B43"/>
          </p15:clr>
        </p15:guide>
        <p15:guide id="11" pos="5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A6DEA-3DCA-8EA2-DAF3-BEF97E5D8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Biostat w3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34884DF-0ED0-65A1-D524-AF6BD67B0B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4957A0E-FA20-4CE6-9ABE-A816EF9E2568}" type="datetime1">
              <a:rPr lang="da-DK" smtClean="0"/>
              <a:t>10-02-2026</a:t>
            </a:fld>
            <a:endParaRPr lang="da-DK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5002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4CF6-D048-4288-F323-082698BA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Opsamling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sidst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4316-946D-CD32-2FB6-5B4C7D7D14C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Mini </a:t>
            </a:r>
            <a:r>
              <a:rPr lang="en-US" dirty="0" err="1"/>
              <a:t>formelsamlingen</a:t>
            </a:r>
            <a:r>
              <a:rPr lang="en-US" dirty="0"/>
              <a:t>, </a:t>
            </a:r>
            <a:r>
              <a:rPr lang="en-US" dirty="0" err="1"/>
              <a:t>kodelinje</a:t>
            </a:r>
            <a:r>
              <a:rPr lang="en-US" dirty="0"/>
              <a:t> 72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Jeg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skrevet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i="1" dirty="0"/>
              <a:t>MEDIAN OG KVARTILER:</a:t>
            </a:r>
          </a:p>
          <a:p>
            <a:pPr marL="0" indent="0">
              <a:buNone/>
            </a:pPr>
            <a:r>
              <a:rPr lang="en-US" i="1" dirty="0"/>
              <a:t>Brug </a:t>
            </a:r>
            <a:r>
              <a:rPr lang="en-US" i="1" dirty="0" err="1"/>
              <a:t>denne</a:t>
            </a:r>
            <a:r>
              <a:rPr lang="en-US" i="1" dirty="0"/>
              <a:t> </a:t>
            </a:r>
            <a:r>
              <a:rPr lang="en-US" i="1" dirty="0" err="1"/>
              <a:t>hvis</a:t>
            </a:r>
            <a:r>
              <a:rPr lang="en-US" i="1" dirty="0"/>
              <a:t> dine data </a:t>
            </a:r>
            <a:r>
              <a:rPr lang="en-US" i="1" dirty="0" err="1"/>
              <a:t>ikke</a:t>
            </a:r>
            <a:r>
              <a:rPr lang="en-US" i="1" dirty="0"/>
              <a:t> er </a:t>
            </a:r>
            <a:r>
              <a:rPr lang="en-US" i="1" dirty="0" err="1"/>
              <a:t>normalfordeling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Da vi </a:t>
            </a:r>
            <a:r>
              <a:rPr lang="en-US" dirty="0" err="1"/>
              <a:t>snakker</a:t>
            </a:r>
            <a:r>
              <a:rPr lang="en-US" dirty="0"/>
              <a:t> om </a:t>
            </a:r>
            <a:r>
              <a:rPr lang="en-US" dirty="0" err="1"/>
              <a:t>deskriptiv</a:t>
            </a:r>
            <a:r>
              <a:rPr lang="en-US" dirty="0"/>
              <a:t> statistic, giver det fin </a:t>
            </a:r>
            <a:r>
              <a:rPr lang="en-US" dirty="0" err="1"/>
              <a:t>mening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Standardafvigelsen</a:t>
            </a:r>
            <a:r>
              <a:rPr lang="en-US" dirty="0"/>
              <a:t> (SD) er </a:t>
            </a:r>
            <a:r>
              <a:rPr lang="en-US" dirty="0" err="1"/>
              <a:t>problematisk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skæv</a:t>
            </a:r>
            <a:r>
              <a:rPr lang="en-US" dirty="0"/>
              <a:t> </a:t>
            </a:r>
            <a:r>
              <a:rPr lang="en-US" dirty="0" err="1"/>
              <a:t>fordeling</a:t>
            </a:r>
            <a:r>
              <a:rPr lang="en-US" dirty="0"/>
              <a:t> – </a:t>
            </a:r>
            <a:r>
              <a:rPr lang="en-US" dirty="0" err="1"/>
              <a:t>altså</a:t>
            </a:r>
            <a:r>
              <a:rPr lang="en-US" dirty="0"/>
              <a:t> SD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afpsejle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spredning</a:t>
            </a:r>
            <a:r>
              <a:rPr lang="en-US" dirty="0"/>
              <a:t>, der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svarer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hvor</a:t>
            </a:r>
            <a:r>
              <a:rPr lang="en-US" dirty="0"/>
              <a:t> den </a:t>
            </a:r>
            <a:r>
              <a:rPr lang="en-US" dirty="0" err="1"/>
              <a:t>typiske</a:t>
            </a:r>
            <a:r>
              <a:rPr lang="en-US" dirty="0"/>
              <a:t> observation ligger – </a:t>
            </a:r>
            <a:r>
              <a:rPr lang="en-US" dirty="0" err="1"/>
              <a:t>dette</a:t>
            </a:r>
            <a:r>
              <a:rPr lang="en-US" dirty="0"/>
              <a:t> er </a:t>
            </a:r>
            <a:r>
              <a:rPr lang="en-US" dirty="0" err="1"/>
              <a:t>fordi</a:t>
            </a:r>
            <a:r>
              <a:rPr lang="en-US" dirty="0"/>
              <a:t>, at man </a:t>
            </a:r>
            <a:r>
              <a:rPr lang="en-US" dirty="0" err="1"/>
              <a:t>bruger</a:t>
            </a:r>
            <a:r>
              <a:rPr lang="en-US" dirty="0"/>
              <a:t> </a:t>
            </a:r>
            <a:r>
              <a:rPr lang="en-US" dirty="0" err="1"/>
              <a:t>middelværdi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regne</a:t>
            </a:r>
            <a:r>
              <a:rPr lang="en-US" dirty="0"/>
              <a:t> SD,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middelværdien</a:t>
            </a:r>
            <a:r>
              <a:rPr lang="en-US" dirty="0"/>
              <a:t> </a:t>
            </a:r>
            <a:r>
              <a:rPr lang="en-US" dirty="0" err="1"/>
              <a:t>påvirkes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outliers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Kvartiler</a:t>
            </a:r>
            <a:r>
              <a:rPr lang="en-US" dirty="0"/>
              <a:t> </a:t>
            </a:r>
            <a:r>
              <a:rPr lang="en-US" dirty="0" err="1"/>
              <a:t>afspejler</a:t>
            </a:r>
            <a:r>
              <a:rPr lang="en-US" dirty="0"/>
              <a:t> </a:t>
            </a:r>
            <a:r>
              <a:rPr lang="en-US" dirty="0" err="1"/>
              <a:t>derimod</a:t>
            </a:r>
            <a:r>
              <a:rPr lang="en-US" dirty="0"/>
              <a:t> </a:t>
            </a:r>
            <a:r>
              <a:rPr lang="en-US" dirty="0" err="1"/>
              <a:t>midterste</a:t>
            </a:r>
            <a:r>
              <a:rPr lang="en-US" dirty="0"/>
              <a:t> 50% </a:t>
            </a:r>
            <a:r>
              <a:rPr lang="en-US" dirty="0" err="1"/>
              <a:t>af</a:t>
            </a:r>
            <a:r>
              <a:rPr lang="en-US" dirty="0"/>
              <a:t> data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7133-A728-287D-0C98-D97B5199E65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C6BD523-4751-472B-BFA1-AFEA977E38C6}" type="datetime1">
              <a:rPr lang="da-DK" smtClean="0"/>
              <a:t>12-02-2026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59FB6-A0F5-2100-9EE6-DEF39CD87E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5279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793A-720E-3DED-C816-61C6FEC1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Wilcoxon vs.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060D0-C891-3546-2037-26655C49100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Normalfordelt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7A13-EB97-D1C8-F031-12BFAD1ADE1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D16ADA2-7FEF-4DE0-B0B0-F4A59F2352C7}" type="datetime1">
              <a:rPr lang="da-DK" smtClean="0"/>
              <a:t>12-02-2026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D15B7-30FA-EB95-19BB-6A6D96D418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3</a:t>
            </a:fld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2C5877-5875-C3A4-A744-C980A21B8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046" y="1175528"/>
            <a:ext cx="6769448" cy="50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8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991B-DFA0-AA41-163A-9212FAC8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5F90-FD24-AE35-C127-990821D8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Wilcoxon vs.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4DD9-42E6-D9DB-B035-915F741DCF69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Normalfordelt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C7ADD-EDB9-2EF1-0C81-247787D002C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D16ADA2-7FEF-4DE0-B0B0-F4A59F2352C7}" type="datetime1">
              <a:rPr lang="da-DK" smtClean="0"/>
              <a:t>12-02-2026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AF034-5FD8-B830-D037-1A7079F9765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4</a:t>
            </a:fld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4F2EA-EC5E-DBFD-1DEF-4F5B1E8EB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046" y="1175528"/>
            <a:ext cx="6769448" cy="50294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30BE35-3E87-3C3B-58CC-517B69CB0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00" y="2665736"/>
            <a:ext cx="7144117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A4738-5379-5656-A13C-DA58E5FA5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1" y="946457"/>
            <a:ext cx="10961237" cy="276771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98B3-9D47-BEEF-A49F-063CEC3F6C0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242B209-A793-4188-B2A5-919C19472101}" type="datetime1">
              <a:rPr lang="da-DK" smtClean="0"/>
              <a:pPr>
                <a:spcAft>
                  <a:spcPts val="600"/>
                </a:spcAft>
              </a:pPr>
              <a:t>10-02-2026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52510-0E5F-9B07-1A6E-F67BAA76C40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5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97DA1-0A72-0927-AA45-0B4E624FB3E8}"/>
              </a:ext>
            </a:extLst>
          </p:cNvPr>
          <p:cNvSpPr txBox="1"/>
          <p:nvPr/>
        </p:nvSpPr>
        <p:spPr>
          <a:xfrm>
            <a:off x="615381" y="3895344"/>
            <a:ext cx="1072317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/>
              <a:t>Fortolk</a:t>
            </a:r>
            <a:r>
              <a:rPr lang="en-US" dirty="0"/>
              <a:t> </a:t>
            </a:r>
            <a:r>
              <a:rPr lang="en-US" dirty="0" err="1"/>
              <a:t>følgende</a:t>
            </a:r>
            <a:r>
              <a:rPr lang="en-US" dirty="0"/>
              <a:t> </a:t>
            </a:r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table 5, her </a:t>
            </a:r>
            <a:r>
              <a:rPr lang="en-US" dirty="0" err="1"/>
              <a:t>sammenlignes</a:t>
            </a:r>
            <a:r>
              <a:rPr lang="en-US" dirty="0"/>
              <a:t> </a:t>
            </a:r>
            <a:r>
              <a:rPr lang="en-US" i="1" dirty="0"/>
              <a:t>basic adjustment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i="1" dirty="0"/>
              <a:t>full adjustment</a:t>
            </a:r>
            <a:r>
              <a:rPr lang="en-US" dirty="0"/>
              <a:t>, </a:t>
            </a:r>
            <a:r>
              <a:rPr lang="en-US" dirty="0" err="1"/>
              <a:t>inddrag</a:t>
            </a:r>
            <a:r>
              <a:rPr lang="en-US" dirty="0"/>
              <a:t> </a:t>
            </a:r>
            <a:r>
              <a:rPr lang="en-US" dirty="0" err="1"/>
              <a:t>estimater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95% </a:t>
            </a:r>
            <a:r>
              <a:rPr lang="en-US" dirty="0" err="1"/>
              <a:t>konfidensinterval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i="1" dirty="0"/>
              <a:t>full adjustment </a:t>
            </a:r>
            <a:r>
              <a:rPr lang="en-US" i="1" dirty="0" err="1"/>
              <a:t>modellen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7E21D-2920-2EFD-77E3-A854FB96AD9A}"/>
              </a:ext>
            </a:extLst>
          </p:cNvPr>
          <p:cNvSpPr txBox="1"/>
          <p:nvPr/>
        </p:nvSpPr>
        <p:spPr>
          <a:xfrm>
            <a:off x="615379" y="440371"/>
            <a:ext cx="107231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 err="1"/>
              <a:t>Opgave</a:t>
            </a:r>
            <a:r>
              <a:rPr lang="en-US" b="1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0905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BDE3-42A0-2DD6-E7EA-6D164278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2BAC39-6D27-E9E1-C490-22E19B92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51" y="946457"/>
            <a:ext cx="10961237" cy="276771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BF232-9B78-BAD6-4E6F-D5C6D274DC5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242B209-A793-4188-B2A5-919C19472101}" type="datetime1">
              <a:rPr lang="da-DK" smtClean="0"/>
              <a:pPr>
                <a:spcAft>
                  <a:spcPts val="600"/>
                </a:spcAft>
              </a:pPr>
              <a:t>10-02-2026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40D60-D90F-9B0D-349E-7F9E962BD2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6</a:t>
            </a:fld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30B3F-1D2C-64EE-EA53-8322ABEA27C6}"/>
              </a:ext>
            </a:extLst>
          </p:cNvPr>
          <p:cNvSpPr txBox="1"/>
          <p:nvPr/>
        </p:nvSpPr>
        <p:spPr>
          <a:xfrm>
            <a:off x="615379" y="440371"/>
            <a:ext cx="107231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 err="1"/>
              <a:t>Opgave</a:t>
            </a:r>
            <a:r>
              <a:rPr lang="en-US" b="1" dirty="0"/>
              <a:t>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F1DA6-E715-6508-9008-A11240BDEDBB}"/>
              </a:ext>
            </a:extLst>
          </p:cNvPr>
          <p:cNvSpPr txBox="1"/>
          <p:nvPr/>
        </p:nvSpPr>
        <p:spPr>
          <a:xfrm>
            <a:off x="615381" y="3895344"/>
            <a:ext cx="1072317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/>
              <a:t>Resultaterne</a:t>
            </a:r>
            <a:r>
              <a:rPr lang="en-US" dirty="0"/>
              <a:t> </a:t>
            </a:r>
            <a:r>
              <a:rPr lang="en-US" dirty="0" err="1"/>
              <a:t>præsenteres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incidensrate</a:t>
            </a:r>
            <a:r>
              <a:rPr lang="en-US" dirty="0"/>
              <a:t>-ratio (IRR). </a:t>
            </a:r>
          </a:p>
          <a:p>
            <a:endParaRPr lang="en-US" dirty="0"/>
          </a:p>
          <a:p>
            <a:r>
              <a:rPr lang="en-US" dirty="0"/>
              <a:t>I </a:t>
            </a:r>
            <a:r>
              <a:rPr lang="en-US" dirty="0" err="1"/>
              <a:t>både</a:t>
            </a:r>
            <a:r>
              <a:rPr lang="en-US" dirty="0"/>
              <a:t> den </a:t>
            </a:r>
            <a:r>
              <a:rPr lang="en-US" dirty="0" err="1"/>
              <a:t>basisjusterede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fuldt</a:t>
            </a:r>
            <a:r>
              <a:rPr lang="en-US" dirty="0"/>
              <a:t> </a:t>
            </a:r>
            <a:r>
              <a:rPr lang="en-US" dirty="0" err="1"/>
              <a:t>justerede</a:t>
            </a:r>
            <a:r>
              <a:rPr lang="en-US" dirty="0"/>
              <a:t> model </a:t>
            </a:r>
            <a:r>
              <a:rPr lang="en-US" dirty="0" err="1"/>
              <a:t>ses</a:t>
            </a:r>
            <a:r>
              <a:rPr lang="en-US" dirty="0"/>
              <a:t>, at </a:t>
            </a:r>
            <a:r>
              <a:rPr lang="en-US" dirty="0" err="1"/>
              <a:t>personer</a:t>
            </a:r>
            <a:r>
              <a:rPr lang="en-US" dirty="0"/>
              <a:t> med </a:t>
            </a:r>
            <a:r>
              <a:rPr lang="en-US" dirty="0" err="1"/>
              <a:t>tatoveringer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højere</a:t>
            </a:r>
            <a:r>
              <a:rPr lang="en-US" dirty="0"/>
              <a:t> </a:t>
            </a:r>
            <a:r>
              <a:rPr lang="en-US" dirty="0" err="1"/>
              <a:t>incidensrate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udfaldet</a:t>
            </a:r>
            <a:r>
              <a:rPr lang="en-US" dirty="0"/>
              <a:t> </a:t>
            </a:r>
            <a:r>
              <a:rPr lang="en-US" dirty="0" err="1"/>
              <a:t>sammenlignet</a:t>
            </a:r>
            <a:r>
              <a:rPr lang="en-US" dirty="0"/>
              <a:t> med </a:t>
            </a:r>
            <a:r>
              <a:rPr lang="en-US" dirty="0" err="1"/>
              <a:t>personer</a:t>
            </a:r>
            <a:r>
              <a:rPr lang="en-US" dirty="0"/>
              <a:t> </a:t>
            </a:r>
            <a:r>
              <a:rPr lang="en-US" dirty="0" err="1"/>
              <a:t>uden</a:t>
            </a:r>
            <a:r>
              <a:rPr lang="en-US" dirty="0"/>
              <a:t> </a:t>
            </a:r>
            <a:r>
              <a:rPr lang="en-US" dirty="0" err="1"/>
              <a:t>tatoveringer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 den </a:t>
            </a:r>
            <a:r>
              <a:rPr lang="en-US" dirty="0" err="1"/>
              <a:t>fuldt</a:t>
            </a:r>
            <a:r>
              <a:rPr lang="en-US" dirty="0"/>
              <a:t> </a:t>
            </a:r>
            <a:r>
              <a:rPr lang="en-US" dirty="0" err="1"/>
              <a:t>justerede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er IRR 1.18 med et 95% CI </a:t>
            </a:r>
            <a:r>
              <a:rPr lang="en-US" dirty="0" err="1"/>
              <a:t>på</a:t>
            </a:r>
            <a:r>
              <a:rPr lang="en-US" dirty="0"/>
              <a:t> 1.01-1.39. Dette </a:t>
            </a:r>
            <a:r>
              <a:rPr lang="en-US" dirty="0" err="1"/>
              <a:t>betyder</a:t>
            </a:r>
            <a:r>
              <a:rPr lang="en-US" dirty="0"/>
              <a:t>, at </a:t>
            </a:r>
            <a:r>
              <a:rPr lang="en-US" dirty="0" err="1"/>
              <a:t>tatoverede</a:t>
            </a:r>
            <a:r>
              <a:rPr lang="en-US" dirty="0"/>
              <a:t> </a:t>
            </a:r>
            <a:r>
              <a:rPr lang="en-US" dirty="0" err="1"/>
              <a:t>personer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ca. 18% </a:t>
            </a:r>
            <a:r>
              <a:rPr lang="en-US" dirty="0" err="1"/>
              <a:t>højere</a:t>
            </a:r>
            <a:r>
              <a:rPr lang="en-US" dirty="0"/>
              <a:t> </a:t>
            </a:r>
            <a:r>
              <a:rPr lang="en-US" dirty="0" err="1"/>
              <a:t>incidensrate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udfaldet</a:t>
            </a:r>
            <a:r>
              <a:rPr lang="en-US" dirty="0"/>
              <a:t> (</a:t>
            </a:r>
            <a:r>
              <a:rPr lang="en-US" dirty="0" err="1"/>
              <a:t>lymfekræft</a:t>
            </a:r>
            <a:r>
              <a:rPr lang="en-US" dirty="0"/>
              <a:t>) </a:t>
            </a:r>
            <a:r>
              <a:rPr lang="en-US" dirty="0" err="1"/>
              <a:t>sammenlignet</a:t>
            </a:r>
            <a:r>
              <a:rPr lang="en-US" dirty="0"/>
              <a:t> med </a:t>
            </a:r>
            <a:r>
              <a:rPr lang="en-US" dirty="0" err="1"/>
              <a:t>ikke-tatoverede</a:t>
            </a:r>
            <a:r>
              <a:rPr lang="en-US" dirty="0"/>
              <a:t>, </a:t>
            </a:r>
            <a:r>
              <a:rPr lang="en-US" dirty="0" err="1"/>
              <a:t>efter</a:t>
            </a:r>
            <a:r>
              <a:rPr lang="en-US" dirty="0"/>
              <a:t> </a:t>
            </a:r>
            <a:r>
              <a:rPr lang="en-US" dirty="0" err="1"/>
              <a:t>justering</a:t>
            </a:r>
            <a:r>
              <a:rPr lang="en-US" dirty="0"/>
              <a:t> for de </a:t>
            </a:r>
            <a:r>
              <a:rPr lang="en-US" dirty="0" err="1"/>
              <a:t>inkluderede</a:t>
            </a:r>
            <a:r>
              <a:rPr lang="en-US" dirty="0"/>
              <a:t> </a:t>
            </a:r>
            <a:r>
              <a:rPr lang="en-US" dirty="0" err="1"/>
              <a:t>kovariater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2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3A4D-0776-7439-A843-C94B977B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056DE-6F15-E138-3773-5F3496D24A7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242B209-A793-4188-B2A5-919C19472101}" type="datetime1">
              <a:rPr lang="da-DK" smtClean="0"/>
              <a:pPr>
                <a:spcAft>
                  <a:spcPts val="600"/>
                </a:spcAft>
              </a:pPr>
              <a:t>10-02-2026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4E69A-50D8-BC99-CE39-9B1BE69C922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7</a:t>
            </a:fld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5494B-0C28-0A0F-D143-F611196BF390}"/>
              </a:ext>
            </a:extLst>
          </p:cNvPr>
          <p:cNvSpPr txBox="1"/>
          <p:nvPr/>
        </p:nvSpPr>
        <p:spPr>
          <a:xfrm>
            <a:off x="615379" y="440371"/>
            <a:ext cx="107231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 err="1"/>
              <a:t>Opgave</a:t>
            </a:r>
            <a:r>
              <a:rPr lang="en-US" b="1" dirty="0"/>
              <a:t>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855FA3-16BF-1E36-BC75-3160716AC2E6}"/>
              </a:ext>
            </a:extLst>
          </p:cNvPr>
          <p:cNvSpPr txBox="1"/>
          <p:nvPr/>
        </p:nvSpPr>
        <p:spPr>
          <a:xfrm>
            <a:off x="615378" y="4974335"/>
            <a:ext cx="1072317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/>
              <a:t>Fortolk</a:t>
            </a:r>
            <a:r>
              <a:rPr lang="en-US" dirty="0"/>
              <a:t> </a:t>
            </a:r>
            <a:r>
              <a:rPr lang="en-US" dirty="0" err="1"/>
              <a:t>følgende</a:t>
            </a:r>
            <a:r>
              <a:rPr lang="en-US" dirty="0"/>
              <a:t> </a:t>
            </a:r>
            <a:r>
              <a:rPr lang="en-US" dirty="0" err="1"/>
              <a:t>resultat</a:t>
            </a:r>
            <a:r>
              <a:rPr lang="en-US" dirty="0"/>
              <a:t> for </a:t>
            </a:r>
            <a:r>
              <a:rPr lang="en-US" dirty="0" err="1"/>
              <a:t>tattoed</a:t>
            </a:r>
            <a:r>
              <a:rPr lang="en-US" dirty="0"/>
              <a:t> body surface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5,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her, </a:t>
            </a:r>
            <a:r>
              <a:rPr lang="en-US" dirty="0" err="1"/>
              <a:t>hvor</a:t>
            </a:r>
            <a:r>
              <a:rPr lang="en-US" dirty="0"/>
              <a:t> der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inddrages</a:t>
            </a:r>
            <a:r>
              <a:rPr lang="en-US" dirty="0"/>
              <a:t> </a:t>
            </a:r>
            <a:r>
              <a:rPr lang="en-US" dirty="0" err="1"/>
              <a:t>estimaterne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95% </a:t>
            </a:r>
            <a:r>
              <a:rPr lang="en-US" dirty="0" err="1"/>
              <a:t>konfidensinterval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i="1" dirty="0"/>
              <a:t>full adjustment </a:t>
            </a:r>
            <a:r>
              <a:rPr lang="en-US" dirty="0" err="1"/>
              <a:t>modellen</a:t>
            </a:r>
            <a:r>
              <a:rPr lang="en-US" dirty="0"/>
              <a:t>. Passer </a:t>
            </a:r>
            <a:r>
              <a:rPr lang="en-US" dirty="0" err="1"/>
              <a:t>resultatet</a:t>
            </a:r>
            <a:r>
              <a:rPr lang="en-US" dirty="0"/>
              <a:t> med det,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forskerne</a:t>
            </a:r>
            <a:r>
              <a:rPr lang="en-US" dirty="0"/>
              <a:t> </a:t>
            </a:r>
            <a:r>
              <a:rPr lang="en-US" dirty="0" err="1"/>
              <a:t>havde</a:t>
            </a:r>
            <a:r>
              <a:rPr lang="en-US" dirty="0"/>
              <a:t> </a:t>
            </a:r>
            <a:r>
              <a:rPr lang="en-US" dirty="0" err="1"/>
              <a:t>forventet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472E2-C789-E889-BBE8-3C4CB4E8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2" y="1078685"/>
            <a:ext cx="11320915" cy="353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A002-89A8-6DEB-C29C-E8DDB760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6C8E5-2FC7-BC34-2CD0-CFA429B1FC3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242B209-A793-4188-B2A5-919C19472101}" type="datetime1">
              <a:rPr lang="da-DK" smtClean="0"/>
              <a:pPr>
                <a:spcAft>
                  <a:spcPts val="600"/>
                </a:spcAft>
              </a:pPr>
              <a:t>10-02-2026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DF318-46CD-D353-1540-9F017F3AF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8</a:t>
            </a:fld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AE88C-3BE0-9E30-91BC-8FF45977768F}"/>
              </a:ext>
            </a:extLst>
          </p:cNvPr>
          <p:cNvSpPr txBox="1"/>
          <p:nvPr/>
        </p:nvSpPr>
        <p:spPr>
          <a:xfrm>
            <a:off x="615379" y="440371"/>
            <a:ext cx="107231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 err="1"/>
              <a:t>Opgave</a:t>
            </a:r>
            <a:r>
              <a:rPr lang="en-US" b="1" dirty="0"/>
              <a:t>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231173-7F92-7CEA-45D4-49709BF1A108}"/>
              </a:ext>
            </a:extLst>
          </p:cNvPr>
          <p:cNvSpPr txBox="1"/>
          <p:nvPr/>
        </p:nvSpPr>
        <p:spPr>
          <a:xfrm>
            <a:off x="1328610" y="4791455"/>
            <a:ext cx="10723179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I den </a:t>
            </a:r>
            <a:r>
              <a:rPr lang="en-US" dirty="0" err="1"/>
              <a:t>fuldt</a:t>
            </a:r>
            <a:r>
              <a:rPr lang="en-US" dirty="0"/>
              <a:t> </a:t>
            </a:r>
            <a:r>
              <a:rPr lang="en-US" dirty="0" err="1"/>
              <a:t>justerede</a:t>
            </a:r>
            <a:r>
              <a:rPr lang="en-US" dirty="0"/>
              <a:t> model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statistisk</a:t>
            </a:r>
            <a:r>
              <a:rPr lang="en-US" dirty="0"/>
              <a:t> </a:t>
            </a:r>
            <a:r>
              <a:rPr lang="en-US" dirty="0" err="1"/>
              <a:t>signifiaknt</a:t>
            </a:r>
            <a:r>
              <a:rPr lang="en-US" dirty="0"/>
              <a:t> samlet </a:t>
            </a:r>
            <a:r>
              <a:rPr lang="en-US" dirty="0" err="1"/>
              <a:t>forskel</a:t>
            </a:r>
            <a:r>
              <a:rPr lang="en-US" dirty="0"/>
              <a:t> </a:t>
            </a:r>
            <a:r>
              <a:rPr lang="en-US" dirty="0" err="1"/>
              <a:t>mellem</a:t>
            </a:r>
            <a:r>
              <a:rPr lang="en-US" dirty="0"/>
              <a:t> </a:t>
            </a:r>
            <a:r>
              <a:rPr lang="en-US" dirty="0" err="1"/>
              <a:t>grupperne</a:t>
            </a:r>
            <a:r>
              <a:rPr lang="en-US" dirty="0"/>
              <a:t> (p = 0.022). </a:t>
            </a:r>
            <a:r>
              <a:rPr lang="en-US" dirty="0" err="1"/>
              <a:t>Personer</a:t>
            </a:r>
            <a:r>
              <a:rPr lang="en-US" dirty="0"/>
              <a:t> med </a:t>
            </a:r>
            <a:r>
              <a:rPr lang="en-US" dirty="0" err="1"/>
              <a:t>tatoveringer</a:t>
            </a:r>
            <a:r>
              <a:rPr lang="en-US" dirty="0"/>
              <a:t>, der </a:t>
            </a:r>
            <a:r>
              <a:rPr lang="en-US" dirty="0" err="1"/>
              <a:t>dækker</a:t>
            </a:r>
            <a:r>
              <a:rPr lang="en-US" dirty="0"/>
              <a:t> </a:t>
            </a:r>
            <a:r>
              <a:rPr lang="en-US" dirty="0" err="1"/>
              <a:t>mindre</a:t>
            </a:r>
            <a:r>
              <a:rPr lang="en-US" dirty="0"/>
              <a:t> end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dirty="0" err="1"/>
              <a:t>håndfalde</a:t>
            </a:r>
            <a:r>
              <a:rPr lang="en-US" dirty="0"/>
              <a:t>,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IRR </a:t>
            </a:r>
            <a:r>
              <a:rPr lang="en-US" dirty="0" err="1"/>
              <a:t>på</a:t>
            </a:r>
            <a:r>
              <a:rPr lang="en-US" dirty="0"/>
              <a:t> 1.33 (95% CI: 1.09-1.63). </a:t>
            </a:r>
            <a:r>
              <a:rPr lang="en-US" dirty="0" err="1"/>
              <a:t>Altså</a:t>
            </a:r>
            <a:r>
              <a:rPr lang="en-US" dirty="0"/>
              <a:t> 33% </a:t>
            </a:r>
            <a:r>
              <a:rPr lang="en-US" dirty="0" err="1"/>
              <a:t>højere</a:t>
            </a:r>
            <a:r>
              <a:rPr lang="en-US" dirty="0"/>
              <a:t> </a:t>
            </a:r>
            <a:r>
              <a:rPr lang="en-US" dirty="0" err="1"/>
              <a:t>incidensrate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udfaldet</a:t>
            </a:r>
            <a:r>
              <a:rPr lang="en-US" dirty="0"/>
              <a:t> </a:t>
            </a:r>
            <a:r>
              <a:rPr lang="en-US" dirty="0" err="1"/>
              <a:t>sammenlignet</a:t>
            </a:r>
            <a:r>
              <a:rPr lang="en-US" dirty="0"/>
              <a:t> med </a:t>
            </a:r>
            <a:r>
              <a:rPr lang="en-US" dirty="0" err="1"/>
              <a:t>ikke-tatoverede</a:t>
            </a:r>
            <a:r>
              <a:rPr lang="en-US" dirty="0"/>
              <a:t>. </a:t>
            </a:r>
            <a:r>
              <a:rPr lang="en-US" dirty="0" err="1"/>
              <a:t>Konfidensintervallet</a:t>
            </a:r>
            <a:r>
              <a:rPr lang="en-US" dirty="0"/>
              <a:t> </a:t>
            </a:r>
            <a:r>
              <a:rPr lang="en-US" dirty="0" err="1"/>
              <a:t>indeholder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1, </a:t>
            </a:r>
            <a:r>
              <a:rPr lang="en-US" dirty="0" err="1"/>
              <a:t>hvilket</a:t>
            </a:r>
            <a:r>
              <a:rPr lang="en-US" dirty="0"/>
              <a:t> </a:t>
            </a:r>
            <a:r>
              <a:rPr lang="en-US" dirty="0" err="1"/>
              <a:t>indikerer</a:t>
            </a:r>
            <a:r>
              <a:rPr lang="en-US" dirty="0"/>
              <a:t> </a:t>
            </a:r>
            <a:r>
              <a:rPr lang="en-US" dirty="0" err="1"/>
              <a:t>signifikant</a:t>
            </a:r>
            <a:r>
              <a:rPr lang="en-US" dirty="0"/>
              <a:t> </a:t>
            </a:r>
            <a:r>
              <a:rPr lang="en-US" dirty="0" err="1"/>
              <a:t>sammenhæng</a:t>
            </a:r>
            <a:r>
              <a:rPr lang="en-US" dirty="0"/>
              <a:t>. For </a:t>
            </a:r>
            <a:r>
              <a:rPr lang="en-US" dirty="0" err="1"/>
              <a:t>personer</a:t>
            </a:r>
            <a:r>
              <a:rPr lang="en-US" dirty="0"/>
              <a:t> med tattoos der </a:t>
            </a:r>
            <a:r>
              <a:rPr lang="en-US" dirty="0" err="1"/>
              <a:t>dækker</a:t>
            </a:r>
            <a:r>
              <a:rPr lang="en-US" dirty="0"/>
              <a:t> mere end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dirty="0" err="1"/>
              <a:t>håndfalde</a:t>
            </a:r>
            <a:r>
              <a:rPr lang="en-US" dirty="0"/>
              <a:t> er IRR 1.03 (95% CI: 0.82-1.29). Ingen </a:t>
            </a:r>
            <a:r>
              <a:rPr lang="en-US" dirty="0" err="1"/>
              <a:t>statistisk</a:t>
            </a:r>
            <a:r>
              <a:rPr lang="en-US" dirty="0"/>
              <a:t> </a:t>
            </a:r>
            <a:r>
              <a:rPr lang="en-US" dirty="0" err="1"/>
              <a:t>signifikant</a:t>
            </a:r>
            <a:r>
              <a:rPr lang="en-US" dirty="0"/>
              <a:t> </a:t>
            </a:r>
            <a:r>
              <a:rPr lang="en-US" dirty="0" err="1"/>
              <a:t>forskel</a:t>
            </a:r>
            <a:r>
              <a:rPr lang="en-US" dirty="0"/>
              <a:t> I IRR </a:t>
            </a:r>
            <a:r>
              <a:rPr lang="en-US" dirty="0" err="1"/>
              <a:t>sammenlignet</a:t>
            </a:r>
            <a:r>
              <a:rPr lang="en-US" dirty="0"/>
              <a:t> med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tatoverede</a:t>
            </a:r>
            <a:r>
              <a:rPr lang="en-US" dirty="0"/>
              <a:t>. </a:t>
            </a:r>
            <a:r>
              <a:rPr lang="en-US" dirty="0" err="1"/>
              <a:t>Altså</a:t>
            </a:r>
            <a:r>
              <a:rPr lang="en-US" dirty="0"/>
              <a:t> </a:t>
            </a:r>
            <a:r>
              <a:rPr lang="en-US" dirty="0" err="1"/>
              <a:t>sammenhængen</a:t>
            </a:r>
            <a:r>
              <a:rPr lang="en-US" dirty="0"/>
              <a:t> </a:t>
            </a:r>
            <a:r>
              <a:rPr lang="en-US" dirty="0" err="1"/>
              <a:t>mellem</a:t>
            </a:r>
            <a:r>
              <a:rPr lang="en-US" dirty="0"/>
              <a:t> </a:t>
            </a:r>
            <a:r>
              <a:rPr lang="en-US" dirty="0" err="1"/>
              <a:t>tatoveringer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udfaldet</a:t>
            </a:r>
            <a:r>
              <a:rPr lang="en-US" dirty="0"/>
              <a:t> er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lineært</a:t>
            </a:r>
            <a:r>
              <a:rPr lang="en-US" dirty="0"/>
              <a:t> </a:t>
            </a:r>
            <a:r>
              <a:rPr lang="en-US" dirty="0" err="1"/>
              <a:t>relateret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størrelsen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det </a:t>
            </a:r>
            <a:r>
              <a:rPr lang="en-US" dirty="0" err="1"/>
              <a:t>tatoverede</a:t>
            </a:r>
            <a:r>
              <a:rPr lang="en-US" dirty="0"/>
              <a:t> </a:t>
            </a:r>
            <a:r>
              <a:rPr lang="en-US" dirty="0" err="1"/>
              <a:t>kropsareal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CA9A86-E79B-688B-2BBE-DE06516E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2" y="1078685"/>
            <a:ext cx="11320915" cy="353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0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B67E-10E9-DC11-DD9D-7CA2511B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</a:t>
            </a:r>
            <a:r>
              <a:rPr lang="en-US" dirty="0" err="1"/>
              <a:t>forudsætningerne</a:t>
            </a:r>
            <a:r>
              <a:rPr lang="en-US" dirty="0"/>
              <a:t> for at lave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logistisk</a:t>
            </a:r>
            <a:r>
              <a:rPr lang="en-US" dirty="0"/>
              <a:t> regression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skriver</a:t>
            </a:r>
            <a:r>
              <a:rPr lang="en-US" dirty="0"/>
              <a:t> </a:t>
            </a:r>
            <a:r>
              <a:rPr lang="en-US" dirty="0" err="1"/>
              <a:t>forskerne</a:t>
            </a:r>
            <a:r>
              <a:rPr lang="en-US" dirty="0"/>
              <a:t> </a:t>
            </a:r>
            <a:r>
              <a:rPr lang="en-US" dirty="0" err="1"/>
              <a:t>omkring</a:t>
            </a:r>
            <a:r>
              <a:rPr lang="en-US" dirty="0"/>
              <a:t>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artiklen</a:t>
            </a:r>
            <a:r>
              <a:rPr lang="en-US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69D7-E91C-B164-7B91-3316C34185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71C2AAE-0B24-4A66-94F8-F81893197C90}" type="datetime1">
              <a:rPr lang="da-DK" smtClean="0"/>
              <a:t>10-02-2026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8680E-8311-AE3B-6EAE-99D30FFDD57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466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A095-6DF6-9E27-482E-BCC57A09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4E4C-EF74-B739-271F-2BF73D19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</a:t>
            </a:r>
            <a:r>
              <a:rPr lang="en-US" dirty="0" err="1"/>
              <a:t>forudsætningerne</a:t>
            </a:r>
            <a:r>
              <a:rPr lang="en-US" dirty="0"/>
              <a:t> for at lave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logistisk</a:t>
            </a:r>
            <a:r>
              <a:rPr lang="en-US" dirty="0"/>
              <a:t> regression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skriver</a:t>
            </a:r>
            <a:r>
              <a:rPr lang="en-US" dirty="0"/>
              <a:t> </a:t>
            </a:r>
            <a:r>
              <a:rPr lang="en-US" dirty="0" err="1"/>
              <a:t>forskerne</a:t>
            </a:r>
            <a:r>
              <a:rPr lang="en-US" dirty="0"/>
              <a:t> </a:t>
            </a:r>
            <a:r>
              <a:rPr lang="en-US" dirty="0" err="1"/>
              <a:t>omkring</a:t>
            </a:r>
            <a:r>
              <a:rPr lang="en-US" dirty="0"/>
              <a:t>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artiklen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06F5-821E-17F2-3E13-683A5590EEE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11163" y="3236976"/>
            <a:ext cx="11457749" cy="26166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Den </a:t>
            </a:r>
            <a:r>
              <a:rPr lang="en-US" dirty="0" err="1"/>
              <a:t>afhængige</a:t>
            </a:r>
            <a:r>
              <a:rPr lang="en-US" dirty="0"/>
              <a:t> variable (outcome)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binær</a:t>
            </a:r>
            <a:r>
              <a:rPr lang="en-US" dirty="0"/>
              <a:t> (</a:t>
            </a:r>
            <a:r>
              <a:rPr lang="en-US" dirty="0" err="1"/>
              <a:t>altså</a:t>
            </a:r>
            <a:r>
              <a:rPr lang="en-US" dirty="0"/>
              <a:t> have to </a:t>
            </a:r>
            <a:r>
              <a:rPr lang="en-US" dirty="0" err="1"/>
              <a:t>kategorier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 </a:t>
            </a:r>
            <a:r>
              <a:rPr lang="en-US" dirty="0" err="1"/>
              <a:t>uafhægngie</a:t>
            </a:r>
            <a:r>
              <a:rPr lang="en-US" dirty="0"/>
              <a:t> variable (</a:t>
            </a:r>
            <a:r>
              <a:rPr lang="en-US" dirty="0" err="1"/>
              <a:t>eksponering</a:t>
            </a:r>
            <a:r>
              <a:rPr lang="en-US" dirty="0"/>
              <a:t>)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både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kategoriske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kontinuerte</a:t>
            </a:r>
            <a:r>
              <a:rPr lang="en-US" dirty="0"/>
              <a:t> (men der </a:t>
            </a:r>
            <a:r>
              <a:rPr lang="en-US" dirty="0" err="1"/>
              <a:t>må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multikollineraitet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Observationer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uafhængige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hinanden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Der </a:t>
            </a:r>
            <a:r>
              <a:rPr lang="en-US" dirty="0" err="1"/>
              <a:t>antages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lineær</a:t>
            </a:r>
            <a:r>
              <a:rPr lang="en-US" dirty="0"/>
              <a:t> </a:t>
            </a:r>
            <a:r>
              <a:rPr lang="en-US" dirty="0" err="1"/>
              <a:t>sammenhæng</a:t>
            </a:r>
            <a:r>
              <a:rPr lang="en-US" dirty="0"/>
              <a:t> </a:t>
            </a:r>
            <a:r>
              <a:rPr lang="en-US" dirty="0" err="1"/>
              <a:t>mellem</a:t>
            </a:r>
            <a:r>
              <a:rPr lang="en-US" dirty="0"/>
              <a:t> ln(odds) </a:t>
            </a:r>
            <a:r>
              <a:rPr lang="en-US" dirty="0" err="1"/>
              <a:t>og</a:t>
            </a:r>
            <a:r>
              <a:rPr lang="en-US" dirty="0"/>
              <a:t> de </a:t>
            </a:r>
            <a:r>
              <a:rPr lang="en-US" dirty="0" err="1"/>
              <a:t>uafhængige</a:t>
            </a:r>
            <a:r>
              <a:rPr lang="en-US" dirty="0"/>
              <a:t> variable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.... </a:t>
            </a:r>
            <a:r>
              <a:rPr lang="en-US" dirty="0" err="1"/>
              <a:t>Forskerne</a:t>
            </a:r>
            <a:r>
              <a:rPr lang="en-US" dirty="0"/>
              <a:t> </a:t>
            </a:r>
            <a:r>
              <a:rPr lang="en-US" dirty="0" err="1"/>
              <a:t>skriver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noget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helst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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FDEAA-1D7F-62A9-488E-A3AA2FA5C8E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71C2AAE-0B24-4A66-94F8-F81893197C90}" type="datetime1">
              <a:rPr lang="da-DK" smtClean="0"/>
              <a:t>10-02-2026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F2676-31E6-6E86-58AD-38769FF686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1502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B69E-74CA-0EAC-D286-027B59488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028246"/>
            <a:ext cx="10962000" cy="671967"/>
          </a:xfrm>
        </p:spPr>
        <p:txBody>
          <a:bodyPr anchor="t">
            <a:normAutofit/>
          </a:bodyPr>
          <a:lstStyle/>
          <a:p>
            <a:r>
              <a:rPr lang="en-US" sz="2800" err="1"/>
              <a:t>Regressionsmodeller</a:t>
            </a:r>
            <a:r>
              <a:rPr lang="en-US" sz="2800"/>
              <a:t> – </a:t>
            </a:r>
            <a:r>
              <a:rPr lang="en-US" sz="2800" err="1"/>
              <a:t>hvordan</a:t>
            </a:r>
            <a:r>
              <a:rPr lang="en-US" sz="2800"/>
              <a:t> </a:t>
            </a:r>
            <a:r>
              <a:rPr lang="en-US" sz="2800" err="1"/>
              <a:t>ved</a:t>
            </a:r>
            <a:r>
              <a:rPr lang="en-US" sz="2800"/>
              <a:t> vi </a:t>
            </a:r>
            <a:r>
              <a:rPr lang="en-US" sz="2800" err="1"/>
              <a:t>hvilken</a:t>
            </a:r>
            <a:r>
              <a:rPr lang="en-US" sz="2800"/>
              <a:t> vi </a:t>
            </a:r>
            <a:r>
              <a:rPr lang="en-US" sz="2800" err="1"/>
              <a:t>skal</a:t>
            </a:r>
            <a:r>
              <a:rPr lang="en-US" sz="2800"/>
              <a:t> </a:t>
            </a:r>
            <a:r>
              <a:rPr lang="en-US" sz="2800" err="1"/>
              <a:t>bruge</a:t>
            </a:r>
            <a:r>
              <a:rPr lang="en-US" sz="2800"/>
              <a:t>???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53FF1-AD68-927D-641A-007E081E6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2181274"/>
            <a:ext cx="10961237" cy="348019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D02D5-7309-27F7-ECB8-FB93150E3DB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CFA5EF2-5DFB-41E0-BA50-37D7AC45E214}" type="datetime1">
              <a:rPr lang="da-DK" smtClean="0"/>
              <a:pPr>
                <a:spcAft>
                  <a:spcPts val="600"/>
                </a:spcAft>
              </a:pPr>
              <a:t>10-02-2026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34AB4-6706-1800-0A2F-908A046F87B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072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62D7-20ED-B7F8-9772-78752DA5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A93491-B81E-D66F-EEEC-308903D82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396016"/>
            <a:ext cx="10961237" cy="348019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463F9-4316-41B8-18B2-EA9A1AB246D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CFA5EF2-5DFB-41E0-BA50-37D7AC45E214}" type="datetime1">
              <a:rPr lang="da-DK" smtClean="0"/>
              <a:pPr>
                <a:spcAft>
                  <a:spcPts val="600"/>
                </a:spcAft>
              </a:pPr>
              <a:t>12-02-2026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FADBE-B292-D6B8-DEB4-86CE77FBAA0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12</a:t>
            </a:fld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9B9990-53A0-0BCB-3ADB-F156FD00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AF430-3D44-A14B-3BC2-C3F8E713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736" y="4238587"/>
            <a:ext cx="7624693" cy="179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4871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SDU">
      <a:dk1>
        <a:srgbClr val="000000"/>
      </a:dk1>
      <a:lt1>
        <a:sysClr val="window" lastClr="FFFFFF"/>
      </a:lt1>
      <a:dk2>
        <a:srgbClr val="7A6040"/>
      </a:dk2>
      <a:lt2>
        <a:srgbClr val="DDCBA4"/>
      </a:lt2>
      <a:accent1>
        <a:srgbClr val="AEB862"/>
      </a:accent1>
      <a:accent2>
        <a:srgbClr val="789D4A"/>
      </a:accent2>
      <a:accent3>
        <a:srgbClr val="F2C75C"/>
      </a:accent3>
      <a:accent4>
        <a:srgbClr val="E07E3C"/>
      </a:accent4>
      <a:accent5>
        <a:srgbClr val="E1BBB4"/>
      </a:accent5>
      <a:accent6>
        <a:srgbClr val="D05A57"/>
      </a:accent6>
      <a:hlink>
        <a:srgbClr val="0563C1"/>
      </a:hlink>
      <a:folHlink>
        <a:srgbClr val="954F72"/>
      </a:folHlink>
    </a:clrScheme>
    <a:fontScheme name="SD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sz="16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/>
        </a:defPPr>
      </a:lstStyle>
    </a:txDef>
  </a:objectDefaults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  <a:extLst>
    <a:ext uri="{05A4C25C-085E-4340-85A3-A5531E510DB2}">
      <thm15:themeFamily xmlns:thm15="http://schemas.microsoft.com/office/thememl/2012/main" name="SDU widescreen.potx" id="{1C4F8E8D-0334-4267-96F7-9CAC143C1229}" vid="{6887ADA9-E5D5-4F4B-ACE2-4324069191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","templateDescription":"","enableDocumentContentUpdater":false,"version":"2.0"}]]></TemplafyTemplateConfiguration>
</file>

<file path=customXml/item3.xml><?xml version="1.0" encoding="utf-8"?>
<TemplafySlideTemplateConfiguration><![CDATA[{"slideVersion":1,"isValidatorEnabled":false,"isLocked":false,"elementsMetadata":[],"slideId":"637926266035515761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8A405656-6C4F-4C73-958C-1744EC0D04F1}">
  <ds:schemaRefs/>
</ds:datastoreItem>
</file>

<file path=customXml/itemProps2.xml><?xml version="1.0" encoding="utf-8"?>
<ds:datastoreItem xmlns:ds="http://schemas.openxmlformats.org/officeDocument/2006/customXml" ds:itemID="{E3874ABC-2065-4A7D-A58C-B9BA277BFB16}">
  <ds:schemaRefs/>
</ds:datastoreItem>
</file>

<file path=customXml/itemProps3.xml><?xml version="1.0" encoding="utf-8"?>
<ds:datastoreItem xmlns:ds="http://schemas.openxmlformats.org/officeDocument/2006/customXml" ds:itemID="{BAE0BCB8-EE3A-4095-9541-C1F1A3784F92}">
  <ds:schemaRefs/>
</ds:datastoreItem>
</file>

<file path=customXml/itemProps4.xml><?xml version="1.0" encoding="utf-8"?>
<ds:datastoreItem xmlns:ds="http://schemas.openxmlformats.org/officeDocument/2006/customXml" ds:itemID="{36DF640F-FDA4-4DAC-9AC0-9A12226415D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SDU widescreen dateA</Template>
  <TotalTime>0</TotalTime>
  <Words>544</Words>
  <Application>Microsoft Office PowerPoint</Application>
  <PresentationFormat>Widescreen</PresentationFormat>
  <Paragraphs>69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Blank</vt:lpstr>
      <vt:lpstr>Biostat w3</vt:lpstr>
      <vt:lpstr>Opsamling fra sidst</vt:lpstr>
      <vt:lpstr>Wilcoxon vs. t-test</vt:lpstr>
      <vt:lpstr>Wilcoxon vs. t-test</vt:lpstr>
      <vt:lpstr>PowerPoint Presentation</vt:lpstr>
      <vt:lpstr>PowerPoint Presentation</vt:lpstr>
      <vt:lpstr>PowerPoint Presentation</vt:lpstr>
      <vt:lpstr>PowerPoint Presentation</vt:lpstr>
      <vt:lpstr>Hvad er forudsætningerne for at lave en logistisk regression og hvad skriver forskerne omkring disse i artiklen?</vt:lpstr>
      <vt:lpstr>Hvad er forudsætningerne for at lave en logistisk regression og hvad skriver forskerne omkring disse i artiklen?</vt:lpstr>
      <vt:lpstr>Regressionsmodeller – hvordan ved vi hvilken vi skal bruge???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2024-12-18T09:14:48Z</dcterms:created>
  <dcterms:modified xsi:type="dcterms:W3CDTF">2026-02-12T11:47:36Z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2022-07-05T14:03:23</vt:lpwstr>
  </property>
  <property fmtid="{D5CDD505-2E9C-101B-9397-08002B2CF9AE}" pid="3" name="TemplafyTenantId">
    <vt:lpwstr>sdu</vt:lpwstr>
  </property>
  <property fmtid="{D5CDD505-2E9C-101B-9397-08002B2CF9AE}" pid="4" name="TemplafyTemplateId">
    <vt:lpwstr>637926266032732715</vt:lpwstr>
  </property>
  <property fmtid="{D5CDD505-2E9C-101B-9397-08002B2CF9AE}" pid="5" name="TemplafyUserProfileId">
    <vt:lpwstr>897630821874663463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</Properties>
</file>