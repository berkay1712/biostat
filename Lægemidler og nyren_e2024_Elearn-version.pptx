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1"/>
  </p:notesMasterIdLst>
  <p:handoutMasterIdLst>
    <p:handoutMasterId r:id="rId42"/>
  </p:handoutMasterIdLst>
  <p:sldIdLst>
    <p:sldId id="589" r:id="rId2"/>
    <p:sldId id="550" r:id="rId3"/>
    <p:sldId id="553" r:id="rId4"/>
    <p:sldId id="588" r:id="rId5"/>
    <p:sldId id="587" r:id="rId6"/>
    <p:sldId id="554" r:id="rId7"/>
    <p:sldId id="582" r:id="rId8"/>
    <p:sldId id="557" r:id="rId9"/>
    <p:sldId id="513" r:id="rId10"/>
    <p:sldId id="562" r:id="rId11"/>
    <p:sldId id="558" r:id="rId12"/>
    <p:sldId id="559" r:id="rId13"/>
    <p:sldId id="563" r:id="rId14"/>
    <p:sldId id="540" r:id="rId15"/>
    <p:sldId id="561" r:id="rId16"/>
    <p:sldId id="581" r:id="rId17"/>
    <p:sldId id="555" r:id="rId18"/>
    <p:sldId id="560" r:id="rId19"/>
    <p:sldId id="574" r:id="rId20"/>
    <p:sldId id="576" r:id="rId21"/>
    <p:sldId id="583" r:id="rId22"/>
    <p:sldId id="586" r:id="rId23"/>
    <p:sldId id="590" r:id="rId24"/>
    <p:sldId id="579" r:id="rId25"/>
    <p:sldId id="584" r:id="rId26"/>
    <p:sldId id="585" r:id="rId27"/>
    <p:sldId id="578" r:id="rId28"/>
    <p:sldId id="556" r:id="rId29"/>
    <p:sldId id="564" r:id="rId30"/>
    <p:sldId id="565" r:id="rId31"/>
    <p:sldId id="566" r:id="rId32"/>
    <p:sldId id="567" r:id="rId33"/>
    <p:sldId id="568" r:id="rId34"/>
    <p:sldId id="569" r:id="rId35"/>
    <p:sldId id="570" r:id="rId36"/>
    <p:sldId id="580" r:id="rId37"/>
    <p:sldId id="571" r:id="rId38"/>
    <p:sldId id="572" r:id="rId39"/>
    <p:sldId id="439" r:id="rId40"/>
  </p:sldIdLst>
  <p:sldSz cx="9144000" cy="6858000" type="screen4x3"/>
  <p:notesSz cx="6794500" cy="9906000"/>
  <p:defaultTextStyle>
    <a:defPPr>
      <a:defRPr lang="da-DK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1"/>
  </p:normalViewPr>
  <p:slideViewPr>
    <p:cSldViewPr>
      <p:cViewPr varScale="1">
        <p:scale>
          <a:sx n="116" d="100"/>
          <a:sy n="116" d="100"/>
        </p:scale>
        <p:origin x="320" y="176"/>
      </p:cViewPr>
      <p:guideLst>
        <p:guide orient="horz" pos="220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96"/>
    </p:cViewPr>
  </p:sorterViewPr>
  <p:notesViewPr>
    <p:cSldViewPr>
      <p:cViewPr varScale="1">
        <p:scale>
          <a:sx n="53" d="100"/>
          <a:sy n="53" d="100"/>
        </p:scale>
        <p:origin x="-1926" y="-90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E6953971-476E-4B8A-CB39-261A88202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66D241F5-A3FB-7CBC-5F05-28367781E5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137220" name="Rectangle 4">
            <a:extLst>
              <a:ext uri="{FF2B5EF4-FFF2-40B4-BE49-F238E27FC236}">
                <a16:creationId xmlns:a16="http://schemas.microsoft.com/office/drawing/2014/main" id="{D3909A4D-9546-30D3-0DDC-62D0FD371A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44813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137221" name="Rectangle 5">
            <a:extLst>
              <a:ext uri="{FF2B5EF4-FFF2-40B4-BE49-F238E27FC236}">
                <a16:creationId xmlns:a16="http://schemas.microsoft.com/office/drawing/2014/main" id="{AC96AFC1-54D1-9FA9-B6F3-BA7B498742A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47213"/>
            <a:ext cx="2944812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B6A5280-9B06-6243-9EB0-71249FD2F052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>
            <a:extLst>
              <a:ext uri="{FF2B5EF4-FFF2-40B4-BE49-F238E27FC236}">
                <a16:creationId xmlns:a16="http://schemas.microsoft.com/office/drawing/2014/main" id="{CEC4FAAA-ED70-0040-8639-A794BA3BBD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F739388-7080-15AA-74CB-67BD56F6310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F5FDC77-EF18-8842-87B6-80C666F34F63}" type="datetime1">
              <a:rPr lang="da-DK" altLang="da-DK"/>
              <a:pPr>
                <a:defRPr/>
              </a:pPr>
              <a:t>14.01.2025</a:t>
            </a:fld>
            <a:endParaRPr lang="da-DK" altLang="da-DK"/>
          </a:p>
        </p:txBody>
      </p:sp>
      <p:sp>
        <p:nvSpPr>
          <p:cNvPr id="4" name="Pladsholder til diasbillede 3">
            <a:extLst>
              <a:ext uri="{FF2B5EF4-FFF2-40B4-BE49-F238E27FC236}">
                <a16:creationId xmlns:a16="http://schemas.microsoft.com/office/drawing/2014/main" id="{8B9222F0-8F74-E15F-0391-56B6DD205C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2950"/>
            <a:ext cx="4953000" cy="3716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a-DK" noProof="0"/>
          </a:p>
        </p:txBody>
      </p:sp>
      <p:sp>
        <p:nvSpPr>
          <p:cNvPr id="5" name="Pladsholder til noter 4">
            <a:extLst>
              <a:ext uri="{FF2B5EF4-FFF2-40B4-BE49-F238E27FC236}">
                <a16:creationId xmlns:a16="http://schemas.microsoft.com/office/drawing/2014/main" id="{1D52FFF4-EECC-823A-750D-B72DC078E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noProof="0"/>
              <a:t>Klik for at redigere typografi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25C26FA-6EBA-C91B-EEE4-3D2C5A8A1B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075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Pladsholder til diasnummer 6">
            <a:extLst>
              <a:ext uri="{FF2B5EF4-FFF2-40B4-BE49-F238E27FC236}">
                <a16:creationId xmlns:a16="http://schemas.microsoft.com/office/drawing/2014/main" id="{FBE23309-B47C-9D50-95CC-BC16B4124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8100" y="9407525"/>
            <a:ext cx="2944813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779785E-9500-F64F-AB6D-54553FABC6C5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Pladsholder til diasbillede 1">
            <a:extLst>
              <a:ext uri="{FF2B5EF4-FFF2-40B4-BE49-F238E27FC236}">
                <a16:creationId xmlns:a16="http://schemas.microsoft.com/office/drawing/2014/main" id="{42D17A4F-8326-C068-F4E5-7EC4A41003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Pladsholder til noter 2">
            <a:extLst>
              <a:ext uri="{FF2B5EF4-FFF2-40B4-BE49-F238E27FC236}">
                <a16:creationId xmlns:a16="http://schemas.microsoft.com/office/drawing/2014/main" id="{A5404DC5-C9A0-2422-F4CF-A359BDAAFF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da-DK" altLang="da-DK"/>
          </a:p>
        </p:txBody>
      </p:sp>
      <p:sp>
        <p:nvSpPr>
          <p:cNvPr id="8196" name="Pladsholder til diasnummer 3">
            <a:extLst>
              <a:ext uri="{FF2B5EF4-FFF2-40B4-BE49-F238E27FC236}">
                <a16:creationId xmlns:a16="http://schemas.microsoft.com/office/drawing/2014/main" id="{9DCF1C3A-75C5-7126-1FC5-076F3E0E3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58B9ED6-AACC-8E42-B9C2-D8F3DB3D341F}" type="slidenum">
              <a:rPr lang="da-DK" altLang="da-DK" smtClean="0"/>
              <a:pPr/>
              <a:t>2</a:t>
            </a:fld>
            <a:endParaRPr lang="da-DK" altLang="da-DK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63;g436249016b_0_70:notes">
            <a:extLst>
              <a:ext uri="{FF2B5EF4-FFF2-40B4-BE49-F238E27FC236}">
                <a16:creationId xmlns:a16="http://schemas.microsoft.com/office/drawing/2014/main" id="{422A6360-9E8A-FDAF-8A87-E053A5393AC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Google Shape;64;g436249016b_0_70:notes">
            <a:extLst>
              <a:ext uri="{FF2B5EF4-FFF2-40B4-BE49-F238E27FC236}">
                <a16:creationId xmlns:a16="http://schemas.microsoft.com/office/drawing/2014/main" id="{28318785-96F8-0120-C01C-69B290D2D5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altLang="da-DK"/>
              <a:t>Det her er fra målbeskrivelsen. I skal kunne beskrive virkemåde, interaktioner og vigtige bivirkninger til:</a:t>
            </a:r>
            <a:endParaRPr lang="da-DK" altLang="da-DK"/>
          </a:p>
          <a:p>
            <a:pPr>
              <a:spcBef>
                <a:spcPct val="0"/>
              </a:spcBef>
              <a:buClr>
                <a:srgbClr val="000000"/>
              </a:buClr>
            </a:pPr>
            <a:r>
              <a:rPr lang="en-GB" altLang="da-DK"/>
              <a:t>At den studerende kan beskrive</a:t>
            </a:r>
            <a:endParaRPr lang="da-DK" altLang="da-DK"/>
          </a:p>
          <a:p>
            <a:pPr>
              <a:spcBef>
                <a:spcPct val="0"/>
              </a:spcBef>
              <a:buClr>
                <a:srgbClr val="000000"/>
              </a:buClr>
            </a:pPr>
            <a:r>
              <a:rPr lang="en-GB" altLang="da-DK"/>
              <a:t>a. Lægemidler mod overaktiv blæresyndrom</a:t>
            </a:r>
            <a:endParaRPr lang="da-DK" altLang="da-DK"/>
          </a:p>
          <a:p>
            <a:pPr>
              <a:spcBef>
                <a:spcPct val="0"/>
              </a:spcBef>
              <a:buClr>
                <a:srgbClr val="000000"/>
              </a:buClr>
            </a:pPr>
            <a:r>
              <a:rPr lang="en-GB" altLang="da-DK"/>
              <a:t>b. Lægemidler mod benign prostatahyperplasi</a:t>
            </a:r>
            <a:endParaRPr lang="da-DK" altLang="da-DK"/>
          </a:p>
          <a:p>
            <a:pPr>
              <a:spcBef>
                <a:spcPct val="0"/>
              </a:spcBef>
              <a:buClr>
                <a:srgbClr val="000000"/>
              </a:buClr>
            </a:pPr>
            <a:r>
              <a:rPr lang="en-GB" altLang="da-DK"/>
              <a:t>c. Lægemidler mod urinvejsinfektion, pyelonefritis, epididymitis</a:t>
            </a:r>
            <a:endParaRPr lang="da-DK" altLang="da-DK"/>
          </a:p>
          <a:p>
            <a:pPr>
              <a:spcBef>
                <a:spcPct val="0"/>
              </a:spcBef>
              <a:buClr>
                <a:srgbClr val="000000"/>
              </a:buClr>
            </a:pPr>
            <a:r>
              <a:rPr lang="en-GB" altLang="da-DK"/>
              <a:t>d. Lægemidler mod erektiv dysfunktion</a:t>
            </a:r>
            <a:endParaRPr lang="da-DK" altLang="da-DK"/>
          </a:p>
          <a:p>
            <a:pPr>
              <a:spcBef>
                <a:spcPct val="0"/>
              </a:spcBef>
            </a:pPr>
            <a:endParaRPr lang="da-DK" altLang="da-DK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68;g49dd2bdc06_0_6:notes">
            <a:extLst>
              <a:ext uri="{FF2B5EF4-FFF2-40B4-BE49-F238E27FC236}">
                <a16:creationId xmlns:a16="http://schemas.microsoft.com/office/drawing/2014/main" id="{2800271F-4831-7B3D-0333-E40803694B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Google Shape;69;g49dd2bdc06_0_6:notes">
            <a:extLst>
              <a:ext uri="{FF2B5EF4-FFF2-40B4-BE49-F238E27FC236}">
                <a16:creationId xmlns:a16="http://schemas.microsoft.com/office/drawing/2014/main" id="{2285D6BB-F599-9EE9-B451-D366DBEBD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altLang="da-DK"/>
              <a:t>Det her er lærebogen og de tilhørende kapitler, som I bør læse:</a:t>
            </a:r>
            <a:endParaRPr lang="da-DK" altLang="da-DK"/>
          </a:p>
          <a:p>
            <a:pPr>
              <a:spcBef>
                <a:spcPct val="0"/>
              </a:spcBef>
            </a:pPr>
            <a:r>
              <a:rPr lang="en-GB" altLang="da-DK"/>
              <a:t>Kapitel 37 - side 482-488 og kapitel 53, side 657 til 678</a:t>
            </a:r>
            <a:endParaRPr lang="da-DK" altLang="da-DK"/>
          </a:p>
          <a:p>
            <a:pPr>
              <a:spcBef>
                <a:spcPct val="0"/>
              </a:spcBef>
            </a:pPr>
            <a:endParaRPr lang="da-DK" altLang="da-DK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68;g49dd2bdc06_0_6:notes">
            <a:extLst>
              <a:ext uri="{FF2B5EF4-FFF2-40B4-BE49-F238E27FC236}">
                <a16:creationId xmlns:a16="http://schemas.microsoft.com/office/drawing/2014/main" id="{8AAC41F8-84F8-B95E-56FC-37DA5D6B54C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Google Shape;69;g49dd2bdc06_0_6:notes">
            <a:extLst>
              <a:ext uri="{FF2B5EF4-FFF2-40B4-BE49-F238E27FC236}">
                <a16:creationId xmlns:a16="http://schemas.microsoft.com/office/drawing/2014/main" id="{EDC7499A-0A59-85A2-AE28-CBFB6A53C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altLang="da-DK"/>
              <a:t>Det her er lærebogen og de tilhørende kapitler, som I bør læse:</a:t>
            </a:r>
            <a:endParaRPr lang="da-DK" altLang="da-DK"/>
          </a:p>
          <a:p>
            <a:pPr>
              <a:spcBef>
                <a:spcPct val="0"/>
              </a:spcBef>
            </a:pPr>
            <a:r>
              <a:rPr lang="en-GB" altLang="da-DK"/>
              <a:t>Kapitel 37 - side 482-488 og kapitel 53, side 657 til 678</a:t>
            </a:r>
            <a:endParaRPr lang="da-DK" altLang="da-DK"/>
          </a:p>
          <a:p>
            <a:pPr>
              <a:spcBef>
                <a:spcPct val="0"/>
              </a:spcBef>
            </a:pPr>
            <a:endParaRPr lang="da-DK" altLang="da-DK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4A7F6C-43F5-5327-2689-060F2B7B6617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87F2A0-7387-4C27-0727-2E17956FDA4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6265 w 5740"/>
                <a:gd name="T1" fmla="*/ 0 h 4316"/>
                <a:gd name="T2" fmla="*/ 0 w 5740"/>
                <a:gd name="T3" fmla="*/ 0 h 4316"/>
                <a:gd name="T4" fmla="*/ 0 w 5740"/>
                <a:gd name="T5" fmla="*/ 0 h 4316"/>
                <a:gd name="T6" fmla="*/ 6265 w 5740"/>
                <a:gd name="T7" fmla="*/ 0 h 4316"/>
                <a:gd name="T8" fmla="*/ 6265 w 5740"/>
                <a:gd name="T9" fmla="*/ 0 h 4316"/>
                <a:gd name="T10" fmla="*/ 6265 w 5740"/>
                <a:gd name="T11" fmla="*/ 0 h 43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0FB883B-DA55-CA6C-D920-F41A9D6A8CE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55" name="Oval 5">
                <a:extLst>
                  <a:ext uri="{FF2B5EF4-FFF2-40B4-BE49-F238E27FC236}">
                    <a16:creationId xmlns:a16="http://schemas.microsoft.com/office/drawing/2014/main" id="{87FC6569-E43B-3B49-FF68-9604B69E38A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56" name="Oval 6">
                <a:extLst>
                  <a:ext uri="{FF2B5EF4-FFF2-40B4-BE49-F238E27FC236}">
                    <a16:creationId xmlns:a16="http://schemas.microsoft.com/office/drawing/2014/main" id="{A6D2789C-0246-75A6-F9B7-E2A3B83D21D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57" name="Oval 7">
                <a:extLst>
                  <a:ext uri="{FF2B5EF4-FFF2-40B4-BE49-F238E27FC236}">
                    <a16:creationId xmlns:a16="http://schemas.microsoft.com/office/drawing/2014/main" id="{BC794096-D266-3C1A-5D3E-C89D66CD15D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58" name="Oval 8">
                <a:extLst>
                  <a:ext uri="{FF2B5EF4-FFF2-40B4-BE49-F238E27FC236}">
                    <a16:creationId xmlns:a16="http://schemas.microsoft.com/office/drawing/2014/main" id="{89385F3F-7651-92B5-6F35-586841BC7E5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59" name="Oval 9">
                <a:extLst>
                  <a:ext uri="{FF2B5EF4-FFF2-40B4-BE49-F238E27FC236}">
                    <a16:creationId xmlns:a16="http://schemas.microsoft.com/office/drawing/2014/main" id="{685AC2F5-7B40-239E-F239-D72A809A82B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60" name="Freeform 10">
                <a:extLst>
                  <a:ext uri="{FF2B5EF4-FFF2-40B4-BE49-F238E27FC236}">
                    <a16:creationId xmlns:a16="http://schemas.microsoft.com/office/drawing/2014/main" id="{DBA7BE83-E639-4ADC-65F6-2045A80E4BB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2F2742EE-9B5F-71C7-8A27-54F5D2758B0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62" name="Freeform 12">
                <a:extLst>
                  <a:ext uri="{FF2B5EF4-FFF2-40B4-BE49-F238E27FC236}">
                    <a16:creationId xmlns:a16="http://schemas.microsoft.com/office/drawing/2014/main" id="{0C2E19A9-B4A8-EC9B-DBCE-A3682B23D01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63" name="Freeform 13">
                <a:extLst>
                  <a:ext uri="{FF2B5EF4-FFF2-40B4-BE49-F238E27FC236}">
                    <a16:creationId xmlns:a16="http://schemas.microsoft.com/office/drawing/2014/main" id="{A0779B99-50DC-8E56-E7EF-77C2B232F3A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3536" name="Freeform 14">
                <a:extLst>
                  <a:ext uri="{FF2B5EF4-FFF2-40B4-BE49-F238E27FC236}">
                    <a16:creationId xmlns:a16="http://schemas.microsoft.com/office/drawing/2014/main" id="{0AB088C1-88C8-A481-1CE6-87DE1E4CF05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3537" name="Oval 15">
                <a:extLst>
                  <a:ext uri="{FF2B5EF4-FFF2-40B4-BE49-F238E27FC236}">
                    <a16:creationId xmlns:a16="http://schemas.microsoft.com/office/drawing/2014/main" id="{3B37A0E2-EBCD-9147-CF17-015E9E3E084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</p:grpSp>
        <p:grpSp>
          <p:nvGrpSpPr>
            <p:cNvPr id="5" name="Group 16">
              <a:extLst>
                <a:ext uri="{FF2B5EF4-FFF2-40B4-BE49-F238E27FC236}">
                  <a16:creationId xmlns:a16="http://schemas.microsoft.com/office/drawing/2014/main" id="{62160CDE-B504-97DD-0AD6-3AEC3F8CB58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37" name="Oval 17">
                <a:extLst>
                  <a:ext uri="{FF2B5EF4-FFF2-40B4-BE49-F238E27FC236}">
                    <a16:creationId xmlns:a16="http://schemas.microsoft.com/office/drawing/2014/main" id="{8715F5DA-0FBC-94A7-73D6-26B7D2F32C4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38" name="Oval 18">
                <a:extLst>
                  <a:ext uri="{FF2B5EF4-FFF2-40B4-BE49-F238E27FC236}">
                    <a16:creationId xmlns:a16="http://schemas.microsoft.com/office/drawing/2014/main" id="{5FB55D56-4467-10B3-219A-29C78E9667B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39" name="Oval 19">
                <a:extLst>
                  <a:ext uri="{FF2B5EF4-FFF2-40B4-BE49-F238E27FC236}">
                    <a16:creationId xmlns:a16="http://schemas.microsoft.com/office/drawing/2014/main" id="{B12F8EC9-0B6E-18F9-3128-628C6EC8906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0" name="Oval 20">
                <a:extLst>
                  <a:ext uri="{FF2B5EF4-FFF2-40B4-BE49-F238E27FC236}">
                    <a16:creationId xmlns:a16="http://schemas.microsoft.com/office/drawing/2014/main" id="{34B06174-7600-9E41-112E-62D83058206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1" name="Oval 21">
                <a:extLst>
                  <a:ext uri="{FF2B5EF4-FFF2-40B4-BE49-F238E27FC236}">
                    <a16:creationId xmlns:a16="http://schemas.microsoft.com/office/drawing/2014/main" id="{8C3EBC88-AB2B-370C-CD62-D5857C01550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2" name="Oval 22">
                <a:extLst>
                  <a:ext uri="{FF2B5EF4-FFF2-40B4-BE49-F238E27FC236}">
                    <a16:creationId xmlns:a16="http://schemas.microsoft.com/office/drawing/2014/main" id="{292F930E-EC51-6598-99BF-B561C984C94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3" name="Oval 23">
                <a:extLst>
                  <a:ext uri="{FF2B5EF4-FFF2-40B4-BE49-F238E27FC236}">
                    <a16:creationId xmlns:a16="http://schemas.microsoft.com/office/drawing/2014/main" id="{1AC6C918-94C1-9EE2-A9A6-C9796A99A56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4" name="Oval 24">
                <a:extLst>
                  <a:ext uri="{FF2B5EF4-FFF2-40B4-BE49-F238E27FC236}">
                    <a16:creationId xmlns:a16="http://schemas.microsoft.com/office/drawing/2014/main" id="{B445795A-2F31-2AFF-99C7-AAC0F842547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66920A7D-56E2-17A0-B2F8-62E4C6465BC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09413ADB-2FA7-3CB9-C8D4-5BCB26608E9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AF0AB83C-FBE3-67EB-761A-3F4DA3F0C95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1C2C07C7-03FE-5251-AFA8-CC2A6FEE581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EC7CE947-979D-FF16-FA67-DB79EF15871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CDD153D0-45C3-377C-281E-ED91DBAE46E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1556E3ED-334B-96BD-509F-050CA243F39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52" name="Freeform 32">
                <a:extLst>
                  <a:ext uri="{FF2B5EF4-FFF2-40B4-BE49-F238E27FC236}">
                    <a16:creationId xmlns:a16="http://schemas.microsoft.com/office/drawing/2014/main" id="{D0F985D9-8C39-F692-2D2A-265BA688371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53" name="Freeform 33">
                <a:extLst>
                  <a:ext uri="{FF2B5EF4-FFF2-40B4-BE49-F238E27FC236}">
                    <a16:creationId xmlns:a16="http://schemas.microsoft.com/office/drawing/2014/main" id="{D5F9B537-39F8-888D-9709-1FE070F2213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54" name="Freeform 34">
                <a:extLst>
                  <a:ext uri="{FF2B5EF4-FFF2-40B4-BE49-F238E27FC236}">
                    <a16:creationId xmlns:a16="http://schemas.microsoft.com/office/drawing/2014/main" id="{07D9DCF3-EC88-C7C9-C7FE-10F527C3D13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  <p:grpSp>
          <p:nvGrpSpPr>
            <p:cNvPr id="6" name="Group 35">
              <a:extLst>
                <a:ext uri="{FF2B5EF4-FFF2-40B4-BE49-F238E27FC236}">
                  <a16:creationId xmlns:a16="http://schemas.microsoft.com/office/drawing/2014/main" id="{F4677A23-47A3-16AF-7CF2-88B6C9B9FAC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AB2B616E-8B29-7341-3D2C-9C4B4726B452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89B7D8F7-B694-DF1E-2D7F-FFDF8E17F00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557E608A-506F-7960-2ECA-B40EBD72069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A5D2D4BA-57F2-5F3E-9A99-397E1A6546C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EB04E791-D5B5-D18F-FA98-F035CF513B4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5" name="Freeform 41">
                <a:extLst>
                  <a:ext uri="{FF2B5EF4-FFF2-40B4-BE49-F238E27FC236}">
                    <a16:creationId xmlns:a16="http://schemas.microsoft.com/office/drawing/2014/main" id="{878FE929-7DDF-BF58-33DA-CCDD6180B25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6" name="Freeform 42">
                <a:extLst>
                  <a:ext uri="{FF2B5EF4-FFF2-40B4-BE49-F238E27FC236}">
                    <a16:creationId xmlns:a16="http://schemas.microsoft.com/office/drawing/2014/main" id="{E1E7AA39-E6E1-29B6-5CB1-C9D28C1872D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7" name="Freeform 43">
                <a:extLst>
                  <a:ext uri="{FF2B5EF4-FFF2-40B4-BE49-F238E27FC236}">
                    <a16:creationId xmlns:a16="http://schemas.microsoft.com/office/drawing/2014/main" id="{CBE6B93F-34CC-145D-E711-100143A0160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8" name="Freeform 44">
                <a:extLst>
                  <a:ext uri="{FF2B5EF4-FFF2-40B4-BE49-F238E27FC236}">
                    <a16:creationId xmlns:a16="http://schemas.microsoft.com/office/drawing/2014/main" id="{826E8066-1692-AF2A-7B8B-29B7A2CB40B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9" name="Freeform 45">
                <a:extLst>
                  <a:ext uri="{FF2B5EF4-FFF2-40B4-BE49-F238E27FC236}">
                    <a16:creationId xmlns:a16="http://schemas.microsoft.com/office/drawing/2014/main" id="{A9E660F0-6138-1EDB-0473-E88831DDD57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30" name="Freeform 46">
                <a:extLst>
                  <a:ext uri="{FF2B5EF4-FFF2-40B4-BE49-F238E27FC236}">
                    <a16:creationId xmlns:a16="http://schemas.microsoft.com/office/drawing/2014/main" id="{A3539DD9-1545-4C41-50EF-C933B38624D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31" name="Oval 47">
                <a:extLst>
                  <a:ext uri="{FF2B5EF4-FFF2-40B4-BE49-F238E27FC236}">
                    <a16:creationId xmlns:a16="http://schemas.microsoft.com/office/drawing/2014/main" id="{E5BA4C17-BA2D-F4AB-6731-2F444C2FEE8E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32" name="Oval 48">
                <a:extLst>
                  <a:ext uri="{FF2B5EF4-FFF2-40B4-BE49-F238E27FC236}">
                    <a16:creationId xmlns:a16="http://schemas.microsoft.com/office/drawing/2014/main" id="{3DBC6920-764B-4036-B95B-F9E2953A91F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33" name="Oval 49">
                <a:extLst>
                  <a:ext uri="{FF2B5EF4-FFF2-40B4-BE49-F238E27FC236}">
                    <a16:creationId xmlns:a16="http://schemas.microsoft.com/office/drawing/2014/main" id="{482F450A-A407-4FDA-1424-8E1999E998A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34" name="Oval 50">
                <a:extLst>
                  <a:ext uri="{FF2B5EF4-FFF2-40B4-BE49-F238E27FC236}">
                    <a16:creationId xmlns:a16="http://schemas.microsoft.com/office/drawing/2014/main" id="{9B08B188-4A7B-2609-D794-B10B969EB12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35" name="Oval 51">
                <a:extLst>
                  <a:ext uri="{FF2B5EF4-FFF2-40B4-BE49-F238E27FC236}">
                    <a16:creationId xmlns:a16="http://schemas.microsoft.com/office/drawing/2014/main" id="{625BBCCC-C5FA-7913-48B2-B3D5D4CBF03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36" name="Oval 52">
                <a:extLst>
                  <a:ext uri="{FF2B5EF4-FFF2-40B4-BE49-F238E27FC236}">
                    <a16:creationId xmlns:a16="http://schemas.microsoft.com/office/drawing/2014/main" id="{0E1FF5D4-C8BD-4C74-60FF-06F4AB5AAD7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</p:grpSp>
        <p:grpSp>
          <p:nvGrpSpPr>
            <p:cNvPr id="7" name="Group 53">
              <a:extLst>
                <a:ext uri="{FF2B5EF4-FFF2-40B4-BE49-F238E27FC236}">
                  <a16:creationId xmlns:a16="http://schemas.microsoft.com/office/drawing/2014/main" id="{F916C598-7694-399B-ECF0-52E081BB6D0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8" name="Freeform 54">
                <a:extLst>
                  <a:ext uri="{FF2B5EF4-FFF2-40B4-BE49-F238E27FC236}">
                    <a16:creationId xmlns:a16="http://schemas.microsoft.com/office/drawing/2014/main" id="{7A88D0DD-F409-05E7-7C1A-9A5A47280A0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37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37 w 382"/>
                  <a:gd name="T19" fmla="*/ 96 h 96"/>
                  <a:gd name="T20" fmla="*/ 291 w 382"/>
                  <a:gd name="T21" fmla="*/ 90 h 96"/>
                  <a:gd name="T22" fmla="*/ 339 w 382"/>
                  <a:gd name="T23" fmla="*/ 84 h 96"/>
                  <a:gd name="T24" fmla="*/ 380 w 382"/>
                  <a:gd name="T25" fmla="*/ 66 h 96"/>
                  <a:gd name="T26" fmla="*/ 410 w 382"/>
                  <a:gd name="T27" fmla="*/ 42 h 96"/>
                  <a:gd name="T28" fmla="*/ 404 w 382"/>
                  <a:gd name="T29" fmla="*/ 42 h 96"/>
                  <a:gd name="T30" fmla="*/ 374 w 382"/>
                  <a:gd name="T31" fmla="*/ 66 h 96"/>
                  <a:gd name="T32" fmla="*/ 333 w 382"/>
                  <a:gd name="T33" fmla="*/ 78 h 96"/>
                  <a:gd name="T34" fmla="*/ 291 w 382"/>
                  <a:gd name="T35" fmla="*/ 90 h 96"/>
                  <a:gd name="T36" fmla="*/ 237 w 382"/>
                  <a:gd name="T37" fmla="*/ 96 h 96"/>
                  <a:gd name="T38" fmla="*/ 237 w 382"/>
                  <a:gd name="T39" fmla="*/ 96 h 9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" name="Freeform 55">
                <a:extLst>
                  <a:ext uri="{FF2B5EF4-FFF2-40B4-BE49-F238E27FC236}">
                    <a16:creationId xmlns:a16="http://schemas.microsoft.com/office/drawing/2014/main" id="{829AA629-991D-6240-6807-17A78297E37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" name="Freeform 56">
                <a:extLst>
                  <a:ext uri="{FF2B5EF4-FFF2-40B4-BE49-F238E27FC236}">
                    <a16:creationId xmlns:a16="http://schemas.microsoft.com/office/drawing/2014/main" id="{E1D757A4-AC66-ACF5-BC3C-1F1DF9B11E1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" name="Freeform 57">
                <a:extLst>
                  <a:ext uri="{FF2B5EF4-FFF2-40B4-BE49-F238E27FC236}">
                    <a16:creationId xmlns:a16="http://schemas.microsoft.com/office/drawing/2014/main" id="{66B5A4FA-18F1-C94E-FAA0-0353823E8CC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" name="Freeform 58">
                <a:extLst>
                  <a:ext uri="{FF2B5EF4-FFF2-40B4-BE49-F238E27FC236}">
                    <a16:creationId xmlns:a16="http://schemas.microsoft.com/office/drawing/2014/main" id="{728C7FE6-6A56-E92A-9587-FB48A59FF5D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3" name="Freeform 59">
                <a:extLst>
                  <a:ext uri="{FF2B5EF4-FFF2-40B4-BE49-F238E27FC236}">
                    <a16:creationId xmlns:a16="http://schemas.microsoft.com/office/drawing/2014/main" id="{C3680A3F-38F3-A678-BA0E-BE087169EA2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47 w 185"/>
                  <a:gd name="T5" fmla="*/ 36 h 210"/>
                  <a:gd name="T6" fmla="*/ 183 w 185"/>
                  <a:gd name="T7" fmla="*/ 72 h 210"/>
                  <a:gd name="T8" fmla="*/ 189 w 185"/>
                  <a:gd name="T9" fmla="*/ 90 h 210"/>
                  <a:gd name="T10" fmla="*/ 195 w 185"/>
                  <a:gd name="T11" fmla="*/ 114 h 210"/>
                  <a:gd name="T12" fmla="*/ 189 w 185"/>
                  <a:gd name="T13" fmla="*/ 138 h 210"/>
                  <a:gd name="T14" fmla="*/ 177 w 185"/>
                  <a:gd name="T15" fmla="*/ 162 h 210"/>
                  <a:gd name="T16" fmla="*/ 147 w 185"/>
                  <a:gd name="T17" fmla="*/ 180 h 210"/>
                  <a:gd name="T18" fmla="*/ 90 w 185"/>
                  <a:gd name="T19" fmla="*/ 198 h 210"/>
                  <a:gd name="T20" fmla="*/ 124 w 185"/>
                  <a:gd name="T21" fmla="*/ 210 h 210"/>
                  <a:gd name="T22" fmla="*/ 159 w 185"/>
                  <a:gd name="T23" fmla="*/ 192 h 210"/>
                  <a:gd name="T24" fmla="*/ 189 w 185"/>
                  <a:gd name="T25" fmla="*/ 168 h 210"/>
                  <a:gd name="T26" fmla="*/ 207 w 185"/>
                  <a:gd name="T27" fmla="*/ 144 h 210"/>
                  <a:gd name="T28" fmla="*/ 213 w 185"/>
                  <a:gd name="T29" fmla="*/ 114 h 210"/>
                  <a:gd name="T30" fmla="*/ 207 w 185"/>
                  <a:gd name="T31" fmla="*/ 90 h 210"/>
                  <a:gd name="T32" fmla="*/ 201 w 185"/>
                  <a:gd name="T33" fmla="*/ 66 h 210"/>
                  <a:gd name="T34" fmla="*/ 183 w 185"/>
                  <a:gd name="T35" fmla="*/ 48 h 210"/>
                  <a:gd name="T36" fmla="*/ 159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4" name="Freeform 60">
                <a:extLst>
                  <a:ext uri="{FF2B5EF4-FFF2-40B4-BE49-F238E27FC236}">
                    <a16:creationId xmlns:a16="http://schemas.microsoft.com/office/drawing/2014/main" id="{839D8D92-A31D-FFF8-A1B2-D84A79E8BAD0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grpSp>
            <p:nvGrpSpPr>
              <p:cNvPr id="15" name="Group 61">
                <a:extLst>
                  <a:ext uri="{FF2B5EF4-FFF2-40B4-BE49-F238E27FC236}">
                    <a16:creationId xmlns:a16="http://schemas.microsoft.com/office/drawing/2014/main" id="{1E593B0B-1CB3-59C5-0E59-1179BF3931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16" name="Oval 62">
                  <a:extLst>
                    <a:ext uri="{FF2B5EF4-FFF2-40B4-BE49-F238E27FC236}">
                      <a16:creationId xmlns:a16="http://schemas.microsoft.com/office/drawing/2014/main" id="{AB4746E3-9B27-FE15-E560-8B3CEB34908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defRPr/>
                  </a:pPr>
                  <a:endParaRPr lang="da-DK" altLang="da-DK"/>
                </a:p>
              </p:txBody>
            </p:sp>
            <p:sp>
              <p:nvSpPr>
                <p:cNvPr id="17" name="Oval 63">
                  <a:extLst>
                    <a:ext uri="{FF2B5EF4-FFF2-40B4-BE49-F238E27FC236}">
                      <a16:creationId xmlns:a16="http://schemas.microsoft.com/office/drawing/2014/main" id="{88D4BE5C-4A56-3937-C690-94CC32604E9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defRPr/>
                  </a:pPr>
                  <a:endParaRPr lang="da-DK" altLang="da-DK"/>
                </a:p>
              </p:txBody>
            </p:sp>
            <p:sp>
              <p:nvSpPr>
                <p:cNvPr id="18" name="Oval 64">
                  <a:extLst>
                    <a:ext uri="{FF2B5EF4-FFF2-40B4-BE49-F238E27FC236}">
                      <a16:creationId xmlns:a16="http://schemas.microsoft.com/office/drawing/2014/main" id="{3740F885-9316-D2C9-1205-6C1B632EC4D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defRPr/>
                  </a:pPr>
                  <a:endParaRPr lang="da-DK" altLang="da-DK"/>
                </a:p>
              </p:txBody>
            </p:sp>
            <p:sp>
              <p:nvSpPr>
                <p:cNvPr id="19" name="Oval 65">
                  <a:extLst>
                    <a:ext uri="{FF2B5EF4-FFF2-40B4-BE49-F238E27FC236}">
                      <a16:creationId xmlns:a16="http://schemas.microsoft.com/office/drawing/2014/main" id="{B7272E60-EB30-ABA5-E15A-7E144828798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defRPr/>
                  </a:pPr>
                  <a:endParaRPr lang="da-DK" altLang="da-DK"/>
                </a:p>
              </p:txBody>
            </p:sp>
          </p:grpSp>
        </p:grpSp>
      </p:grpSp>
      <p:sp>
        <p:nvSpPr>
          <p:cNvPr id="233538" name="Rectangle 66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2335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233540" name="Rectangle 68">
            <a:extLst>
              <a:ext uri="{FF2B5EF4-FFF2-40B4-BE49-F238E27FC236}">
                <a16:creationId xmlns:a16="http://schemas.microsoft.com/office/drawing/2014/main" id="{FC12BBD1-F67E-97A9-0F11-DB4DDDA139C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233541" name="Rectangle 69">
            <a:extLst>
              <a:ext uri="{FF2B5EF4-FFF2-40B4-BE49-F238E27FC236}">
                <a16:creationId xmlns:a16="http://schemas.microsoft.com/office/drawing/2014/main" id="{63B5E505-2C41-115B-A437-869D5F36C4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233542" name="Rectangle 70">
            <a:extLst>
              <a:ext uri="{FF2B5EF4-FFF2-40B4-BE49-F238E27FC236}">
                <a16:creationId xmlns:a16="http://schemas.microsoft.com/office/drawing/2014/main" id="{8A393CD2-0005-5721-4F7A-DE83B1B4AF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00CEC-BC00-5545-9D79-58564F9E09C3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0302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Rectangle 69">
            <a:extLst>
              <a:ext uri="{FF2B5EF4-FFF2-40B4-BE49-F238E27FC236}">
                <a16:creationId xmlns:a16="http://schemas.microsoft.com/office/drawing/2014/main" id="{985B995E-4F98-CAFF-7151-919CC34FC3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Rectangle 70">
            <a:extLst>
              <a:ext uri="{FF2B5EF4-FFF2-40B4-BE49-F238E27FC236}">
                <a16:creationId xmlns:a16="http://schemas.microsoft.com/office/drawing/2014/main" id="{04D16E4F-E7AF-E2EE-B91F-556EBDD68B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FE2DE1CF-5002-3F0A-D2A0-3D7DCD5130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652C-D445-E44B-BAEC-22A242DF6A1E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86480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Rectangle 69">
            <a:extLst>
              <a:ext uri="{FF2B5EF4-FFF2-40B4-BE49-F238E27FC236}">
                <a16:creationId xmlns:a16="http://schemas.microsoft.com/office/drawing/2014/main" id="{8917C733-85A9-0BA4-B5D8-07664DA318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Rectangle 70">
            <a:extLst>
              <a:ext uri="{FF2B5EF4-FFF2-40B4-BE49-F238E27FC236}">
                <a16:creationId xmlns:a16="http://schemas.microsoft.com/office/drawing/2014/main" id="{34AD4D56-545B-0910-6420-3D5B58993D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59D295C3-751D-3525-3C92-45CD50DBA8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62E20-BAF8-2A44-84E1-62AA33FDCF87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67426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Rectangle 69">
            <a:extLst>
              <a:ext uri="{FF2B5EF4-FFF2-40B4-BE49-F238E27FC236}">
                <a16:creationId xmlns:a16="http://schemas.microsoft.com/office/drawing/2014/main" id="{DCA65B92-E4F5-D982-3DCA-ABB4987A9B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Rectangle 70">
            <a:extLst>
              <a:ext uri="{FF2B5EF4-FFF2-40B4-BE49-F238E27FC236}">
                <a16:creationId xmlns:a16="http://schemas.microsoft.com/office/drawing/2014/main" id="{2DEF762D-B137-8491-8B58-BB9ABA5640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Rectangle 71">
            <a:extLst>
              <a:ext uri="{FF2B5EF4-FFF2-40B4-BE49-F238E27FC236}">
                <a16:creationId xmlns:a16="http://schemas.microsoft.com/office/drawing/2014/main" id="{6C5AB02C-7738-BA02-9F81-5DE5E897E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C8892-15A8-6C4F-AAA9-B4F7FE94765A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29332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Rectangle 69">
            <a:extLst>
              <a:ext uri="{FF2B5EF4-FFF2-40B4-BE49-F238E27FC236}">
                <a16:creationId xmlns:a16="http://schemas.microsoft.com/office/drawing/2014/main" id="{9F78E8EE-D01E-03B1-0181-D569221F5E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" name="Rectangle 70">
            <a:extLst>
              <a:ext uri="{FF2B5EF4-FFF2-40B4-BE49-F238E27FC236}">
                <a16:creationId xmlns:a16="http://schemas.microsoft.com/office/drawing/2014/main" id="{33443020-79D8-0C00-B848-F99EFDFF43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9" name="Rectangle 71">
            <a:extLst>
              <a:ext uri="{FF2B5EF4-FFF2-40B4-BE49-F238E27FC236}">
                <a16:creationId xmlns:a16="http://schemas.microsoft.com/office/drawing/2014/main" id="{11854D70-372F-D939-E165-7FBF9D8A0C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05D90B-C524-AA4E-8A62-AA786B11FC99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17829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Rectangle 69">
            <a:extLst>
              <a:ext uri="{FF2B5EF4-FFF2-40B4-BE49-F238E27FC236}">
                <a16:creationId xmlns:a16="http://schemas.microsoft.com/office/drawing/2014/main" id="{2D1C4EA3-C6B5-8350-3905-6C0E3905F2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4" name="Rectangle 70">
            <a:extLst>
              <a:ext uri="{FF2B5EF4-FFF2-40B4-BE49-F238E27FC236}">
                <a16:creationId xmlns:a16="http://schemas.microsoft.com/office/drawing/2014/main" id="{6D78C0A6-EB35-3633-DD4C-91477E0581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Rectangle 71">
            <a:extLst>
              <a:ext uri="{FF2B5EF4-FFF2-40B4-BE49-F238E27FC236}">
                <a16:creationId xmlns:a16="http://schemas.microsoft.com/office/drawing/2014/main" id="{2BF864F6-F771-F650-E06F-A375DE23F9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048FB-E09C-1A43-9777-24889C4D4EC0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104360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9">
            <a:extLst>
              <a:ext uri="{FF2B5EF4-FFF2-40B4-BE49-F238E27FC236}">
                <a16:creationId xmlns:a16="http://schemas.microsoft.com/office/drawing/2014/main" id="{9466ED9A-95CA-13A4-1952-952EF853DB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3" name="Rectangle 70">
            <a:extLst>
              <a:ext uri="{FF2B5EF4-FFF2-40B4-BE49-F238E27FC236}">
                <a16:creationId xmlns:a16="http://schemas.microsoft.com/office/drawing/2014/main" id="{970BA3E6-00FF-B051-5333-A148EB11E6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4" name="Rectangle 71">
            <a:extLst>
              <a:ext uri="{FF2B5EF4-FFF2-40B4-BE49-F238E27FC236}">
                <a16:creationId xmlns:a16="http://schemas.microsoft.com/office/drawing/2014/main" id="{2920640A-A8B3-3EF2-0801-020F871FC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BE364-7F24-184B-AF1F-9EE0728B0021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63026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Rectangle 69">
            <a:extLst>
              <a:ext uri="{FF2B5EF4-FFF2-40B4-BE49-F238E27FC236}">
                <a16:creationId xmlns:a16="http://schemas.microsoft.com/office/drawing/2014/main" id="{37A975C5-46CE-9794-3C65-A7BA5637C1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Rectangle 70">
            <a:extLst>
              <a:ext uri="{FF2B5EF4-FFF2-40B4-BE49-F238E27FC236}">
                <a16:creationId xmlns:a16="http://schemas.microsoft.com/office/drawing/2014/main" id="{C7E82FCE-C671-5C4D-D9B2-3EE87748D6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Rectangle 71">
            <a:extLst>
              <a:ext uri="{FF2B5EF4-FFF2-40B4-BE49-F238E27FC236}">
                <a16:creationId xmlns:a16="http://schemas.microsoft.com/office/drawing/2014/main" id="{CED091C5-7660-D48A-61A4-D61E805D7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AC0EA-629E-4447-A3AC-411E578C6A9C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09480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a-DK" noProof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Rectangle 69">
            <a:extLst>
              <a:ext uri="{FF2B5EF4-FFF2-40B4-BE49-F238E27FC236}">
                <a16:creationId xmlns:a16="http://schemas.microsoft.com/office/drawing/2014/main" id="{E93BE19D-0210-4725-1461-6C4FE5A9BD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Rectangle 70">
            <a:extLst>
              <a:ext uri="{FF2B5EF4-FFF2-40B4-BE49-F238E27FC236}">
                <a16:creationId xmlns:a16="http://schemas.microsoft.com/office/drawing/2014/main" id="{3779E7B5-5382-90BB-05BB-79A2A579D7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Rectangle 71">
            <a:extLst>
              <a:ext uri="{FF2B5EF4-FFF2-40B4-BE49-F238E27FC236}">
                <a16:creationId xmlns:a16="http://schemas.microsoft.com/office/drawing/2014/main" id="{893E9B32-E5B0-A579-CBB4-A2354D9E60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0CA24E-8F37-684A-A8E2-7D2907ED3330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158918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Rectangle 69">
            <a:extLst>
              <a:ext uri="{FF2B5EF4-FFF2-40B4-BE49-F238E27FC236}">
                <a16:creationId xmlns:a16="http://schemas.microsoft.com/office/drawing/2014/main" id="{647D436E-3B16-022E-AA54-92E5DF2AE8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Rectangle 70">
            <a:extLst>
              <a:ext uri="{FF2B5EF4-FFF2-40B4-BE49-F238E27FC236}">
                <a16:creationId xmlns:a16="http://schemas.microsoft.com/office/drawing/2014/main" id="{1B97AB84-170C-45F1-704E-670F9CC6BE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68F8C061-5FC5-8E0B-BF40-B14520249B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5DD65-3F33-D941-9B4A-F6C4CBAB29CE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81829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48350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48350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Rectangle 69">
            <a:extLst>
              <a:ext uri="{FF2B5EF4-FFF2-40B4-BE49-F238E27FC236}">
                <a16:creationId xmlns:a16="http://schemas.microsoft.com/office/drawing/2014/main" id="{35FC793E-97A6-30DA-546B-620734E536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Rectangle 70">
            <a:extLst>
              <a:ext uri="{FF2B5EF4-FFF2-40B4-BE49-F238E27FC236}">
                <a16:creationId xmlns:a16="http://schemas.microsoft.com/office/drawing/2014/main" id="{653ED062-DEA9-D947-36B4-5113A4837D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F36037F4-ECCA-3388-C0C2-9690DBF713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2ABF8-9C13-9F40-A003-9D19596C1D2F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461008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el og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iagram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da-DK" noProof="0"/>
          </a:p>
        </p:txBody>
      </p:sp>
      <p:sp>
        <p:nvSpPr>
          <p:cNvPr id="4" name="Rectangle 69">
            <a:extLst>
              <a:ext uri="{FF2B5EF4-FFF2-40B4-BE49-F238E27FC236}">
                <a16:creationId xmlns:a16="http://schemas.microsoft.com/office/drawing/2014/main" id="{79A5DCFA-8267-B26C-351C-1768B97AC5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Rectangle 70">
            <a:extLst>
              <a:ext uri="{FF2B5EF4-FFF2-40B4-BE49-F238E27FC236}">
                <a16:creationId xmlns:a16="http://schemas.microsoft.com/office/drawing/2014/main" id="{099C7D15-D59A-1888-9962-098044EBC9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85E59200-DC76-AFC9-56C9-C9DEBA6C3D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A0BAD-76AE-2945-93CD-14EE370993AF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165599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lIns="91425" tIns="91425" rIns="91425" bIns="91425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19;p4">
            <a:extLst>
              <a:ext uri="{FF2B5EF4-FFF2-40B4-BE49-F238E27FC236}">
                <a16:creationId xmlns:a16="http://schemas.microsoft.com/office/drawing/2014/main" id="{2F7631B1-919D-917B-3F8A-EBF7934EF3E8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>
          <a:xfrm>
            <a:off x="8472488" y="6218238"/>
            <a:ext cx="549275" cy="523875"/>
          </a:xfrm>
        </p:spPr>
        <p:txBody>
          <a:bodyPr lIns="91425" tIns="91425" rIns="91425" bIns="91425" anchor="ctr">
            <a:noAutofit/>
          </a:bodyPr>
          <a:lstStyle>
            <a:lvl1pPr>
              <a:defRPr/>
            </a:lvl1pPr>
          </a:lstStyle>
          <a:p>
            <a:pPr>
              <a:defRPr/>
            </a:pPr>
            <a:fld id="{B63B6DF7-7FDF-5A4D-A64C-FD662ED4CAD6}" type="slidenum">
              <a:rPr lang="en-GB" altLang="da-DK"/>
              <a:pPr>
                <a:defRPr/>
              </a:pPr>
              <a:t>‹nr.›</a:t>
            </a:fld>
            <a:endParaRPr lang="en-GB" altLang="da-DK"/>
          </a:p>
        </p:txBody>
      </p:sp>
    </p:spTree>
    <p:extLst>
      <p:ext uri="{BB962C8B-B14F-4D97-AF65-F5344CB8AC3E}">
        <p14:creationId xmlns:p14="http://schemas.microsoft.com/office/powerpoint/2010/main" val="2235919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Freeform 2">
            <a:extLst>
              <a:ext uri="{FF2B5EF4-FFF2-40B4-BE49-F238E27FC236}">
                <a16:creationId xmlns:a16="http://schemas.microsoft.com/office/drawing/2014/main" id="{34BD60F1-CE2F-3034-98FA-1F8A3086D637}"/>
              </a:ext>
            </a:extLst>
          </p:cNvPr>
          <p:cNvSpPr>
            <a:spLocks/>
          </p:cNvSpPr>
          <p:nvPr/>
        </p:nvSpPr>
        <p:spPr bwMode="hidden">
          <a:xfrm>
            <a:off x="6627813" y="6429375"/>
            <a:ext cx="285750" cy="209550"/>
          </a:xfrm>
          <a:custGeom>
            <a:avLst/>
            <a:gdLst/>
            <a:ahLst/>
            <a:cxnLst>
              <a:cxn ang="0">
                <a:pos x="0" y="132"/>
              </a:cxn>
              <a:cxn ang="0">
                <a:pos x="29" y="132"/>
              </a:cxn>
              <a:cxn ang="0">
                <a:pos x="77" y="108"/>
              </a:cxn>
              <a:cxn ang="0">
                <a:pos x="119" y="78"/>
              </a:cxn>
              <a:cxn ang="0">
                <a:pos x="155" y="48"/>
              </a:cxn>
              <a:cxn ang="0">
                <a:pos x="179" y="12"/>
              </a:cxn>
              <a:cxn ang="0">
                <a:pos x="173" y="6"/>
              </a:cxn>
              <a:cxn ang="0">
                <a:pos x="167" y="0"/>
              </a:cxn>
              <a:cxn ang="0">
                <a:pos x="137" y="42"/>
              </a:cxn>
              <a:cxn ang="0">
                <a:pos x="101" y="78"/>
              </a:cxn>
              <a:cxn ang="0">
                <a:pos x="53" y="108"/>
              </a:cxn>
              <a:cxn ang="0">
                <a:pos x="0" y="132"/>
              </a:cxn>
              <a:cxn ang="0">
                <a:pos x="0" y="132"/>
              </a:cxn>
            </a:cxnLst>
            <a:rect l="0" t="0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87843"/>
                  <a:invGamma/>
                </a:schemeClr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da-DK">
              <a:latin typeface="Arial" charset="0"/>
              <a:ea typeface="+mn-ea"/>
            </a:endParaRPr>
          </a:p>
        </p:txBody>
      </p:sp>
      <p:grpSp>
        <p:nvGrpSpPr>
          <p:cNvPr id="1027" name="Group 3">
            <a:extLst>
              <a:ext uri="{FF2B5EF4-FFF2-40B4-BE49-F238E27FC236}">
                <a16:creationId xmlns:a16="http://schemas.microsoft.com/office/drawing/2014/main" id="{42A0A65E-14E4-DEE3-EF25-44F820DD4116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1033" name="Freeform 4">
              <a:extLst>
                <a:ext uri="{FF2B5EF4-FFF2-40B4-BE49-F238E27FC236}">
                  <a16:creationId xmlns:a16="http://schemas.microsoft.com/office/drawing/2014/main" id="{BAA76CAC-5432-E9C2-8601-6B6C4B58852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6265 w 5740"/>
                <a:gd name="T1" fmla="*/ 0 h 4316"/>
                <a:gd name="T2" fmla="*/ 0 w 5740"/>
                <a:gd name="T3" fmla="*/ 0 h 4316"/>
                <a:gd name="T4" fmla="*/ 0 w 5740"/>
                <a:gd name="T5" fmla="*/ 0 h 4316"/>
                <a:gd name="T6" fmla="*/ 6265 w 5740"/>
                <a:gd name="T7" fmla="*/ 0 h 4316"/>
                <a:gd name="T8" fmla="*/ 6265 w 5740"/>
                <a:gd name="T9" fmla="*/ 0 h 4316"/>
                <a:gd name="T10" fmla="*/ 6265 w 5740"/>
                <a:gd name="T11" fmla="*/ 0 h 43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grpSp>
          <p:nvGrpSpPr>
            <p:cNvPr id="1034" name="Group 5">
              <a:extLst>
                <a:ext uri="{FF2B5EF4-FFF2-40B4-BE49-F238E27FC236}">
                  <a16:creationId xmlns:a16="http://schemas.microsoft.com/office/drawing/2014/main" id="{2F54E496-ADAC-8CEC-3C41-7B78FD54818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232454" name="Oval 6">
                <a:extLst>
                  <a:ext uri="{FF2B5EF4-FFF2-40B4-BE49-F238E27FC236}">
                    <a16:creationId xmlns:a16="http://schemas.microsoft.com/office/drawing/2014/main" id="{C640AABC-1D9D-F5E7-F559-C3FAD8FDA8A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55" name="Oval 7">
                <a:extLst>
                  <a:ext uri="{FF2B5EF4-FFF2-40B4-BE49-F238E27FC236}">
                    <a16:creationId xmlns:a16="http://schemas.microsoft.com/office/drawing/2014/main" id="{6604AB48-0A31-E877-2AFA-EBB95D157A4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56" name="Oval 8">
                <a:extLst>
                  <a:ext uri="{FF2B5EF4-FFF2-40B4-BE49-F238E27FC236}">
                    <a16:creationId xmlns:a16="http://schemas.microsoft.com/office/drawing/2014/main" id="{77A0B121-C9C6-2879-6CD2-6C3C927ECAF7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57" name="Oval 9">
                <a:extLst>
                  <a:ext uri="{FF2B5EF4-FFF2-40B4-BE49-F238E27FC236}">
                    <a16:creationId xmlns:a16="http://schemas.microsoft.com/office/drawing/2014/main" id="{324952F7-216F-5715-BFB1-4F5ADE8E37AE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58" name="Oval 10">
                <a:extLst>
                  <a:ext uri="{FF2B5EF4-FFF2-40B4-BE49-F238E27FC236}">
                    <a16:creationId xmlns:a16="http://schemas.microsoft.com/office/drawing/2014/main" id="{C4CF6CD7-0F49-69E6-1D0B-B24BC7673D9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59" name="Freeform 11">
                <a:extLst>
                  <a:ext uri="{FF2B5EF4-FFF2-40B4-BE49-F238E27FC236}">
                    <a16:creationId xmlns:a16="http://schemas.microsoft.com/office/drawing/2014/main" id="{D9463637-86CB-129F-56D8-68719DD51D6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60" name="Freeform 12">
                <a:extLst>
                  <a:ext uri="{FF2B5EF4-FFF2-40B4-BE49-F238E27FC236}">
                    <a16:creationId xmlns:a16="http://schemas.microsoft.com/office/drawing/2014/main" id="{2D43E74B-245A-B166-D341-AC2DA6E5560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61" name="Freeform 13">
                <a:extLst>
                  <a:ext uri="{FF2B5EF4-FFF2-40B4-BE49-F238E27FC236}">
                    <a16:creationId xmlns:a16="http://schemas.microsoft.com/office/drawing/2014/main" id="{699335CC-2D0F-D358-875B-44DB1A0C1DC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62" name="Freeform 14">
                <a:extLst>
                  <a:ext uri="{FF2B5EF4-FFF2-40B4-BE49-F238E27FC236}">
                    <a16:creationId xmlns:a16="http://schemas.microsoft.com/office/drawing/2014/main" id="{56E76AFE-60D9-EA1E-589A-2D3547CADF6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63" name="Freeform 15">
                <a:extLst>
                  <a:ext uri="{FF2B5EF4-FFF2-40B4-BE49-F238E27FC236}">
                    <a16:creationId xmlns:a16="http://schemas.microsoft.com/office/drawing/2014/main" id="{621BDA70-3EDD-D458-4B4E-15889FB1A41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64" name="Oval 16">
                <a:extLst>
                  <a:ext uri="{FF2B5EF4-FFF2-40B4-BE49-F238E27FC236}">
                    <a16:creationId xmlns:a16="http://schemas.microsoft.com/office/drawing/2014/main" id="{82F1E967-069B-558E-BDBF-326495CD732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</p:grpSp>
        <p:grpSp>
          <p:nvGrpSpPr>
            <p:cNvPr id="1035" name="Group 17">
              <a:extLst>
                <a:ext uri="{FF2B5EF4-FFF2-40B4-BE49-F238E27FC236}">
                  <a16:creationId xmlns:a16="http://schemas.microsoft.com/office/drawing/2014/main" id="{03AD5A1C-EBE8-1582-D28B-08430051F66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232466" name="Oval 18">
                <a:extLst>
                  <a:ext uri="{FF2B5EF4-FFF2-40B4-BE49-F238E27FC236}">
                    <a16:creationId xmlns:a16="http://schemas.microsoft.com/office/drawing/2014/main" id="{212EC498-9EED-0D66-81F6-F13376CCA1D7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67" name="Oval 19">
                <a:extLst>
                  <a:ext uri="{FF2B5EF4-FFF2-40B4-BE49-F238E27FC236}">
                    <a16:creationId xmlns:a16="http://schemas.microsoft.com/office/drawing/2014/main" id="{3D9FF436-FC49-C11D-BCAE-61E7131F54E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68" name="Oval 20">
                <a:extLst>
                  <a:ext uri="{FF2B5EF4-FFF2-40B4-BE49-F238E27FC236}">
                    <a16:creationId xmlns:a16="http://schemas.microsoft.com/office/drawing/2014/main" id="{566F2274-98F7-8ADC-1C21-B099CDB4B69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69" name="Oval 21">
                <a:extLst>
                  <a:ext uri="{FF2B5EF4-FFF2-40B4-BE49-F238E27FC236}">
                    <a16:creationId xmlns:a16="http://schemas.microsoft.com/office/drawing/2014/main" id="{BE599E27-B283-4F81-04D2-1B923759D7D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70" name="Oval 22">
                <a:extLst>
                  <a:ext uri="{FF2B5EF4-FFF2-40B4-BE49-F238E27FC236}">
                    <a16:creationId xmlns:a16="http://schemas.microsoft.com/office/drawing/2014/main" id="{8A987DE2-D74C-06FC-E1FA-875336ADC44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71" name="Oval 23">
                <a:extLst>
                  <a:ext uri="{FF2B5EF4-FFF2-40B4-BE49-F238E27FC236}">
                    <a16:creationId xmlns:a16="http://schemas.microsoft.com/office/drawing/2014/main" id="{1E90B184-7340-7908-9AA7-92A2BC1C1EA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72" name="Oval 24">
                <a:extLst>
                  <a:ext uri="{FF2B5EF4-FFF2-40B4-BE49-F238E27FC236}">
                    <a16:creationId xmlns:a16="http://schemas.microsoft.com/office/drawing/2014/main" id="{84717A38-6B38-B7E5-BAD0-9A69D6C43FE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73" name="Oval 25">
                <a:extLst>
                  <a:ext uri="{FF2B5EF4-FFF2-40B4-BE49-F238E27FC236}">
                    <a16:creationId xmlns:a16="http://schemas.microsoft.com/office/drawing/2014/main" id="{4F382D02-8FBF-FB5D-12B9-A62772FF7E5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74" name="Freeform 26">
                <a:extLst>
                  <a:ext uri="{FF2B5EF4-FFF2-40B4-BE49-F238E27FC236}">
                    <a16:creationId xmlns:a16="http://schemas.microsoft.com/office/drawing/2014/main" id="{24488618-BE5D-AA24-6C53-45BCBE05EF9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75" name="Freeform 27">
                <a:extLst>
                  <a:ext uri="{FF2B5EF4-FFF2-40B4-BE49-F238E27FC236}">
                    <a16:creationId xmlns:a16="http://schemas.microsoft.com/office/drawing/2014/main" id="{D705F916-929B-AF41-6815-C11868C6338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76" name="Freeform 28">
                <a:extLst>
                  <a:ext uri="{FF2B5EF4-FFF2-40B4-BE49-F238E27FC236}">
                    <a16:creationId xmlns:a16="http://schemas.microsoft.com/office/drawing/2014/main" id="{8D048671-814D-4E2E-8E96-70DBF2C637F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77" name="Freeform 29">
                <a:extLst>
                  <a:ext uri="{FF2B5EF4-FFF2-40B4-BE49-F238E27FC236}">
                    <a16:creationId xmlns:a16="http://schemas.microsoft.com/office/drawing/2014/main" id="{E0143070-BFAE-3D30-06D1-D27FD2ADB6E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1079" name="Freeform 30">
                <a:extLst>
                  <a:ext uri="{FF2B5EF4-FFF2-40B4-BE49-F238E27FC236}">
                    <a16:creationId xmlns:a16="http://schemas.microsoft.com/office/drawing/2014/main" id="{2BB2993C-4EE2-A08E-0011-723995EC727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80" name="Freeform 31">
                <a:extLst>
                  <a:ext uri="{FF2B5EF4-FFF2-40B4-BE49-F238E27FC236}">
                    <a16:creationId xmlns:a16="http://schemas.microsoft.com/office/drawing/2014/main" id="{0ED0B29D-FDE6-7979-C045-2DA0DCD974E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32480" name="Freeform 32">
                <a:extLst>
                  <a:ext uri="{FF2B5EF4-FFF2-40B4-BE49-F238E27FC236}">
                    <a16:creationId xmlns:a16="http://schemas.microsoft.com/office/drawing/2014/main" id="{E8026E3F-76EF-78AB-6805-2AB1E274500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81" name="Freeform 33">
                <a:extLst>
                  <a:ext uri="{FF2B5EF4-FFF2-40B4-BE49-F238E27FC236}">
                    <a16:creationId xmlns:a16="http://schemas.microsoft.com/office/drawing/2014/main" id="{DCC6ABFD-38C6-1968-86A4-9328E9DCCC6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82" name="Freeform 34">
                <a:extLst>
                  <a:ext uri="{FF2B5EF4-FFF2-40B4-BE49-F238E27FC236}">
                    <a16:creationId xmlns:a16="http://schemas.microsoft.com/office/drawing/2014/main" id="{39880139-661A-34FD-1E66-3E98B4B00F4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1084" name="Freeform 35">
                <a:extLst>
                  <a:ext uri="{FF2B5EF4-FFF2-40B4-BE49-F238E27FC236}">
                    <a16:creationId xmlns:a16="http://schemas.microsoft.com/office/drawing/2014/main" id="{323495A1-E7A7-3718-138B-A218BAC7F39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  <p:grpSp>
          <p:nvGrpSpPr>
            <p:cNvPr id="1036" name="Group 36">
              <a:extLst>
                <a:ext uri="{FF2B5EF4-FFF2-40B4-BE49-F238E27FC236}">
                  <a16:creationId xmlns:a16="http://schemas.microsoft.com/office/drawing/2014/main" id="{4E08306F-3805-7411-ADB2-3E44AA6C5D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32485" name="Freeform 37">
                <a:extLst>
                  <a:ext uri="{FF2B5EF4-FFF2-40B4-BE49-F238E27FC236}">
                    <a16:creationId xmlns:a16="http://schemas.microsoft.com/office/drawing/2014/main" id="{C72D812B-4F31-5A19-27EB-14FA862DF4FA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86" name="Freeform 38">
                <a:extLst>
                  <a:ext uri="{FF2B5EF4-FFF2-40B4-BE49-F238E27FC236}">
                    <a16:creationId xmlns:a16="http://schemas.microsoft.com/office/drawing/2014/main" id="{B723A580-22DF-E231-A69D-42C1E6D7189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87" name="Freeform 39">
                <a:extLst>
                  <a:ext uri="{FF2B5EF4-FFF2-40B4-BE49-F238E27FC236}">
                    <a16:creationId xmlns:a16="http://schemas.microsoft.com/office/drawing/2014/main" id="{FCB8690D-D948-B620-87DE-D78C44BFD4A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88" name="Freeform 40">
                <a:extLst>
                  <a:ext uri="{FF2B5EF4-FFF2-40B4-BE49-F238E27FC236}">
                    <a16:creationId xmlns:a16="http://schemas.microsoft.com/office/drawing/2014/main" id="{4C1823BD-897B-5C95-491D-FE597EB9258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89" name="Freeform 41">
                <a:extLst>
                  <a:ext uri="{FF2B5EF4-FFF2-40B4-BE49-F238E27FC236}">
                    <a16:creationId xmlns:a16="http://schemas.microsoft.com/office/drawing/2014/main" id="{00051BD3-6407-5F9E-EC54-DAD17634ECF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90" name="Freeform 42">
                <a:extLst>
                  <a:ext uri="{FF2B5EF4-FFF2-40B4-BE49-F238E27FC236}">
                    <a16:creationId xmlns:a16="http://schemas.microsoft.com/office/drawing/2014/main" id="{EDC76E2A-D713-1E06-04DF-B3CFBF7AF7A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91" name="Freeform 43">
                <a:extLst>
                  <a:ext uri="{FF2B5EF4-FFF2-40B4-BE49-F238E27FC236}">
                    <a16:creationId xmlns:a16="http://schemas.microsoft.com/office/drawing/2014/main" id="{37F0E7C3-0298-29BF-3119-9A52C8BB591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1057" name="Freeform 44">
                <a:extLst>
                  <a:ext uri="{FF2B5EF4-FFF2-40B4-BE49-F238E27FC236}">
                    <a16:creationId xmlns:a16="http://schemas.microsoft.com/office/drawing/2014/main" id="{B03CEF5C-7F97-F0E7-D7EC-0C8D8C6A1AC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32493" name="Freeform 45">
                <a:extLst>
                  <a:ext uri="{FF2B5EF4-FFF2-40B4-BE49-F238E27FC236}">
                    <a16:creationId xmlns:a16="http://schemas.microsoft.com/office/drawing/2014/main" id="{5B5D587A-73F2-414C-21ED-902F586B3B9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94" name="Freeform 46">
                <a:extLst>
                  <a:ext uri="{FF2B5EF4-FFF2-40B4-BE49-F238E27FC236}">
                    <a16:creationId xmlns:a16="http://schemas.microsoft.com/office/drawing/2014/main" id="{CD3C552B-AD0C-0501-1303-FAB6BB6494F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95" name="Freeform 47">
                <a:extLst>
                  <a:ext uri="{FF2B5EF4-FFF2-40B4-BE49-F238E27FC236}">
                    <a16:creationId xmlns:a16="http://schemas.microsoft.com/office/drawing/2014/main" id="{CE6E3460-BD79-226A-1F99-5C19AA0F632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96" name="Oval 48">
                <a:extLst>
                  <a:ext uri="{FF2B5EF4-FFF2-40B4-BE49-F238E27FC236}">
                    <a16:creationId xmlns:a16="http://schemas.microsoft.com/office/drawing/2014/main" id="{C190B118-7DCF-A73B-C95B-DCBB588E553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97" name="Oval 49">
                <a:extLst>
                  <a:ext uri="{FF2B5EF4-FFF2-40B4-BE49-F238E27FC236}">
                    <a16:creationId xmlns:a16="http://schemas.microsoft.com/office/drawing/2014/main" id="{72B6B58F-8F87-5B34-D101-4CC4692379E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98" name="Oval 50">
                <a:extLst>
                  <a:ext uri="{FF2B5EF4-FFF2-40B4-BE49-F238E27FC236}">
                    <a16:creationId xmlns:a16="http://schemas.microsoft.com/office/drawing/2014/main" id="{608E82CC-3605-EE01-C1E2-80CF2697BAA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499" name="Oval 51">
                <a:extLst>
                  <a:ext uri="{FF2B5EF4-FFF2-40B4-BE49-F238E27FC236}">
                    <a16:creationId xmlns:a16="http://schemas.microsoft.com/office/drawing/2014/main" id="{FA64234A-E2F6-74D7-7123-818E2D4402A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500" name="Oval 52">
                <a:extLst>
                  <a:ext uri="{FF2B5EF4-FFF2-40B4-BE49-F238E27FC236}">
                    <a16:creationId xmlns:a16="http://schemas.microsoft.com/office/drawing/2014/main" id="{1A31FB36-C68C-A132-6E49-F0F2DF0D141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  <p:sp>
            <p:nvSpPr>
              <p:cNvPr id="232501" name="Oval 53">
                <a:extLst>
                  <a:ext uri="{FF2B5EF4-FFF2-40B4-BE49-F238E27FC236}">
                    <a16:creationId xmlns:a16="http://schemas.microsoft.com/office/drawing/2014/main" id="{1E901AE1-EADA-69D5-C3A6-79E9C71460E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da-DK">
                  <a:latin typeface="Arial" charset="0"/>
                  <a:ea typeface="+mn-ea"/>
                </a:endParaRPr>
              </a:p>
            </p:txBody>
          </p:sp>
        </p:grpSp>
        <p:grpSp>
          <p:nvGrpSpPr>
            <p:cNvPr id="1037" name="Group 54">
              <a:extLst>
                <a:ext uri="{FF2B5EF4-FFF2-40B4-BE49-F238E27FC236}">
                  <a16:creationId xmlns:a16="http://schemas.microsoft.com/office/drawing/2014/main" id="{A65F45B7-EFCF-936C-98AF-8E079041CD5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1038" name="Freeform 55">
                <a:extLst>
                  <a:ext uri="{FF2B5EF4-FFF2-40B4-BE49-F238E27FC236}">
                    <a16:creationId xmlns:a16="http://schemas.microsoft.com/office/drawing/2014/main" id="{97375E18-A524-33BA-3C4A-B06964FCFE9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37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37 w 382"/>
                  <a:gd name="T19" fmla="*/ 96 h 96"/>
                  <a:gd name="T20" fmla="*/ 291 w 382"/>
                  <a:gd name="T21" fmla="*/ 90 h 96"/>
                  <a:gd name="T22" fmla="*/ 339 w 382"/>
                  <a:gd name="T23" fmla="*/ 84 h 96"/>
                  <a:gd name="T24" fmla="*/ 380 w 382"/>
                  <a:gd name="T25" fmla="*/ 66 h 96"/>
                  <a:gd name="T26" fmla="*/ 410 w 382"/>
                  <a:gd name="T27" fmla="*/ 42 h 96"/>
                  <a:gd name="T28" fmla="*/ 404 w 382"/>
                  <a:gd name="T29" fmla="*/ 42 h 96"/>
                  <a:gd name="T30" fmla="*/ 374 w 382"/>
                  <a:gd name="T31" fmla="*/ 66 h 96"/>
                  <a:gd name="T32" fmla="*/ 333 w 382"/>
                  <a:gd name="T33" fmla="*/ 78 h 96"/>
                  <a:gd name="T34" fmla="*/ 291 w 382"/>
                  <a:gd name="T35" fmla="*/ 90 h 96"/>
                  <a:gd name="T36" fmla="*/ 237 w 382"/>
                  <a:gd name="T37" fmla="*/ 96 h 96"/>
                  <a:gd name="T38" fmla="*/ 237 w 382"/>
                  <a:gd name="T39" fmla="*/ 96 h 9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39" name="Freeform 56">
                <a:extLst>
                  <a:ext uri="{FF2B5EF4-FFF2-40B4-BE49-F238E27FC236}">
                    <a16:creationId xmlns:a16="http://schemas.microsoft.com/office/drawing/2014/main" id="{4E155A8D-BFCB-7048-B997-AC3B9244E16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40" name="Freeform 57">
                <a:extLst>
                  <a:ext uri="{FF2B5EF4-FFF2-40B4-BE49-F238E27FC236}">
                    <a16:creationId xmlns:a16="http://schemas.microsoft.com/office/drawing/2014/main" id="{79F25A24-22E2-B652-F262-08225141DCF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41" name="Freeform 58">
                <a:extLst>
                  <a:ext uri="{FF2B5EF4-FFF2-40B4-BE49-F238E27FC236}">
                    <a16:creationId xmlns:a16="http://schemas.microsoft.com/office/drawing/2014/main" id="{1E01B454-8C86-933E-5196-DDE907F86BB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42" name="Freeform 59">
                <a:extLst>
                  <a:ext uri="{FF2B5EF4-FFF2-40B4-BE49-F238E27FC236}">
                    <a16:creationId xmlns:a16="http://schemas.microsoft.com/office/drawing/2014/main" id="{75F956A2-D588-EDAA-D683-3AC86AB397A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43" name="Freeform 60">
                <a:extLst>
                  <a:ext uri="{FF2B5EF4-FFF2-40B4-BE49-F238E27FC236}">
                    <a16:creationId xmlns:a16="http://schemas.microsoft.com/office/drawing/2014/main" id="{8ECEB722-B691-A3E3-858D-4A82B308D85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47 w 185"/>
                  <a:gd name="T5" fmla="*/ 36 h 210"/>
                  <a:gd name="T6" fmla="*/ 183 w 185"/>
                  <a:gd name="T7" fmla="*/ 72 h 210"/>
                  <a:gd name="T8" fmla="*/ 189 w 185"/>
                  <a:gd name="T9" fmla="*/ 90 h 210"/>
                  <a:gd name="T10" fmla="*/ 195 w 185"/>
                  <a:gd name="T11" fmla="*/ 114 h 210"/>
                  <a:gd name="T12" fmla="*/ 189 w 185"/>
                  <a:gd name="T13" fmla="*/ 138 h 210"/>
                  <a:gd name="T14" fmla="*/ 177 w 185"/>
                  <a:gd name="T15" fmla="*/ 162 h 210"/>
                  <a:gd name="T16" fmla="*/ 147 w 185"/>
                  <a:gd name="T17" fmla="*/ 180 h 210"/>
                  <a:gd name="T18" fmla="*/ 90 w 185"/>
                  <a:gd name="T19" fmla="*/ 198 h 210"/>
                  <a:gd name="T20" fmla="*/ 124 w 185"/>
                  <a:gd name="T21" fmla="*/ 210 h 210"/>
                  <a:gd name="T22" fmla="*/ 159 w 185"/>
                  <a:gd name="T23" fmla="*/ 192 h 210"/>
                  <a:gd name="T24" fmla="*/ 189 w 185"/>
                  <a:gd name="T25" fmla="*/ 168 h 210"/>
                  <a:gd name="T26" fmla="*/ 207 w 185"/>
                  <a:gd name="T27" fmla="*/ 144 h 210"/>
                  <a:gd name="T28" fmla="*/ 213 w 185"/>
                  <a:gd name="T29" fmla="*/ 114 h 210"/>
                  <a:gd name="T30" fmla="*/ 207 w 185"/>
                  <a:gd name="T31" fmla="*/ 90 h 210"/>
                  <a:gd name="T32" fmla="*/ 201 w 185"/>
                  <a:gd name="T33" fmla="*/ 66 h 210"/>
                  <a:gd name="T34" fmla="*/ 183 w 185"/>
                  <a:gd name="T35" fmla="*/ 48 h 210"/>
                  <a:gd name="T36" fmla="*/ 159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44" name="Freeform 61">
                <a:extLst>
                  <a:ext uri="{FF2B5EF4-FFF2-40B4-BE49-F238E27FC236}">
                    <a16:creationId xmlns:a16="http://schemas.microsoft.com/office/drawing/2014/main" id="{1189365F-C729-21E2-ED4B-E11821A4D8E1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grpSp>
            <p:nvGrpSpPr>
              <p:cNvPr id="1045" name="Group 62">
                <a:extLst>
                  <a:ext uri="{FF2B5EF4-FFF2-40B4-BE49-F238E27FC236}">
                    <a16:creationId xmlns:a16="http://schemas.microsoft.com/office/drawing/2014/main" id="{CCFAA4C6-536B-3ED3-5BBA-CFFCCF9A47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1046" name="Oval 63">
                  <a:extLst>
                    <a:ext uri="{FF2B5EF4-FFF2-40B4-BE49-F238E27FC236}">
                      <a16:creationId xmlns:a16="http://schemas.microsoft.com/office/drawing/2014/main" id="{20F4DA57-954C-F823-4AA1-A8E5CB8F2775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defRPr/>
                  </a:pPr>
                  <a:endParaRPr lang="da-DK" altLang="da-DK"/>
                </a:p>
              </p:txBody>
            </p:sp>
            <p:sp>
              <p:nvSpPr>
                <p:cNvPr id="1047" name="Oval 64">
                  <a:extLst>
                    <a:ext uri="{FF2B5EF4-FFF2-40B4-BE49-F238E27FC236}">
                      <a16:creationId xmlns:a16="http://schemas.microsoft.com/office/drawing/2014/main" id="{8A2127B2-DEA9-7939-8A18-E46465C42BA6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defRPr/>
                  </a:pPr>
                  <a:endParaRPr lang="da-DK" altLang="da-DK"/>
                </a:p>
              </p:txBody>
            </p:sp>
            <p:sp>
              <p:nvSpPr>
                <p:cNvPr id="1048" name="Oval 65">
                  <a:extLst>
                    <a:ext uri="{FF2B5EF4-FFF2-40B4-BE49-F238E27FC236}">
                      <a16:creationId xmlns:a16="http://schemas.microsoft.com/office/drawing/2014/main" id="{FBBA4C8E-514B-9FB0-809E-C0AA30FE535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defRPr/>
                  </a:pPr>
                  <a:endParaRPr lang="da-DK" altLang="da-DK"/>
                </a:p>
              </p:txBody>
            </p:sp>
            <p:sp>
              <p:nvSpPr>
                <p:cNvPr id="1049" name="Oval 66">
                  <a:extLst>
                    <a:ext uri="{FF2B5EF4-FFF2-40B4-BE49-F238E27FC236}">
                      <a16:creationId xmlns:a16="http://schemas.microsoft.com/office/drawing/2014/main" id="{1C4FCD50-B0CD-1A9C-21A5-8FFB8994049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defRPr/>
                  </a:pPr>
                  <a:endParaRPr lang="da-DK" altLang="da-DK"/>
                </a:p>
              </p:txBody>
            </p:sp>
          </p:grpSp>
        </p:grpSp>
      </p:grpSp>
      <p:sp>
        <p:nvSpPr>
          <p:cNvPr id="232515" name="Rectangle 67">
            <a:extLst>
              <a:ext uri="{FF2B5EF4-FFF2-40B4-BE49-F238E27FC236}">
                <a16:creationId xmlns:a16="http://schemas.microsoft.com/office/drawing/2014/main" id="{B7FDB8AB-E255-98AC-540A-C50FEAB79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da-DK"/>
              <a:t>Klik for at redigere titeltypografi i masteren</a:t>
            </a:r>
          </a:p>
        </p:txBody>
      </p:sp>
      <p:sp>
        <p:nvSpPr>
          <p:cNvPr id="232516" name="Rectangle 68">
            <a:extLst>
              <a:ext uri="{FF2B5EF4-FFF2-40B4-BE49-F238E27FC236}">
                <a16:creationId xmlns:a16="http://schemas.microsoft.com/office/drawing/2014/main" id="{6970F06C-7278-6B62-D489-2968DCBC8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232517" name="Rectangle 69">
            <a:extLst>
              <a:ext uri="{FF2B5EF4-FFF2-40B4-BE49-F238E27FC236}">
                <a16:creationId xmlns:a16="http://schemas.microsoft.com/office/drawing/2014/main" id="{F1C20AC8-ABFA-0EB1-5F57-F46069BB40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232518" name="Rectangle 70">
            <a:extLst>
              <a:ext uri="{FF2B5EF4-FFF2-40B4-BE49-F238E27FC236}">
                <a16:creationId xmlns:a16="http://schemas.microsoft.com/office/drawing/2014/main" id="{C2D521D0-9163-F261-42D4-3DFABDEFA4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232519" name="Rectangle 71">
            <a:extLst>
              <a:ext uri="{FF2B5EF4-FFF2-40B4-BE49-F238E27FC236}">
                <a16:creationId xmlns:a16="http://schemas.microsoft.com/office/drawing/2014/main" id="{35495779-7FD1-AE7C-6FAD-E1E265D3CE2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2B188D74-A0F1-D141-A696-E633BB96861C}" type="slidenum">
              <a:rPr lang="da-DK" altLang="da-DK"/>
              <a:pPr>
                <a:defRPr/>
              </a:pPr>
              <a:t>‹nr.›</a:t>
            </a:fld>
            <a:endParaRPr lang="da-DK" altLang="da-DK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248" r:id="rId1"/>
    <p:sldLayoutId id="2147484237" r:id="rId2"/>
    <p:sldLayoutId id="2147484238" r:id="rId3"/>
    <p:sldLayoutId id="2147484239" r:id="rId4"/>
    <p:sldLayoutId id="2147484240" r:id="rId5"/>
    <p:sldLayoutId id="2147484241" r:id="rId6"/>
    <p:sldLayoutId id="2147484242" r:id="rId7"/>
    <p:sldLayoutId id="2147484243" r:id="rId8"/>
    <p:sldLayoutId id="2147484244" r:id="rId9"/>
    <p:sldLayoutId id="2147484245" r:id="rId10"/>
    <p:sldLayoutId id="2147484246" r:id="rId11"/>
    <p:sldLayoutId id="2147484247" r:id="rId12"/>
    <p:sldLayoutId id="214748424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MS PGothic" panose="020B0600070205080204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anose="020B0600070205080204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anose="020B0600070205080204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anose="020B0600070205080204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anose="020B0600070205080204" pitchFamily="34" charset="-128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o.medicin.dk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071C-0F2E-1523-A7E9-A2CB327C9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2949681-7D90-CC4A-EDE7-F7CD0468535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752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da-DK" altLang="da-DK" sz="4400" b="1"/>
              <a:t>Lægemidler og nyren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C5CC2F0-3E5C-C83E-9CA8-5736BF16FB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4648200"/>
            <a:ext cx="8915400" cy="1752600"/>
          </a:xfrm>
        </p:spPr>
        <p:txBody>
          <a:bodyPr/>
          <a:lstStyle/>
          <a:p>
            <a:pPr eaLnBrk="1" hangingPunct="1">
              <a:defRPr/>
            </a:pPr>
            <a:r>
              <a:rPr lang="da-DK" altLang="da-DK" sz="2400"/>
              <a:t>Per Damkier, </a:t>
            </a:r>
          </a:p>
          <a:p>
            <a:pPr eaLnBrk="1" hangingPunct="1">
              <a:defRPr/>
            </a:pPr>
            <a:r>
              <a:rPr lang="da-DK" altLang="da-DK" sz="2400"/>
              <a:t>Professor, MD Ph.D.</a:t>
            </a:r>
          </a:p>
          <a:p>
            <a:pPr eaLnBrk="1" hangingPunct="1">
              <a:defRPr/>
            </a:pPr>
            <a:r>
              <a:rPr lang="da-DK" altLang="da-DK" sz="2400"/>
              <a:t>Dpt.of Clinical Chemistry &amp;  Pharmacology</a:t>
            </a:r>
          </a:p>
          <a:p>
            <a:pPr eaLnBrk="1" hangingPunct="1">
              <a:defRPr/>
            </a:pPr>
            <a:r>
              <a:rPr lang="da-DK" altLang="da-DK" sz="2400"/>
              <a:t>Odense University Hospital</a:t>
            </a:r>
          </a:p>
        </p:txBody>
      </p:sp>
    </p:spTree>
    <p:extLst>
      <p:ext uri="{BB962C8B-B14F-4D97-AF65-F5344CB8AC3E}">
        <p14:creationId xmlns:p14="http://schemas.microsoft.com/office/powerpoint/2010/main" val="123748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C5BF1-AC4F-1ABA-AF64-B39487CC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70-årig mand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4DFCB06-3276-0DEE-3173-6723688D4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4525963"/>
          </a:xfrm>
        </p:spPr>
        <p:txBody>
          <a:bodyPr/>
          <a:lstStyle/>
          <a:p>
            <a:pPr>
              <a:defRPr/>
            </a:pPr>
            <a:r>
              <a:rPr lang="da-DK" altLang="da-DK" sz="2400"/>
              <a:t>Sygehistorie med angst og depression</a:t>
            </a:r>
          </a:p>
          <a:p>
            <a:pPr>
              <a:defRPr/>
            </a:pPr>
            <a:r>
              <a:rPr lang="da-DK" altLang="da-DK" sz="2400"/>
              <a:t>Osteosynteret (hofte) efter faldtraume</a:t>
            </a:r>
          </a:p>
          <a:p>
            <a:pPr>
              <a:defRPr/>
            </a:pPr>
            <a:r>
              <a:rPr lang="da-DK" altLang="da-DK" sz="2400"/>
              <a:t>Du tilkaldes af aftenvagten som ikke kan komme i kontakt med patienten</a:t>
            </a:r>
          </a:p>
          <a:p>
            <a:pPr>
              <a:defRPr/>
            </a:pPr>
            <a:r>
              <a:rPr lang="da-DK" altLang="da-DK" sz="2400"/>
              <a:t>Medicinliste:</a:t>
            </a:r>
          </a:p>
          <a:p>
            <a:pPr lvl="3">
              <a:defRPr/>
            </a:pPr>
            <a:r>
              <a:rPr lang="da-DK" altLang="da-DK" sz="1600"/>
              <a:t>Morfin		30mg x 4</a:t>
            </a:r>
          </a:p>
          <a:p>
            <a:pPr lvl="3">
              <a:defRPr/>
            </a:pPr>
            <a:r>
              <a:rPr lang="da-DK" altLang="da-DK" sz="1600"/>
              <a:t>Paracetamol  	1g x 4</a:t>
            </a:r>
          </a:p>
          <a:p>
            <a:pPr lvl="3">
              <a:defRPr/>
            </a:pPr>
            <a:r>
              <a:rPr lang="da-DK" altLang="da-DK" sz="1600"/>
              <a:t>Citalopram		20mg x 1		</a:t>
            </a:r>
          </a:p>
          <a:p>
            <a:pPr lvl="3">
              <a:defRPr/>
            </a:pPr>
            <a:r>
              <a:rPr lang="da-DK" altLang="da-DK" sz="1600"/>
              <a:t>Diazepam 		5mg x 2</a:t>
            </a:r>
          </a:p>
          <a:p>
            <a:pPr lvl="3">
              <a:defRPr/>
            </a:pPr>
            <a:r>
              <a:rPr lang="da-DK" altLang="da-DK" sz="1600"/>
              <a:t>Enoxaparin		20mg x1</a:t>
            </a:r>
          </a:p>
          <a:p>
            <a:pPr>
              <a:defRPr/>
            </a:pPr>
            <a:r>
              <a:rPr lang="da-DK" altLang="da-DK" sz="2400"/>
              <a:t>Blodprøver (samme dag):</a:t>
            </a:r>
          </a:p>
          <a:p>
            <a:pPr lvl="3">
              <a:defRPr/>
            </a:pPr>
            <a:r>
              <a:rPr lang="da-DK" altLang="da-DK" sz="1800"/>
              <a:t>Na		132 mM (136-146)</a:t>
            </a:r>
          </a:p>
          <a:p>
            <a:pPr lvl="3">
              <a:defRPr/>
            </a:pPr>
            <a:r>
              <a:rPr lang="da-DK" altLang="da-DK" sz="1800"/>
              <a:t>K			4,9 mM (3,3-4,7) 		</a:t>
            </a:r>
          </a:p>
          <a:p>
            <a:pPr lvl="3">
              <a:defRPr/>
            </a:pPr>
            <a:r>
              <a:rPr lang="da-DK" altLang="da-DK" sz="1800"/>
              <a:t>eGFR		28 mL/min/1,73m2 (&gt;90)</a:t>
            </a:r>
          </a:p>
          <a:p>
            <a:pPr>
              <a:defRPr/>
            </a:pPr>
            <a:endParaRPr lang="da-DK" altLang="da-DK" sz="800"/>
          </a:p>
          <a:p>
            <a:pPr>
              <a:defRPr/>
            </a:pPr>
            <a:r>
              <a:rPr lang="da-DK" altLang="da-DK" sz="2400"/>
              <a:t>Hvad foregår der og hvad vil du gøre ved det?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66;p15">
            <a:extLst>
              <a:ext uri="{FF2B5EF4-FFF2-40B4-BE49-F238E27FC236}">
                <a16:creationId xmlns:a16="http://schemas.microsoft.com/office/drawing/2014/main" id="{8A7B6A16-1CF4-41AF-4AE6-A83740A3F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" y="2438400"/>
            <a:ext cx="9144000" cy="373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3050" tIns="183050" rIns="183050" bIns="18305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b="1"/>
              <a:t>At den studerende kan redegøre for: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da-DK" altLang="da-DK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1) Generelle principper for lægemiddeldosering ved nedsat nyrefunktion. Herunder redegøre og applicere disse principper for vigtige lægemidler hvor dette er klinisk relevant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2) Vigtige lægemidler som kan give anledning til nedsat nyrefunktion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3) Virkemåde og vigtige bivirkninger til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a. Systemiske glukokortikoider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b. Ciklosporin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c. Takrolimus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DCC9E0-E205-454D-9C77-3B8F78311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34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5" tIns="91425" rIns="91425" bIns="91425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da-DK" altLang="da-DK"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Målsætning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71;p16">
            <a:extLst>
              <a:ext uri="{FF2B5EF4-FFF2-40B4-BE49-F238E27FC236}">
                <a16:creationId xmlns:a16="http://schemas.microsoft.com/office/drawing/2014/main" id="{5CCACC98-5ACA-CF3C-7EF7-5360E899E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" y="963613"/>
            <a:ext cx="5646738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3050" tIns="183050" rIns="183050" bIns="18305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da-DK" sz="3600" b="1">
                <a:latin typeface="Montserrat" pitchFamily="2" charset="77"/>
                <a:sym typeface="Montserrat" pitchFamily="2" charset="77"/>
              </a:rPr>
              <a:t>Basal og Klinisk Farmakologi, 7. Udgave 2024</a:t>
            </a:r>
            <a:endParaRPr lang="da-DK" altLang="da-DK" sz="2400" b="1">
              <a:latin typeface="Montserrat" pitchFamily="2" charset="77"/>
              <a:sym typeface="Montserrat" pitchFamily="2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da-DK" altLang="da-DK" sz="2400" b="1">
              <a:latin typeface="Montserrat" pitchFamily="2" charset="77"/>
              <a:sym typeface="Montserrat" pitchFamily="2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da-DK" altLang="da-DK" sz="2400" b="1">
              <a:latin typeface="Montserrat" pitchFamily="2" charset="77"/>
              <a:sym typeface="Montserrat" pitchFamily="2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da-DK" altLang="da-DK" sz="2400" b="1">
              <a:latin typeface="Montserrat" pitchFamily="2" charset="77"/>
              <a:sym typeface="Montserrat" pitchFamily="2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a. Kapitel 71, p977-981 (Lægemidler og nyresygdom) 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b. Kapitel 47, p663-664 (NSAID)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c. Kapitel 21, p316-320 (ACE og ATII-hæmmere)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d. Kapitel 27, p417-419 (Glukokortikoider)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e. Kapitel 15, p237-240 (Ciklosporin, Takrolimus) </a:t>
            </a:r>
          </a:p>
        </p:txBody>
      </p:sp>
      <p:pic>
        <p:nvPicPr>
          <p:cNvPr id="11267" name="Picture 2">
            <a:extLst>
              <a:ext uri="{FF2B5EF4-FFF2-40B4-BE49-F238E27FC236}">
                <a16:creationId xmlns:a16="http://schemas.microsoft.com/office/drawing/2014/main" id="{EF162CC5-BF40-C7B0-6697-EA97B4B4E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188" y="0"/>
            <a:ext cx="3408362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71;p16">
            <a:extLst>
              <a:ext uri="{FF2B5EF4-FFF2-40B4-BE49-F238E27FC236}">
                <a16:creationId xmlns:a16="http://schemas.microsoft.com/office/drawing/2014/main" id="{B6BEC08B-8D29-7747-1552-0273379FD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" y="963613"/>
            <a:ext cx="5646738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3050" tIns="183050" rIns="183050" bIns="18305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da-DK" sz="3600" b="1">
                <a:latin typeface="Montserrat" pitchFamily="2" charset="77"/>
                <a:sym typeface="Montserrat" pitchFamily="2" charset="77"/>
              </a:rPr>
              <a:t>Basal og Klinisk Farmakologi, 6. Udgave 2019</a:t>
            </a:r>
            <a:endParaRPr lang="da-DK" altLang="da-DK" sz="2400" b="1">
              <a:latin typeface="Montserrat" pitchFamily="2" charset="77"/>
              <a:sym typeface="Montserrat" pitchFamily="2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da-DK" altLang="da-DK" sz="2400" b="1">
              <a:latin typeface="Montserrat" pitchFamily="2" charset="77"/>
              <a:sym typeface="Montserrat" pitchFamily="2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da-DK" altLang="da-DK" sz="2400" b="1">
              <a:latin typeface="Montserrat" pitchFamily="2" charset="77"/>
              <a:sym typeface="Montserrat" pitchFamily="2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da-DK" altLang="da-DK" sz="2400" b="1">
              <a:latin typeface="Montserrat" pitchFamily="2" charset="77"/>
              <a:sym typeface="Montserrat" pitchFamily="2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a. Kapitel 74, p1115-1118 (Lægemidler ved og nyresygdomme) 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b. Kapitel 49, p741-745 (NSAID)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c. Kapitel 22, p365-373 (ACE og ATII-hæmmere)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d. Kapitel 31, p508-513 (Glukokortikoider)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da-DK" sz="1800"/>
              <a:t>e. Kapitel 16, p273-276 (Ciklosporin, Takrolimus) </a:t>
            </a:r>
          </a:p>
        </p:txBody>
      </p:sp>
      <p:pic>
        <p:nvPicPr>
          <p:cNvPr id="13315" name="Billede 1" descr="Skærmbillede 2019-12-12 kl. 23.07.25.png">
            <a:extLst>
              <a:ext uri="{FF2B5EF4-FFF2-40B4-BE49-F238E27FC236}">
                <a16:creationId xmlns:a16="http://schemas.microsoft.com/office/drawing/2014/main" id="{3D6ED323-9FAC-8E87-8D67-44CDE23FD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75" y="0"/>
            <a:ext cx="3530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8607CE7-5851-6DF3-DA98-E8DFDBA4AB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743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da-DK" altLang="da-DK" sz="4400" b="1"/>
              <a:t>Dosering af lægemidler ved nedsat nyrefunktion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6E8D6-5D41-A446-C9F0-B9AFAB4D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Elimination af lægemidler</a:t>
            </a:r>
          </a:p>
        </p:txBody>
      </p:sp>
      <p:pic>
        <p:nvPicPr>
          <p:cNvPr id="16387" name="Pladsholder til indhold 3" descr="Skærmbillede 2019-01-01 kl. 21.09.18.png">
            <a:extLst>
              <a:ext uri="{FF2B5EF4-FFF2-40B4-BE49-F238E27FC236}">
                <a16:creationId xmlns:a16="http://schemas.microsoft.com/office/drawing/2014/main" id="{B481E875-6664-045E-DD54-B7DD91483C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51" r="-9511"/>
          <a:stretch>
            <a:fillRect/>
          </a:stretch>
        </p:blipFill>
        <p:spPr>
          <a:xfrm>
            <a:off x="2669828" y="1905000"/>
            <a:ext cx="3804344" cy="38862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B1D6-D96E-9CE9-05D9-B7F7CF20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Regulatorisk</a:t>
            </a:r>
          </a:p>
        </p:txBody>
      </p:sp>
      <p:pic>
        <p:nvPicPr>
          <p:cNvPr id="17411" name="Content Placeholder 3">
            <a:extLst>
              <a:ext uri="{FF2B5EF4-FFF2-40B4-BE49-F238E27FC236}">
                <a16:creationId xmlns:a16="http://schemas.microsoft.com/office/drawing/2014/main" id="{3AEDF007-0ED3-889A-D0CB-795FD27ECC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19250"/>
            <a:ext cx="8229600" cy="4487863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0DCA17-DDE1-52A5-25F9-CA0C32A7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Nyrefunktionen over tid</a:t>
            </a:r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958BC1FE-6CB6-F60B-8BF0-FBF3876CD9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600200"/>
            <a:ext cx="74676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7032-7432-7A1E-A9BD-EE4F28351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 dirty="0"/>
              <a:t>Nyrefunktionspåvirkning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15848-72DF-3D03-004F-D29A8CBD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da-DK" altLang="da-DK" dirty="0" err="1"/>
              <a:t>eGFR</a:t>
            </a:r>
            <a:r>
              <a:rPr lang="da-DK" altLang="da-DK" dirty="0"/>
              <a:t>: </a:t>
            </a:r>
            <a:r>
              <a:rPr lang="da-DK" altLang="da-DK" sz="2400" i="1" dirty="0"/>
              <a:t>estimeret </a:t>
            </a:r>
            <a:r>
              <a:rPr lang="da-DK" altLang="da-DK" sz="2400" i="1" dirty="0" err="1"/>
              <a:t>glomerulær</a:t>
            </a:r>
            <a:r>
              <a:rPr lang="da-DK" altLang="da-DK" sz="2400" i="1" dirty="0"/>
              <a:t> filtrations rate</a:t>
            </a:r>
          </a:p>
          <a:p>
            <a:pPr>
              <a:defRPr/>
            </a:pPr>
            <a:r>
              <a:rPr lang="da-DK" altLang="da-DK" dirty="0"/>
              <a:t>Beregnet værdi ved bestemmelse af s-</a:t>
            </a:r>
            <a:r>
              <a:rPr lang="da-DK" altLang="da-DK" dirty="0" err="1"/>
              <a:t>kreatinin</a:t>
            </a:r>
            <a:r>
              <a:rPr lang="da-DK" altLang="da-DK" dirty="0"/>
              <a:t>: algoritme med køn og alder</a:t>
            </a:r>
          </a:p>
          <a:p>
            <a:pPr>
              <a:defRPr/>
            </a:pPr>
            <a:r>
              <a:rPr lang="da-DK" altLang="da-DK" dirty="0"/>
              <a:t>God </a:t>
            </a:r>
            <a:r>
              <a:rPr lang="da-DK" altLang="da-DK" dirty="0" err="1"/>
              <a:t>estimator</a:t>
            </a:r>
            <a:r>
              <a:rPr lang="da-DK" altLang="da-DK" dirty="0"/>
              <a:t> i klinisk praksis</a:t>
            </a:r>
          </a:p>
          <a:p>
            <a:pPr>
              <a:defRPr/>
            </a:pPr>
            <a:r>
              <a:rPr lang="da-DK" altLang="da-DK" dirty="0"/>
              <a:t>Mindre pålidelig</a:t>
            </a:r>
          </a:p>
          <a:p>
            <a:pPr lvl="1">
              <a:defRPr/>
            </a:pPr>
            <a:r>
              <a:rPr lang="da-DK" altLang="da-DK" dirty="0"/>
              <a:t>Lavt BMI; afvigende muskelmasse</a:t>
            </a:r>
          </a:p>
          <a:p>
            <a:pPr lvl="1">
              <a:defRPr/>
            </a:pPr>
            <a:r>
              <a:rPr lang="da-DK" altLang="da-DK" dirty="0"/>
              <a:t>Ekstremt lavt eller højt proteinindtag</a:t>
            </a:r>
          </a:p>
          <a:p>
            <a:pPr lvl="1">
              <a:defRPr/>
            </a:pPr>
            <a:r>
              <a:rPr lang="da-DK" altLang="da-DK" dirty="0"/>
              <a:t>Hurtige ændringer i nyrefunktionen</a:t>
            </a:r>
          </a:p>
          <a:p>
            <a:pPr>
              <a:defRPr/>
            </a:pPr>
            <a:r>
              <a:rPr lang="da-DK" altLang="da-DK" dirty="0"/>
              <a:t>Tvivlstilfælde: bestem </a:t>
            </a:r>
            <a:r>
              <a:rPr lang="da-DK" altLang="da-DK" dirty="0" err="1"/>
              <a:t>kreatininclearance</a:t>
            </a:r>
            <a:endParaRPr lang="da-DK" altLang="da-DK" dirty="0"/>
          </a:p>
          <a:p>
            <a:pPr>
              <a:defRPr/>
            </a:pPr>
            <a:endParaRPr lang="da-DK" altLang="da-DK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0602F2E-997E-2C2D-0BBA-E17A30E54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da-DK"/>
              <a:t>Kronisk nyrefunktionspåvirkning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A339198-675E-8310-9D37-2614FCAFE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pPr>
              <a:defRPr/>
            </a:pPr>
            <a:r>
              <a:rPr lang="en-GB" altLang="da-DK"/>
              <a:t>Fysiologisk</a:t>
            </a:r>
          </a:p>
          <a:p>
            <a:pPr lvl="1">
              <a:defRPr/>
            </a:pPr>
            <a:r>
              <a:rPr lang="en-GB" altLang="da-DK"/>
              <a:t>Nyrefunktionen falder fra ca. 40-års alderen</a:t>
            </a:r>
          </a:p>
          <a:p>
            <a:pPr lvl="1">
              <a:defRPr/>
            </a:pPr>
            <a:r>
              <a:rPr lang="en-GB" altLang="da-DK"/>
              <a:t>Ca. 10-12 mL/min per dekade</a:t>
            </a:r>
          </a:p>
          <a:p>
            <a:pPr lvl="1">
              <a:defRPr/>
            </a:pPr>
            <a:r>
              <a:rPr lang="en-GB" altLang="da-DK"/>
              <a:t>50% af 70+ årige har eGFR på &lt;60 ml/min</a:t>
            </a:r>
          </a:p>
          <a:p>
            <a:pPr>
              <a:defRPr/>
            </a:pPr>
            <a:r>
              <a:rPr lang="en-GB" altLang="da-DK"/>
              <a:t>Kronisk sygdom</a:t>
            </a:r>
          </a:p>
          <a:p>
            <a:pPr lvl="1">
              <a:defRPr/>
            </a:pPr>
            <a:r>
              <a:rPr lang="en-GB" altLang="da-DK"/>
              <a:t>Diabetes</a:t>
            </a:r>
          </a:p>
          <a:p>
            <a:pPr lvl="1">
              <a:defRPr/>
            </a:pPr>
            <a:r>
              <a:rPr lang="en-GB" altLang="da-DK"/>
              <a:t>Hypertension</a:t>
            </a:r>
          </a:p>
          <a:p>
            <a:pPr lvl="1">
              <a:defRPr/>
            </a:pPr>
            <a:r>
              <a:rPr lang="en-GB" altLang="da-DK"/>
              <a:t>Arteriosklerose</a:t>
            </a:r>
          </a:p>
          <a:p>
            <a:pPr lvl="1">
              <a:defRPr/>
            </a:pPr>
            <a:r>
              <a:rPr lang="en-GB" altLang="da-DK"/>
              <a:t>Nyresygdomme (autoimmune)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D106F71-055D-ECD9-5A3E-6B0123A26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da-DK"/>
              <a:t>Akut nyrefunktionspåvirkning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39E0B0F-23B5-B9FA-2D29-08DA80F9A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752600"/>
            <a:ext cx="8991600" cy="4343400"/>
          </a:xfrm>
        </p:spPr>
        <p:txBody>
          <a:bodyPr/>
          <a:lstStyle/>
          <a:p>
            <a:pPr>
              <a:defRPr/>
            </a:pPr>
            <a:r>
              <a:rPr lang="en-GB" altLang="da-DK"/>
              <a:t>Prærenal</a:t>
            </a:r>
          </a:p>
          <a:p>
            <a:pPr lvl="1">
              <a:defRPr/>
            </a:pPr>
            <a:r>
              <a:rPr lang="en-GB" altLang="da-DK"/>
              <a:t>Dehydrering</a:t>
            </a:r>
          </a:p>
          <a:p>
            <a:pPr lvl="1">
              <a:defRPr/>
            </a:pPr>
            <a:r>
              <a:rPr lang="en-GB" altLang="da-DK"/>
              <a:t>Hypotension</a:t>
            </a:r>
          </a:p>
          <a:p>
            <a:pPr>
              <a:defRPr/>
            </a:pPr>
            <a:r>
              <a:rPr lang="en-GB" altLang="da-DK"/>
              <a:t>Renal</a:t>
            </a:r>
          </a:p>
          <a:p>
            <a:pPr lvl="1">
              <a:defRPr/>
            </a:pPr>
            <a:r>
              <a:rPr lang="en-GB" altLang="da-DK"/>
              <a:t>Akut tubulointerstitiel nefropati (ATIN)</a:t>
            </a:r>
          </a:p>
          <a:p>
            <a:pPr lvl="2">
              <a:defRPr/>
            </a:pPr>
            <a:r>
              <a:rPr lang="en-GB" altLang="da-DK"/>
              <a:t>Akut iskæmi (eller følge af prærenal påvirkning)</a:t>
            </a:r>
          </a:p>
          <a:p>
            <a:pPr lvl="2">
              <a:defRPr/>
            </a:pPr>
            <a:r>
              <a:rPr lang="en-GB" altLang="da-DK"/>
              <a:t>Toksisk påvirkning</a:t>
            </a:r>
          </a:p>
          <a:p>
            <a:pPr lvl="2">
              <a:defRPr/>
            </a:pPr>
            <a:r>
              <a:rPr lang="en-GB" altLang="da-DK"/>
              <a:t>Sjældne nyresygdomme</a:t>
            </a:r>
          </a:p>
          <a:p>
            <a:pPr>
              <a:defRPr/>
            </a:pPr>
            <a:r>
              <a:rPr lang="en-GB" altLang="da-DK"/>
              <a:t>Postrenal</a:t>
            </a:r>
          </a:p>
          <a:p>
            <a:pPr lvl="1">
              <a:defRPr/>
            </a:pPr>
            <a:r>
              <a:rPr lang="en-GB" altLang="da-DK"/>
              <a:t>Prostatahypertrofi; urologisk cancer</a:t>
            </a:r>
          </a:p>
          <a:p>
            <a:pPr>
              <a:buFont typeface="Wingdings" pitchFamily="2" charset="2"/>
              <a:buNone/>
              <a:defRPr/>
            </a:pPr>
            <a:endParaRPr lang="en-GB" altLang="da-DK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71DB-BF4E-8824-4C49-1DABACEA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Klassifikation af nyrefunktionsnedsættelse</a:t>
            </a:r>
          </a:p>
        </p:txBody>
      </p:sp>
      <p:pic>
        <p:nvPicPr>
          <p:cNvPr id="22531" name="Content Placeholder 5">
            <a:extLst>
              <a:ext uri="{FF2B5EF4-FFF2-40B4-BE49-F238E27FC236}">
                <a16:creationId xmlns:a16="http://schemas.microsoft.com/office/drawing/2014/main" id="{D19376B4-43BD-FD67-3AA7-E28F5F14E5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0075" y="2538413"/>
            <a:ext cx="7943850" cy="264795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41AA9-1B0B-9451-04D7-0B1DFD83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80-årig kvinde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A06A6EF-F8E4-539D-7819-9CF2C0FD6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686800" cy="5334000"/>
          </a:xfrm>
        </p:spPr>
        <p:txBody>
          <a:bodyPr/>
          <a:lstStyle/>
          <a:p>
            <a:pPr>
              <a:defRPr/>
            </a:pPr>
            <a:r>
              <a:rPr lang="da-DK" altLang="da-DK" sz="2400"/>
              <a:t>Sygehistorie:</a:t>
            </a:r>
          </a:p>
          <a:p>
            <a:pPr lvl="1">
              <a:defRPr/>
            </a:pPr>
            <a:r>
              <a:rPr lang="da-DK" altLang="da-DK" sz="2000"/>
              <a:t>Stabil KOL, hypertension, let demens, kronisk neglesvamnp</a:t>
            </a:r>
          </a:p>
          <a:p>
            <a:pPr lvl="1">
              <a:defRPr/>
            </a:pPr>
            <a:r>
              <a:rPr lang="da-DK" altLang="da-DK" sz="2000"/>
              <a:t>Nu i behandling for herpes zoster udbrud. </a:t>
            </a:r>
          </a:p>
          <a:p>
            <a:pPr lvl="1">
              <a:defRPr/>
            </a:pPr>
            <a:r>
              <a:rPr lang="da-DK" altLang="da-DK" sz="2000"/>
              <a:t>Henvender sig med datteren i din praksis på grund af tiltagende konfusion og rastløshed </a:t>
            </a:r>
          </a:p>
          <a:p>
            <a:pPr>
              <a:defRPr/>
            </a:pPr>
            <a:r>
              <a:rPr lang="da-DK" altLang="da-DK" sz="2000"/>
              <a:t>Medicin</a:t>
            </a:r>
            <a:r>
              <a:rPr lang="en-US" altLang="da-DK" sz="2000"/>
              <a:t>:</a:t>
            </a:r>
          </a:p>
          <a:p>
            <a:pPr lvl="3">
              <a:defRPr/>
            </a:pPr>
            <a:r>
              <a:rPr lang="da-DK" altLang="da-DK" sz="1400"/>
              <a:t>Tiotropium	(inhaler)	18μg x 1		</a:t>
            </a:r>
          </a:p>
          <a:p>
            <a:pPr lvl="3">
              <a:defRPr/>
            </a:pPr>
            <a:r>
              <a:rPr lang="da-DK" altLang="da-DK" sz="1400"/>
              <a:t>Bendroflumethiazide/KCl 	2,5mg x 2</a:t>
            </a:r>
          </a:p>
          <a:p>
            <a:pPr lvl="3">
              <a:defRPr/>
            </a:pPr>
            <a:r>
              <a:rPr lang="da-DK" altLang="da-DK" sz="1400"/>
              <a:t>Aciclovir		800mg x 5</a:t>
            </a:r>
          </a:p>
          <a:p>
            <a:pPr lvl="3">
              <a:defRPr/>
            </a:pPr>
            <a:r>
              <a:rPr lang="da-DK" altLang="da-DK" sz="1400"/>
              <a:t>Donepezil 		5mg x 1</a:t>
            </a:r>
          </a:p>
          <a:p>
            <a:pPr lvl="3">
              <a:defRPr/>
            </a:pPr>
            <a:r>
              <a:rPr lang="da-DK" altLang="da-DK" sz="1400"/>
              <a:t>Fluconazol		400mg x 1</a:t>
            </a:r>
            <a:r>
              <a:rPr lang="da-DK" altLang="da-DK" sz="1800"/>
              <a:t>		</a:t>
            </a:r>
            <a:endParaRPr lang="da-DK" altLang="da-DK" sz="1200"/>
          </a:p>
          <a:p>
            <a:pPr>
              <a:defRPr/>
            </a:pPr>
            <a:r>
              <a:rPr lang="da-DK" altLang="da-DK" sz="2000"/>
              <a:t>Biokemi</a:t>
            </a:r>
          </a:p>
          <a:p>
            <a:pPr lvl="3">
              <a:defRPr/>
            </a:pPr>
            <a:r>
              <a:rPr lang="da-DK" altLang="da-DK" sz="1400"/>
              <a:t>Na			135 mM (136-146)</a:t>
            </a:r>
          </a:p>
          <a:p>
            <a:pPr lvl="3">
              <a:defRPr/>
            </a:pPr>
            <a:r>
              <a:rPr lang="da-DK" altLang="da-DK" sz="1400"/>
              <a:t>K			3,9 mM (3,3-4,7)</a:t>
            </a:r>
          </a:p>
          <a:p>
            <a:pPr lvl="3">
              <a:defRPr/>
            </a:pPr>
            <a:r>
              <a:rPr lang="da-DK" altLang="da-DK" sz="1400"/>
              <a:t>HBA1c		7,2 mM (5,4-7,3)</a:t>
            </a:r>
          </a:p>
          <a:p>
            <a:pPr lvl="3">
              <a:defRPr/>
            </a:pPr>
            <a:r>
              <a:rPr lang="da-DK" altLang="da-DK" sz="1400"/>
              <a:t>eGFR		24 mL/min/1,73m2 (&gt;90)</a:t>
            </a:r>
          </a:p>
          <a:p>
            <a:pPr lvl="3">
              <a:defRPr/>
            </a:pPr>
            <a:r>
              <a:rPr lang="da-DK" altLang="da-DK" sz="1400"/>
              <a:t>CRP		19 mg/L (&lt;10)</a:t>
            </a:r>
          </a:p>
          <a:p>
            <a:pPr>
              <a:defRPr/>
            </a:pPr>
            <a:r>
              <a:rPr lang="da-DK" altLang="da-DK" sz="2400"/>
              <a:t>Din tur!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A558-D092-F219-00E7-BA344F08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 sz="3600"/>
              <a:t>Vigtige lægemidler som kræver dosisjustering ved nyrepåvirkning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81FEEC-C50B-6626-03D9-7219B85F695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05000" y="1981200"/>
          <a:ext cx="5334000" cy="4848227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Lithium, digoxin, morfin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Atenolol, bisoprolol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Metformin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Dabigatran, Apixiban, Rivaroxaban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Enoxaparin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Aciclovir, flukonazol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Pregabalin, gabapentin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Aminoglykosider (ved mere end 3 dages behandling)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24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Visse antineoplastiske lægemidler (methotrexat)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A9E5F-63E2-D3D9-F9C9-67C99DB3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Dosisjustering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70BFDBA-407E-4B60-E0CC-1BB2DB929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I forhold til eGFR og rekommandationer (</a:t>
            </a:r>
            <a:r>
              <a:rPr lang="da-DK" altLang="da-DK">
                <a:hlinkClick r:id="rId2"/>
              </a:rPr>
              <a:t>www.pro.medicin.dk</a:t>
            </a:r>
            <a:r>
              <a:rPr lang="da-DK" altLang="da-DK"/>
              <a:t>) </a:t>
            </a:r>
          </a:p>
          <a:p>
            <a:pPr>
              <a:defRPr/>
            </a:pPr>
            <a:r>
              <a:rPr lang="da-DK" altLang="da-DK"/>
              <a:t>Forlænget doseringsinterval</a:t>
            </a:r>
          </a:p>
          <a:p>
            <a:pPr>
              <a:defRPr/>
            </a:pPr>
            <a:r>
              <a:rPr lang="da-DK" altLang="da-DK"/>
              <a:t>Bolusdosis uændret</a:t>
            </a:r>
          </a:p>
          <a:p>
            <a:pPr lvl="1">
              <a:defRPr/>
            </a:pPr>
            <a:r>
              <a:rPr lang="da-DK" altLang="da-DK"/>
              <a:t>(NB: Digoxin: noget nedsat fordelingsvolumen hos svært nyreinsufficiente)</a:t>
            </a:r>
          </a:p>
          <a:p>
            <a:pPr>
              <a:defRPr/>
            </a:pPr>
            <a:endParaRPr lang="da-DK" altLang="da-DK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36C559F-6848-5D0B-7B2C-DCCEF463AF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743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da-DK" altLang="da-DK" sz="4400" b="1"/>
              <a:t>Lægemidler som kan påvirke nyrefunktionen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B96E4-249E-EC90-2F5D-D1B504B4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Mekanismer</a:t>
            </a:r>
          </a:p>
        </p:txBody>
      </p:sp>
      <p:pic>
        <p:nvPicPr>
          <p:cNvPr id="27651" name="Content Placeholder 3">
            <a:extLst>
              <a:ext uri="{FF2B5EF4-FFF2-40B4-BE49-F238E27FC236}">
                <a16:creationId xmlns:a16="http://schemas.microsoft.com/office/drawing/2014/main" id="{9A722FF0-B57B-6814-1B2C-57B7567729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2213" y="1600200"/>
            <a:ext cx="6586537" cy="4648200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949C-ABCA-25A2-990D-A7F999D7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Risikofaktorer</a:t>
            </a:r>
          </a:p>
        </p:txBody>
      </p:sp>
      <p:pic>
        <p:nvPicPr>
          <p:cNvPr id="28675" name="Content Placeholder 3">
            <a:extLst>
              <a:ext uri="{FF2B5EF4-FFF2-40B4-BE49-F238E27FC236}">
                <a16:creationId xmlns:a16="http://schemas.microsoft.com/office/drawing/2014/main" id="{EFA17E76-E208-1FE4-05DB-4D7F9A74C2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4575" y="1600200"/>
            <a:ext cx="7054850" cy="4525963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BECE-8B94-E8DE-A226-20A04AAD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 sz="3600"/>
              <a:t>Vigtige lægemidler som kan give nyrepåvirkning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7B3DD8-3D99-8BBC-66E9-698D93EBF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Prerenal</a:t>
            </a:r>
          </a:p>
          <a:p>
            <a:pPr lvl="1">
              <a:defRPr/>
            </a:pPr>
            <a:r>
              <a:rPr lang="da-DK" altLang="da-DK"/>
              <a:t>NSAID, Ciklosporin, Takrolimus, ACE/ATII, Diuretika</a:t>
            </a:r>
          </a:p>
          <a:p>
            <a:pPr>
              <a:defRPr/>
            </a:pPr>
            <a:r>
              <a:rPr lang="da-DK" altLang="da-DK"/>
              <a:t>Intrinsic</a:t>
            </a:r>
          </a:p>
          <a:p>
            <a:pPr lvl="1">
              <a:defRPr/>
            </a:pPr>
            <a:r>
              <a:rPr lang="da-DK" altLang="da-DK"/>
              <a:t>Aminoglykosider, visse kontrastmidler</a:t>
            </a:r>
          </a:p>
          <a:p>
            <a:pPr>
              <a:defRPr/>
            </a:pPr>
            <a:r>
              <a:rPr lang="da-DK" altLang="da-DK"/>
              <a:t>Obstruktivt</a:t>
            </a:r>
          </a:p>
          <a:p>
            <a:pPr lvl="1">
              <a:defRPr/>
            </a:pPr>
            <a:r>
              <a:rPr lang="da-DK" altLang="da-DK"/>
              <a:t>Methotrexat, aciclovir</a:t>
            </a:r>
          </a:p>
          <a:p>
            <a:pPr lvl="1">
              <a:defRPr/>
            </a:pPr>
            <a:r>
              <a:rPr lang="da-DK" altLang="da-DK"/>
              <a:t>Statiner (rhabdomyolysis)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E1E1-874B-6BAC-DA0D-DAF9DFC6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 sz="3600"/>
              <a:t>Prerenalt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6661BB-20A5-44E8-EC74-2D168482A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4525963"/>
          </a:xfrm>
        </p:spPr>
        <p:txBody>
          <a:bodyPr/>
          <a:lstStyle/>
          <a:p>
            <a:pPr>
              <a:defRPr/>
            </a:pPr>
            <a:r>
              <a:rPr lang="da-DK" altLang="da-DK"/>
              <a:t>NSAID</a:t>
            </a:r>
          </a:p>
          <a:p>
            <a:pPr lvl="1">
              <a:defRPr/>
            </a:pPr>
            <a:r>
              <a:rPr lang="da-DK" altLang="da-DK"/>
              <a:t>Hæmmer prostaglandiner som medierer afferent renal vasodilatation</a:t>
            </a:r>
          </a:p>
          <a:p>
            <a:pPr lvl="1">
              <a:defRPr/>
            </a:pPr>
            <a:r>
              <a:rPr lang="da-DK" altLang="da-DK"/>
              <a:t>Prostgandinsyntesen er øget ved:</a:t>
            </a:r>
          </a:p>
          <a:p>
            <a:pPr lvl="2">
              <a:defRPr/>
            </a:pPr>
            <a:r>
              <a:rPr lang="da-DK" altLang="da-DK"/>
              <a:t>Alder, hjertesvigt, hypovolæmi, kronisk nyrepåvirkning</a:t>
            </a:r>
          </a:p>
          <a:p>
            <a:pPr lvl="1">
              <a:defRPr/>
            </a:pPr>
            <a:r>
              <a:rPr lang="da-DK" altLang="da-DK"/>
              <a:t>Direkte toksisk skade </a:t>
            </a:r>
          </a:p>
          <a:p>
            <a:pPr lvl="1">
              <a:defRPr/>
            </a:pPr>
            <a:r>
              <a:rPr lang="da-DK" altLang="da-DK"/>
              <a:t>1-5%; typisk en tidlig påvirkning</a:t>
            </a:r>
          </a:p>
          <a:p>
            <a:pPr>
              <a:defRPr/>
            </a:pPr>
            <a:r>
              <a:rPr lang="da-DK" altLang="da-DK"/>
              <a:t>Ciklosporin, Takrolimus </a:t>
            </a:r>
          </a:p>
          <a:p>
            <a:pPr lvl="1">
              <a:defRPr/>
            </a:pPr>
            <a:r>
              <a:rPr lang="da-DK" altLang="da-DK"/>
              <a:t>Preglomerulær arteriolær vasokonstriktion</a:t>
            </a:r>
          </a:p>
          <a:p>
            <a:pPr>
              <a:defRPr/>
            </a:pPr>
            <a:r>
              <a:rPr lang="da-DK" altLang="da-DK"/>
              <a:t>Typisk reversible ændringer</a:t>
            </a:r>
          </a:p>
          <a:p>
            <a:pPr>
              <a:buFont typeface="Wingdings" pitchFamily="2" charset="2"/>
              <a:buNone/>
              <a:defRPr/>
            </a:pPr>
            <a:endParaRPr lang="da-DK" altLang="da-DK"/>
          </a:p>
          <a:p>
            <a:pPr lvl="1">
              <a:defRPr/>
            </a:pPr>
            <a:endParaRPr lang="da-DK" altLang="da-DK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8652-00D3-B25C-EE81-F81A5AACA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 sz="3600"/>
              <a:t>Prerenalt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D7E842-1B04-7E38-DC06-0DBC971B3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ACE/ATII </a:t>
            </a:r>
          </a:p>
          <a:p>
            <a:pPr lvl="1">
              <a:defRPr/>
            </a:pPr>
            <a:r>
              <a:rPr lang="da-DK" altLang="da-DK"/>
              <a:t>Tilstande med nedsat intraglomerulær perfusionstryk</a:t>
            </a:r>
          </a:p>
          <a:p>
            <a:pPr lvl="2">
              <a:defRPr/>
            </a:pPr>
            <a:r>
              <a:rPr lang="da-DK" altLang="da-DK"/>
              <a:t>Hypovolæmi, hjertesvigt, nyrearteriestenose,</a:t>
            </a:r>
          </a:p>
          <a:p>
            <a:pPr lvl="2">
              <a:defRPr/>
            </a:pPr>
            <a:r>
              <a:rPr lang="da-DK" altLang="da-DK"/>
              <a:t>Prærenale vasokonstriktorer: NSAID, cicklosporin, takrolimus</a:t>
            </a:r>
          </a:p>
          <a:p>
            <a:pPr lvl="1">
              <a:defRPr/>
            </a:pPr>
            <a:r>
              <a:rPr lang="da-DK" altLang="da-DK"/>
              <a:t>Efferent arterioletryk er øget af angiotensin</a:t>
            </a:r>
          </a:p>
          <a:p>
            <a:pPr lvl="2">
              <a:defRPr/>
            </a:pPr>
            <a:r>
              <a:rPr lang="da-DK" altLang="da-DK"/>
              <a:t>Ved blokering af denne fysiologisk kompensation falder perfusionstrykket</a:t>
            </a:r>
          </a:p>
          <a:p>
            <a:pPr lvl="2">
              <a:defRPr/>
            </a:pPr>
            <a:r>
              <a:rPr lang="da-DK" altLang="da-DK"/>
              <a:t>Nedsat GFR</a:t>
            </a:r>
          </a:p>
          <a:p>
            <a:pPr lvl="1">
              <a:defRPr/>
            </a:pPr>
            <a:endParaRPr lang="da-DK" altLang="da-DK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DC78-0694-503A-C019-EC74820F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 sz="3600" dirty="0"/>
              <a:t>ACE/ATII og </a:t>
            </a:r>
            <a:r>
              <a:rPr lang="da-DK" altLang="da-DK" sz="3600" dirty="0" err="1"/>
              <a:t>eGFR</a:t>
            </a:r>
            <a:endParaRPr lang="da-DK" altLang="da-DK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564D46-7265-D90B-4A54-ECF6D9628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da-DK" altLang="da-DK" dirty="0"/>
              <a:t>ACE/ATII </a:t>
            </a:r>
          </a:p>
          <a:p>
            <a:pPr lvl="1">
              <a:defRPr/>
            </a:pPr>
            <a:r>
              <a:rPr lang="da-DK" altLang="da-DK" dirty="0"/>
              <a:t>Let/moderat nedsat </a:t>
            </a:r>
            <a:r>
              <a:rPr lang="da-DK" altLang="da-DK" dirty="0" err="1"/>
              <a:t>eGFR</a:t>
            </a:r>
            <a:r>
              <a:rPr lang="da-DK" altLang="da-DK" dirty="0"/>
              <a:t> er IKKE en kontraindikation</a:t>
            </a:r>
          </a:p>
          <a:p>
            <a:pPr lvl="1">
              <a:defRPr/>
            </a:pPr>
            <a:r>
              <a:rPr lang="da-DK" altLang="da-DK" dirty="0"/>
              <a:t>Fald i </a:t>
            </a:r>
            <a:r>
              <a:rPr lang="da-DK" altLang="da-DK" dirty="0" err="1"/>
              <a:t>eGFR</a:t>
            </a:r>
            <a:r>
              <a:rPr lang="da-DK" altLang="da-DK" dirty="0"/>
              <a:t> er forventeligt</a:t>
            </a:r>
          </a:p>
          <a:p>
            <a:pPr lvl="1">
              <a:defRPr/>
            </a:pPr>
            <a:r>
              <a:rPr lang="da-DK" altLang="da-DK" dirty="0"/>
              <a:t>Kontrol efter initiering</a:t>
            </a:r>
          </a:p>
          <a:p>
            <a:pPr lvl="1">
              <a:defRPr/>
            </a:pPr>
            <a:r>
              <a:rPr lang="da-DK" altLang="da-DK" dirty="0"/>
              <a:t>Ved vedvarende ændringer &gt;30%</a:t>
            </a:r>
          </a:p>
          <a:p>
            <a:pPr lvl="1">
              <a:defRPr/>
            </a:pPr>
            <a:r>
              <a:rPr lang="da-DK" altLang="da-DK" dirty="0"/>
              <a:t>Dosisreduktion/</a:t>
            </a:r>
            <a:r>
              <a:rPr lang="da-DK" altLang="da-DK" dirty="0" err="1"/>
              <a:t>seponering</a:t>
            </a:r>
            <a:endParaRPr lang="da-DK" altLang="da-DK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5394-CDB2-4797-5B56-C8CDA644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Specifikke mekanismer</a:t>
            </a:r>
          </a:p>
        </p:txBody>
      </p:sp>
      <p:pic>
        <p:nvPicPr>
          <p:cNvPr id="32771" name="Content Placeholder 3">
            <a:extLst>
              <a:ext uri="{FF2B5EF4-FFF2-40B4-BE49-F238E27FC236}">
                <a16:creationId xmlns:a16="http://schemas.microsoft.com/office/drawing/2014/main" id="{033ED047-61F6-0358-2615-C98721D71B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44650"/>
            <a:ext cx="8229600" cy="4437063"/>
          </a:xfr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49E5685E-773D-D7A1-6E02-E03E31C11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805113"/>
            <a:ext cx="4895850" cy="396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E288-F52C-4722-1EB4-2BF78FD0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 sz="3600"/>
              <a:t>Intrinsic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406F83-93C0-A3FF-12BF-0701E74C8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endParaRPr lang="da-DK" altLang="da-DK"/>
          </a:p>
          <a:p>
            <a:pPr marL="0" indent="0">
              <a:defRPr/>
            </a:pPr>
            <a:r>
              <a:rPr lang="da-DK" altLang="da-DK"/>
              <a:t>Aminoglykosider </a:t>
            </a:r>
          </a:p>
          <a:p>
            <a:pPr marL="0" indent="0">
              <a:defRPr/>
            </a:pPr>
            <a:endParaRPr lang="da-DK" altLang="da-DK"/>
          </a:p>
          <a:p>
            <a:pPr lvl="1">
              <a:defRPr/>
            </a:pPr>
            <a:r>
              <a:rPr lang="da-DK" altLang="da-DK"/>
              <a:t>Direkte epitelcelleskade i tubuli</a:t>
            </a:r>
          </a:p>
          <a:p>
            <a:pPr marL="0" indent="0">
              <a:defRPr/>
            </a:pPr>
            <a:endParaRPr lang="da-DK" altLang="da-DK"/>
          </a:p>
          <a:p>
            <a:pPr marL="0" indent="0">
              <a:defRPr/>
            </a:pPr>
            <a:r>
              <a:rPr lang="da-DK" altLang="da-DK"/>
              <a:t>Visse kontrastmidler</a:t>
            </a:r>
          </a:p>
          <a:p>
            <a:pPr marL="0" indent="0">
              <a:defRPr/>
            </a:pPr>
            <a:endParaRPr lang="da-DK" altLang="da-DK"/>
          </a:p>
          <a:p>
            <a:pPr lvl="1">
              <a:defRPr/>
            </a:pPr>
            <a:r>
              <a:rPr lang="da-DK" altLang="da-DK"/>
              <a:t>Tubulær nekrose og iskæmi</a:t>
            </a:r>
          </a:p>
          <a:p>
            <a:pPr marL="0" indent="0">
              <a:defRPr/>
            </a:pPr>
            <a:endParaRPr lang="da-DK" altLang="da-DK"/>
          </a:p>
          <a:p>
            <a:pPr marL="0" indent="0">
              <a:defRPr/>
            </a:pPr>
            <a:endParaRPr lang="da-DK" altLang="da-DK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B15A-06BE-E8A6-8636-DFC19CA3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 sz="3600"/>
              <a:t>Obstuktivt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0F91C3-36E6-A821-9B14-680BFB665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Methotrexat, aciclovir,statiner (rhabdomyolysis - myoglobin)</a:t>
            </a:r>
          </a:p>
          <a:p>
            <a:pPr lvl="1">
              <a:defRPr/>
            </a:pPr>
            <a:endParaRPr lang="da-DK" altLang="da-DK"/>
          </a:p>
          <a:p>
            <a:pPr lvl="1">
              <a:defRPr/>
            </a:pPr>
            <a:r>
              <a:rPr lang="da-DK" altLang="da-DK"/>
              <a:t>Lav opløselighed i urin</a:t>
            </a:r>
          </a:p>
          <a:p>
            <a:pPr lvl="1">
              <a:defRPr/>
            </a:pPr>
            <a:endParaRPr lang="da-DK" altLang="da-DK"/>
          </a:p>
          <a:p>
            <a:pPr lvl="1">
              <a:defRPr/>
            </a:pPr>
            <a:r>
              <a:rPr lang="da-DK" altLang="da-DK"/>
              <a:t>Krystallisering i distale tubuli</a:t>
            </a:r>
          </a:p>
          <a:p>
            <a:pPr lvl="1">
              <a:defRPr/>
            </a:pPr>
            <a:endParaRPr lang="da-DK" altLang="da-DK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7E800-887D-6A94-42DE-3B9BA15A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 sz="3600"/>
              <a:t>Vigtige lægemidler som kan give nyrepåvirkning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0E0273-1C97-CF66-082B-8C743165444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05000" y="1981200"/>
          <a:ext cx="5334000" cy="4848227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NSAID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ACE, ATII inhibitors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Lithium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Ciklosporin, tacrolimus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Diuretika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Aminoglycosider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Aciclovir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Statiner (sekundært til rhabdomyolyse)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24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altLang="da-DK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Methotrexat</a:t>
                      </a:r>
                      <a:endParaRPr kumimoji="0" lang="da-DK" altLang="da-DK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AA95406-0EE6-615B-6B6D-1BB850C2DE2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743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da-DK" altLang="da-DK" sz="4400" b="1"/>
              <a:t>Imunmodulerende lægemidler i nefrologi:</a:t>
            </a:r>
            <a:br>
              <a:rPr lang="da-DK" altLang="da-DK" sz="4400" b="1"/>
            </a:br>
            <a:r>
              <a:rPr lang="da-DK" altLang="da-DK" sz="2400" b="1"/>
              <a:t>Systemiske glukokortikoider</a:t>
            </a:r>
            <a:br>
              <a:rPr lang="da-DK" altLang="da-DK" sz="2400" b="1"/>
            </a:br>
            <a:r>
              <a:rPr lang="da-DK" altLang="da-DK" sz="2400" b="1"/>
              <a:t>Cicklosporin og tacrolimus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1">
            <a:extLst>
              <a:ext uri="{FF2B5EF4-FFF2-40B4-BE49-F238E27FC236}">
                <a16:creationId xmlns:a16="http://schemas.microsoft.com/office/drawing/2014/main" id="{7A16581F-1AC6-4494-0C4F-29A86F56B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virkningsmekanisme</a:t>
            </a:r>
          </a:p>
        </p:txBody>
      </p:sp>
      <p:pic>
        <p:nvPicPr>
          <p:cNvPr id="37891" name="Pladsholder til indhold 3" descr="virkningsmekanisme.png">
            <a:extLst>
              <a:ext uri="{FF2B5EF4-FFF2-40B4-BE49-F238E27FC236}">
                <a16:creationId xmlns:a16="http://schemas.microsoft.com/office/drawing/2014/main" id="{7C753307-2CD0-AE87-E8EB-D7BE8BA4BB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46" r="-2946"/>
          <a:stretch>
            <a:fillRect/>
          </a:stretch>
        </p:blipFill>
        <p:spPr>
          <a:xfrm>
            <a:off x="685800" y="1600200"/>
            <a:ext cx="8491538" cy="4495800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E44024F-9862-05F5-53A3-BFC8EB205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Inflammatoriske virkninger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C44B413-4365-EFFC-63DC-DF0E23E48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FF3300"/>
              </a:buClr>
              <a:defRPr/>
            </a:pPr>
            <a:r>
              <a:rPr lang="da-DK" altLang="da-DK"/>
              <a:t>Virkning på inflammatoriske mediatorer</a:t>
            </a:r>
          </a:p>
          <a:p>
            <a:pPr lvl="1">
              <a:buClr>
                <a:srgbClr val="FF3300"/>
              </a:buClr>
              <a:defRPr/>
            </a:pPr>
            <a:r>
              <a:rPr lang="da-DK" altLang="da-DK"/>
              <a:t>Nedsat syntese af prostanoider</a:t>
            </a:r>
          </a:p>
          <a:p>
            <a:pPr lvl="2">
              <a:buClr>
                <a:srgbClr val="FF3300"/>
              </a:buClr>
              <a:defRPr/>
            </a:pPr>
            <a:r>
              <a:rPr lang="da-DK" altLang="da-DK"/>
              <a:t>Thromboxaner, prostaglandiner, prostacycliner</a:t>
            </a:r>
          </a:p>
          <a:p>
            <a:pPr lvl="1">
              <a:buClr>
                <a:srgbClr val="FF3300"/>
              </a:buClr>
              <a:defRPr/>
            </a:pPr>
            <a:r>
              <a:rPr lang="da-DK" altLang="da-DK"/>
              <a:t>Nedsat dannelse af cytokiner</a:t>
            </a:r>
          </a:p>
          <a:p>
            <a:pPr lvl="2">
              <a:buClr>
                <a:srgbClr val="FF3300"/>
              </a:buClr>
              <a:defRPr/>
            </a:pPr>
            <a:r>
              <a:rPr lang="da-DK" altLang="da-DK"/>
              <a:t>IL-1,2,3,4,5,6,8, TNF</a:t>
            </a:r>
            <a:r>
              <a:rPr lang="el-GR" altLang="da-DK"/>
              <a:t>α</a:t>
            </a:r>
            <a:r>
              <a:rPr lang="da-DK" altLang="da-DK"/>
              <a:t>, Cell adhesion factors</a:t>
            </a:r>
            <a:endParaRPr lang="el-GR" altLang="da-DK"/>
          </a:p>
          <a:p>
            <a:pPr lvl="1">
              <a:buClr>
                <a:srgbClr val="FF3300"/>
              </a:buClr>
              <a:defRPr/>
            </a:pPr>
            <a:r>
              <a:rPr lang="da-DK" altLang="da-DK"/>
              <a:t>Øget dannelse af antiinflammatoriske faktorer</a:t>
            </a:r>
          </a:p>
          <a:p>
            <a:pPr lvl="2">
              <a:buClr>
                <a:srgbClr val="FF3300"/>
              </a:buClr>
              <a:defRPr/>
            </a:pPr>
            <a:r>
              <a:rPr lang="da-DK" altLang="da-DK"/>
              <a:t>IL-10, IL-1 soluble receptor annexin-1</a:t>
            </a:r>
          </a:p>
          <a:p>
            <a:pPr lvl="1">
              <a:buClr>
                <a:srgbClr val="FF3300"/>
              </a:buClr>
              <a:defRPr/>
            </a:pPr>
            <a:r>
              <a:rPr lang="da-DK" altLang="da-DK"/>
              <a:t>Nedsat dannelse af NO</a:t>
            </a:r>
          </a:p>
          <a:p>
            <a:pPr lvl="1">
              <a:buClr>
                <a:srgbClr val="FF3300"/>
              </a:buClr>
              <a:defRPr/>
            </a:pPr>
            <a:r>
              <a:rPr lang="da-DK" altLang="da-DK"/>
              <a:t>Nedsat histaminfrisættelse fra basofile granulocytter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A391870-A340-B8D1-42C9-E0BE58A44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Inflammatoriske virkninger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E42BD9F-70D1-B83C-691D-BEF0869D3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FF3300"/>
              </a:buClr>
              <a:defRPr/>
            </a:pPr>
            <a:r>
              <a:rPr lang="da-DK" altLang="da-DK"/>
              <a:t>Virkning på inflammatoriske celler</a:t>
            </a:r>
          </a:p>
          <a:p>
            <a:pPr lvl="1">
              <a:buClr>
                <a:srgbClr val="FF3300"/>
              </a:buClr>
              <a:defRPr/>
            </a:pPr>
            <a:r>
              <a:rPr lang="da-DK" altLang="da-DK"/>
              <a:t>Nedsat migration og aktivering af neutrofile granulocytter og makrofager (via reduktion af cell adhesion factors)</a:t>
            </a:r>
          </a:p>
          <a:p>
            <a:pPr lvl="1">
              <a:buClr>
                <a:srgbClr val="FF3300"/>
              </a:buClr>
              <a:defRPr/>
            </a:pPr>
            <a:r>
              <a:rPr lang="da-DK" altLang="da-DK"/>
              <a:t>Nedsat aktivering af T-h (via IL-2 reduktion)</a:t>
            </a:r>
          </a:p>
          <a:p>
            <a:pPr lvl="1">
              <a:buClr>
                <a:srgbClr val="FF3300"/>
              </a:buClr>
              <a:defRPr/>
            </a:pPr>
            <a:r>
              <a:rPr lang="da-DK" altLang="da-DK"/>
              <a:t>Nedsat fibroblastaktivitet</a:t>
            </a:r>
          </a:p>
          <a:p>
            <a:pPr lvl="1">
              <a:buClr>
                <a:srgbClr val="FF3300"/>
              </a:buClr>
              <a:defRPr/>
            </a:pPr>
            <a:r>
              <a:rPr lang="da-DK" altLang="da-DK"/>
              <a:t>Nedsat osteoblast og øget osteoklastfunktion </a:t>
            </a:r>
          </a:p>
          <a:p>
            <a:pPr lvl="1">
              <a:buClr>
                <a:srgbClr val="FF3300"/>
              </a:buClr>
              <a:defRPr/>
            </a:pPr>
            <a:endParaRPr lang="da-DK" altLang="da-DK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4DCD622-C2B9-1238-67F5-29EFCB75F2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Metaboliske Virkninger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AE61D13-C1F4-DC0A-E8A0-98CDBC2F4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/>
              <a:t>Proteinmetabolisme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Øget proteinmetabolisme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Hæmmet ekstrahepatisk proteinsyntese</a:t>
            </a:r>
          </a:p>
          <a:p>
            <a:pPr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/>
              <a:t>Kulhydratmetabolisme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Øget glukoneogenese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Hæmmet cellulær glukoseoptag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Påvirket insulinfølsomhed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3D67B29-0DDC-319F-3ECC-5D6C9F9B7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Metaboliske Virkninger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1342D38-39AB-A825-8663-684483DDE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/>
              <a:t>Lipidmetabolisme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Øget lipolyse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Trunkal redistribution af fedtdepoter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Moon face</a:t>
            </a:r>
          </a:p>
          <a:p>
            <a:pPr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/>
              <a:t>Calciummetabolisme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Nedsat intestinal absorption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Øget renal udskillelse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Øget knoglenedbrydning (via osteoklast/blast påvirkning)</a:t>
            </a:r>
          </a:p>
          <a:p>
            <a:pPr>
              <a:lnSpc>
                <a:spcPct val="90000"/>
              </a:lnSpc>
              <a:buClr>
                <a:srgbClr val="FF3300"/>
              </a:buClr>
              <a:defRPr/>
            </a:pPr>
            <a:endParaRPr lang="da-DK" altLang="da-DK"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D08F287-2D44-C675-CB82-2CFDA353C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Kortikosteroider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8139CE1-1732-D17D-8684-C1D78427B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800"/>
              <a:t>Bivirkninger ved systemisk administration</a:t>
            </a:r>
          </a:p>
          <a:p>
            <a:pPr lvl="1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400"/>
              <a:t>Systemiske</a:t>
            </a:r>
          </a:p>
          <a:p>
            <a:pPr lvl="2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000"/>
              <a:t>Cushingoide ændringer, HPA akse suppression, osteoporose, alopecia, hirsuisme, purpura/eccymoser, striae, steroid acne, hypertension, diabetogene effekter, katarakt</a:t>
            </a:r>
          </a:p>
          <a:p>
            <a:pPr lvl="2">
              <a:lnSpc>
                <a:spcPct val="90000"/>
              </a:lnSpc>
              <a:buClr>
                <a:srgbClr val="FF3300"/>
              </a:buClr>
              <a:defRPr/>
            </a:pPr>
            <a:r>
              <a:rPr lang="da-DK" altLang="da-DK" sz="2000"/>
              <a:t>(initialt ved højdosis: rastløshed, insomnia, irritabilitet, eufori, psykoser)</a:t>
            </a:r>
          </a:p>
          <a:p>
            <a:pPr lvl="2">
              <a:lnSpc>
                <a:spcPct val="90000"/>
              </a:lnSpc>
              <a:buClr>
                <a:srgbClr val="FF3300"/>
              </a:buClr>
              <a:buFontTx/>
              <a:buNone/>
              <a:defRPr/>
            </a:pPr>
            <a:endParaRPr lang="da-DK" altLang="da-DK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el 1">
            <a:extLst>
              <a:ext uri="{FF2B5EF4-FFF2-40B4-BE49-F238E27FC236}">
                <a16:creationId xmlns:a16="http://schemas.microsoft.com/office/drawing/2014/main" id="{0D3A41B0-1013-D56D-6EF6-6FF9B4CD4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defRPr/>
            </a:pPr>
            <a:r>
              <a:rPr lang="da-DK" altLang="da-DK"/>
              <a:t>Ciclosporin &amp; Tacrolimus</a:t>
            </a:r>
          </a:p>
        </p:txBody>
      </p:sp>
      <p:sp>
        <p:nvSpPr>
          <p:cNvPr id="44035" name="Pladsholder til indhold 2">
            <a:extLst>
              <a:ext uri="{FF2B5EF4-FFF2-40B4-BE49-F238E27FC236}">
                <a16:creationId xmlns:a16="http://schemas.microsoft.com/office/drawing/2014/main" id="{1C02E972-A400-C303-D20A-8DF84F68B3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Calcineurinhæmmere</a:t>
            </a:r>
          </a:p>
          <a:p>
            <a:pPr lvl="1">
              <a:defRPr/>
            </a:pPr>
            <a:r>
              <a:rPr lang="da-DK" altLang="da-DK" sz="2000"/>
              <a:t>Calcineurin er en cytoplasmatisk fosfatase</a:t>
            </a:r>
          </a:p>
          <a:p>
            <a:pPr lvl="1">
              <a:defRPr/>
            </a:pPr>
            <a:r>
              <a:rPr lang="da-DK" altLang="da-DK" sz="2000"/>
              <a:t>Katalyserer aktivering af NFAT (</a:t>
            </a:r>
            <a:r>
              <a:rPr lang="da-DK" altLang="da-DK" sz="2000" i="1"/>
              <a:t>nuclear factor of activated T-Lymphocytes</a:t>
            </a:r>
            <a:r>
              <a:rPr lang="da-DK" altLang="da-DK" sz="2000"/>
              <a:t>)</a:t>
            </a:r>
          </a:p>
          <a:p>
            <a:pPr lvl="1">
              <a:defRPr/>
            </a:pPr>
            <a:r>
              <a:rPr lang="da-DK" altLang="da-DK" sz="2000"/>
              <a:t>NFAT aktiver produktion af immunaktive molekyler ved binding til nukleært DNA</a:t>
            </a:r>
          </a:p>
          <a:p>
            <a:pPr lvl="2">
              <a:defRPr/>
            </a:pPr>
            <a:r>
              <a:rPr lang="da-DK" altLang="da-DK" sz="2000"/>
              <a:t>IL 2-3-4-5; TNF-alfa</a:t>
            </a:r>
          </a:p>
          <a:p>
            <a:pPr>
              <a:defRPr/>
            </a:pPr>
            <a:r>
              <a:rPr lang="da-DK" altLang="da-DK"/>
              <a:t>Ciclosporin</a:t>
            </a:r>
            <a:r>
              <a:rPr lang="da-DK" altLang="da-DK" sz="2000"/>
              <a:t> &amp; </a:t>
            </a:r>
            <a:r>
              <a:rPr lang="da-DK" altLang="da-DK"/>
              <a:t>tacrolimus</a:t>
            </a:r>
            <a:endParaRPr lang="da-DK" altLang="da-DK" sz="2000"/>
          </a:p>
          <a:p>
            <a:pPr lvl="1">
              <a:defRPr/>
            </a:pPr>
            <a:r>
              <a:rPr lang="da-DK" altLang="da-DK" sz="2000"/>
              <a:t>Essentielle inden for organtransplantation</a:t>
            </a:r>
          </a:p>
          <a:p>
            <a:pPr lvl="1">
              <a:defRPr/>
            </a:pPr>
            <a:r>
              <a:rPr lang="da-DK" altLang="da-DK" sz="2000"/>
              <a:t>Snævre terapeutiske intervaller</a:t>
            </a:r>
          </a:p>
          <a:p>
            <a:pPr lvl="1">
              <a:defRPr/>
            </a:pPr>
            <a:r>
              <a:rPr lang="da-DK" altLang="da-DK" sz="2000"/>
              <a:t>Finder anvendelse i andre sammenhænge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0F29C4B-7AB8-A946-E281-753245BCC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sz="3200" dirty="0" err="1"/>
              <a:t>Acute</a:t>
            </a:r>
            <a:r>
              <a:rPr lang="da-DK" sz="3200" dirty="0"/>
              <a:t> </a:t>
            </a:r>
            <a:r>
              <a:rPr lang="da-DK" sz="3200" dirty="0" err="1"/>
              <a:t>heart</a:t>
            </a:r>
            <a:r>
              <a:rPr lang="da-DK" sz="3200" dirty="0"/>
              <a:t> </a:t>
            </a:r>
            <a:r>
              <a:rPr lang="da-DK" sz="3200" dirty="0" err="1"/>
              <a:t>transplant</a:t>
            </a:r>
            <a:r>
              <a:rPr lang="da-DK" sz="3200" dirty="0"/>
              <a:t> </a:t>
            </a:r>
            <a:r>
              <a:rPr lang="da-DK" sz="3200" dirty="0" err="1"/>
              <a:t>rejection</a:t>
            </a:r>
            <a:r>
              <a:rPr lang="da-DK" sz="3200" dirty="0"/>
              <a:t> due to Saint John's </a:t>
            </a:r>
            <a:r>
              <a:rPr lang="da-DK" sz="3200" dirty="0" err="1"/>
              <a:t>wort</a:t>
            </a:r>
            <a:r>
              <a:rPr lang="da-DK" sz="3200" dirty="0"/>
              <a:t>. </a:t>
            </a:r>
            <a:br>
              <a:rPr lang="da-DK" sz="3200" dirty="0"/>
            </a:br>
            <a:r>
              <a:rPr lang="da-DK" sz="1800" i="1" dirty="0" err="1"/>
              <a:t>Ruschitzka</a:t>
            </a:r>
            <a:r>
              <a:rPr lang="da-DK" sz="1800" i="1" dirty="0"/>
              <a:t> F et al. Lancet 2000;355:548-9.</a:t>
            </a:r>
            <a:endParaRPr lang="da-DK" sz="3200" i="1" dirty="0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DBDE17FE-5CC3-9CBF-E206-5E6EAC6B3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8006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  <a:buFont typeface="Wingdings" charset="0"/>
              <a:buChar char="Ø"/>
              <a:defRPr/>
            </a:pPr>
            <a:endParaRPr lang="da-DK"/>
          </a:p>
        </p:txBody>
      </p:sp>
      <p:pic>
        <p:nvPicPr>
          <p:cNvPr id="45060" name="Picture 4" descr="Ciclosporin-hypericumFig">
            <a:extLst>
              <a:ext uri="{FF2B5EF4-FFF2-40B4-BE49-F238E27FC236}">
                <a16:creationId xmlns:a16="http://schemas.microsoft.com/office/drawing/2014/main" id="{5F4DD22B-8534-D892-345D-DA8F9C8D9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7620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el 1">
            <a:extLst>
              <a:ext uri="{FF2B5EF4-FFF2-40B4-BE49-F238E27FC236}">
                <a16:creationId xmlns:a16="http://schemas.microsoft.com/office/drawing/2014/main" id="{39779A19-24CA-A6FE-412A-F02D071D8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a-DK" altLang="da-DK"/>
              <a:t>Calcineurin hæmmere</a:t>
            </a:r>
          </a:p>
        </p:txBody>
      </p:sp>
      <p:sp>
        <p:nvSpPr>
          <p:cNvPr id="45059" name="Pladsholder til indhold 2">
            <a:extLst>
              <a:ext uri="{FF2B5EF4-FFF2-40B4-BE49-F238E27FC236}">
                <a16:creationId xmlns:a16="http://schemas.microsoft.com/office/drawing/2014/main" id="{82E12DBA-723E-3C65-989A-F9632BF64E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da-DK" altLang="da-DK"/>
          </a:p>
        </p:txBody>
      </p:sp>
      <p:pic>
        <p:nvPicPr>
          <p:cNvPr id="46084" name="Billede 3">
            <a:extLst>
              <a:ext uri="{FF2B5EF4-FFF2-40B4-BE49-F238E27FC236}">
                <a16:creationId xmlns:a16="http://schemas.microsoft.com/office/drawing/2014/main" id="{FF047D5E-279F-4C03-9233-FA8EDD641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05000"/>
            <a:ext cx="5657850" cy="425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el 1">
            <a:extLst>
              <a:ext uri="{FF2B5EF4-FFF2-40B4-BE49-F238E27FC236}">
                <a16:creationId xmlns:a16="http://schemas.microsoft.com/office/drawing/2014/main" id="{B43E3FA0-8FEC-1D29-054C-B8A9AD4FF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defRPr/>
            </a:pPr>
            <a:r>
              <a:rPr lang="da-DK" altLang="da-DK"/>
              <a:t>Ciclosporin &amp; Tacrolimus</a:t>
            </a:r>
          </a:p>
        </p:txBody>
      </p:sp>
      <p:sp>
        <p:nvSpPr>
          <p:cNvPr id="46083" name="Pladsholder til indhold 2">
            <a:extLst>
              <a:ext uri="{FF2B5EF4-FFF2-40B4-BE49-F238E27FC236}">
                <a16:creationId xmlns:a16="http://schemas.microsoft.com/office/drawing/2014/main" id="{25D075E9-75B4-DFC2-8691-41654C3B20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algn="ctr">
              <a:buFontTx/>
              <a:buNone/>
              <a:defRPr/>
            </a:pPr>
            <a:r>
              <a:rPr lang="da-DK" altLang="da-DK"/>
              <a:t>Hyppige og vigtige bivirkninger	</a:t>
            </a:r>
          </a:p>
          <a:p>
            <a:pPr>
              <a:defRPr/>
            </a:pPr>
            <a:r>
              <a:rPr lang="da-DK" altLang="da-DK"/>
              <a:t>Ciclosporin</a:t>
            </a:r>
          </a:p>
          <a:p>
            <a:pPr lvl="1">
              <a:defRPr/>
            </a:pPr>
            <a:r>
              <a:rPr lang="da-DK" altLang="da-DK"/>
              <a:t>Nyrepåvirkning, hypertension, hyperlipidæmi. Gingivitis, hirsuisme. Leverpåvirkning, GI-symptomer</a:t>
            </a:r>
          </a:p>
          <a:p>
            <a:pPr>
              <a:defRPr/>
            </a:pPr>
            <a:r>
              <a:rPr lang="da-DK" altLang="da-DK"/>
              <a:t>Tacrolimus </a:t>
            </a:r>
          </a:p>
          <a:p>
            <a:pPr lvl="1">
              <a:defRPr/>
            </a:pPr>
            <a:r>
              <a:rPr lang="da-DK" altLang="da-DK"/>
              <a:t>CNS symptomer. Nyrepåvirkning, elektrolytforstyrrelser. Hypertension, diabetes</a:t>
            </a:r>
          </a:p>
          <a:p>
            <a:pPr>
              <a:defRPr/>
            </a:pPr>
            <a:r>
              <a:rPr lang="da-DK" altLang="da-DK" i="1"/>
              <a:t>Interaktioner</a:t>
            </a:r>
          </a:p>
          <a:p>
            <a:pPr lvl="1">
              <a:defRPr/>
            </a:pPr>
            <a:r>
              <a:rPr lang="da-DK" altLang="da-DK"/>
              <a:t>Azoler, makrolider, carbamazepin, perikon, HMG-CoA hæmmere</a:t>
            </a:r>
          </a:p>
          <a:p>
            <a:pPr lvl="1">
              <a:defRPr/>
            </a:pPr>
            <a:endParaRPr lang="da-DK" altLang="da-DK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9" name="Rectangle 5">
            <a:extLst>
              <a:ext uri="{FF2B5EF4-FFF2-40B4-BE49-F238E27FC236}">
                <a16:creationId xmlns:a16="http://schemas.microsoft.com/office/drawing/2014/main" id="{8D5E36A7-2473-4BBA-EC36-9486FC71B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da-DK"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48131" name="Picture 4">
            <a:extLst>
              <a:ext uri="{FF2B5EF4-FFF2-40B4-BE49-F238E27FC236}">
                <a16:creationId xmlns:a16="http://schemas.microsoft.com/office/drawing/2014/main" id="{D2A78E26-8C6F-8F1A-A538-96800F574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54025"/>
            <a:ext cx="6477000" cy="588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ipple">
  <a:themeElements>
    <a:clrScheme name="Ripple 3">
      <a:dk1>
        <a:srgbClr val="008AE8"/>
      </a:dk1>
      <a:lt1>
        <a:srgbClr val="FFFFFF"/>
      </a:lt1>
      <a:dk2>
        <a:srgbClr val="0068AE"/>
      </a:dk2>
      <a:lt2>
        <a:srgbClr val="CCECFF"/>
      </a:lt2>
      <a:accent1>
        <a:srgbClr val="009999"/>
      </a:accent1>
      <a:accent2>
        <a:srgbClr val="0088E4"/>
      </a:accent2>
      <a:accent3>
        <a:srgbClr val="AAB9D3"/>
      </a:accent3>
      <a:accent4>
        <a:srgbClr val="DADADA"/>
      </a:accent4>
      <a:accent5>
        <a:srgbClr val="AACACA"/>
      </a:accent5>
      <a:accent6>
        <a:srgbClr val="007BCF"/>
      </a:accent6>
      <a:hlink>
        <a:srgbClr val="99FF99"/>
      </a:hlink>
      <a:folHlink>
        <a:srgbClr val="AFE1FF"/>
      </a:folHlink>
    </a:clrScheme>
    <a:fontScheme name="Ripp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ipple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0099FF"/>
        </a:accent1>
        <a:accent2>
          <a:srgbClr val="006699"/>
        </a:accent2>
        <a:accent3>
          <a:srgbClr val="AAACB1"/>
        </a:accent3>
        <a:accent4>
          <a:srgbClr val="DADADA"/>
        </a:accent4>
        <a:accent5>
          <a:srgbClr val="AACAFF"/>
        </a:accent5>
        <a:accent6>
          <a:srgbClr val="005C8A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6D9D97"/>
        </a:accent1>
        <a:accent2>
          <a:srgbClr val="53718C"/>
        </a:accent2>
        <a:accent3>
          <a:srgbClr val="B0B9C3"/>
        </a:accent3>
        <a:accent4>
          <a:srgbClr val="DADADA"/>
        </a:accent4>
        <a:accent5>
          <a:srgbClr val="BACCC9"/>
        </a:accent5>
        <a:accent6>
          <a:srgbClr val="4A667E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9999"/>
        </a:accent1>
        <a:accent2>
          <a:srgbClr val="0088E4"/>
        </a:accent2>
        <a:accent3>
          <a:srgbClr val="AAB9D3"/>
        </a:accent3>
        <a:accent4>
          <a:srgbClr val="DADADA"/>
        </a:accent4>
        <a:accent5>
          <a:srgbClr val="AACACA"/>
        </a:accent5>
        <a:accent6>
          <a:srgbClr val="007BCF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66CCFF"/>
        </a:accent1>
        <a:accent2>
          <a:srgbClr val="9966FF"/>
        </a:accent2>
        <a:accent3>
          <a:srgbClr val="B8B8CA"/>
        </a:accent3>
        <a:accent4>
          <a:srgbClr val="DADADA"/>
        </a:accent4>
        <a:accent5>
          <a:srgbClr val="B8E2FF"/>
        </a:accent5>
        <a:accent6>
          <a:srgbClr val="8A5CE7"/>
        </a:accent6>
        <a:hlink>
          <a:srgbClr val="0099CC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99FF"/>
        </a:accent1>
        <a:accent2>
          <a:srgbClr val="008080"/>
        </a:accent2>
        <a:accent3>
          <a:srgbClr val="AAB8B8"/>
        </a:accent3>
        <a:accent4>
          <a:srgbClr val="DADADA"/>
        </a:accent4>
        <a:accent5>
          <a:srgbClr val="AACAFF"/>
        </a:accent5>
        <a:accent6>
          <a:srgbClr val="007373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9CA8A4"/>
        </a:accent1>
        <a:accent2>
          <a:srgbClr val="CBD7CE"/>
        </a:accent2>
        <a:accent3>
          <a:srgbClr val="CEDAD1"/>
        </a:accent3>
        <a:accent4>
          <a:srgbClr val="DADADA"/>
        </a:accent4>
        <a:accent5>
          <a:srgbClr val="CBD1CF"/>
        </a:accent5>
        <a:accent6>
          <a:srgbClr val="B8C3BA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5D8770"/>
        </a:accent1>
        <a:accent2>
          <a:srgbClr val="686B5D"/>
        </a:accent2>
        <a:accent3>
          <a:srgbClr val="B3B3AF"/>
        </a:accent3>
        <a:accent4>
          <a:srgbClr val="BCBAB1"/>
        </a:accent4>
        <a:accent5>
          <a:srgbClr val="B6C3BB"/>
        </a:accent5>
        <a:accent6>
          <a:srgbClr val="5E6053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A4BCC4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CFDADE"/>
        </a:accent5>
        <a:accent6>
          <a:srgbClr val="E7E7E7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pple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FFCC66"/>
        </a:accent1>
        <a:accent2>
          <a:srgbClr val="E6E3AC"/>
        </a:accent2>
        <a:accent3>
          <a:srgbClr val="E8E5D9"/>
        </a:accent3>
        <a:accent4>
          <a:srgbClr val="000000"/>
        </a:accent4>
        <a:accent5>
          <a:srgbClr val="FFE2B8"/>
        </a:accent5>
        <a:accent6>
          <a:srgbClr val="D0CE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Ripple</Template>
  <TotalTime>10716</TotalTime>
  <Words>1262</Words>
  <Application>Microsoft Macintosh PowerPoint</Application>
  <PresentationFormat>Skærmshow (4:3)</PresentationFormat>
  <Paragraphs>249</Paragraphs>
  <Slides>39</Slides>
  <Notes>4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39</vt:i4>
      </vt:variant>
    </vt:vector>
  </HeadingPairs>
  <TitlesOfParts>
    <vt:vector size="46" baseType="lpstr">
      <vt:lpstr>Arial</vt:lpstr>
      <vt:lpstr>MS PGothic</vt:lpstr>
      <vt:lpstr>Wingdings</vt:lpstr>
      <vt:lpstr>Calibri</vt:lpstr>
      <vt:lpstr>Times New Roman</vt:lpstr>
      <vt:lpstr>Montserrat</vt:lpstr>
      <vt:lpstr>Ripple</vt:lpstr>
      <vt:lpstr>Lægemidler og nyren</vt:lpstr>
      <vt:lpstr>70-årig mand</vt:lpstr>
      <vt:lpstr>PowerPoint-præsentation</vt:lpstr>
      <vt:lpstr>PowerPoint-præsentation</vt:lpstr>
      <vt:lpstr>PowerPoint-præsentation</vt:lpstr>
      <vt:lpstr>Dosering af lægemidler ved nedsat nyrefunktion</vt:lpstr>
      <vt:lpstr>Elimination af lægemidler</vt:lpstr>
      <vt:lpstr>Regulatorisk</vt:lpstr>
      <vt:lpstr>Nyrefunktionen over tid</vt:lpstr>
      <vt:lpstr>Nyrefunktionspåvirkning</vt:lpstr>
      <vt:lpstr>Kronisk nyrefunktionspåvirkning</vt:lpstr>
      <vt:lpstr>Akut nyrefunktionspåvirkning</vt:lpstr>
      <vt:lpstr>Klassifikation af nyrefunktionsnedsættelse</vt:lpstr>
      <vt:lpstr>80-årig kvinde</vt:lpstr>
      <vt:lpstr>Vigtige lægemidler som kræver dosisjustering ved nyrepåvirkning</vt:lpstr>
      <vt:lpstr>Dosisjustering</vt:lpstr>
      <vt:lpstr>Lægemidler som kan påvirke nyrefunktionen</vt:lpstr>
      <vt:lpstr>Mekanismer</vt:lpstr>
      <vt:lpstr>Risikofaktorer</vt:lpstr>
      <vt:lpstr>Vigtige lægemidler som kan give nyrepåvirkning</vt:lpstr>
      <vt:lpstr>Prerenalt</vt:lpstr>
      <vt:lpstr>Prerenalt</vt:lpstr>
      <vt:lpstr>ACE/ATII og eGFR</vt:lpstr>
      <vt:lpstr>Specifikke mekanismer</vt:lpstr>
      <vt:lpstr>Intrinsic</vt:lpstr>
      <vt:lpstr>Obstuktivt</vt:lpstr>
      <vt:lpstr>Vigtige lægemidler som kan give nyrepåvirkning</vt:lpstr>
      <vt:lpstr>Imunmodulerende lægemidler i nefrologi: Systemiske glukokortikoider Cicklosporin og tacrolimus</vt:lpstr>
      <vt:lpstr>virkningsmekanisme</vt:lpstr>
      <vt:lpstr>Inflammatoriske virkninger</vt:lpstr>
      <vt:lpstr>Inflammatoriske virkninger</vt:lpstr>
      <vt:lpstr>Metaboliske Virkninger</vt:lpstr>
      <vt:lpstr>Metaboliske Virkninger</vt:lpstr>
      <vt:lpstr>Kortikosteroider</vt:lpstr>
      <vt:lpstr>Ciclosporin &amp; Tacrolimus</vt:lpstr>
      <vt:lpstr>Acute heart transplant rejection due to Saint John's wort.  Ruschitzka F et al. Lancet 2000;355:548-9.</vt:lpstr>
      <vt:lpstr>Calcineurin hæmmere</vt:lpstr>
      <vt:lpstr>Ciclosporin &amp; Tacrolimus</vt:lpstr>
      <vt:lpstr>PowerPoint-præsentation</vt:lpstr>
    </vt:vector>
  </TitlesOfParts>
  <Company>IMB Klinisk Farmakologi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Antidiabetika</dc:title>
  <dc:creator>Per Damkier</dc:creator>
  <cp:lastModifiedBy>Per Damkier</cp:lastModifiedBy>
  <cp:revision>349</cp:revision>
  <cp:lastPrinted>2012-03-21T11:42:58Z</cp:lastPrinted>
  <dcterms:created xsi:type="dcterms:W3CDTF">2012-03-22T04:09:10Z</dcterms:created>
  <dcterms:modified xsi:type="dcterms:W3CDTF">2025-01-15T05:31:44Z</dcterms:modified>
</cp:coreProperties>
</file>