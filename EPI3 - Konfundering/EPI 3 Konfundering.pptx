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2" r:id="rId1"/>
  </p:sldMasterIdLst>
  <p:notesMasterIdLst>
    <p:notesMasterId r:id="rId63"/>
  </p:notesMasterIdLst>
  <p:sldIdLst>
    <p:sldId id="256" r:id="rId2"/>
    <p:sldId id="257" r:id="rId3"/>
    <p:sldId id="333" r:id="rId4"/>
    <p:sldId id="303" r:id="rId5"/>
    <p:sldId id="342" r:id="rId6"/>
    <p:sldId id="260" r:id="rId7"/>
    <p:sldId id="344" r:id="rId8"/>
    <p:sldId id="343" r:id="rId9"/>
    <p:sldId id="340" r:id="rId10"/>
    <p:sldId id="262" r:id="rId11"/>
    <p:sldId id="258" r:id="rId12"/>
    <p:sldId id="263" r:id="rId13"/>
    <p:sldId id="314" r:id="rId14"/>
    <p:sldId id="345" r:id="rId15"/>
    <p:sldId id="328" r:id="rId16"/>
    <p:sldId id="335" r:id="rId17"/>
    <p:sldId id="265" r:id="rId18"/>
    <p:sldId id="326" r:id="rId19"/>
    <p:sldId id="325" r:id="rId20"/>
    <p:sldId id="346" r:id="rId21"/>
    <p:sldId id="339" r:id="rId22"/>
    <p:sldId id="337" r:id="rId23"/>
    <p:sldId id="332" r:id="rId24"/>
    <p:sldId id="334" r:id="rId25"/>
    <p:sldId id="338" r:id="rId26"/>
    <p:sldId id="348" r:id="rId27"/>
    <p:sldId id="298" r:id="rId28"/>
    <p:sldId id="329" r:id="rId29"/>
    <p:sldId id="300" r:id="rId30"/>
    <p:sldId id="304" r:id="rId31"/>
    <p:sldId id="330" r:id="rId32"/>
    <p:sldId id="331" r:id="rId33"/>
    <p:sldId id="309" r:id="rId34"/>
    <p:sldId id="336" r:id="rId35"/>
    <p:sldId id="310" r:id="rId36"/>
    <p:sldId id="302" r:id="rId37"/>
    <p:sldId id="301" r:id="rId38"/>
    <p:sldId id="312" r:id="rId39"/>
    <p:sldId id="313" r:id="rId40"/>
    <p:sldId id="271" r:id="rId41"/>
    <p:sldId id="273" r:id="rId42"/>
    <p:sldId id="317" r:id="rId43"/>
    <p:sldId id="274" r:id="rId44"/>
    <p:sldId id="311" r:id="rId45"/>
    <p:sldId id="279" r:id="rId46"/>
    <p:sldId id="323" r:id="rId47"/>
    <p:sldId id="322" r:id="rId48"/>
    <p:sldId id="280" r:id="rId49"/>
    <p:sldId id="275" r:id="rId50"/>
    <p:sldId id="276" r:id="rId51"/>
    <p:sldId id="277" r:id="rId52"/>
    <p:sldId id="318" r:id="rId53"/>
    <p:sldId id="319" r:id="rId54"/>
    <p:sldId id="283" r:id="rId55"/>
    <p:sldId id="320" r:id="rId56"/>
    <p:sldId id="321" r:id="rId57"/>
    <p:sldId id="294" r:id="rId58"/>
    <p:sldId id="305" r:id="rId59"/>
    <p:sldId id="296" r:id="rId60"/>
    <p:sldId id="306" r:id="rId61"/>
    <p:sldId id="324" r:id="rId62"/>
  </p:sldIdLst>
  <p:sldSz cx="9144000" cy="6858000" type="screen4x3"/>
  <p:notesSz cx="6858000" cy="9144000"/>
  <p:custDataLst>
    <p:tags r:id="rId64"/>
  </p:custDataLst>
  <p:defaultTextStyle>
    <a:defPPr>
      <a:defRPr lang="da-D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939103D-F8F4-4968-B364-DC2BFC8E86CA}" v="1876" dt="2026-02-24T09:07:40.74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llemlayout 2 - Markering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Ingen typografi, tabelgitter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8467" autoAdjust="0"/>
    <p:restoredTop sz="91784" autoAdjust="0"/>
  </p:normalViewPr>
  <p:slideViewPr>
    <p:cSldViewPr snapToGrid="0" snapToObjects="1">
      <p:cViewPr varScale="1">
        <p:scale>
          <a:sx n="90" d="100"/>
          <a:sy n="90" d="100"/>
        </p:scale>
        <p:origin x="2544" y="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notesMaster" Target="notesMasters/notesMaster1.xml"/><Relationship Id="rId68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viewProps" Target="viewProp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tags" Target="tags/tag1.xml"/><Relationship Id="rId69" Type="http://schemas.microsoft.com/office/2016/11/relationships/changesInfo" Target="changesInfos/changesInfo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ens-Jakob Kjer Møller" userId="ecba9b24-e9b5-4d68-b011-18c0f20b3743" providerId="ADAL" clId="{4F1D6A84-D2E5-4F56-BE72-1E35A7F53A76}"/>
    <pc:docChg chg="undo custSel addSld delSld modSld sldOrd">
      <pc:chgData name="Jens-Jakob Kjer Møller" userId="ecba9b24-e9b5-4d68-b011-18c0f20b3743" providerId="ADAL" clId="{4F1D6A84-D2E5-4F56-BE72-1E35A7F53A76}" dt="2026-01-07T13:50:01.716" v="1251"/>
      <pc:docMkLst>
        <pc:docMk/>
      </pc:docMkLst>
      <pc:sldChg chg="modSp mod modAnim">
        <pc:chgData name="Jens-Jakob Kjer Møller" userId="ecba9b24-e9b5-4d68-b011-18c0f20b3743" providerId="ADAL" clId="{4F1D6A84-D2E5-4F56-BE72-1E35A7F53A76}" dt="2026-01-07T13:35:10.799" v="963" actId="20577"/>
        <pc:sldMkLst>
          <pc:docMk/>
          <pc:sldMk cId="0" sldId="257"/>
        </pc:sldMkLst>
      </pc:sldChg>
      <pc:sldChg chg="del">
        <pc:chgData name="Jens-Jakob Kjer Møller" userId="ecba9b24-e9b5-4d68-b011-18c0f20b3743" providerId="ADAL" clId="{4F1D6A84-D2E5-4F56-BE72-1E35A7F53A76}" dt="2026-01-07T09:07:20.958" v="46" actId="2696"/>
        <pc:sldMkLst>
          <pc:docMk/>
          <pc:sldMk cId="0" sldId="265"/>
        </pc:sldMkLst>
      </pc:sldChg>
      <pc:sldChg chg="add">
        <pc:chgData name="Jens-Jakob Kjer Møller" userId="ecba9b24-e9b5-4d68-b011-18c0f20b3743" providerId="ADAL" clId="{4F1D6A84-D2E5-4F56-BE72-1E35A7F53A76}" dt="2026-01-07T09:07:25.083" v="47"/>
        <pc:sldMkLst>
          <pc:docMk/>
          <pc:sldMk cId="3505738813" sldId="265"/>
        </pc:sldMkLst>
      </pc:sldChg>
      <pc:sldChg chg="modSp">
        <pc:chgData name="Jens-Jakob Kjer Møller" userId="ecba9b24-e9b5-4d68-b011-18c0f20b3743" providerId="ADAL" clId="{4F1D6A84-D2E5-4F56-BE72-1E35A7F53A76}" dt="2026-01-07T10:28:23.189" v="401" actId="20577"/>
        <pc:sldMkLst>
          <pc:docMk/>
          <pc:sldMk cId="1082070366" sldId="300"/>
        </pc:sldMkLst>
      </pc:sldChg>
      <pc:sldChg chg="del">
        <pc:chgData name="Jens-Jakob Kjer Møller" userId="ecba9b24-e9b5-4d68-b011-18c0f20b3743" providerId="ADAL" clId="{4F1D6A84-D2E5-4F56-BE72-1E35A7F53A76}" dt="2026-01-07T11:47:34.744" v="464" actId="47"/>
        <pc:sldMkLst>
          <pc:docMk/>
          <pc:sldMk cId="1883132814" sldId="307"/>
        </pc:sldMkLst>
      </pc:sldChg>
      <pc:sldChg chg="del">
        <pc:chgData name="Jens-Jakob Kjer Møller" userId="ecba9b24-e9b5-4d68-b011-18c0f20b3743" providerId="ADAL" clId="{4F1D6A84-D2E5-4F56-BE72-1E35A7F53A76}" dt="2026-01-07T11:47:31.953" v="463" actId="47"/>
        <pc:sldMkLst>
          <pc:docMk/>
          <pc:sldMk cId="996560076" sldId="308"/>
        </pc:sldMkLst>
      </pc:sldChg>
      <pc:sldChg chg="del">
        <pc:chgData name="Jens-Jakob Kjer Møller" userId="ecba9b24-e9b5-4d68-b011-18c0f20b3743" providerId="ADAL" clId="{4F1D6A84-D2E5-4F56-BE72-1E35A7F53A76}" dt="2026-01-07T09:07:20.958" v="46" actId="2696"/>
        <pc:sldMkLst>
          <pc:docMk/>
          <pc:sldMk cId="290194333" sldId="314"/>
        </pc:sldMkLst>
      </pc:sldChg>
      <pc:sldChg chg="add">
        <pc:chgData name="Jens-Jakob Kjer Møller" userId="ecba9b24-e9b5-4d68-b011-18c0f20b3743" providerId="ADAL" clId="{4F1D6A84-D2E5-4F56-BE72-1E35A7F53A76}" dt="2026-01-07T09:07:25.083" v="47"/>
        <pc:sldMkLst>
          <pc:docMk/>
          <pc:sldMk cId="3586417872" sldId="314"/>
        </pc:sldMkLst>
      </pc:sldChg>
      <pc:sldChg chg="add">
        <pc:chgData name="Jens-Jakob Kjer Møller" userId="ecba9b24-e9b5-4d68-b011-18c0f20b3743" providerId="ADAL" clId="{4F1D6A84-D2E5-4F56-BE72-1E35A7F53A76}" dt="2026-01-07T09:07:25.083" v="47"/>
        <pc:sldMkLst>
          <pc:docMk/>
          <pc:sldMk cId="3130597921" sldId="325"/>
        </pc:sldMkLst>
      </pc:sldChg>
      <pc:sldChg chg="del">
        <pc:chgData name="Jens-Jakob Kjer Møller" userId="ecba9b24-e9b5-4d68-b011-18c0f20b3743" providerId="ADAL" clId="{4F1D6A84-D2E5-4F56-BE72-1E35A7F53A76}" dt="2026-01-07T09:07:20.958" v="46" actId="2696"/>
        <pc:sldMkLst>
          <pc:docMk/>
          <pc:sldMk cId="3552761050" sldId="325"/>
        </pc:sldMkLst>
      </pc:sldChg>
      <pc:sldChg chg="del">
        <pc:chgData name="Jens-Jakob Kjer Møller" userId="ecba9b24-e9b5-4d68-b011-18c0f20b3743" providerId="ADAL" clId="{4F1D6A84-D2E5-4F56-BE72-1E35A7F53A76}" dt="2026-01-07T09:07:20.958" v="46" actId="2696"/>
        <pc:sldMkLst>
          <pc:docMk/>
          <pc:sldMk cId="2530416177" sldId="326"/>
        </pc:sldMkLst>
      </pc:sldChg>
      <pc:sldChg chg="add">
        <pc:chgData name="Jens-Jakob Kjer Møller" userId="ecba9b24-e9b5-4d68-b011-18c0f20b3743" providerId="ADAL" clId="{4F1D6A84-D2E5-4F56-BE72-1E35A7F53A76}" dt="2026-01-07T09:07:25.083" v="47"/>
        <pc:sldMkLst>
          <pc:docMk/>
          <pc:sldMk cId="3865771091" sldId="326"/>
        </pc:sldMkLst>
      </pc:sldChg>
      <pc:sldChg chg="del">
        <pc:chgData name="Jens-Jakob Kjer Møller" userId="ecba9b24-e9b5-4d68-b011-18c0f20b3743" providerId="ADAL" clId="{4F1D6A84-D2E5-4F56-BE72-1E35A7F53A76}" dt="2026-01-07T11:47:47.421" v="465" actId="47"/>
        <pc:sldMkLst>
          <pc:docMk/>
          <pc:sldMk cId="1501626799" sldId="327"/>
        </pc:sldMkLst>
      </pc:sldChg>
      <pc:sldChg chg="modSp new mod ord">
        <pc:chgData name="Jens-Jakob Kjer Møller" userId="ecba9b24-e9b5-4d68-b011-18c0f20b3743" providerId="ADAL" clId="{4F1D6A84-D2E5-4F56-BE72-1E35A7F53A76}" dt="2026-01-07T09:07:47.170" v="49"/>
        <pc:sldMkLst>
          <pc:docMk/>
          <pc:sldMk cId="2435358786" sldId="328"/>
        </pc:sldMkLst>
      </pc:sldChg>
      <pc:sldChg chg="modSp add mod ord modAnim">
        <pc:chgData name="Jens-Jakob Kjer Møller" userId="ecba9b24-e9b5-4d68-b011-18c0f20b3743" providerId="ADAL" clId="{4F1D6A84-D2E5-4F56-BE72-1E35A7F53A76}" dt="2026-01-07T10:27:55.852" v="391"/>
        <pc:sldMkLst>
          <pc:docMk/>
          <pc:sldMk cId="1093009828" sldId="329"/>
        </pc:sldMkLst>
      </pc:sldChg>
      <pc:sldChg chg="new del">
        <pc:chgData name="Jens-Jakob Kjer Møller" userId="ecba9b24-e9b5-4d68-b011-18c0f20b3743" providerId="ADAL" clId="{4F1D6A84-D2E5-4F56-BE72-1E35A7F53A76}" dt="2026-01-07T10:18:04.296" v="50" actId="47"/>
        <pc:sldMkLst>
          <pc:docMk/>
          <pc:sldMk cId="1639175307" sldId="329"/>
        </pc:sldMkLst>
      </pc:sldChg>
      <pc:sldChg chg="addSp delSp modSp new mod">
        <pc:chgData name="Jens-Jakob Kjer Møller" userId="ecba9b24-e9b5-4d68-b011-18c0f20b3743" providerId="ADAL" clId="{4F1D6A84-D2E5-4F56-BE72-1E35A7F53A76}" dt="2026-01-07T10:34:55.567" v="461" actId="1076"/>
        <pc:sldMkLst>
          <pc:docMk/>
          <pc:sldMk cId="3006365484" sldId="330"/>
        </pc:sldMkLst>
      </pc:sldChg>
      <pc:sldChg chg="addSp delSp modSp add mod">
        <pc:chgData name="Jens-Jakob Kjer Møller" userId="ecba9b24-e9b5-4d68-b011-18c0f20b3743" providerId="ADAL" clId="{4F1D6A84-D2E5-4F56-BE72-1E35A7F53A76}" dt="2026-01-07T13:26:34.738" v="469" actId="22"/>
        <pc:sldMkLst>
          <pc:docMk/>
          <pc:sldMk cId="770097249" sldId="331"/>
        </pc:sldMkLst>
      </pc:sldChg>
      <pc:sldChg chg="addSp delSp modSp add mod delAnim modAnim">
        <pc:chgData name="Jens-Jakob Kjer Møller" userId="ecba9b24-e9b5-4d68-b011-18c0f20b3743" providerId="ADAL" clId="{4F1D6A84-D2E5-4F56-BE72-1E35A7F53A76}" dt="2026-01-07T13:49:40.847" v="1250" actId="478"/>
        <pc:sldMkLst>
          <pc:docMk/>
          <pc:sldMk cId="1459021750" sldId="332"/>
        </pc:sldMkLst>
      </pc:sldChg>
      <pc:sldChg chg="add del">
        <pc:chgData name="Jens-Jakob Kjer Møller" userId="ecba9b24-e9b5-4d68-b011-18c0f20b3743" providerId="ADAL" clId="{4F1D6A84-D2E5-4F56-BE72-1E35A7F53A76}" dt="2026-01-07T13:30:35.042" v="531" actId="47"/>
        <pc:sldMkLst>
          <pc:docMk/>
          <pc:sldMk cId="1296778161" sldId="333"/>
        </pc:sldMkLst>
      </pc:sldChg>
      <pc:sldChg chg="add">
        <pc:chgData name="Jens-Jakob Kjer Møller" userId="ecba9b24-e9b5-4d68-b011-18c0f20b3743" providerId="ADAL" clId="{4F1D6A84-D2E5-4F56-BE72-1E35A7F53A76}" dt="2026-01-07T13:30:39.810" v="532" actId="2890"/>
        <pc:sldMkLst>
          <pc:docMk/>
          <pc:sldMk cId="1994008968" sldId="333"/>
        </pc:sldMkLst>
      </pc:sldChg>
      <pc:sldChg chg="add">
        <pc:chgData name="Jens-Jakob Kjer Møller" userId="ecba9b24-e9b5-4d68-b011-18c0f20b3743" providerId="ADAL" clId="{4F1D6A84-D2E5-4F56-BE72-1E35A7F53A76}" dt="2026-01-07T13:50:01.716" v="1251"/>
        <pc:sldMkLst>
          <pc:docMk/>
          <pc:sldMk cId="1200669383" sldId="334"/>
        </pc:sldMkLst>
      </pc:sldChg>
    </pc:docChg>
  </pc:docChgLst>
  <pc:docChgLst>
    <pc:chgData name="Jens-Jakob Kjer Møller" userId="ecba9b24-e9b5-4d68-b011-18c0f20b3743" providerId="ADAL" clId="{A6A2CB1A-029F-4BB2-8E68-B062D13FD1D3}"/>
    <pc:docChg chg="undo custSel addSld delSld modSld sldOrd">
      <pc:chgData name="Jens-Jakob Kjer Møller" userId="ecba9b24-e9b5-4d68-b011-18c0f20b3743" providerId="ADAL" clId="{A6A2CB1A-029F-4BB2-8E68-B062D13FD1D3}" dt="2026-02-24T11:10:46.698" v="2183" actId="20577"/>
      <pc:docMkLst>
        <pc:docMk/>
      </pc:docMkLst>
      <pc:sldChg chg="modSp mod">
        <pc:chgData name="Jens-Jakob Kjer Møller" userId="ecba9b24-e9b5-4d68-b011-18c0f20b3743" providerId="ADAL" clId="{A6A2CB1A-029F-4BB2-8E68-B062D13FD1D3}" dt="2026-02-24T11:10:46.698" v="2183" actId="20577"/>
        <pc:sldMkLst>
          <pc:docMk/>
          <pc:sldMk cId="0" sldId="256"/>
        </pc:sldMkLst>
        <pc:spChg chg="mod">
          <ac:chgData name="Jens-Jakob Kjer Møller" userId="ecba9b24-e9b5-4d68-b011-18c0f20b3743" providerId="ADAL" clId="{A6A2CB1A-029F-4BB2-8E68-B062D13FD1D3}" dt="2026-02-24T11:10:46.698" v="2183" actId="20577"/>
          <ac:spMkLst>
            <pc:docMk/>
            <pc:sldMk cId="0" sldId="256"/>
            <ac:spMk id="3" creationId="{00000000-0000-0000-0000-000000000000}"/>
          </ac:spMkLst>
        </pc:spChg>
      </pc:sldChg>
      <pc:sldChg chg="modSp">
        <pc:chgData name="Jens-Jakob Kjer Møller" userId="ecba9b24-e9b5-4d68-b011-18c0f20b3743" providerId="ADAL" clId="{A6A2CB1A-029F-4BB2-8E68-B062D13FD1D3}" dt="2026-02-24T07:34:19.486" v="1625" actId="20577"/>
        <pc:sldMkLst>
          <pc:docMk/>
          <pc:sldMk cId="0" sldId="258"/>
        </pc:sldMkLst>
        <pc:spChg chg="mod">
          <ac:chgData name="Jens-Jakob Kjer Møller" userId="ecba9b24-e9b5-4d68-b011-18c0f20b3743" providerId="ADAL" clId="{A6A2CB1A-029F-4BB2-8E68-B062D13FD1D3}" dt="2026-02-24T07:34:19.486" v="1625" actId="20577"/>
          <ac:spMkLst>
            <pc:docMk/>
            <pc:sldMk cId="0" sldId="258"/>
            <ac:spMk id="3" creationId="{00000000-0000-0000-0000-000000000000}"/>
          </ac:spMkLst>
        </pc:spChg>
      </pc:sldChg>
      <pc:sldChg chg="modSp ord modAnim">
        <pc:chgData name="Jens-Jakob Kjer Møller" userId="ecba9b24-e9b5-4d68-b011-18c0f20b3743" providerId="ADAL" clId="{A6A2CB1A-029F-4BB2-8E68-B062D13FD1D3}" dt="2026-02-19T11:57:07.629" v="1134" actId="20577"/>
        <pc:sldMkLst>
          <pc:docMk/>
          <pc:sldMk cId="0" sldId="260"/>
        </pc:sldMkLst>
        <pc:spChg chg="mod">
          <ac:chgData name="Jens-Jakob Kjer Møller" userId="ecba9b24-e9b5-4d68-b011-18c0f20b3743" providerId="ADAL" clId="{A6A2CB1A-029F-4BB2-8E68-B062D13FD1D3}" dt="2026-02-19T11:57:07.629" v="1134" actId="20577"/>
          <ac:spMkLst>
            <pc:docMk/>
            <pc:sldMk cId="0" sldId="260"/>
            <ac:spMk id="3" creationId="{00000000-0000-0000-0000-000000000000}"/>
          </ac:spMkLst>
        </pc:spChg>
      </pc:sldChg>
      <pc:sldChg chg="modSp mod modAnim">
        <pc:chgData name="Jens-Jakob Kjer Møller" userId="ecba9b24-e9b5-4d68-b011-18c0f20b3743" providerId="ADAL" clId="{A6A2CB1A-029F-4BB2-8E68-B062D13FD1D3}" dt="2026-02-19T12:17:18.766" v="1401" actId="21"/>
        <pc:sldMkLst>
          <pc:docMk/>
          <pc:sldMk cId="0" sldId="262"/>
        </pc:sldMkLst>
        <pc:spChg chg="mod">
          <ac:chgData name="Jens-Jakob Kjer Møller" userId="ecba9b24-e9b5-4d68-b011-18c0f20b3743" providerId="ADAL" clId="{A6A2CB1A-029F-4BB2-8E68-B062D13FD1D3}" dt="2026-02-19T12:17:18.766" v="1401" actId="21"/>
          <ac:spMkLst>
            <pc:docMk/>
            <pc:sldMk cId="0" sldId="262"/>
            <ac:spMk id="3" creationId="{00000000-0000-0000-0000-000000000000}"/>
          </ac:spMkLst>
        </pc:spChg>
      </pc:sldChg>
      <pc:sldChg chg="modSp">
        <pc:chgData name="Jens-Jakob Kjer Møller" userId="ecba9b24-e9b5-4d68-b011-18c0f20b3743" providerId="ADAL" clId="{A6A2CB1A-029F-4BB2-8E68-B062D13FD1D3}" dt="2026-02-24T07:34:53.278" v="1627" actId="20577"/>
        <pc:sldMkLst>
          <pc:docMk/>
          <pc:sldMk cId="0" sldId="263"/>
        </pc:sldMkLst>
        <pc:spChg chg="mod">
          <ac:chgData name="Jens-Jakob Kjer Møller" userId="ecba9b24-e9b5-4d68-b011-18c0f20b3743" providerId="ADAL" clId="{A6A2CB1A-029F-4BB2-8E68-B062D13FD1D3}" dt="2026-02-24T07:34:53.278" v="1627" actId="20577"/>
          <ac:spMkLst>
            <pc:docMk/>
            <pc:sldMk cId="0" sldId="263"/>
            <ac:spMk id="30" creationId="{00000000-0000-0000-0000-000000000000}"/>
          </ac:spMkLst>
        </pc:spChg>
      </pc:sldChg>
      <pc:sldChg chg="modSp">
        <pc:chgData name="Jens-Jakob Kjer Møller" userId="ecba9b24-e9b5-4d68-b011-18c0f20b3743" providerId="ADAL" clId="{A6A2CB1A-029F-4BB2-8E68-B062D13FD1D3}" dt="2026-02-16T12:23:18.096" v="68" actId="20577"/>
        <pc:sldMkLst>
          <pc:docMk/>
          <pc:sldMk cId="3505738813" sldId="265"/>
        </pc:sldMkLst>
        <pc:spChg chg="mod">
          <ac:chgData name="Jens-Jakob Kjer Møller" userId="ecba9b24-e9b5-4d68-b011-18c0f20b3743" providerId="ADAL" clId="{A6A2CB1A-029F-4BB2-8E68-B062D13FD1D3}" dt="2026-02-16T12:23:18.096" v="68" actId="20577"/>
          <ac:spMkLst>
            <pc:docMk/>
            <pc:sldMk cId="3505738813" sldId="265"/>
            <ac:spMk id="3" creationId="{00000000-0000-0000-0000-000000000000}"/>
          </ac:spMkLst>
        </pc:spChg>
      </pc:sldChg>
      <pc:sldChg chg="modSp">
        <pc:chgData name="Jens-Jakob Kjer Møller" userId="ecba9b24-e9b5-4d68-b011-18c0f20b3743" providerId="ADAL" clId="{A6A2CB1A-029F-4BB2-8E68-B062D13FD1D3}" dt="2026-02-24T09:05:38.926" v="2068" actId="20577"/>
        <pc:sldMkLst>
          <pc:docMk/>
          <pc:sldMk cId="0" sldId="277"/>
        </pc:sldMkLst>
        <pc:spChg chg="mod">
          <ac:chgData name="Jens-Jakob Kjer Møller" userId="ecba9b24-e9b5-4d68-b011-18c0f20b3743" providerId="ADAL" clId="{A6A2CB1A-029F-4BB2-8E68-B062D13FD1D3}" dt="2026-02-24T09:05:38.926" v="2068" actId="20577"/>
          <ac:spMkLst>
            <pc:docMk/>
            <pc:sldMk cId="0" sldId="277"/>
            <ac:spMk id="3" creationId="{00000000-0000-0000-0000-000000000000}"/>
          </ac:spMkLst>
        </pc:spChg>
      </pc:sldChg>
      <pc:sldChg chg="modSp modAnim">
        <pc:chgData name="Jens-Jakob Kjer Møller" userId="ecba9b24-e9b5-4d68-b011-18c0f20b3743" providerId="ADAL" clId="{A6A2CB1A-029F-4BB2-8E68-B062D13FD1D3}" dt="2026-02-24T09:04:55.089" v="2064" actId="20577"/>
        <pc:sldMkLst>
          <pc:docMk/>
          <pc:sldMk cId="0" sldId="280"/>
        </pc:sldMkLst>
        <pc:spChg chg="mod">
          <ac:chgData name="Jens-Jakob Kjer Møller" userId="ecba9b24-e9b5-4d68-b011-18c0f20b3743" providerId="ADAL" clId="{A6A2CB1A-029F-4BB2-8E68-B062D13FD1D3}" dt="2026-02-24T09:04:55.089" v="2064" actId="20577"/>
          <ac:spMkLst>
            <pc:docMk/>
            <pc:sldMk cId="0" sldId="280"/>
            <ac:spMk id="3" creationId="{00000000-0000-0000-0000-000000000000}"/>
          </ac:spMkLst>
        </pc:spChg>
      </pc:sldChg>
      <pc:sldChg chg="modSp">
        <pc:chgData name="Jens-Jakob Kjer Møller" userId="ecba9b24-e9b5-4d68-b011-18c0f20b3743" providerId="ADAL" clId="{A6A2CB1A-029F-4BB2-8E68-B062D13FD1D3}" dt="2026-02-19T12:36:12.065" v="1481" actId="20577"/>
        <pc:sldMkLst>
          <pc:docMk/>
          <pc:sldMk cId="0" sldId="294"/>
        </pc:sldMkLst>
        <pc:spChg chg="mod">
          <ac:chgData name="Jens-Jakob Kjer Møller" userId="ecba9b24-e9b5-4d68-b011-18c0f20b3743" providerId="ADAL" clId="{A6A2CB1A-029F-4BB2-8E68-B062D13FD1D3}" dt="2026-02-19T12:36:12.065" v="1481" actId="20577"/>
          <ac:spMkLst>
            <pc:docMk/>
            <pc:sldMk cId="0" sldId="294"/>
            <ac:spMk id="3" creationId="{00000000-0000-0000-0000-000000000000}"/>
          </ac:spMkLst>
        </pc:spChg>
      </pc:sldChg>
      <pc:sldChg chg="modSp modAnim">
        <pc:chgData name="Jens-Jakob Kjer Møller" userId="ecba9b24-e9b5-4d68-b011-18c0f20b3743" providerId="ADAL" clId="{A6A2CB1A-029F-4BB2-8E68-B062D13FD1D3}" dt="2026-02-24T07:40:13.401" v="1929" actId="20577"/>
        <pc:sldMkLst>
          <pc:docMk/>
          <pc:sldMk cId="0" sldId="296"/>
        </pc:sldMkLst>
        <pc:spChg chg="mod">
          <ac:chgData name="Jens-Jakob Kjer Møller" userId="ecba9b24-e9b5-4d68-b011-18c0f20b3743" providerId="ADAL" clId="{A6A2CB1A-029F-4BB2-8E68-B062D13FD1D3}" dt="2026-02-24T07:40:13.401" v="1929" actId="20577"/>
          <ac:spMkLst>
            <pc:docMk/>
            <pc:sldMk cId="0" sldId="296"/>
            <ac:spMk id="3" creationId="{00000000-0000-0000-0000-000000000000}"/>
          </ac:spMkLst>
        </pc:spChg>
      </pc:sldChg>
      <pc:sldChg chg="modSp">
        <pc:chgData name="Jens-Jakob Kjer Møller" userId="ecba9b24-e9b5-4d68-b011-18c0f20b3743" providerId="ADAL" clId="{A6A2CB1A-029F-4BB2-8E68-B062D13FD1D3}" dt="2026-02-24T07:44:12.205" v="1980" actId="20577"/>
        <pc:sldMkLst>
          <pc:docMk/>
          <pc:sldMk cId="1799279137" sldId="298"/>
        </pc:sldMkLst>
        <pc:spChg chg="mod">
          <ac:chgData name="Jens-Jakob Kjer Møller" userId="ecba9b24-e9b5-4d68-b011-18c0f20b3743" providerId="ADAL" clId="{A6A2CB1A-029F-4BB2-8E68-B062D13FD1D3}" dt="2026-02-24T07:44:12.205" v="1980" actId="20577"/>
          <ac:spMkLst>
            <pc:docMk/>
            <pc:sldMk cId="1799279137" sldId="298"/>
            <ac:spMk id="22" creationId="{00000000-0000-0000-0000-000000000000}"/>
          </ac:spMkLst>
        </pc:spChg>
      </pc:sldChg>
      <pc:sldChg chg="modSp mod">
        <pc:chgData name="Jens-Jakob Kjer Møller" userId="ecba9b24-e9b5-4d68-b011-18c0f20b3743" providerId="ADAL" clId="{A6A2CB1A-029F-4BB2-8E68-B062D13FD1D3}" dt="2026-02-16T14:00:48.857" v="962" actId="14100"/>
        <pc:sldMkLst>
          <pc:docMk/>
          <pc:sldMk cId="1904065778" sldId="303"/>
        </pc:sldMkLst>
        <pc:spChg chg="mod">
          <ac:chgData name="Jens-Jakob Kjer Møller" userId="ecba9b24-e9b5-4d68-b011-18c0f20b3743" providerId="ADAL" clId="{A6A2CB1A-029F-4BB2-8E68-B062D13FD1D3}" dt="2026-02-16T14:00:48.857" v="962" actId="14100"/>
          <ac:spMkLst>
            <pc:docMk/>
            <pc:sldMk cId="1904065778" sldId="303"/>
            <ac:spMk id="4" creationId="{00000000-0000-0000-0000-000000000000}"/>
          </ac:spMkLst>
        </pc:spChg>
      </pc:sldChg>
      <pc:sldChg chg="modSp ord modAnim">
        <pc:chgData name="Jens-Jakob Kjer Møller" userId="ecba9b24-e9b5-4d68-b011-18c0f20b3743" providerId="ADAL" clId="{A6A2CB1A-029F-4BB2-8E68-B062D13FD1D3}" dt="2026-02-16T13:00:06.409" v="276"/>
        <pc:sldMkLst>
          <pc:docMk/>
          <pc:sldMk cId="849558446" sldId="309"/>
        </pc:sldMkLst>
        <pc:spChg chg="mod">
          <ac:chgData name="Jens-Jakob Kjer Møller" userId="ecba9b24-e9b5-4d68-b011-18c0f20b3743" providerId="ADAL" clId="{A6A2CB1A-029F-4BB2-8E68-B062D13FD1D3}" dt="2026-02-16T12:56:54.694" v="74"/>
          <ac:spMkLst>
            <pc:docMk/>
            <pc:sldMk cId="849558446" sldId="309"/>
            <ac:spMk id="3" creationId="{00000000-0000-0000-0000-000000000000}"/>
          </ac:spMkLst>
        </pc:spChg>
      </pc:sldChg>
      <pc:sldChg chg="modSp modAnim">
        <pc:chgData name="Jens-Jakob Kjer Møller" userId="ecba9b24-e9b5-4d68-b011-18c0f20b3743" providerId="ADAL" clId="{A6A2CB1A-029F-4BB2-8E68-B062D13FD1D3}" dt="2026-02-19T12:17:40.313" v="1403"/>
        <pc:sldMkLst>
          <pc:docMk/>
          <pc:sldMk cId="4276789202" sldId="312"/>
        </pc:sldMkLst>
        <pc:spChg chg="mod">
          <ac:chgData name="Jens-Jakob Kjer Møller" userId="ecba9b24-e9b5-4d68-b011-18c0f20b3743" providerId="ADAL" clId="{A6A2CB1A-029F-4BB2-8E68-B062D13FD1D3}" dt="2026-02-19T12:17:40.313" v="1403"/>
          <ac:spMkLst>
            <pc:docMk/>
            <pc:sldMk cId="4276789202" sldId="312"/>
            <ac:spMk id="3" creationId="{00000000-0000-0000-0000-000000000000}"/>
          </ac:spMkLst>
        </pc:spChg>
      </pc:sldChg>
      <pc:sldChg chg="modSp modAnim">
        <pc:chgData name="Jens-Jakob Kjer Møller" userId="ecba9b24-e9b5-4d68-b011-18c0f20b3743" providerId="ADAL" clId="{A6A2CB1A-029F-4BB2-8E68-B062D13FD1D3}" dt="2026-02-19T12:18:50.285" v="1424"/>
        <pc:sldMkLst>
          <pc:docMk/>
          <pc:sldMk cId="3586417872" sldId="314"/>
        </pc:sldMkLst>
        <pc:spChg chg="mod">
          <ac:chgData name="Jens-Jakob Kjer Møller" userId="ecba9b24-e9b5-4d68-b011-18c0f20b3743" providerId="ADAL" clId="{A6A2CB1A-029F-4BB2-8E68-B062D13FD1D3}" dt="2026-02-19T12:18:50.285" v="1424"/>
          <ac:spMkLst>
            <pc:docMk/>
            <pc:sldMk cId="3586417872" sldId="314"/>
            <ac:spMk id="3" creationId="{00000000-0000-0000-0000-000000000000}"/>
          </ac:spMkLst>
        </pc:spChg>
      </pc:sldChg>
      <pc:sldChg chg="del">
        <pc:chgData name="Jens-Jakob Kjer Møller" userId="ecba9b24-e9b5-4d68-b011-18c0f20b3743" providerId="ADAL" clId="{A6A2CB1A-029F-4BB2-8E68-B062D13FD1D3}" dt="2026-02-24T09:09:06.729" v="2162" actId="47"/>
        <pc:sldMkLst>
          <pc:docMk/>
          <pc:sldMk cId="3258553000" sldId="315"/>
        </pc:sldMkLst>
      </pc:sldChg>
      <pc:sldChg chg="modSp">
        <pc:chgData name="Jens-Jakob Kjer Møller" userId="ecba9b24-e9b5-4d68-b011-18c0f20b3743" providerId="ADAL" clId="{A6A2CB1A-029F-4BB2-8E68-B062D13FD1D3}" dt="2026-02-24T09:07:25.271" v="2159" actId="20577"/>
        <pc:sldMkLst>
          <pc:docMk/>
          <pc:sldMk cId="1495565576" sldId="319"/>
        </pc:sldMkLst>
        <pc:spChg chg="mod">
          <ac:chgData name="Jens-Jakob Kjer Møller" userId="ecba9b24-e9b5-4d68-b011-18c0f20b3743" providerId="ADAL" clId="{A6A2CB1A-029F-4BB2-8E68-B062D13FD1D3}" dt="2026-02-24T09:07:25.271" v="2159" actId="20577"/>
          <ac:spMkLst>
            <pc:docMk/>
            <pc:sldMk cId="1495565576" sldId="319"/>
            <ac:spMk id="9" creationId="{00000000-0000-0000-0000-000000000000}"/>
          </ac:spMkLst>
        </pc:spChg>
      </pc:sldChg>
      <pc:sldChg chg="modSp">
        <pc:chgData name="Jens-Jakob Kjer Møller" userId="ecba9b24-e9b5-4d68-b011-18c0f20b3743" providerId="ADAL" clId="{A6A2CB1A-029F-4BB2-8E68-B062D13FD1D3}" dt="2026-02-24T09:07:40.739" v="2161" actId="20577"/>
        <pc:sldMkLst>
          <pc:docMk/>
          <pc:sldMk cId="4003859846" sldId="321"/>
        </pc:sldMkLst>
        <pc:spChg chg="mod">
          <ac:chgData name="Jens-Jakob Kjer Møller" userId="ecba9b24-e9b5-4d68-b011-18c0f20b3743" providerId="ADAL" clId="{A6A2CB1A-029F-4BB2-8E68-B062D13FD1D3}" dt="2026-02-24T09:07:40.739" v="2161" actId="20577"/>
          <ac:spMkLst>
            <pc:docMk/>
            <pc:sldMk cId="4003859846" sldId="321"/>
            <ac:spMk id="10" creationId="{00000000-0000-0000-0000-000000000000}"/>
          </ac:spMkLst>
        </pc:spChg>
      </pc:sldChg>
      <pc:sldChg chg="modSp del mod">
        <pc:chgData name="Jens-Jakob Kjer Møller" userId="ecba9b24-e9b5-4d68-b011-18c0f20b3743" providerId="ADAL" clId="{A6A2CB1A-029F-4BB2-8E68-B062D13FD1D3}" dt="2026-02-19T12:19:41.198" v="1462" actId="2696"/>
        <pc:sldMkLst>
          <pc:docMk/>
          <pc:sldMk cId="1459021750" sldId="332"/>
        </pc:sldMkLst>
      </pc:sldChg>
      <pc:sldChg chg="add">
        <pc:chgData name="Jens-Jakob Kjer Møller" userId="ecba9b24-e9b5-4d68-b011-18c0f20b3743" providerId="ADAL" clId="{A6A2CB1A-029F-4BB2-8E68-B062D13FD1D3}" dt="2026-02-19T12:19:45.359" v="1463"/>
        <pc:sldMkLst>
          <pc:docMk/>
          <pc:sldMk cId="4045362270" sldId="332"/>
        </pc:sldMkLst>
      </pc:sldChg>
      <pc:sldChg chg="modSp modAnim">
        <pc:chgData name="Jens-Jakob Kjer Møller" userId="ecba9b24-e9b5-4d68-b011-18c0f20b3743" providerId="ADAL" clId="{A6A2CB1A-029F-4BB2-8E68-B062D13FD1D3}" dt="2026-02-24T07:30:05.915" v="1563" actId="20577"/>
        <pc:sldMkLst>
          <pc:docMk/>
          <pc:sldMk cId="1994008968" sldId="333"/>
        </pc:sldMkLst>
        <pc:spChg chg="mod">
          <ac:chgData name="Jens-Jakob Kjer Møller" userId="ecba9b24-e9b5-4d68-b011-18c0f20b3743" providerId="ADAL" clId="{A6A2CB1A-029F-4BB2-8E68-B062D13FD1D3}" dt="2026-02-24T07:30:05.915" v="1563" actId="20577"/>
          <ac:spMkLst>
            <pc:docMk/>
            <pc:sldMk cId="1994008968" sldId="333"/>
            <ac:spMk id="3" creationId="{0DC0B6FA-026C-42FF-F61E-22195C62F3DC}"/>
          </ac:spMkLst>
        </pc:spChg>
      </pc:sldChg>
      <pc:sldChg chg="modSp del mod">
        <pc:chgData name="Jens-Jakob Kjer Møller" userId="ecba9b24-e9b5-4d68-b011-18c0f20b3743" providerId="ADAL" clId="{A6A2CB1A-029F-4BB2-8E68-B062D13FD1D3}" dt="2026-02-19T12:19:41.198" v="1462" actId="2696"/>
        <pc:sldMkLst>
          <pc:docMk/>
          <pc:sldMk cId="1200669383" sldId="334"/>
        </pc:sldMkLst>
      </pc:sldChg>
      <pc:sldChg chg="add">
        <pc:chgData name="Jens-Jakob Kjer Møller" userId="ecba9b24-e9b5-4d68-b011-18c0f20b3743" providerId="ADAL" clId="{A6A2CB1A-029F-4BB2-8E68-B062D13FD1D3}" dt="2026-02-19T12:19:45.359" v="1463"/>
        <pc:sldMkLst>
          <pc:docMk/>
          <pc:sldMk cId="1296347633" sldId="334"/>
        </pc:sldMkLst>
      </pc:sldChg>
      <pc:sldChg chg="delSp modSp add mod delAnim">
        <pc:chgData name="Jens-Jakob Kjer Møller" userId="ecba9b24-e9b5-4d68-b011-18c0f20b3743" providerId="ADAL" clId="{A6A2CB1A-029F-4BB2-8E68-B062D13FD1D3}" dt="2026-02-16T12:22:38.579" v="44" actId="208"/>
        <pc:sldMkLst>
          <pc:docMk/>
          <pc:sldMk cId="3356307081" sldId="335"/>
        </pc:sldMkLst>
        <pc:spChg chg="mod">
          <ac:chgData name="Jens-Jakob Kjer Møller" userId="ecba9b24-e9b5-4d68-b011-18c0f20b3743" providerId="ADAL" clId="{A6A2CB1A-029F-4BB2-8E68-B062D13FD1D3}" dt="2026-02-16T12:21:59.745" v="14" actId="20577"/>
          <ac:spMkLst>
            <pc:docMk/>
            <pc:sldMk cId="3356307081" sldId="335"/>
            <ac:spMk id="2" creationId="{2D4EF377-B3C8-0367-6723-666249677D14}"/>
          </ac:spMkLst>
        </pc:spChg>
        <pc:spChg chg="mod">
          <ac:chgData name="Jens-Jakob Kjer Møller" userId="ecba9b24-e9b5-4d68-b011-18c0f20b3743" providerId="ADAL" clId="{A6A2CB1A-029F-4BB2-8E68-B062D13FD1D3}" dt="2026-02-16T12:22:10.986" v="36" actId="20577"/>
          <ac:spMkLst>
            <pc:docMk/>
            <pc:sldMk cId="3356307081" sldId="335"/>
            <ac:spMk id="5" creationId="{13836CB9-D3D5-ADA2-7900-5E4CA7136DA5}"/>
          </ac:spMkLst>
        </pc:spChg>
        <pc:cxnChg chg="mod">
          <ac:chgData name="Jens-Jakob Kjer Møller" userId="ecba9b24-e9b5-4d68-b011-18c0f20b3743" providerId="ADAL" clId="{A6A2CB1A-029F-4BB2-8E68-B062D13FD1D3}" dt="2026-02-16T12:22:38.579" v="44" actId="208"/>
          <ac:cxnSpMkLst>
            <pc:docMk/>
            <pc:sldMk cId="3356307081" sldId="335"/>
            <ac:cxnSpMk id="8" creationId="{79D4991E-855D-87B9-7032-9A1FC166C476}"/>
          </ac:cxnSpMkLst>
        </pc:cxnChg>
        <pc:cxnChg chg="mod">
          <ac:chgData name="Jens-Jakob Kjer Møller" userId="ecba9b24-e9b5-4d68-b011-18c0f20b3743" providerId="ADAL" clId="{A6A2CB1A-029F-4BB2-8E68-B062D13FD1D3}" dt="2026-02-16T12:22:36.265" v="43" actId="208"/>
          <ac:cxnSpMkLst>
            <pc:docMk/>
            <pc:sldMk cId="3356307081" sldId="335"/>
            <ac:cxnSpMk id="10" creationId="{541D51EE-3AF4-3BA2-0433-08AEA3F2E719}"/>
          </ac:cxnSpMkLst>
        </pc:cxnChg>
      </pc:sldChg>
      <pc:sldChg chg="modSp add ord modAnim">
        <pc:chgData name="Jens-Jakob Kjer Møller" userId="ecba9b24-e9b5-4d68-b011-18c0f20b3743" providerId="ADAL" clId="{A6A2CB1A-029F-4BB2-8E68-B062D13FD1D3}" dt="2026-02-16T13:00:06.409" v="276"/>
        <pc:sldMkLst>
          <pc:docMk/>
          <pc:sldMk cId="1079441766" sldId="336"/>
        </pc:sldMkLst>
        <pc:spChg chg="mod">
          <ac:chgData name="Jens-Jakob Kjer Møller" userId="ecba9b24-e9b5-4d68-b011-18c0f20b3743" providerId="ADAL" clId="{A6A2CB1A-029F-4BB2-8E68-B062D13FD1D3}" dt="2026-02-16T12:58:53.536" v="274" actId="20577"/>
          <ac:spMkLst>
            <pc:docMk/>
            <pc:sldMk cId="1079441766" sldId="336"/>
            <ac:spMk id="3" creationId="{1C044DAF-63A7-6707-C137-740ADC55ED63}"/>
          </ac:spMkLst>
        </pc:spChg>
      </pc:sldChg>
      <pc:sldChg chg="add">
        <pc:chgData name="Jens-Jakob Kjer Møller" userId="ecba9b24-e9b5-4d68-b011-18c0f20b3743" providerId="ADAL" clId="{A6A2CB1A-029F-4BB2-8E68-B062D13FD1D3}" dt="2026-02-19T12:19:45.359" v="1463"/>
        <pc:sldMkLst>
          <pc:docMk/>
          <pc:sldMk cId="1909334296" sldId="337"/>
        </pc:sldMkLst>
      </pc:sldChg>
      <pc:sldChg chg="delSp modSp add del mod ord delAnim">
        <pc:chgData name="Jens-Jakob Kjer Møller" userId="ecba9b24-e9b5-4d68-b011-18c0f20b3743" providerId="ADAL" clId="{A6A2CB1A-029F-4BB2-8E68-B062D13FD1D3}" dt="2026-02-19T12:19:41.198" v="1462" actId="2696"/>
        <pc:sldMkLst>
          <pc:docMk/>
          <pc:sldMk cId="2028176417" sldId="337"/>
        </pc:sldMkLst>
      </pc:sldChg>
      <pc:sldChg chg="add">
        <pc:chgData name="Jens-Jakob Kjer Møller" userId="ecba9b24-e9b5-4d68-b011-18c0f20b3743" providerId="ADAL" clId="{A6A2CB1A-029F-4BB2-8E68-B062D13FD1D3}" dt="2026-02-19T12:19:45.359" v="1463"/>
        <pc:sldMkLst>
          <pc:docMk/>
          <pc:sldMk cId="2345997559" sldId="338"/>
        </pc:sldMkLst>
      </pc:sldChg>
      <pc:sldChg chg="addSp delSp modSp add del mod delAnim">
        <pc:chgData name="Jens-Jakob Kjer Møller" userId="ecba9b24-e9b5-4d68-b011-18c0f20b3743" providerId="ADAL" clId="{A6A2CB1A-029F-4BB2-8E68-B062D13FD1D3}" dt="2026-02-19T12:19:41.198" v="1462" actId="2696"/>
        <pc:sldMkLst>
          <pc:docMk/>
          <pc:sldMk cId="4042959869" sldId="338"/>
        </pc:sldMkLst>
      </pc:sldChg>
      <pc:sldChg chg="modSp add del mod modAnim">
        <pc:chgData name="Jens-Jakob Kjer Møller" userId="ecba9b24-e9b5-4d68-b011-18c0f20b3743" providerId="ADAL" clId="{A6A2CB1A-029F-4BB2-8E68-B062D13FD1D3}" dt="2026-02-19T12:19:41.198" v="1462" actId="2696"/>
        <pc:sldMkLst>
          <pc:docMk/>
          <pc:sldMk cId="2822137024" sldId="339"/>
        </pc:sldMkLst>
      </pc:sldChg>
      <pc:sldChg chg="add">
        <pc:chgData name="Jens-Jakob Kjer Møller" userId="ecba9b24-e9b5-4d68-b011-18c0f20b3743" providerId="ADAL" clId="{A6A2CB1A-029F-4BB2-8E68-B062D13FD1D3}" dt="2026-02-19T12:19:45.359" v="1463"/>
        <pc:sldMkLst>
          <pc:docMk/>
          <pc:sldMk cId="3557283500" sldId="339"/>
        </pc:sldMkLst>
      </pc:sldChg>
      <pc:sldChg chg="add">
        <pc:chgData name="Jens-Jakob Kjer Møller" userId="ecba9b24-e9b5-4d68-b011-18c0f20b3743" providerId="ADAL" clId="{A6A2CB1A-029F-4BB2-8E68-B062D13FD1D3}" dt="2026-02-16T14:00:21.409" v="955"/>
        <pc:sldMkLst>
          <pc:docMk/>
          <pc:sldMk cId="2018064758" sldId="340"/>
        </pc:sldMkLst>
      </pc:sldChg>
      <pc:sldChg chg="modSp new del mod modAnim">
        <pc:chgData name="Jens-Jakob Kjer Møller" userId="ecba9b24-e9b5-4d68-b011-18c0f20b3743" providerId="ADAL" clId="{A6A2CB1A-029F-4BB2-8E68-B062D13FD1D3}" dt="2026-02-24T07:31:16.459" v="1565" actId="47"/>
        <pc:sldMkLst>
          <pc:docMk/>
          <pc:sldMk cId="4004353287" sldId="341"/>
        </pc:sldMkLst>
      </pc:sldChg>
      <pc:sldChg chg="modSp add mod modAnim">
        <pc:chgData name="Jens-Jakob Kjer Møller" userId="ecba9b24-e9b5-4d68-b011-18c0f20b3743" providerId="ADAL" clId="{A6A2CB1A-029F-4BB2-8E68-B062D13FD1D3}" dt="2026-02-24T07:31:21.063" v="1566"/>
        <pc:sldMkLst>
          <pc:docMk/>
          <pc:sldMk cId="599756726" sldId="342"/>
        </pc:sldMkLst>
        <pc:spChg chg="mod">
          <ac:chgData name="Jens-Jakob Kjer Møller" userId="ecba9b24-e9b5-4d68-b011-18c0f20b3743" providerId="ADAL" clId="{A6A2CB1A-029F-4BB2-8E68-B062D13FD1D3}" dt="2026-02-19T12:18:13.439" v="1404" actId="113"/>
          <ac:spMkLst>
            <pc:docMk/>
            <pc:sldMk cId="599756726" sldId="342"/>
            <ac:spMk id="2" creationId="{5FAC58BF-D4D5-47E4-E016-4B5FDF9114DC}"/>
          </ac:spMkLst>
        </pc:spChg>
        <pc:spChg chg="mod">
          <ac:chgData name="Jens-Jakob Kjer Møller" userId="ecba9b24-e9b5-4d68-b011-18c0f20b3743" providerId="ADAL" clId="{A6A2CB1A-029F-4BB2-8E68-B062D13FD1D3}" dt="2026-02-19T11:57:18.598" v="1135" actId="255"/>
          <ac:spMkLst>
            <pc:docMk/>
            <pc:sldMk cId="599756726" sldId="342"/>
            <ac:spMk id="3" creationId="{34CDB523-F314-A5D5-CA47-DF3F1103BEEF}"/>
          </ac:spMkLst>
        </pc:spChg>
      </pc:sldChg>
      <pc:sldChg chg="addSp delSp modSp new mod">
        <pc:chgData name="Jens-Jakob Kjer Møller" userId="ecba9b24-e9b5-4d68-b011-18c0f20b3743" providerId="ADAL" clId="{A6A2CB1A-029F-4BB2-8E68-B062D13FD1D3}" dt="2026-02-19T11:58:51.661" v="1159" actId="14100"/>
        <pc:sldMkLst>
          <pc:docMk/>
          <pc:sldMk cId="1430134359" sldId="343"/>
        </pc:sldMkLst>
        <pc:spChg chg="mod">
          <ac:chgData name="Jens-Jakob Kjer Møller" userId="ecba9b24-e9b5-4d68-b011-18c0f20b3743" providerId="ADAL" clId="{A6A2CB1A-029F-4BB2-8E68-B062D13FD1D3}" dt="2026-02-19T11:58:47.006" v="1157" actId="20577"/>
          <ac:spMkLst>
            <pc:docMk/>
            <pc:sldMk cId="1430134359" sldId="343"/>
            <ac:spMk id="2" creationId="{6C8C8D68-3BA7-8638-4160-762E8EBBBC5B}"/>
          </ac:spMkLst>
        </pc:spChg>
        <pc:picChg chg="add mod">
          <ac:chgData name="Jens-Jakob Kjer Møller" userId="ecba9b24-e9b5-4d68-b011-18c0f20b3743" providerId="ADAL" clId="{A6A2CB1A-029F-4BB2-8E68-B062D13FD1D3}" dt="2026-02-19T11:58:51.661" v="1159" actId="14100"/>
          <ac:picMkLst>
            <pc:docMk/>
            <pc:sldMk cId="1430134359" sldId="343"/>
            <ac:picMk id="1026" creationId="{1CE880D6-3E1D-DEA5-3B16-5602115E6227}"/>
          </ac:picMkLst>
        </pc:picChg>
      </pc:sldChg>
      <pc:sldChg chg="addSp delSp modSp add mod ord delAnim modAnim">
        <pc:chgData name="Jens-Jakob Kjer Møller" userId="ecba9b24-e9b5-4d68-b011-18c0f20b3743" providerId="ADAL" clId="{A6A2CB1A-029F-4BB2-8E68-B062D13FD1D3}" dt="2026-02-19T11:59:50.341" v="1167"/>
        <pc:sldMkLst>
          <pc:docMk/>
          <pc:sldMk cId="1660993903" sldId="344"/>
        </pc:sldMkLst>
        <pc:spChg chg="add mod">
          <ac:chgData name="Jens-Jakob Kjer Møller" userId="ecba9b24-e9b5-4d68-b011-18c0f20b3743" providerId="ADAL" clId="{A6A2CB1A-029F-4BB2-8E68-B062D13FD1D3}" dt="2026-02-19T11:59:35.132" v="1162"/>
          <ac:spMkLst>
            <pc:docMk/>
            <pc:sldMk cId="1660993903" sldId="344"/>
            <ac:spMk id="5" creationId="{2BED8198-4843-F8FA-E2EE-AAB67C2D5909}"/>
          </ac:spMkLst>
        </pc:spChg>
        <pc:spChg chg="add mod">
          <ac:chgData name="Jens-Jakob Kjer Møller" userId="ecba9b24-e9b5-4d68-b011-18c0f20b3743" providerId="ADAL" clId="{A6A2CB1A-029F-4BB2-8E68-B062D13FD1D3}" dt="2026-02-19T11:59:35.132" v="1162"/>
          <ac:spMkLst>
            <pc:docMk/>
            <pc:sldMk cId="1660993903" sldId="344"/>
            <ac:spMk id="6" creationId="{AF0CDA5B-55BC-1023-1EB3-0425EBFCC5BD}"/>
          </ac:spMkLst>
        </pc:spChg>
        <pc:spChg chg="add mod">
          <ac:chgData name="Jens-Jakob Kjer Møller" userId="ecba9b24-e9b5-4d68-b011-18c0f20b3743" providerId="ADAL" clId="{A6A2CB1A-029F-4BB2-8E68-B062D13FD1D3}" dt="2026-02-19T11:59:35.132" v="1162"/>
          <ac:spMkLst>
            <pc:docMk/>
            <pc:sldMk cId="1660993903" sldId="344"/>
            <ac:spMk id="7" creationId="{E57DFAEB-CCDF-EBFA-8C69-D2EEA2DC4E95}"/>
          </ac:spMkLst>
        </pc:spChg>
        <pc:spChg chg="add mod">
          <ac:chgData name="Jens-Jakob Kjer Møller" userId="ecba9b24-e9b5-4d68-b011-18c0f20b3743" providerId="ADAL" clId="{A6A2CB1A-029F-4BB2-8E68-B062D13FD1D3}" dt="2026-02-19T11:59:35.132" v="1162"/>
          <ac:spMkLst>
            <pc:docMk/>
            <pc:sldMk cId="1660993903" sldId="344"/>
            <ac:spMk id="13" creationId="{3F1B4276-FD0F-FF4C-9F18-6A75684886FB}"/>
          </ac:spMkLst>
        </pc:spChg>
        <pc:cxnChg chg="add mod">
          <ac:chgData name="Jens-Jakob Kjer Møller" userId="ecba9b24-e9b5-4d68-b011-18c0f20b3743" providerId="ADAL" clId="{A6A2CB1A-029F-4BB2-8E68-B062D13FD1D3}" dt="2026-02-19T11:59:35.132" v="1162"/>
          <ac:cxnSpMkLst>
            <pc:docMk/>
            <pc:sldMk cId="1660993903" sldId="344"/>
            <ac:cxnSpMk id="8" creationId="{0DEE85B3-BF54-037A-AB74-D86B5CDB2D1B}"/>
          </ac:cxnSpMkLst>
        </pc:cxnChg>
        <pc:cxnChg chg="add mod">
          <ac:chgData name="Jens-Jakob Kjer Møller" userId="ecba9b24-e9b5-4d68-b011-18c0f20b3743" providerId="ADAL" clId="{A6A2CB1A-029F-4BB2-8E68-B062D13FD1D3}" dt="2026-02-19T11:59:35.132" v="1162"/>
          <ac:cxnSpMkLst>
            <pc:docMk/>
            <pc:sldMk cId="1660993903" sldId="344"/>
            <ac:cxnSpMk id="9" creationId="{C83F508A-4633-2157-F2E4-31C4B46DA51A}"/>
          </ac:cxnSpMkLst>
        </pc:cxnChg>
        <pc:cxnChg chg="add mod">
          <ac:chgData name="Jens-Jakob Kjer Møller" userId="ecba9b24-e9b5-4d68-b011-18c0f20b3743" providerId="ADAL" clId="{A6A2CB1A-029F-4BB2-8E68-B062D13FD1D3}" dt="2026-02-19T11:59:35.132" v="1162"/>
          <ac:cxnSpMkLst>
            <pc:docMk/>
            <pc:sldMk cId="1660993903" sldId="344"/>
            <ac:cxnSpMk id="12" creationId="{F2AFB255-5B3B-031D-B9E2-1FB27568CE05}"/>
          </ac:cxnSpMkLst>
        </pc:cxnChg>
      </pc:sldChg>
      <pc:sldChg chg="modSp add mod">
        <pc:chgData name="Jens-Jakob Kjer Møller" userId="ecba9b24-e9b5-4d68-b011-18c0f20b3743" providerId="ADAL" clId="{A6A2CB1A-029F-4BB2-8E68-B062D13FD1D3}" dt="2026-02-19T12:19:16.323" v="1452" actId="20577"/>
        <pc:sldMkLst>
          <pc:docMk/>
          <pc:sldMk cId="2429968963" sldId="345"/>
        </pc:sldMkLst>
        <pc:spChg chg="mod">
          <ac:chgData name="Jens-Jakob Kjer Møller" userId="ecba9b24-e9b5-4d68-b011-18c0f20b3743" providerId="ADAL" clId="{A6A2CB1A-029F-4BB2-8E68-B062D13FD1D3}" dt="2026-02-19T12:19:16.323" v="1452" actId="20577"/>
          <ac:spMkLst>
            <pc:docMk/>
            <pc:sldMk cId="2429968963" sldId="345"/>
            <ac:spMk id="4" creationId="{C5AD89FD-B5CD-AF93-685B-B79D177871A5}"/>
          </ac:spMkLst>
        </pc:spChg>
      </pc:sldChg>
      <pc:sldChg chg="modSp add mod">
        <pc:chgData name="Jens-Jakob Kjer Møller" userId="ecba9b24-e9b5-4d68-b011-18c0f20b3743" providerId="ADAL" clId="{A6A2CB1A-029F-4BB2-8E68-B062D13FD1D3}" dt="2026-02-19T12:19:27.789" v="1461" actId="20577"/>
        <pc:sldMkLst>
          <pc:docMk/>
          <pc:sldMk cId="1412165387" sldId="346"/>
        </pc:sldMkLst>
        <pc:spChg chg="mod">
          <ac:chgData name="Jens-Jakob Kjer Møller" userId="ecba9b24-e9b5-4d68-b011-18c0f20b3743" providerId="ADAL" clId="{A6A2CB1A-029F-4BB2-8E68-B062D13FD1D3}" dt="2026-02-19T12:19:27.789" v="1461" actId="20577"/>
          <ac:spMkLst>
            <pc:docMk/>
            <pc:sldMk cId="1412165387" sldId="346"/>
            <ac:spMk id="4" creationId="{82992A56-6C5E-019D-E091-E72BE52D30AD}"/>
          </ac:spMkLst>
        </pc:spChg>
      </pc:sldChg>
      <pc:sldChg chg="add del">
        <pc:chgData name="Jens-Jakob Kjer Møller" userId="ecba9b24-e9b5-4d68-b011-18c0f20b3743" providerId="ADAL" clId="{A6A2CB1A-029F-4BB2-8E68-B062D13FD1D3}" dt="2026-02-19T12:21:37.283" v="1465" actId="2890"/>
        <pc:sldMkLst>
          <pc:docMk/>
          <pc:sldMk cId="3436788869" sldId="347"/>
        </pc:sldMkLst>
      </pc:sldChg>
      <pc:sldChg chg="addSp modSp new del">
        <pc:chgData name="Jens-Jakob Kjer Møller" userId="ecba9b24-e9b5-4d68-b011-18c0f20b3743" providerId="ADAL" clId="{A6A2CB1A-029F-4BB2-8E68-B062D13FD1D3}" dt="2026-02-19T12:54:38.973" v="1501" actId="47"/>
        <pc:sldMkLst>
          <pc:docMk/>
          <pc:sldMk cId="3616374203" sldId="347"/>
        </pc:sldMkLst>
      </pc:sldChg>
      <pc:sldChg chg="addSp delSp modSp new mod">
        <pc:chgData name="Jens-Jakob Kjer Møller" userId="ecba9b24-e9b5-4d68-b011-18c0f20b3743" providerId="ADAL" clId="{A6A2CB1A-029F-4BB2-8E68-B062D13FD1D3}" dt="2026-02-19T12:54:21.336" v="1500" actId="1076"/>
        <pc:sldMkLst>
          <pc:docMk/>
          <pc:sldMk cId="1623286104" sldId="348"/>
        </pc:sldMkLst>
        <pc:picChg chg="add mod">
          <ac:chgData name="Jens-Jakob Kjer Møller" userId="ecba9b24-e9b5-4d68-b011-18c0f20b3743" providerId="ADAL" clId="{A6A2CB1A-029F-4BB2-8E68-B062D13FD1D3}" dt="2026-02-19T12:54:21.336" v="1500" actId="1076"/>
          <ac:picMkLst>
            <pc:docMk/>
            <pc:sldMk cId="1623286104" sldId="348"/>
            <ac:picMk id="6" creationId="{FDE779A6-0F7F-18CD-9FBA-E8D38BB6E275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idehoved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a-DK"/>
          </a:p>
        </p:txBody>
      </p:sp>
      <p:sp>
        <p:nvSpPr>
          <p:cNvPr id="3" name="Pladsholder til dato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0AEA6F4-C462-4B79-93CA-831EC8C79836}" type="datetimeFigureOut">
              <a:rPr lang="da-DK" smtClean="0"/>
              <a:t>24-02-2026</a:t>
            </a:fld>
            <a:endParaRPr lang="da-DK"/>
          </a:p>
        </p:txBody>
      </p:sp>
      <p:sp>
        <p:nvSpPr>
          <p:cNvPr id="4" name="Pladsholder til slidebillede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a-DK"/>
          </a:p>
        </p:txBody>
      </p:sp>
      <p:sp>
        <p:nvSpPr>
          <p:cNvPr id="5" name="Pladsholder til no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a-DK"/>
              <a:t>Rediger typografien i masterens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6" name="Pladsholder til sidefod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a-DK"/>
          </a:p>
        </p:txBody>
      </p:sp>
      <p:sp>
        <p:nvSpPr>
          <p:cNvPr id="7" name="Pladsholder til slidenumm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C1F882-F044-43DD-A93E-BB665BC78EC2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0050480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lidebille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dsholder til no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a-DK" dirty="0"/>
          </a:p>
        </p:txBody>
      </p:sp>
      <p:sp>
        <p:nvSpPr>
          <p:cNvPr id="4" name="Pladsholder til slidenumm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BC1F882-F044-43DD-A93E-BB665BC78EC2}" type="slidenum">
              <a:rPr lang="da-DK" smtClean="0"/>
              <a:t>42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19910572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lidebille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dsholder til no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a-DK" dirty="0"/>
          </a:p>
        </p:txBody>
      </p:sp>
      <p:sp>
        <p:nvSpPr>
          <p:cNvPr id="4" name="Pladsholder til slidenumm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BC1F882-F044-43DD-A93E-BB665BC78EC2}" type="slidenum">
              <a:rPr lang="da-DK" smtClean="0"/>
              <a:t>52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51831336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lidebille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dsholder til no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a-DK" dirty="0"/>
          </a:p>
        </p:txBody>
      </p:sp>
      <p:sp>
        <p:nvSpPr>
          <p:cNvPr id="4" name="Pladsholder til slidenumm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BC1F882-F044-43DD-A93E-BB665BC78EC2}" type="slidenum">
              <a:rPr lang="da-DK" smtClean="0"/>
              <a:t>53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54371668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lidebille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dsholder til no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a-DK" dirty="0"/>
          </a:p>
        </p:txBody>
      </p:sp>
      <p:sp>
        <p:nvSpPr>
          <p:cNvPr id="4" name="Pladsholder til slidenumm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BC1F882-F044-43DD-A93E-BB665BC78EC2}" type="slidenum">
              <a:rPr lang="da-DK" smtClean="0"/>
              <a:t>55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54786210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lidebille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dsholder til no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a-DK" dirty="0"/>
          </a:p>
        </p:txBody>
      </p:sp>
      <p:sp>
        <p:nvSpPr>
          <p:cNvPr id="4" name="Pladsholder til slidenumm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BC1F882-F044-43DD-A93E-BB665BC78EC2}" type="slidenum">
              <a:rPr lang="da-DK" smtClean="0"/>
              <a:t>56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86114335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da-DK"/>
              <a:t>Klik for at redigere i master</a:t>
            </a:r>
          </a:p>
        </p:txBody>
      </p:sp>
      <p:sp>
        <p:nvSpPr>
          <p:cNvPr id="3" name="Undertitel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da-DK"/>
              <a:t>Klik for at redigere undertiteltypografien i masteren</a:t>
            </a:r>
          </a:p>
        </p:txBody>
      </p:sp>
      <p:sp>
        <p:nvSpPr>
          <p:cNvPr id="4" name="Pladsholder til dato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C49F7C-0E64-4455-853A-2B4AFAB52973}" type="datetime1">
              <a:rPr lang="en-US" smtClean="0"/>
              <a:t>2/24/2026</a:t>
            </a:fld>
            <a:endParaRPr lang="en-US"/>
          </a:p>
        </p:txBody>
      </p:sp>
      <p:sp>
        <p:nvSpPr>
          <p:cNvPr id="5" name="Pladsholder til sidefod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Pladsholder til slide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332852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og indholdsobjek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Klik for at redigere i master</a:t>
            </a:r>
          </a:p>
        </p:txBody>
      </p:sp>
      <p:sp>
        <p:nvSpPr>
          <p:cNvPr id="3" name="Pladsholder til indhold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a-DK"/>
              <a:t>Rediger typografien i masterens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4" name="Pladsholder til dato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9CE7B9-3F96-479E-ADDD-DD8E692AA5D6}" type="datetime1">
              <a:rPr lang="en-US" smtClean="0"/>
              <a:t>2/24/2026</a:t>
            </a:fld>
            <a:endParaRPr lang="en-US"/>
          </a:p>
        </p:txBody>
      </p:sp>
      <p:sp>
        <p:nvSpPr>
          <p:cNvPr id="5" name="Pladsholder til sidefod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Pladsholder til slide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37118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fsnitsoversk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da-DK"/>
              <a:t>Klik for at redigere i master</a:t>
            </a:r>
          </a:p>
        </p:txBody>
      </p:sp>
      <p:sp>
        <p:nvSpPr>
          <p:cNvPr id="3" name="Pladsholder til tekst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a-DK"/>
              <a:t>Rediger typografien i masterens</a:t>
            </a:r>
          </a:p>
        </p:txBody>
      </p:sp>
      <p:sp>
        <p:nvSpPr>
          <p:cNvPr id="4" name="Pladsholder til dato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927A61-91AB-4D8A-A722-956D266209AB}" type="datetime1">
              <a:rPr lang="en-US" smtClean="0"/>
              <a:t>2/24/2026</a:t>
            </a:fld>
            <a:endParaRPr lang="en-US"/>
          </a:p>
        </p:txBody>
      </p:sp>
      <p:sp>
        <p:nvSpPr>
          <p:cNvPr id="5" name="Pladsholder til sidefod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Pladsholder til slide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85070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o indholdsobjek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Klik for at redigere i master</a:t>
            </a:r>
          </a:p>
        </p:txBody>
      </p:sp>
      <p:sp>
        <p:nvSpPr>
          <p:cNvPr id="3" name="Pladsholder til indhold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da-DK"/>
              <a:t>Rediger typografien i masterens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4" name="Pladsholder til indhold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da-DK"/>
              <a:t>Rediger typografien i masterens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5" name="Pladsholder til dato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7F5005-ECA5-4CA3-89EA-8AB31B079EA7}" type="datetime1">
              <a:rPr lang="en-US" smtClean="0"/>
              <a:t>2/24/2026</a:t>
            </a:fld>
            <a:endParaRPr lang="en-US"/>
          </a:p>
        </p:txBody>
      </p:sp>
      <p:sp>
        <p:nvSpPr>
          <p:cNvPr id="6" name="Pladsholder til sidefod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Pladsholder til slidenumm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78221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Sammenlign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da-DK"/>
              <a:t>Klik for at redigere i master</a:t>
            </a:r>
          </a:p>
        </p:txBody>
      </p:sp>
      <p:sp>
        <p:nvSpPr>
          <p:cNvPr id="3" name="Pladsholder til tekst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da-DK"/>
              <a:t>Rediger typografien i masterens</a:t>
            </a:r>
          </a:p>
        </p:txBody>
      </p:sp>
      <p:sp>
        <p:nvSpPr>
          <p:cNvPr id="4" name="Pladsholder til indhold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da-DK"/>
              <a:t>Rediger typografien i masterens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5" name="Pladsholder til tekst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da-DK"/>
              <a:t>Rediger typografien i masterens</a:t>
            </a:r>
          </a:p>
        </p:txBody>
      </p:sp>
      <p:sp>
        <p:nvSpPr>
          <p:cNvPr id="6" name="Pladsholder til indhold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da-DK"/>
              <a:t>Rediger typografien i masterens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7" name="Pladsholder til dato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45828A-6B9C-4BE2-8534-947BC2A02848}" type="datetime1">
              <a:rPr lang="en-US" smtClean="0"/>
              <a:t>2/24/2026</a:t>
            </a:fld>
            <a:endParaRPr lang="en-US"/>
          </a:p>
        </p:txBody>
      </p:sp>
      <p:sp>
        <p:nvSpPr>
          <p:cNvPr id="8" name="Pladsholder til sidefod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Pladsholder til slidenumm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38622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Ku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Klik for at redigere i master</a:t>
            </a:r>
          </a:p>
        </p:txBody>
      </p:sp>
      <p:sp>
        <p:nvSpPr>
          <p:cNvPr id="3" name="Pladsholder til dato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CAF7FD-0AF4-45D6-826C-D3924B960E44}" type="datetime1">
              <a:rPr lang="en-US" smtClean="0"/>
              <a:t>2/24/2026</a:t>
            </a:fld>
            <a:endParaRPr lang="en-US"/>
          </a:p>
        </p:txBody>
      </p:sp>
      <p:sp>
        <p:nvSpPr>
          <p:cNvPr id="4" name="Pladsholder til sidefod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Pladsholder til slidenumm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62150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dato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D705F4-383F-4BFA-B4D5-AE8B825F984D}" type="datetime1">
              <a:rPr lang="en-US" smtClean="0"/>
              <a:t>2/24/2026</a:t>
            </a:fld>
            <a:endParaRPr lang="en-US"/>
          </a:p>
        </p:txBody>
      </p:sp>
      <p:sp>
        <p:nvSpPr>
          <p:cNvPr id="3" name="Pladsholder til sidefod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Pladsholder til slidenumm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16641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dhold med billed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da-DK"/>
              <a:t>Klik for at redigere i master</a:t>
            </a:r>
          </a:p>
        </p:txBody>
      </p:sp>
      <p:sp>
        <p:nvSpPr>
          <p:cNvPr id="3" name="Pladsholder til indhold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da-DK"/>
              <a:t>Rediger typografien i masterens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4" name="Pladsholder til tekst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da-DK"/>
              <a:t>Rediger typografien i masterens</a:t>
            </a:r>
          </a:p>
        </p:txBody>
      </p:sp>
      <p:sp>
        <p:nvSpPr>
          <p:cNvPr id="5" name="Pladsholder til dato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14C2BA-6F5F-4F47-880F-9B8726F451AF}" type="datetime1">
              <a:rPr lang="en-US" smtClean="0"/>
              <a:t>2/24/2026</a:t>
            </a:fld>
            <a:endParaRPr lang="en-US"/>
          </a:p>
        </p:txBody>
      </p:sp>
      <p:sp>
        <p:nvSpPr>
          <p:cNvPr id="6" name="Pladsholder til sidefod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Pladsholder til slidenumm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47148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lede med billed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da-DK"/>
              <a:t>Klik for at redigere i master</a:t>
            </a:r>
          </a:p>
        </p:txBody>
      </p:sp>
      <p:sp>
        <p:nvSpPr>
          <p:cNvPr id="3" name="Pladsholder til billede 2"/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da-DK"/>
          </a:p>
        </p:txBody>
      </p:sp>
      <p:sp>
        <p:nvSpPr>
          <p:cNvPr id="4" name="Pladsholder til tekst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da-DK"/>
              <a:t>Rediger typografien i masterens</a:t>
            </a:r>
          </a:p>
        </p:txBody>
      </p:sp>
      <p:sp>
        <p:nvSpPr>
          <p:cNvPr id="5" name="Pladsholder til dato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073CC4-F76D-4772-93EA-152239056743}" type="datetime1">
              <a:rPr lang="en-US" smtClean="0"/>
              <a:t>2/24/2026</a:t>
            </a:fld>
            <a:endParaRPr lang="en-US"/>
          </a:p>
        </p:txBody>
      </p:sp>
      <p:sp>
        <p:nvSpPr>
          <p:cNvPr id="6" name="Pladsholder til sidefod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Pladsholder til slidenumm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08622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og lodret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Klik for at redigere i master</a:t>
            </a:r>
          </a:p>
        </p:txBody>
      </p:sp>
      <p:sp>
        <p:nvSpPr>
          <p:cNvPr id="3" name="Pladsholder til lodret tite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a-DK"/>
              <a:t>Rediger typografien i masterens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4" name="Pladsholder til dato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EE880F-08E4-45EA-AB4B-8856F5234366}" type="datetime1">
              <a:rPr lang="en-US" smtClean="0"/>
              <a:t>2/24/2026</a:t>
            </a:fld>
            <a:endParaRPr lang="en-US"/>
          </a:p>
        </p:txBody>
      </p:sp>
      <p:sp>
        <p:nvSpPr>
          <p:cNvPr id="5" name="Pladsholder til sidefod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Pladsholder til slide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32414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Lodret titel og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odret titel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da-DK"/>
              <a:t>Klik for at redigere i master</a:t>
            </a:r>
          </a:p>
        </p:txBody>
      </p:sp>
      <p:sp>
        <p:nvSpPr>
          <p:cNvPr id="3" name="Pladsholder til lodret titel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da-DK"/>
              <a:t>Rediger typografien i masterens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4" name="Pladsholder til dato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6BEB53-8BF5-4F65-AF99-605631D1858E}" type="datetime1">
              <a:rPr lang="en-US" smtClean="0"/>
              <a:t>2/24/2026</a:t>
            </a:fld>
            <a:endParaRPr lang="en-US"/>
          </a:p>
        </p:txBody>
      </p:sp>
      <p:sp>
        <p:nvSpPr>
          <p:cNvPr id="5" name="Pladsholder til sidefod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Pladsholder til slide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41524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titel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a-DK"/>
              <a:t>Klik for at redigere i master</a:t>
            </a:r>
          </a:p>
        </p:txBody>
      </p:sp>
      <p:sp>
        <p:nvSpPr>
          <p:cNvPr id="3" name="Pladsholder til tekst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a-DK"/>
              <a:t>Rediger typografien i masterens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4" name="Pladsholder til dato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1787FD6-4DB1-4018-BDE2-2440C94BA742}" type="datetime1">
              <a:rPr lang="en-US" smtClean="0"/>
              <a:t>2/24/2026</a:t>
            </a:fld>
            <a:endParaRPr lang="en-US"/>
          </a:p>
        </p:txBody>
      </p:sp>
      <p:sp>
        <p:nvSpPr>
          <p:cNvPr id="5" name="Pladsholder til sidefod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Pladsholder til slidenumm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  <p:sp>
        <p:nvSpPr>
          <p:cNvPr id="7" name="Rektangel 6"/>
          <p:cNvSpPr/>
          <p:nvPr userDrawn="1"/>
        </p:nvSpPr>
        <p:spPr>
          <a:xfrm>
            <a:off x="1704252" y="6363576"/>
            <a:ext cx="1198781" cy="428326"/>
          </a:xfrm>
          <a:prstGeom prst="rect">
            <a:avLst/>
          </a:prstGeom>
          <a:blipFill>
            <a:blip r:embed="rId13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pic>
        <p:nvPicPr>
          <p:cNvPr id="9" name="Billede 8"/>
          <p:cNvPicPr>
            <a:picLocks noChangeAspect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4670" y="6478438"/>
            <a:ext cx="909464" cy="243037"/>
          </a:xfrm>
          <a:prstGeom prst="rect">
            <a:avLst/>
          </a:prstGeom>
        </p:spPr>
      </p:pic>
      <p:pic>
        <p:nvPicPr>
          <p:cNvPr id="11" name="Billede 10"/>
          <p:cNvPicPr>
            <a:picLocks noChangeAspect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06124" y="6412995"/>
            <a:ext cx="281146" cy="378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92936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a-DK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mailto:jens-jakob.kjer.moller@rsyd.dk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a-DK" dirty="0"/>
              <a:t>EPI 3 Konfundering</a:t>
            </a:r>
            <a:endParaRPr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da-DK" dirty="0"/>
              <a:t>Jens-Jakob Kjer Møller, epidemiolog</a:t>
            </a:r>
          </a:p>
          <a:p>
            <a:r>
              <a:rPr lang="en-US" dirty="0"/>
              <a:t>OPEN - Open Patient data Explorative Network</a:t>
            </a:r>
          </a:p>
          <a:p>
            <a:r>
              <a:rPr lang="en-US" dirty="0">
                <a:hlinkClick r:id="rId2"/>
              </a:rPr>
              <a:t>jens-jakob.kjer.moller@rsyd.dk</a:t>
            </a:r>
            <a:r>
              <a:rPr lang="en-US" dirty="0"/>
              <a:t> </a:t>
            </a:r>
          </a:p>
          <a:p>
            <a:r>
              <a:rPr lang="en-US" dirty="0"/>
              <a:t>24. </a:t>
            </a:r>
            <a:r>
              <a:rPr lang="en-US" dirty="0" err="1"/>
              <a:t>februar</a:t>
            </a:r>
            <a:r>
              <a:rPr lang="en-US" dirty="0"/>
              <a:t> 2026</a:t>
            </a:r>
            <a:endParaRPr dirty="0"/>
          </a:p>
        </p:txBody>
      </p:sp>
      <p:sp>
        <p:nvSpPr>
          <p:cNvPr id="5" name="Pladsholder til slidenumm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</a:t>
            </a:fld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Erfaring fra sidste semester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600"/>
              </a:spcAft>
              <a:buFont typeface="+mj-lt"/>
              <a:buAutoNum type="arabicPeriod"/>
              <a:defRPr sz="1400"/>
            </a:pPr>
            <a:r>
              <a:rPr lang="da-DK" dirty="0"/>
              <a:t>Evalueringen viste, at niveauet blev opfattet som lavt med for meget repetition fra tidligere</a:t>
            </a:r>
          </a:p>
          <a:p>
            <a:pPr lvl="1">
              <a:spcAft>
                <a:spcPts val="600"/>
              </a:spcAft>
              <a:buFont typeface="Wingdings" panose="05000000000000000000" pitchFamily="2" charset="2"/>
              <a:buChar char="Ø"/>
              <a:defRPr sz="1400"/>
            </a:pPr>
            <a:r>
              <a:rPr lang="da-DK" dirty="0"/>
              <a:t>Lidt mere avanceret denne gang</a:t>
            </a:r>
          </a:p>
          <a:p>
            <a:pPr lvl="1">
              <a:spcAft>
                <a:spcPts val="600"/>
              </a:spcAft>
              <a:buFont typeface="+mj-lt"/>
              <a:buAutoNum type="arabicPeriod"/>
              <a:defRPr sz="1400"/>
            </a:pPr>
            <a:endParaRPr lang="da-DK" dirty="0"/>
          </a:p>
          <a:p>
            <a:pPr>
              <a:spcAft>
                <a:spcPts val="600"/>
              </a:spcAft>
              <a:buFont typeface="+mj-lt"/>
              <a:buAutoNum type="arabicPeriod"/>
              <a:defRPr sz="1400"/>
            </a:pPr>
            <a:r>
              <a:rPr lang="da-DK" dirty="0"/>
              <a:t>Eksamensresultater viste, at mange studerende ikke kunne svare på et særligt højt niveau</a:t>
            </a:r>
          </a:p>
          <a:p>
            <a:pPr lvl="1">
              <a:spcAft>
                <a:spcPts val="600"/>
              </a:spcAft>
              <a:buFont typeface="Wingdings" panose="05000000000000000000" pitchFamily="2" charset="2"/>
              <a:buChar char="Ø"/>
              <a:defRPr sz="1400"/>
            </a:pPr>
            <a:r>
              <a:rPr lang="da-DK" sz="1400" dirty="0">
                <a:solidFill>
                  <a:prstClr val="black"/>
                </a:solidFill>
              </a:rPr>
              <a:t>Følg med, stil spørgsmål og læs op på emnerne</a:t>
            </a:r>
          </a:p>
          <a:p>
            <a:pPr lvl="1">
              <a:spcAft>
                <a:spcPts val="600"/>
              </a:spcAft>
              <a:buFont typeface="Wingdings" panose="05000000000000000000" pitchFamily="2" charset="2"/>
              <a:buChar char="Ø"/>
              <a:defRPr sz="1400"/>
            </a:pPr>
            <a:endParaRPr lang="da-DK" sz="1400" dirty="0">
              <a:solidFill>
                <a:prstClr val="black"/>
              </a:solidFill>
            </a:endParaRPr>
          </a:p>
          <a:p>
            <a:pPr lvl="1">
              <a:spcAft>
                <a:spcPts val="600"/>
              </a:spcAft>
              <a:buFont typeface="Wingdings" panose="05000000000000000000" pitchFamily="2" charset="2"/>
              <a:buChar char="Ø"/>
              <a:defRPr sz="1400"/>
            </a:pPr>
            <a:endParaRPr lang="da-DK" sz="1400" dirty="0">
              <a:solidFill>
                <a:prstClr val="black"/>
              </a:solidFill>
            </a:endParaRPr>
          </a:p>
        </p:txBody>
      </p:sp>
      <p:sp>
        <p:nvSpPr>
          <p:cNvPr id="4" name="Pladsholder til slidenumm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2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FB491A-B9B1-2E3A-1CAE-D309B61DFF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1589F4-A7E1-7CDA-3D55-DB77E12813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Formål med forelæsningen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C0B6FA-026C-42FF-F61E-22195C62F3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600"/>
              </a:spcAft>
              <a:buFont typeface="+mj-lt"/>
              <a:buAutoNum type="arabicPeriod"/>
              <a:defRPr sz="1400"/>
            </a:pPr>
            <a:r>
              <a:rPr lang="da-DK" dirty="0"/>
              <a:t>Forstå hvad </a:t>
            </a:r>
            <a:r>
              <a:rPr lang="da-DK" dirty="0" err="1"/>
              <a:t>confounding</a:t>
            </a:r>
            <a:r>
              <a:rPr lang="da-DK" dirty="0"/>
              <a:t> er og hvorfor det er vigtigt i epidemiologisk forskning</a:t>
            </a:r>
          </a:p>
          <a:p>
            <a:pPr lvl="1">
              <a:spcAft>
                <a:spcPts val="600"/>
              </a:spcAft>
              <a:buFont typeface="+mj-lt"/>
              <a:buAutoNum type="arabicPeriod"/>
              <a:defRPr sz="1400"/>
            </a:pPr>
            <a:r>
              <a:rPr lang="da-DK" dirty="0"/>
              <a:t>Kende til andre begreber, som kan forveksles med </a:t>
            </a:r>
            <a:r>
              <a:rPr lang="da-DK" dirty="0" err="1"/>
              <a:t>confounding</a:t>
            </a:r>
            <a:endParaRPr lang="da-DK" dirty="0"/>
          </a:p>
          <a:p>
            <a:pPr>
              <a:spcAft>
                <a:spcPts val="600"/>
              </a:spcAft>
              <a:buFont typeface="+mj-lt"/>
              <a:buAutoNum type="arabicPeriod"/>
              <a:defRPr sz="1400"/>
            </a:pPr>
            <a:r>
              <a:rPr lang="da-DK" dirty="0"/>
              <a:t>Lære at identificere potentielle </a:t>
            </a:r>
            <a:r>
              <a:rPr lang="da-DK" dirty="0" err="1"/>
              <a:t>confoundere</a:t>
            </a:r>
            <a:endParaRPr lang="da-DK" dirty="0"/>
          </a:p>
          <a:p>
            <a:pPr>
              <a:spcAft>
                <a:spcPts val="600"/>
              </a:spcAft>
              <a:buFont typeface="+mj-lt"/>
              <a:buAutoNum type="arabicPeriod"/>
              <a:defRPr sz="1400"/>
            </a:pPr>
            <a:r>
              <a:rPr lang="da-DK" dirty="0"/>
              <a:t>Kende til metoder til at håndtere </a:t>
            </a:r>
            <a:r>
              <a:rPr lang="da-DK" dirty="0" err="1"/>
              <a:t>confounding</a:t>
            </a:r>
            <a:endParaRPr lang="da-DK" dirty="0"/>
          </a:p>
        </p:txBody>
      </p:sp>
      <p:sp>
        <p:nvSpPr>
          <p:cNvPr id="4" name="Pladsholder til slidenummer 3">
            <a:extLst>
              <a:ext uri="{FF2B5EF4-FFF2-40B4-BE49-F238E27FC236}">
                <a16:creationId xmlns:a16="http://schemas.microsoft.com/office/drawing/2014/main" id="{8BED38AA-436C-82DA-5270-3BFEDC1EDE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40089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3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561811"/>
          </a:xfrm>
        </p:spPr>
        <p:txBody>
          <a:bodyPr>
            <a:normAutofit/>
          </a:bodyPr>
          <a:lstStyle/>
          <a:p>
            <a:r>
              <a:rPr lang="da-DK" dirty="0" err="1"/>
              <a:t>Directed</a:t>
            </a:r>
            <a:r>
              <a:rPr lang="da-DK" dirty="0"/>
              <a:t> </a:t>
            </a:r>
            <a:r>
              <a:rPr lang="da-DK" dirty="0" err="1"/>
              <a:t>acyclic</a:t>
            </a:r>
            <a:r>
              <a:rPr lang="da-DK" dirty="0"/>
              <a:t> </a:t>
            </a:r>
            <a:r>
              <a:rPr lang="da-DK" dirty="0" err="1"/>
              <a:t>graph</a:t>
            </a:r>
            <a:r>
              <a:rPr lang="da-DK" dirty="0"/>
              <a:t> (DAG)</a:t>
            </a:r>
          </a:p>
        </p:txBody>
      </p:sp>
      <p:sp>
        <p:nvSpPr>
          <p:cNvPr id="2" name="Pladsholder til slidenumm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040657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0E5059-99D7-DE3C-EEE3-B60B3820C4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FAC58BF-D4D5-47E4-E016-4B5FDF9114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 err="1"/>
              <a:t>Directed</a:t>
            </a:r>
            <a:r>
              <a:rPr lang="da-DK" dirty="0"/>
              <a:t> </a:t>
            </a:r>
            <a:r>
              <a:rPr lang="da-DK" dirty="0" err="1"/>
              <a:t>Acyclic</a:t>
            </a:r>
            <a:r>
              <a:rPr lang="da-DK" dirty="0"/>
              <a:t> Graphs (</a:t>
            </a:r>
            <a:r>
              <a:rPr lang="da-DK" dirty="0" err="1"/>
              <a:t>DAGs</a:t>
            </a:r>
            <a:r>
              <a:rPr lang="da-DK" dirty="0"/>
              <a:t>)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34CDB523-F314-A5D5-CA47-DF3F1103BE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da-DK" sz="1400" dirty="0"/>
              <a:t>I epidemiologisk forskning bruges </a:t>
            </a:r>
            <a:r>
              <a:rPr lang="da-DK" sz="1400" dirty="0" err="1"/>
              <a:t>DAGs</a:t>
            </a:r>
            <a:r>
              <a:rPr lang="da-DK" sz="1400" dirty="0"/>
              <a:t> som et visuelt og analytisk redskab til at repræsentere kausale antagelser om sammenhænge mellem variable. En DAG består af:</a:t>
            </a:r>
          </a:p>
          <a:p>
            <a:r>
              <a:rPr lang="da-DK" sz="1400" dirty="0"/>
              <a:t>Noder, der repræsenterer variable (fx eksponering, udfald, </a:t>
            </a:r>
            <a:r>
              <a:rPr lang="da-DK" sz="1400" dirty="0" err="1"/>
              <a:t>confoundere</a:t>
            </a:r>
            <a:r>
              <a:rPr lang="da-DK" sz="1400" dirty="0"/>
              <a:t>)</a:t>
            </a:r>
          </a:p>
          <a:p>
            <a:r>
              <a:rPr lang="da-DK" sz="1400" dirty="0"/>
              <a:t>Rettede pile, der angiver en antaget kausal retning</a:t>
            </a:r>
          </a:p>
          <a:p>
            <a:r>
              <a:rPr lang="da-DK" sz="1400" dirty="0"/>
              <a:t>Ingen cyklusser — man kan ikke starte ved én variabel og følge pilene tilbage til den samme variabel</a:t>
            </a:r>
          </a:p>
          <a:p>
            <a:pPr marL="0" indent="0">
              <a:buNone/>
            </a:pPr>
            <a:endParaRPr lang="da-DK" sz="1400" dirty="0"/>
          </a:p>
        </p:txBody>
      </p:sp>
      <p:sp>
        <p:nvSpPr>
          <p:cNvPr id="4" name="Pladsholder til slidenummer 3">
            <a:extLst>
              <a:ext uri="{FF2B5EF4-FFF2-40B4-BE49-F238E27FC236}">
                <a16:creationId xmlns:a16="http://schemas.microsoft.com/office/drawing/2014/main" id="{215B83A8-678F-423B-A678-C819D3122F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97567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Association ≠ </a:t>
            </a:r>
            <a:r>
              <a:rPr dirty="0" err="1"/>
              <a:t>kausalitet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600"/>
              </a:spcAft>
              <a:defRPr sz="1400"/>
            </a:pPr>
            <a:r>
              <a:rPr lang="da-DK" dirty="0"/>
              <a:t>En statistisk sammenhæng</a:t>
            </a:r>
            <a:r>
              <a:rPr dirty="0"/>
              <a:t> </a:t>
            </a:r>
            <a:r>
              <a:rPr lang="da-DK" dirty="0"/>
              <a:t>betyder ikke nødvendigvis årsagssammenhæng</a:t>
            </a:r>
          </a:p>
          <a:p>
            <a:pPr>
              <a:spcAft>
                <a:spcPts val="600"/>
              </a:spcAft>
              <a:defRPr sz="1400"/>
            </a:pPr>
            <a:r>
              <a:rPr lang="da-DK" dirty="0" err="1"/>
              <a:t>Confounding</a:t>
            </a:r>
            <a:r>
              <a:rPr lang="da-DK" dirty="0"/>
              <a:t> kan skabe en falsk association</a:t>
            </a:r>
          </a:p>
          <a:p>
            <a:pPr>
              <a:spcAft>
                <a:spcPts val="600"/>
              </a:spcAft>
              <a:defRPr sz="1400"/>
            </a:pPr>
            <a:r>
              <a:rPr lang="da-DK" dirty="0"/>
              <a:t>Viden om årsagssammenhænge er gavnlige, når vi skal identificere eller udelukke </a:t>
            </a:r>
            <a:r>
              <a:rPr lang="da-DK" dirty="0" err="1"/>
              <a:t>confoundere</a:t>
            </a:r>
            <a:r>
              <a:rPr lang="da-DK" dirty="0"/>
              <a:t> </a:t>
            </a:r>
          </a:p>
          <a:p>
            <a:pPr>
              <a:spcAft>
                <a:spcPts val="600"/>
              </a:spcAft>
              <a:defRPr sz="1400"/>
            </a:pPr>
            <a:r>
              <a:rPr lang="da-DK" dirty="0"/>
              <a:t>Eksempel: Højt is-salg og solskoldning – fælles årsag = varmt solskinsvejr</a:t>
            </a:r>
          </a:p>
          <a:p>
            <a:pPr>
              <a:spcAft>
                <a:spcPts val="600"/>
              </a:spcAft>
              <a:defRPr sz="1400"/>
            </a:pPr>
            <a:endParaRPr lang="da-DK" dirty="0"/>
          </a:p>
          <a:p>
            <a:pPr marL="0" indent="0">
              <a:spcAft>
                <a:spcPts val="600"/>
              </a:spcAft>
              <a:buNone/>
              <a:defRPr sz="1400"/>
            </a:pPr>
            <a:r>
              <a:rPr lang="da-DK" dirty="0" err="1"/>
              <a:t>DAGs</a:t>
            </a:r>
            <a:r>
              <a:rPr lang="da-DK" dirty="0"/>
              <a:t> hjælper forskeren med at afgøre, om en observeret association kan fortolkes som kausal, eller om den skyldes:</a:t>
            </a:r>
          </a:p>
          <a:p>
            <a:pPr>
              <a:spcAft>
                <a:spcPts val="600"/>
              </a:spcAft>
              <a:defRPr sz="1400"/>
            </a:pPr>
            <a:r>
              <a:rPr lang="da-DK" dirty="0" err="1"/>
              <a:t>Confounding</a:t>
            </a:r>
            <a:endParaRPr lang="da-DK" dirty="0"/>
          </a:p>
          <a:p>
            <a:pPr>
              <a:spcAft>
                <a:spcPts val="600"/>
              </a:spcAft>
              <a:defRPr sz="1400"/>
            </a:pPr>
            <a:r>
              <a:rPr lang="da-DK" dirty="0"/>
              <a:t>Selektions bias</a:t>
            </a:r>
          </a:p>
          <a:p>
            <a:pPr>
              <a:spcAft>
                <a:spcPts val="600"/>
              </a:spcAft>
              <a:defRPr sz="1400"/>
            </a:pPr>
            <a:r>
              <a:rPr lang="da-DK" dirty="0" err="1"/>
              <a:t>Collider</a:t>
            </a:r>
            <a:r>
              <a:rPr lang="da-DK" dirty="0"/>
              <a:t>-stratificering</a:t>
            </a:r>
          </a:p>
        </p:txBody>
      </p:sp>
      <p:sp>
        <p:nvSpPr>
          <p:cNvPr id="4" name="Pladsholder til slidenumm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6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651A16-E88B-AD1E-E4F5-63785DF4B6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D12881C-11A1-70C0-230A-2218CE3E09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DAG eksempel</a:t>
            </a:r>
          </a:p>
        </p:txBody>
      </p:sp>
      <p:sp>
        <p:nvSpPr>
          <p:cNvPr id="4" name="Pladsholder til slidenummer 3">
            <a:extLst>
              <a:ext uri="{FF2B5EF4-FFF2-40B4-BE49-F238E27FC236}">
                <a16:creationId xmlns:a16="http://schemas.microsoft.com/office/drawing/2014/main" id="{803B7835-04BB-7813-94F0-EBAA0AFBD9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7</a:t>
            </a:fld>
            <a:endParaRPr lang="en-US"/>
          </a:p>
        </p:txBody>
      </p:sp>
      <p:sp>
        <p:nvSpPr>
          <p:cNvPr id="5" name="Rektangel 4">
            <a:extLst>
              <a:ext uri="{FF2B5EF4-FFF2-40B4-BE49-F238E27FC236}">
                <a16:creationId xmlns:a16="http://schemas.microsoft.com/office/drawing/2014/main" id="{2BED8198-4843-F8FA-E2EE-AAB67C2D5909}"/>
              </a:ext>
            </a:extLst>
          </p:cNvPr>
          <p:cNvSpPr/>
          <p:nvPr/>
        </p:nvSpPr>
        <p:spPr>
          <a:xfrm>
            <a:off x="1168400" y="2057400"/>
            <a:ext cx="1682750" cy="56515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a-DK" dirty="0">
                <a:solidFill>
                  <a:schemeClr val="tx1"/>
                </a:solidFill>
              </a:rPr>
              <a:t>EKSPONERING</a:t>
            </a:r>
          </a:p>
        </p:txBody>
      </p:sp>
      <p:sp>
        <p:nvSpPr>
          <p:cNvPr id="6" name="Rektangel 5">
            <a:extLst>
              <a:ext uri="{FF2B5EF4-FFF2-40B4-BE49-F238E27FC236}">
                <a16:creationId xmlns:a16="http://schemas.microsoft.com/office/drawing/2014/main" id="{AF0CDA5B-55BC-1023-1EB3-0425EBFCC5BD}"/>
              </a:ext>
            </a:extLst>
          </p:cNvPr>
          <p:cNvSpPr/>
          <p:nvPr/>
        </p:nvSpPr>
        <p:spPr>
          <a:xfrm>
            <a:off x="3343275" y="3330575"/>
            <a:ext cx="1682750" cy="56515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a-DK" dirty="0">
                <a:solidFill>
                  <a:schemeClr val="tx1"/>
                </a:solidFill>
              </a:rPr>
              <a:t>CONFOUNDER</a:t>
            </a:r>
          </a:p>
        </p:txBody>
      </p:sp>
      <p:sp>
        <p:nvSpPr>
          <p:cNvPr id="7" name="Rektangel 6">
            <a:extLst>
              <a:ext uri="{FF2B5EF4-FFF2-40B4-BE49-F238E27FC236}">
                <a16:creationId xmlns:a16="http://schemas.microsoft.com/office/drawing/2014/main" id="{E57DFAEB-CCDF-EBFA-8C69-D2EEA2DC4E95}"/>
              </a:ext>
            </a:extLst>
          </p:cNvPr>
          <p:cNvSpPr/>
          <p:nvPr/>
        </p:nvSpPr>
        <p:spPr>
          <a:xfrm>
            <a:off x="5518150" y="2057400"/>
            <a:ext cx="1682750" cy="56515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a-DK" dirty="0">
                <a:solidFill>
                  <a:schemeClr val="tx1"/>
                </a:solidFill>
              </a:rPr>
              <a:t>UDFALD</a:t>
            </a:r>
          </a:p>
        </p:txBody>
      </p:sp>
      <p:cxnSp>
        <p:nvCxnSpPr>
          <p:cNvPr id="8" name="Lige pilforbindelse 7">
            <a:extLst>
              <a:ext uri="{FF2B5EF4-FFF2-40B4-BE49-F238E27FC236}">
                <a16:creationId xmlns:a16="http://schemas.microsoft.com/office/drawing/2014/main" id="{0DEE85B3-BF54-037A-AB74-D86B5CDB2D1B}"/>
              </a:ext>
            </a:extLst>
          </p:cNvPr>
          <p:cNvCxnSpPr>
            <a:stCxn id="6" idx="3"/>
            <a:endCxn id="7" idx="2"/>
          </p:cNvCxnSpPr>
          <p:nvPr/>
        </p:nvCxnSpPr>
        <p:spPr>
          <a:xfrm flipV="1">
            <a:off x="5026025" y="2622550"/>
            <a:ext cx="1333500" cy="990600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9" name="Lige pilforbindelse 8">
            <a:extLst>
              <a:ext uri="{FF2B5EF4-FFF2-40B4-BE49-F238E27FC236}">
                <a16:creationId xmlns:a16="http://schemas.microsoft.com/office/drawing/2014/main" id="{C83F508A-4633-2157-F2E4-31C4B46DA51A}"/>
              </a:ext>
            </a:extLst>
          </p:cNvPr>
          <p:cNvCxnSpPr>
            <a:stCxn id="6" idx="1"/>
            <a:endCxn id="5" idx="2"/>
          </p:cNvCxnSpPr>
          <p:nvPr/>
        </p:nvCxnSpPr>
        <p:spPr>
          <a:xfrm flipH="1" flipV="1">
            <a:off x="2009775" y="2622550"/>
            <a:ext cx="1333500" cy="990600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12" name="Lige pilforbindelse 11">
            <a:extLst>
              <a:ext uri="{FF2B5EF4-FFF2-40B4-BE49-F238E27FC236}">
                <a16:creationId xmlns:a16="http://schemas.microsoft.com/office/drawing/2014/main" id="{F2AFB255-5B3B-031D-B9E2-1FB27568CE05}"/>
              </a:ext>
            </a:extLst>
          </p:cNvPr>
          <p:cNvCxnSpPr>
            <a:stCxn id="5" idx="3"/>
            <a:endCxn id="7" idx="1"/>
          </p:cNvCxnSpPr>
          <p:nvPr/>
        </p:nvCxnSpPr>
        <p:spPr>
          <a:xfrm>
            <a:off x="2851150" y="2339975"/>
            <a:ext cx="2667000" cy="0"/>
          </a:xfrm>
          <a:prstGeom prst="straightConnector1">
            <a:avLst/>
          </a:prstGeom>
          <a:ln w="38100">
            <a:solidFill>
              <a:schemeClr val="accent1"/>
            </a:solidFill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sp>
        <p:nvSpPr>
          <p:cNvPr id="13" name="Tekstfelt 12">
            <a:extLst>
              <a:ext uri="{FF2B5EF4-FFF2-40B4-BE49-F238E27FC236}">
                <a16:creationId xmlns:a16="http://schemas.microsoft.com/office/drawing/2014/main" id="{3F1B4276-FD0F-FF4C-9F18-6A75684886FB}"/>
              </a:ext>
            </a:extLst>
          </p:cNvPr>
          <p:cNvSpPr txBox="1"/>
          <p:nvPr/>
        </p:nvSpPr>
        <p:spPr>
          <a:xfrm>
            <a:off x="3343275" y="2098972"/>
            <a:ext cx="168275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a-DK" sz="1050" i="1" dirty="0"/>
              <a:t>association af interesse</a:t>
            </a:r>
          </a:p>
          <a:p>
            <a:pPr algn="ctr"/>
            <a:endParaRPr lang="da-DK" sz="1050" b="1" dirty="0"/>
          </a:p>
        </p:txBody>
      </p:sp>
    </p:spTree>
    <p:extLst>
      <p:ext uri="{BB962C8B-B14F-4D97-AF65-F5344CB8AC3E}">
        <p14:creationId xmlns:p14="http://schemas.microsoft.com/office/powerpoint/2010/main" val="16609939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C8C8D68-3BA7-8638-4160-762E8EBBBC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DAG eksempel</a:t>
            </a:r>
          </a:p>
        </p:txBody>
      </p:sp>
      <p:sp>
        <p:nvSpPr>
          <p:cNvPr id="4" name="Pladsholder til slidenummer 3">
            <a:extLst>
              <a:ext uri="{FF2B5EF4-FFF2-40B4-BE49-F238E27FC236}">
                <a16:creationId xmlns:a16="http://schemas.microsoft.com/office/drawing/2014/main" id="{8FDD5DA4-5430-B3F3-5647-4326507966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8</a:t>
            </a:fld>
            <a:endParaRPr lang="en-US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1CE880D6-3E1D-DEA5-3B16-5602115E6227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0559" y="1369345"/>
            <a:ext cx="5401467" cy="47558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3013435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70A64C-9FD0-2032-2B2E-00C9BD9E1F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3">
            <a:extLst>
              <a:ext uri="{FF2B5EF4-FFF2-40B4-BE49-F238E27FC236}">
                <a16:creationId xmlns:a16="http://schemas.microsoft.com/office/drawing/2014/main" id="{E92B1DDB-1A63-6E2F-84D8-891559A80BE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2407199"/>
          </a:xfrm>
        </p:spPr>
        <p:txBody>
          <a:bodyPr>
            <a:normAutofit fontScale="90000"/>
          </a:bodyPr>
          <a:lstStyle/>
          <a:p>
            <a:r>
              <a:rPr lang="da-DK" dirty="0"/>
              <a:t>Forstå hvad </a:t>
            </a:r>
            <a:r>
              <a:rPr lang="da-DK" dirty="0" err="1"/>
              <a:t>confounding</a:t>
            </a:r>
            <a:r>
              <a:rPr lang="da-DK" dirty="0"/>
              <a:t> er og hvorfor det er vigtigt i epidemiologisk forskning</a:t>
            </a:r>
            <a:br>
              <a:rPr lang="da-DK" dirty="0"/>
            </a:br>
            <a:endParaRPr lang="da-DK" dirty="0"/>
          </a:p>
        </p:txBody>
      </p:sp>
      <p:sp>
        <p:nvSpPr>
          <p:cNvPr id="2" name="Pladsholder til slidenummer 1">
            <a:extLst>
              <a:ext uri="{FF2B5EF4-FFF2-40B4-BE49-F238E27FC236}">
                <a16:creationId xmlns:a16="http://schemas.microsoft.com/office/drawing/2014/main" id="{5E67F3F0-FD8F-DCBD-93D2-1FF2FE4755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1806475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Definition af confounding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600"/>
              </a:spcAft>
              <a:defRPr sz="1400"/>
            </a:pPr>
            <a:r>
              <a:rPr dirty="0" err="1"/>
              <a:t>Når</a:t>
            </a:r>
            <a:r>
              <a:rPr dirty="0"/>
              <a:t> </a:t>
            </a:r>
            <a:r>
              <a:rPr dirty="0" err="1"/>
              <a:t>effekten</a:t>
            </a:r>
            <a:r>
              <a:rPr dirty="0"/>
              <a:t> </a:t>
            </a:r>
            <a:r>
              <a:rPr dirty="0" err="1"/>
              <a:t>af</a:t>
            </a:r>
            <a:r>
              <a:rPr dirty="0"/>
              <a:t> </a:t>
            </a:r>
            <a:r>
              <a:rPr dirty="0" err="1"/>
              <a:t>en</a:t>
            </a:r>
            <a:r>
              <a:rPr dirty="0"/>
              <a:t> </a:t>
            </a:r>
            <a:r>
              <a:rPr dirty="0" err="1"/>
              <a:t>eksponering</a:t>
            </a:r>
            <a:r>
              <a:rPr dirty="0"/>
              <a:t> </a:t>
            </a:r>
            <a:r>
              <a:rPr dirty="0" err="1"/>
              <a:t>på</a:t>
            </a:r>
            <a:r>
              <a:rPr dirty="0"/>
              <a:t> et </a:t>
            </a:r>
            <a:r>
              <a:rPr dirty="0" err="1"/>
              <a:t>udfald</a:t>
            </a:r>
            <a:r>
              <a:rPr dirty="0"/>
              <a:t> </a:t>
            </a:r>
            <a:r>
              <a:rPr dirty="0" err="1"/>
              <a:t>blandes</a:t>
            </a:r>
            <a:r>
              <a:rPr dirty="0"/>
              <a:t> </a:t>
            </a:r>
            <a:r>
              <a:rPr lang="da-DK" dirty="0"/>
              <a:t>eller forveksles </a:t>
            </a:r>
            <a:r>
              <a:rPr dirty="0"/>
              <a:t>med </a:t>
            </a:r>
            <a:r>
              <a:rPr dirty="0" err="1"/>
              <a:t>effekten</a:t>
            </a:r>
            <a:r>
              <a:rPr dirty="0"/>
              <a:t> </a:t>
            </a:r>
            <a:r>
              <a:rPr dirty="0" err="1"/>
              <a:t>af</a:t>
            </a:r>
            <a:r>
              <a:rPr dirty="0"/>
              <a:t> </a:t>
            </a:r>
            <a:r>
              <a:rPr dirty="0" err="1"/>
              <a:t>en</a:t>
            </a:r>
            <a:r>
              <a:rPr dirty="0"/>
              <a:t> </a:t>
            </a:r>
            <a:r>
              <a:rPr dirty="0" err="1"/>
              <a:t>anden</a:t>
            </a:r>
            <a:r>
              <a:rPr dirty="0"/>
              <a:t> </a:t>
            </a:r>
            <a:r>
              <a:rPr dirty="0" err="1"/>
              <a:t>faktor</a:t>
            </a:r>
            <a:r>
              <a:rPr lang="da-DK" dirty="0"/>
              <a:t> (</a:t>
            </a:r>
            <a:r>
              <a:rPr lang="da-DK" dirty="0" err="1"/>
              <a:t>confounderen</a:t>
            </a:r>
            <a:r>
              <a:rPr lang="da-DK" dirty="0"/>
              <a:t>)</a:t>
            </a:r>
          </a:p>
          <a:p>
            <a:pPr>
              <a:spcAft>
                <a:spcPts val="600"/>
              </a:spcAft>
              <a:defRPr sz="1400"/>
            </a:pPr>
            <a:r>
              <a:rPr lang="da-DK" dirty="0"/>
              <a:t>Det sker ved at to faktorer begge kan være årsag til et udfald og disse to faktorer er indbyrdes associeret (</a:t>
            </a:r>
            <a:r>
              <a:rPr lang="da-DK" dirty="0" err="1"/>
              <a:t>confounder</a:t>
            </a:r>
            <a:r>
              <a:rPr lang="da-DK" dirty="0"/>
              <a:t> påvirker eksponering kausalt).</a:t>
            </a:r>
          </a:p>
          <a:p>
            <a:pPr>
              <a:spcAft>
                <a:spcPts val="600"/>
              </a:spcAft>
              <a:defRPr sz="1400"/>
            </a:pPr>
            <a:r>
              <a:rPr dirty="0"/>
              <a:t>Kan </a:t>
            </a:r>
            <a:r>
              <a:rPr dirty="0" err="1"/>
              <a:t>lede</a:t>
            </a:r>
            <a:r>
              <a:rPr dirty="0"/>
              <a:t> </a:t>
            </a:r>
            <a:r>
              <a:rPr dirty="0" err="1"/>
              <a:t>til</a:t>
            </a:r>
            <a:r>
              <a:rPr dirty="0"/>
              <a:t> </a:t>
            </a:r>
            <a:r>
              <a:rPr dirty="0" err="1"/>
              <a:t>forkerte</a:t>
            </a:r>
            <a:r>
              <a:rPr dirty="0"/>
              <a:t> </a:t>
            </a:r>
            <a:r>
              <a:rPr dirty="0" err="1"/>
              <a:t>konklusioner</a:t>
            </a:r>
            <a:endParaRPr dirty="0"/>
          </a:p>
        </p:txBody>
      </p:sp>
      <p:sp>
        <p:nvSpPr>
          <p:cNvPr id="4" name="Pladsholder til slidenumm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10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 err="1"/>
              <a:t>Hvorfor</a:t>
            </a:r>
            <a:r>
              <a:rPr dirty="0"/>
              <a:t> </a:t>
            </a:r>
            <a:r>
              <a:rPr dirty="0" err="1"/>
              <a:t>er</a:t>
            </a:r>
            <a:r>
              <a:rPr dirty="0"/>
              <a:t> confounding </a:t>
            </a:r>
            <a:r>
              <a:rPr dirty="0" err="1"/>
              <a:t>vigtigt</a:t>
            </a:r>
            <a:r>
              <a:rPr dirty="0"/>
              <a:t>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600"/>
              </a:spcAft>
              <a:defRPr sz="1400"/>
            </a:pPr>
            <a:r>
              <a:rPr lang="da-DK" dirty="0"/>
              <a:t>Kan føre til forkerte konklusioner om årsagssammenhænge</a:t>
            </a:r>
          </a:p>
          <a:p>
            <a:pPr>
              <a:spcAft>
                <a:spcPts val="600"/>
              </a:spcAft>
              <a:defRPr sz="1400"/>
            </a:pPr>
            <a:r>
              <a:rPr lang="da-DK" dirty="0"/>
              <a:t>Kan over- eller undervurdere en effekt</a:t>
            </a:r>
          </a:p>
          <a:p>
            <a:pPr>
              <a:spcAft>
                <a:spcPts val="600"/>
              </a:spcAft>
              <a:defRPr sz="1400"/>
            </a:pPr>
            <a:r>
              <a:rPr lang="da-DK" dirty="0"/>
              <a:t>Er særligt problematisk i observationsstudier (og er teoretisk fraværende i randomiserede studier)</a:t>
            </a:r>
          </a:p>
          <a:p>
            <a:pPr>
              <a:spcAft>
                <a:spcPts val="600"/>
              </a:spcAft>
              <a:defRPr sz="1400"/>
            </a:pPr>
            <a:r>
              <a:rPr lang="da-DK" dirty="0"/>
              <a:t>Målet er at håndtere </a:t>
            </a:r>
            <a:r>
              <a:rPr lang="da-DK" dirty="0" err="1"/>
              <a:t>confounding</a:t>
            </a:r>
            <a:r>
              <a:rPr lang="da-DK" dirty="0"/>
              <a:t> og få et mere retvisende billede</a:t>
            </a:r>
          </a:p>
        </p:txBody>
      </p:sp>
      <p:sp>
        <p:nvSpPr>
          <p:cNvPr id="4" name="Pladsholder til slidenumm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11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Confounder-</a:t>
            </a:r>
            <a:r>
              <a:rPr dirty="0" err="1"/>
              <a:t>trekanten</a:t>
            </a:r>
            <a:r>
              <a:rPr dirty="0"/>
              <a:t> – 3 </a:t>
            </a:r>
            <a:r>
              <a:rPr dirty="0" err="1"/>
              <a:t>kriterier</a:t>
            </a:r>
            <a:endParaRPr dirty="0"/>
          </a:p>
        </p:txBody>
      </p:sp>
      <p:sp>
        <p:nvSpPr>
          <p:cNvPr id="4" name="Rektangel 3"/>
          <p:cNvSpPr/>
          <p:nvPr/>
        </p:nvSpPr>
        <p:spPr>
          <a:xfrm>
            <a:off x="1168400" y="2057400"/>
            <a:ext cx="1682750" cy="56515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a-DK" dirty="0">
                <a:solidFill>
                  <a:schemeClr val="tx1"/>
                </a:solidFill>
              </a:rPr>
              <a:t>EKSPONERING</a:t>
            </a:r>
          </a:p>
        </p:txBody>
      </p:sp>
      <p:sp>
        <p:nvSpPr>
          <p:cNvPr id="5" name="Rektangel 4"/>
          <p:cNvSpPr/>
          <p:nvPr/>
        </p:nvSpPr>
        <p:spPr>
          <a:xfrm>
            <a:off x="3343275" y="3330575"/>
            <a:ext cx="1682750" cy="56515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a-DK" dirty="0">
                <a:solidFill>
                  <a:schemeClr val="tx1"/>
                </a:solidFill>
              </a:rPr>
              <a:t>CONFOUNDER</a:t>
            </a:r>
          </a:p>
        </p:txBody>
      </p:sp>
      <p:sp>
        <p:nvSpPr>
          <p:cNvPr id="6" name="Rektangel 5"/>
          <p:cNvSpPr/>
          <p:nvPr/>
        </p:nvSpPr>
        <p:spPr>
          <a:xfrm>
            <a:off x="5518150" y="2057400"/>
            <a:ext cx="1682750" cy="56515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a-DK" dirty="0">
                <a:solidFill>
                  <a:schemeClr val="tx1"/>
                </a:solidFill>
              </a:rPr>
              <a:t>UDFALD</a:t>
            </a:r>
          </a:p>
        </p:txBody>
      </p:sp>
      <p:cxnSp>
        <p:nvCxnSpPr>
          <p:cNvPr id="8" name="Lige pilforbindelse 7"/>
          <p:cNvCxnSpPr>
            <a:stCxn id="5" idx="3"/>
            <a:endCxn id="6" idx="2"/>
          </p:cNvCxnSpPr>
          <p:nvPr/>
        </p:nvCxnSpPr>
        <p:spPr>
          <a:xfrm flipV="1">
            <a:off x="5026025" y="2622550"/>
            <a:ext cx="1333500" cy="990600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10" name="Lige pilforbindelse 9"/>
          <p:cNvCxnSpPr>
            <a:stCxn id="5" idx="1"/>
            <a:endCxn id="4" idx="2"/>
          </p:cNvCxnSpPr>
          <p:nvPr/>
        </p:nvCxnSpPr>
        <p:spPr>
          <a:xfrm flipH="1" flipV="1">
            <a:off x="2009775" y="2622550"/>
            <a:ext cx="1333500" cy="990600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sp>
        <p:nvSpPr>
          <p:cNvPr id="13" name="Rektangel 12"/>
          <p:cNvSpPr/>
          <p:nvPr/>
        </p:nvSpPr>
        <p:spPr>
          <a:xfrm>
            <a:off x="1168400" y="5519737"/>
            <a:ext cx="1682750" cy="56515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a-DK" dirty="0">
                <a:solidFill>
                  <a:schemeClr val="tx1"/>
                </a:solidFill>
              </a:rPr>
              <a:t>EKSPONERING</a:t>
            </a:r>
          </a:p>
        </p:txBody>
      </p:sp>
      <p:sp>
        <p:nvSpPr>
          <p:cNvPr id="16" name="Rektangel 15"/>
          <p:cNvSpPr/>
          <p:nvPr/>
        </p:nvSpPr>
        <p:spPr>
          <a:xfrm>
            <a:off x="3343275" y="5519737"/>
            <a:ext cx="1682750" cy="56515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a-DK" dirty="0">
                <a:solidFill>
                  <a:schemeClr val="tx1"/>
                </a:solidFill>
              </a:rPr>
              <a:t>CONFOUNDER</a:t>
            </a:r>
          </a:p>
        </p:txBody>
      </p:sp>
      <p:sp>
        <p:nvSpPr>
          <p:cNvPr id="18" name="Rektangel 17"/>
          <p:cNvSpPr/>
          <p:nvPr/>
        </p:nvSpPr>
        <p:spPr>
          <a:xfrm>
            <a:off x="5518150" y="5519737"/>
            <a:ext cx="1682750" cy="56515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a-DK" dirty="0">
                <a:solidFill>
                  <a:schemeClr val="tx1"/>
                </a:solidFill>
              </a:rPr>
              <a:t>UDFALD</a:t>
            </a:r>
          </a:p>
        </p:txBody>
      </p:sp>
      <p:cxnSp>
        <p:nvCxnSpPr>
          <p:cNvPr id="21" name="Lige pilforbindelse 20"/>
          <p:cNvCxnSpPr>
            <a:stCxn id="13" idx="3"/>
            <a:endCxn id="16" idx="1"/>
          </p:cNvCxnSpPr>
          <p:nvPr/>
        </p:nvCxnSpPr>
        <p:spPr>
          <a:xfrm>
            <a:off x="2851150" y="5802312"/>
            <a:ext cx="492125" cy="0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24" name="Lige pilforbindelse 23"/>
          <p:cNvCxnSpPr>
            <a:stCxn id="16" idx="3"/>
            <a:endCxn id="18" idx="1"/>
          </p:cNvCxnSpPr>
          <p:nvPr/>
        </p:nvCxnSpPr>
        <p:spPr>
          <a:xfrm>
            <a:off x="5026025" y="5802312"/>
            <a:ext cx="492125" cy="0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sp>
        <p:nvSpPr>
          <p:cNvPr id="29" name="Tekstfelt 28"/>
          <p:cNvSpPr txBox="1"/>
          <p:nvPr/>
        </p:nvSpPr>
        <p:spPr>
          <a:xfrm>
            <a:off x="5588000" y="3120231"/>
            <a:ext cx="32258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a-DK" sz="1200" b="1" dirty="0"/>
              <a:t>1) </a:t>
            </a:r>
            <a:r>
              <a:rPr lang="da-DK" sz="1200" b="1" dirty="0" err="1"/>
              <a:t>Confounderen</a:t>
            </a:r>
            <a:r>
              <a:rPr lang="da-DK" sz="1200" b="1" dirty="0"/>
              <a:t> er en selvstændig risikofaktor for udfaldet</a:t>
            </a:r>
          </a:p>
          <a:p>
            <a:endParaRPr lang="da-DK" sz="1200" b="1" dirty="0"/>
          </a:p>
        </p:txBody>
      </p:sp>
      <p:sp>
        <p:nvSpPr>
          <p:cNvPr id="30" name="Tekstfelt 29"/>
          <p:cNvSpPr txBox="1"/>
          <p:nvPr/>
        </p:nvSpPr>
        <p:spPr>
          <a:xfrm>
            <a:off x="638175" y="3082676"/>
            <a:ext cx="23844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a-DK" sz="1200" b="1" dirty="0"/>
              <a:t>2) </a:t>
            </a:r>
            <a:r>
              <a:rPr lang="da-DK" sz="1200" b="1" dirty="0" err="1"/>
              <a:t>Confounderen</a:t>
            </a:r>
            <a:r>
              <a:rPr lang="da-DK" sz="1200" b="1" dirty="0"/>
              <a:t> påvirker eksponeringen</a:t>
            </a:r>
          </a:p>
        </p:txBody>
      </p:sp>
      <p:sp>
        <p:nvSpPr>
          <p:cNvPr id="31" name="Tekstfelt 30"/>
          <p:cNvSpPr txBox="1"/>
          <p:nvPr/>
        </p:nvSpPr>
        <p:spPr>
          <a:xfrm>
            <a:off x="2654300" y="4981078"/>
            <a:ext cx="30607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a-DK" sz="1200" b="1" dirty="0"/>
              <a:t>3) </a:t>
            </a:r>
            <a:r>
              <a:rPr lang="da-DK" sz="1200" b="1" dirty="0" err="1"/>
              <a:t>Confounderen</a:t>
            </a:r>
            <a:r>
              <a:rPr lang="da-DK" sz="1200" b="1" dirty="0"/>
              <a:t> er ikke et led i årsagskæden fra eksponering til udfald (</a:t>
            </a:r>
            <a:r>
              <a:rPr lang="da-DK" sz="1200" b="1" dirty="0" err="1"/>
              <a:t>mediator</a:t>
            </a:r>
            <a:r>
              <a:rPr lang="da-DK" sz="1200" b="1" dirty="0"/>
              <a:t>)</a:t>
            </a:r>
          </a:p>
        </p:txBody>
      </p:sp>
      <p:cxnSp>
        <p:nvCxnSpPr>
          <p:cNvPr id="33" name="Lige forbindelse 32"/>
          <p:cNvCxnSpPr/>
          <p:nvPr/>
        </p:nvCxnSpPr>
        <p:spPr>
          <a:xfrm>
            <a:off x="3097212" y="5442743"/>
            <a:ext cx="2174875" cy="742157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5" name="Lige forbindelse 34"/>
          <p:cNvCxnSpPr/>
          <p:nvPr/>
        </p:nvCxnSpPr>
        <p:spPr>
          <a:xfrm flipV="1">
            <a:off x="3097212" y="5442743"/>
            <a:ext cx="2174875" cy="742157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6" name="Lige pilforbindelse 35"/>
          <p:cNvCxnSpPr>
            <a:stCxn id="4" idx="3"/>
            <a:endCxn id="6" idx="1"/>
          </p:cNvCxnSpPr>
          <p:nvPr/>
        </p:nvCxnSpPr>
        <p:spPr>
          <a:xfrm>
            <a:off x="2851150" y="2339975"/>
            <a:ext cx="2667000" cy="0"/>
          </a:xfrm>
          <a:prstGeom prst="straightConnector1">
            <a:avLst/>
          </a:prstGeom>
          <a:ln w="38100">
            <a:solidFill>
              <a:schemeClr val="accent1"/>
            </a:solidFill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sp>
        <p:nvSpPr>
          <p:cNvPr id="39" name="Tekstfelt 38"/>
          <p:cNvSpPr txBox="1"/>
          <p:nvPr/>
        </p:nvSpPr>
        <p:spPr>
          <a:xfrm>
            <a:off x="3343275" y="2098972"/>
            <a:ext cx="168275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a-DK" sz="1050" i="1" dirty="0"/>
              <a:t>association af interesse</a:t>
            </a:r>
          </a:p>
          <a:p>
            <a:pPr algn="ctr"/>
            <a:endParaRPr lang="da-DK" sz="1050" b="1" dirty="0"/>
          </a:p>
        </p:txBody>
      </p:sp>
      <p:sp>
        <p:nvSpPr>
          <p:cNvPr id="3" name="Pladsholder til slidenumm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12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6" grpId="0" animBg="1"/>
      <p:bldP spid="18" grpId="0" animBg="1"/>
      <p:bldP spid="29" grpId="0"/>
      <p:bldP spid="30" grpId="0"/>
      <p:bldP spid="31" grpId="0"/>
      <p:bldP spid="39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dirty="0" err="1"/>
              <a:t>Hvornår</a:t>
            </a:r>
            <a:r>
              <a:rPr dirty="0"/>
              <a:t> </a:t>
            </a:r>
            <a:r>
              <a:rPr dirty="0" err="1"/>
              <a:t>er</a:t>
            </a:r>
            <a:r>
              <a:rPr dirty="0"/>
              <a:t> </a:t>
            </a:r>
            <a:r>
              <a:rPr dirty="0" err="1"/>
              <a:t>noget</a:t>
            </a:r>
            <a:r>
              <a:rPr dirty="0"/>
              <a:t> </a:t>
            </a:r>
            <a:r>
              <a:rPr u="sng" dirty="0" err="1"/>
              <a:t>ikke</a:t>
            </a:r>
            <a:r>
              <a:rPr dirty="0"/>
              <a:t> </a:t>
            </a:r>
            <a:r>
              <a:rPr dirty="0" err="1"/>
              <a:t>en</a:t>
            </a:r>
            <a:r>
              <a:rPr dirty="0"/>
              <a:t> confounder?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600"/>
              </a:spcAft>
              <a:defRPr sz="1400"/>
            </a:pPr>
            <a:r>
              <a:rPr dirty="0" err="1"/>
              <a:t>Hvis</a:t>
            </a:r>
            <a:r>
              <a:rPr dirty="0"/>
              <a:t> det </a:t>
            </a:r>
            <a:r>
              <a:rPr dirty="0" err="1"/>
              <a:t>ikke</a:t>
            </a:r>
            <a:r>
              <a:rPr dirty="0"/>
              <a:t> </a:t>
            </a:r>
            <a:r>
              <a:rPr lang="da-DK" dirty="0"/>
              <a:t>kausalt påvirker</a:t>
            </a:r>
            <a:r>
              <a:rPr dirty="0"/>
              <a:t> </a:t>
            </a:r>
            <a:r>
              <a:rPr dirty="0" err="1"/>
              <a:t>udfaldet</a:t>
            </a:r>
            <a:endParaRPr dirty="0"/>
          </a:p>
          <a:p>
            <a:pPr>
              <a:spcAft>
                <a:spcPts val="600"/>
              </a:spcAft>
              <a:defRPr sz="1400"/>
            </a:pPr>
            <a:r>
              <a:rPr dirty="0" err="1"/>
              <a:t>Hvis</a:t>
            </a:r>
            <a:r>
              <a:rPr dirty="0"/>
              <a:t> det </a:t>
            </a:r>
            <a:r>
              <a:rPr dirty="0" err="1"/>
              <a:t>ikke</a:t>
            </a:r>
            <a:r>
              <a:rPr dirty="0"/>
              <a:t> </a:t>
            </a:r>
            <a:r>
              <a:rPr lang="da-DK" dirty="0"/>
              <a:t>kausalt påvirker </a:t>
            </a:r>
            <a:r>
              <a:rPr dirty="0" err="1"/>
              <a:t>eksponeringen</a:t>
            </a:r>
            <a:endParaRPr dirty="0"/>
          </a:p>
          <a:p>
            <a:pPr>
              <a:spcAft>
                <a:spcPts val="600"/>
              </a:spcAft>
              <a:defRPr sz="1400"/>
            </a:pPr>
            <a:r>
              <a:rPr dirty="0" err="1"/>
              <a:t>Hvis</a:t>
            </a:r>
            <a:r>
              <a:rPr dirty="0"/>
              <a:t> </a:t>
            </a:r>
            <a:r>
              <a:rPr dirty="0" err="1"/>
              <a:t>det</a:t>
            </a:r>
            <a:r>
              <a:rPr dirty="0"/>
              <a:t> </a:t>
            </a:r>
            <a:r>
              <a:rPr lang="da-DK" dirty="0"/>
              <a:t>ligger på kausalvejen mellem eksponering og udfald (mediator)</a:t>
            </a:r>
          </a:p>
          <a:p>
            <a:pPr>
              <a:spcAft>
                <a:spcPts val="600"/>
              </a:spcAft>
              <a:defRPr sz="1400"/>
            </a:pPr>
            <a:r>
              <a:rPr lang="da-DK" dirty="0"/>
              <a:t>Hvis det er forårsaget af eksponering og udfald (</a:t>
            </a:r>
            <a:r>
              <a:rPr lang="da-DK" dirty="0" err="1"/>
              <a:t>collider</a:t>
            </a:r>
            <a:r>
              <a:rPr lang="da-DK" dirty="0"/>
              <a:t>)</a:t>
            </a:r>
            <a:endParaRPr dirty="0"/>
          </a:p>
        </p:txBody>
      </p:sp>
      <p:sp>
        <p:nvSpPr>
          <p:cNvPr id="4" name="Pladsholder til slidenumm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64178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066DD6-962B-9D01-C98C-96D0B5AD34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3">
            <a:extLst>
              <a:ext uri="{FF2B5EF4-FFF2-40B4-BE49-F238E27FC236}">
                <a16:creationId xmlns:a16="http://schemas.microsoft.com/office/drawing/2014/main" id="{C5AD89FD-B5CD-AF93-685B-B79D177871A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2407199"/>
          </a:xfrm>
        </p:spPr>
        <p:txBody>
          <a:bodyPr>
            <a:normAutofit/>
          </a:bodyPr>
          <a:lstStyle/>
          <a:p>
            <a:r>
              <a:rPr lang="da-DK" dirty="0"/>
              <a:t>Hvad er en mediator?</a:t>
            </a:r>
            <a:br>
              <a:rPr lang="da-DK" dirty="0"/>
            </a:br>
            <a:endParaRPr lang="da-DK" dirty="0"/>
          </a:p>
        </p:txBody>
      </p:sp>
      <p:sp>
        <p:nvSpPr>
          <p:cNvPr id="2" name="Pladsholder til slidenummer 1">
            <a:extLst>
              <a:ext uri="{FF2B5EF4-FFF2-40B4-BE49-F238E27FC236}">
                <a16:creationId xmlns:a16="http://schemas.microsoft.com/office/drawing/2014/main" id="{E40AE15F-B780-BB02-2A5B-111D8BD9BA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2996896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1D80AD3-19DF-CC94-3FF0-C63A34E21B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Mediator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19FC36C0-C868-7285-F30F-F472A5211E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a-DK" dirty="0"/>
              <a:t>En mediator en variabel, der forklarer </a:t>
            </a:r>
            <a:r>
              <a:rPr lang="da-DK" u="sng" dirty="0"/>
              <a:t>hele eller dele af </a:t>
            </a:r>
            <a:r>
              <a:rPr lang="da-DK" dirty="0"/>
              <a:t>sammenhængen mellem en eksponering og et udfald.</a:t>
            </a:r>
          </a:p>
          <a:p>
            <a:endParaRPr lang="da-DK" dirty="0"/>
          </a:p>
          <a:p>
            <a:r>
              <a:rPr lang="da-DK" dirty="0"/>
              <a:t>En mediator ligger på kausalvejen mellem eksponering og udfald:</a:t>
            </a:r>
          </a:p>
          <a:p>
            <a:pPr marL="0" indent="0">
              <a:buNone/>
            </a:pPr>
            <a:r>
              <a:rPr lang="da-DK" dirty="0"/>
              <a:t>	Eksponering → Mediator → Udfald</a:t>
            </a:r>
          </a:p>
          <a:p>
            <a:endParaRPr lang="da-DK" dirty="0"/>
          </a:p>
          <a:p>
            <a:r>
              <a:rPr lang="da-DK" dirty="0"/>
              <a:t>Det betyder, at eksponeringen påvirker mediatoren, som igen påvirker udfaldet.</a:t>
            </a:r>
          </a:p>
          <a:p>
            <a:endParaRPr lang="da-DK" dirty="0"/>
          </a:p>
        </p:txBody>
      </p:sp>
      <p:sp>
        <p:nvSpPr>
          <p:cNvPr id="4" name="Pladsholder til slidenummer 3">
            <a:extLst>
              <a:ext uri="{FF2B5EF4-FFF2-40B4-BE49-F238E27FC236}">
                <a16:creationId xmlns:a16="http://schemas.microsoft.com/office/drawing/2014/main" id="{E31975CA-4036-B0C9-37DA-85D9DDD6CD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535878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37E0F8-AE92-0C67-F846-5BA0A0AF9C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4EF377-B3C8-0367-6723-666249677D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 err="1"/>
              <a:t>Mediater</a:t>
            </a:r>
            <a:endParaRPr dirty="0"/>
          </a:p>
        </p:txBody>
      </p:sp>
      <p:sp>
        <p:nvSpPr>
          <p:cNvPr id="4" name="Rektangel 3">
            <a:extLst>
              <a:ext uri="{FF2B5EF4-FFF2-40B4-BE49-F238E27FC236}">
                <a16:creationId xmlns:a16="http://schemas.microsoft.com/office/drawing/2014/main" id="{8300F3EA-F1AF-EAB0-1C58-93049AD3F216}"/>
              </a:ext>
            </a:extLst>
          </p:cNvPr>
          <p:cNvSpPr/>
          <p:nvPr/>
        </p:nvSpPr>
        <p:spPr>
          <a:xfrm>
            <a:off x="1168400" y="2057400"/>
            <a:ext cx="1682750" cy="56515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a-DK" dirty="0">
                <a:solidFill>
                  <a:schemeClr val="tx1"/>
                </a:solidFill>
              </a:rPr>
              <a:t>EKSPONERING</a:t>
            </a:r>
          </a:p>
        </p:txBody>
      </p:sp>
      <p:sp>
        <p:nvSpPr>
          <p:cNvPr id="5" name="Rektangel 4">
            <a:extLst>
              <a:ext uri="{FF2B5EF4-FFF2-40B4-BE49-F238E27FC236}">
                <a16:creationId xmlns:a16="http://schemas.microsoft.com/office/drawing/2014/main" id="{13836CB9-D3D5-ADA2-7900-5E4CA7136DA5}"/>
              </a:ext>
            </a:extLst>
          </p:cNvPr>
          <p:cNvSpPr/>
          <p:nvPr/>
        </p:nvSpPr>
        <p:spPr>
          <a:xfrm>
            <a:off x="3343275" y="3330575"/>
            <a:ext cx="1682750" cy="56515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a-DK" dirty="0">
                <a:solidFill>
                  <a:schemeClr val="tx1"/>
                </a:solidFill>
              </a:rPr>
              <a:t>Mediator</a:t>
            </a:r>
          </a:p>
        </p:txBody>
      </p:sp>
      <p:sp>
        <p:nvSpPr>
          <p:cNvPr id="6" name="Rektangel 5">
            <a:extLst>
              <a:ext uri="{FF2B5EF4-FFF2-40B4-BE49-F238E27FC236}">
                <a16:creationId xmlns:a16="http://schemas.microsoft.com/office/drawing/2014/main" id="{DEF8F17D-6C87-0016-D637-BEAE908931A8}"/>
              </a:ext>
            </a:extLst>
          </p:cNvPr>
          <p:cNvSpPr/>
          <p:nvPr/>
        </p:nvSpPr>
        <p:spPr>
          <a:xfrm>
            <a:off x="5518150" y="2057400"/>
            <a:ext cx="1682750" cy="56515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a-DK" dirty="0">
                <a:solidFill>
                  <a:schemeClr val="tx1"/>
                </a:solidFill>
              </a:rPr>
              <a:t>UDFALD</a:t>
            </a:r>
          </a:p>
        </p:txBody>
      </p:sp>
      <p:cxnSp>
        <p:nvCxnSpPr>
          <p:cNvPr id="8" name="Lige pilforbindelse 7">
            <a:extLst>
              <a:ext uri="{FF2B5EF4-FFF2-40B4-BE49-F238E27FC236}">
                <a16:creationId xmlns:a16="http://schemas.microsoft.com/office/drawing/2014/main" id="{79D4991E-855D-87B9-7032-9A1FC166C476}"/>
              </a:ext>
            </a:extLst>
          </p:cNvPr>
          <p:cNvCxnSpPr>
            <a:stCxn id="5" idx="3"/>
            <a:endCxn id="6" idx="2"/>
          </p:cNvCxnSpPr>
          <p:nvPr/>
        </p:nvCxnSpPr>
        <p:spPr>
          <a:xfrm flipV="1">
            <a:off x="5026025" y="2622550"/>
            <a:ext cx="1333500" cy="990600"/>
          </a:xfrm>
          <a:prstGeom prst="straightConnector1">
            <a:avLst/>
          </a:prstGeom>
          <a:ln w="38100">
            <a:solidFill>
              <a:srgbClr val="FFFF00"/>
            </a:solidFill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10" name="Lige pilforbindelse 9">
            <a:extLst>
              <a:ext uri="{FF2B5EF4-FFF2-40B4-BE49-F238E27FC236}">
                <a16:creationId xmlns:a16="http://schemas.microsoft.com/office/drawing/2014/main" id="{541D51EE-3AF4-3BA2-0433-08AEA3F2E719}"/>
              </a:ext>
            </a:extLst>
          </p:cNvPr>
          <p:cNvCxnSpPr>
            <a:cxnSpLocks/>
            <a:stCxn id="4" idx="2"/>
            <a:endCxn id="5" idx="1"/>
          </p:cNvCxnSpPr>
          <p:nvPr/>
        </p:nvCxnSpPr>
        <p:spPr>
          <a:xfrm>
            <a:off x="2009775" y="2622550"/>
            <a:ext cx="1333500" cy="990600"/>
          </a:xfrm>
          <a:prstGeom prst="straightConnector1">
            <a:avLst/>
          </a:prstGeom>
          <a:ln w="38100">
            <a:solidFill>
              <a:srgbClr val="FFFF00"/>
            </a:solidFill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36" name="Lige pilforbindelse 35">
            <a:extLst>
              <a:ext uri="{FF2B5EF4-FFF2-40B4-BE49-F238E27FC236}">
                <a16:creationId xmlns:a16="http://schemas.microsoft.com/office/drawing/2014/main" id="{BD3AF214-A6FA-56B4-A732-12D4D349F644}"/>
              </a:ext>
            </a:extLst>
          </p:cNvPr>
          <p:cNvCxnSpPr>
            <a:stCxn id="4" idx="3"/>
            <a:endCxn id="6" idx="1"/>
          </p:cNvCxnSpPr>
          <p:nvPr/>
        </p:nvCxnSpPr>
        <p:spPr>
          <a:xfrm>
            <a:off x="2851150" y="2339975"/>
            <a:ext cx="2667000" cy="0"/>
          </a:xfrm>
          <a:prstGeom prst="straightConnector1">
            <a:avLst/>
          </a:prstGeom>
          <a:ln w="38100">
            <a:solidFill>
              <a:schemeClr val="accent1"/>
            </a:solidFill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sp>
        <p:nvSpPr>
          <p:cNvPr id="39" name="Tekstfelt 38">
            <a:extLst>
              <a:ext uri="{FF2B5EF4-FFF2-40B4-BE49-F238E27FC236}">
                <a16:creationId xmlns:a16="http://schemas.microsoft.com/office/drawing/2014/main" id="{7CC50DC5-6BF7-3FE4-525E-041E93E88FA1}"/>
              </a:ext>
            </a:extLst>
          </p:cNvPr>
          <p:cNvSpPr txBox="1"/>
          <p:nvPr/>
        </p:nvSpPr>
        <p:spPr>
          <a:xfrm>
            <a:off x="3343275" y="2098972"/>
            <a:ext cx="168275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a-DK" sz="1050" i="1" dirty="0"/>
              <a:t>association af interesse</a:t>
            </a:r>
          </a:p>
          <a:p>
            <a:pPr algn="ctr"/>
            <a:endParaRPr lang="da-DK" sz="1050" b="1" dirty="0"/>
          </a:p>
        </p:txBody>
      </p:sp>
      <p:sp>
        <p:nvSpPr>
          <p:cNvPr id="3" name="Pladsholder til slidenummer 2">
            <a:extLst>
              <a:ext uri="{FF2B5EF4-FFF2-40B4-BE49-F238E27FC236}">
                <a16:creationId xmlns:a16="http://schemas.microsoft.com/office/drawing/2014/main" id="{FB69BC3C-3DDA-3A74-3462-25001E357A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63070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Mediator vs. confounder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600"/>
              </a:spcAft>
              <a:defRPr sz="1400"/>
            </a:pPr>
            <a:r>
              <a:rPr dirty="0"/>
              <a:t>Mediator: Ligger </a:t>
            </a:r>
            <a:r>
              <a:rPr dirty="0" err="1"/>
              <a:t>på</a:t>
            </a:r>
            <a:r>
              <a:rPr dirty="0"/>
              <a:t> </a:t>
            </a:r>
            <a:r>
              <a:rPr dirty="0" err="1"/>
              <a:t>kausalvejen</a:t>
            </a:r>
            <a:r>
              <a:rPr dirty="0"/>
              <a:t> </a:t>
            </a:r>
            <a:r>
              <a:rPr dirty="0" err="1"/>
              <a:t>mellem</a:t>
            </a:r>
            <a:r>
              <a:rPr dirty="0"/>
              <a:t> </a:t>
            </a:r>
            <a:r>
              <a:rPr dirty="0" err="1"/>
              <a:t>eksponering</a:t>
            </a:r>
            <a:r>
              <a:rPr dirty="0"/>
              <a:t> </a:t>
            </a:r>
            <a:r>
              <a:rPr dirty="0" err="1"/>
              <a:t>og</a:t>
            </a:r>
            <a:r>
              <a:rPr dirty="0"/>
              <a:t> </a:t>
            </a:r>
            <a:r>
              <a:rPr dirty="0" err="1"/>
              <a:t>udfald</a:t>
            </a:r>
            <a:endParaRPr dirty="0"/>
          </a:p>
          <a:p>
            <a:pPr>
              <a:spcAft>
                <a:spcPts val="600"/>
              </a:spcAft>
              <a:defRPr sz="1400"/>
            </a:pPr>
            <a:r>
              <a:rPr dirty="0"/>
              <a:t>Confounder: </a:t>
            </a:r>
            <a:r>
              <a:rPr lang="da-DK" dirty="0"/>
              <a:t>Associeret med</a:t>
            </a:r>
            <a:r>
              <a:rPr dirty="0"/>
              <a:t> </a:t>
            </a:r>
            <a:r>
              <a:rPr dirty="0" err="1"/>
              <a:t>både</a:t>
            </a:r>
            <a:r>
              <a:rPr dirty="0"/>
              <a:t> </a:t>
            </a:r>
            <a:r>
              <a:rPr dirty="0" err="1"/>
              <a:t>eksponering</a:t>
            </a:r>
            <a:r>
              <a:rPr dirty="0"/>
              <a:t> </a:t>
            </a:r>
            <a:r>
              <a:rPr dirty="0" err="1"/>
              <a:t>og</a:t>
            </a:r>
            <a:r>
              <a:rPr dirty="0"/>
              <a:t> </a:t>
            </a:r>
            <a:r>
              <a:rPr dirty="0" err="1"/>
              <a:t>udfald</a:t>
            </a:r>
            <a:r>
              <a:rPr dirty="0"/>
              <a:t>, men er </a:t>
            </a:r>
            <a:r>
              <a:rPr dirty="0" err="1"/>
              <a:t>ikke</a:t>
            </a:r>
            <a:r>
              <a:rPr dirty="0"/>
              <a:t> </a:t>
            </a:r>
            <a:r>
              <a:rPr dirty="0" err="1"/>
              <a:t>en</a:t>
            </a:r>
            <a:r>
              <a:rPr dirty="0"/>
              <a:t> del </a:t>
            </a:r>
            <a:r>
              <a:rPr dirty="0" err="1"/>
              <a:t>af</a:t>
            </a:r>
            <a:r>
              <a:rPr dirty="0"/>
              <a:t> </a:t>
            </a:r>
            <a:r>
              <a:rPr dirty="0" err="1"/>
              <a:t>årsagskæden</a:t>
            </a:r>
            <a:endParaRPr dirty="0"/>
          </a:p>
          <a:p>
            <a:pPr>
              <a:spcAft>
                <a:spcPts val="600"/>
              </a:spcAft>
              <a:defRPr sz="1400"/>
            </a:pPr>
            <a:r>
              <a:rPr dirty="0" err="1"/>
              <a:t>Vigtigt</a:t>
            </a:r>
            <a:r>
              <a:rPr dirty="0"/>
              <a:t> </a:t>
            </a:r>
            <a:r>
              <a:rPr dirty="0" err="1"/>
              <a:t>ikke</a:t>
            </a:r>
            <a:r>
              <a:rPr dirty="0"/>
              <a:t> at </a:t>
            </a:r>
            <a:r>
              <a:rPr dirty="0" err="1"/>
              <a:t>forveksle</a:t>
            </a:r>
            <a:r>
              <a:rPr dirty="0"/>
              <a:t> de to – </a:t>
            </a:r>
            <a:r>
              <a:rPr dirty="0" err="1"/>
              <a:t>forkert</a:t>
            </a:r>
            <a:r>
              <a:rPr dirty="0"/>
              <a:t> </a:t>
            </a:r>
            <a:r>
              <a:rPr dirty="0" err="1"/>
              <a:t>justering</a:t>
            </a:r>
            <a:r>
              <a:rPr dirty="0"/>
              <a:t> </a:t>
            </a:r>
            <a:r>
              <a:rPr dirty="0" err="1"/>
              <a:t>kan</a:t>
            </a:r>
            <a:r>
              <a:rPr dirty="0"/>
              <a:t> </a:t>
            </a:r>
            <a:r>
              <a:rPr dirty="0" err="1"/>
              <a:t>fjerne</a:t>
            </a:r>
            <a:r>
              <a:rPr dirty="0"/>
              <a:t> </a:t>
            </a:r>
            <a:r>
              <a:rPr dirty="0" err="1"/>
              <a:t>reelle</a:t>
            </a:r>
            <a:r>
              <a:rPr dirty="0"/>
              <a:t> </a:t>
            </a:r>
            <a:r>
              <a:rPr dirty="0" err="1"/>
              <a:t>effekter</a:t>
            </a:r>
            <a:endParaRPr dirty="0"/>
          </a:p>
        </p:txBody>
      </p:sp>
      <p:sp>
        <p:nvSpPr>
          <p:cNvPr id="4" name="Pladsholder til slidenumm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57388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Mediator vs. confounder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600"/>
              </a:spcAft>
              <a:defRPr sz="1400"/>
            </a:pPr>
            <a:r>
              <a:rPr lang="da-DK" dirty="0"/>
              <a:t>En faktor kan ikke være en </a:t>
            </a:r>
            <a:r>
              <a:rPr lang="da-DK" dirty="0" err="1"/>
              <a:t>mediator</a:t>
            </a:r>
            <a:r>
              <a:rPr lang="da-DK" dirty="0"/>
              <a:t> og en </a:t>
            </a:r>
            <a:r>
              <a:rPr lang="da-DK" dirty="0" err="1"/>
              <a:t>confounder</a:t>
            </a:r>
            <a:r>
              <a:rPr lang="da-DK" dirty="0"/>
              <a:t> i den samme association på samme tid </a:t>
            </a:r>
          </a:p>
          <a:p>
            <a:pPr>
              <a:spcAft>
                <a:spcPts val="600"/>
              </a:spcAft>
              <a:defRPr sz="1400"/>
            </a:pPr>
            <a:r>
              <a:rPr lang="da-DK" dirty="0"/>
              <a:t>For at kunne håndtere en faktor korrekt, må I vurdere, om det er en </a:t>
            </a:r>
            <a:r>
              <a:rPr lang="da-DK" dirty="0" err="1"/>
              <a:t>mediator</a:t>
            </a:r>
            <a:r>
              <a:rPr lang="da-DK" dirty="0"/>
              <a:t> eller en </a:t>
            </a:r>
            <a:r>
              <a:rPr lang="da-DK" dirty="0" err="1"/>
              <a:t>confounder</a:t>
            </a:r>
            <a:endParaRPr lang="da-DK" dirty="0"/>
          </a:p>
          <a:p>
            <a:pPr lvl="1">
              <a:spcAft>
                <a:spcPts val="600"/>
              </a:spcAft>
              <a:defRPr sz="1400"/>
            </a:pPr>
            <a:r>
              <a:rPr lang="da-DK" dirty="0"/>
              <a:t>Det er ikke altid helt nemt; især hvis rækkefølgen ikke kendes</a:t>
            </a:r>
          </a:p>
          <a:p>
            <a:pPr>
              <a:spcAft>
                <a:spcPts val="600"/>
              </a:spcAft>
              <a:defRPr sz="1400"/>
            </a:pPr>
            <a:r>
              <a:rPr lang="da-DK" dirty="0"/>
              <a:t>Jeg forventer </a:t>
            </a:r>
            <a:r>
              <a:rPr lang="da-DK" u="sng" dirty="0"/>
              <a:t>ikke</a:t>
            </a:r>
            <a:r>
              <a:rPr lang="da-DK" dirty="0"/>
              <a:t>, at I kan lave en </a:t>
            </a:r>
            <a:r>
              <a:rPr lang="da-DK" dirty="0" err="1"/>
              <a:t>mediationsanalyse</a:t>
            </a:r>
            <a:r>
              <a:rPr lang="da-DK" dirty="0"/>
              <a:t>, men jeg forventer, at I kan:</a:t>
            </a:r>
          </a:p>
          <a:p>
            <a:pPr lvl="1">
              <a:spcAft>
                <a:spcPts val="600"/>
              </a:spcAft>
              <a:defRPr sz="1400"/>
            </a:pPr>
            <a:r>
              <a:rPr lang="da-DK" dirty="0"/>
              <a:t>Forstå den teoretiske forskel mellem en </a:t>
            </a:r>
            <a:r>
              <a:rPr lang="da-DK" dirty="0" err="1"/>
              <a:t>mediator</a:t>
            </a:r>
            <a:r>
              <a:rPr lang="da-DK" dirty="0"/>
              <a:t> og </a:t>
            </a:r>
            <a:r>
              <a:rPr lang="da-DK" dirty="0" err="1"/>
              <a:t>confounder</a:t>
            </a:r>
            <a:endParaRPr lang="da-DK" dirty="0"/>
          </a:p>
          <a:p>
            <a:pPr lvl="1">
              <a:spcAft>
                <a:spcPts val="600"/>
              </a:spcAft>
              <a:defRPr sz="1400"/>
            </a:pPr>
            <a:r>
              <a:rPr lang="da-DK" dirty="0"/>
              <a:t>Forstå hvad der sker, hvis vi (fejlagtigt) justerer for en </a:t>
            </a:r>
            <a:r>
              <a:rPr lang="da-DK" dirty="0" err="1"/>
              <a:t>mediator</a:t>
            </a:r>
            <a:endParaRPr lang="da-DK" dirty="0"/>
          </a:p>
        </p:txBody>
      </p:sp>
      <p:sp>
        <p:nvSpPr>
          <p:cNvPr id="4" name="Pladsholder til slidenumm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57710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Mediator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600"/>
              </a:spcAft>
              <a:defRPr sz="1400"/>
            </a:pPr>
            <a:r>
              <a:rPr lang="da-DK" dirty="0" err="1"/>
              <a:t>Mediationsanalyse</a:t>
            </a:r>
            <a:r>
              <a:rPr lang="da-DK" dirty="0"/>
              <a:t> deler effekter op i direkte effekter (udenom </a:t>
            </a:r>
            <a:r>
              <a:rPr lang="da-DK" dirty="0" err="1"/>
              <a:t>mediatoren</a:t>
            </a:r>
            <a:r>
              <a:rPr lang="da-DK" dirty="0"/>
              <a:t>) og indirekte effekter (gennem </a:t>
            </a:r>
            <a:r>
              <a:rPr lang="da-DK" dirty="0" err="1"/>
              <a:t>mediatoren</a:t>
            </a:r>
            <a:r>
              <a:rPr lang="da-DK" dirty="0"/>
              <a:t>). </a:t>
            </a:r>
          </a:p>
          <a:p>
            <a:pPr>
              <a:spcAft>
                <a:spcPts val="600"/>
              </a:spcAft>
              <a:defRPr sz="1400"/>
            </a:pPr>
            <a:r>
              <a:rPr lang="da-DK" dirty="0"/>
              <a:t>Den samlede effekt vil være den samme som i en rå </a:t>
            </a:r>
            <a:r>
              <a:rPr lang="da-DK" dirty="0" err="1"/>
              <a:t>ujusteret</a:t>
            </a:r>
            <a:r>
              <a:rPr lang="da-DK" dirty="0"/>
              <a:t> analyse.</a:t>
            </a:r>
          </a:p>
          <a:p>
            <a:pPr>
              <a:spcAft>
                <a:spcPts val="600"/>
              </a:spcAft>
              <a:defRPr sz="1400"/>
            </a:pPr>
            <a:r>
              <a:rPr lang="da-DK" dirty="0"/>
              <a:t>Hvis vi justerer for en </a:t>
            </a:r>
            <a:r>
              <a:rPr lang="da-DK" dirty="0" err="1"/>
              <a:t>mediator</a:t>
            </a:r>
            <a:r>
              <a:rPr lang="da-DK" dirty="0"/>
              <a:t>, får vi kun den direkte effekt.</a:t>
            </a:r>
            <a:endParaRPr dirty="0"/>
          </a:p>
        </p:txBody>
      </p:sp>
      <p:sp>
        <p:nvSpPr>
          <p:cNvPr id="4" name="Tekstfelt 3"/>
          <p:cNvSpPr txBox="1"/>
          <p:nvPr/>
        </p:nvSpPr>
        <p:spPr>
          <a:xfrm>
            <a:off x="457200" y="5756831"/>
            <a:ext cx="3978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dirty="0"/>
              <a:t>IQ</a:t>
            </a:r>
          </a:p>
        </p:txBody>
      </p:sp>
      <p:sp>
        <p:nvSpPr>
          <p:cNvPr id="5" name="Tekstfelt 4"/>
          <p:cNvSpPr txBox="1"/>
          <p:nvPr/>
        </p:nvSpPr>
        <p:spPr>
          <a:xfrm>
            <a:off x="3509818" y="3988067"/>
            <a:ext cx="13035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dirty="0"/>
              <a:t>Uddannelse</a:t>
            </a:r>
          </a:p>
        </p:txBody>
      </p:sp>
      <p:sp>
        <p:nvSpPr>
          <p:cNvPr id="6" name="Tekstfelt 5"/>
          <p:cNvSpPr txBox="1"/>
          <p:nvPr/>
        </p:nvSpPr>
        <p:spPr>
          <a:xfrm>
            <a:off x="7236690" y="5756831"/>
            <a:ext cx="10527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dirty="0"/>
              <a:t>Indkomst</a:t>
            </a:r>
          </a:p>
        </p:txBody>
      </p:sp>
      <p:cxnSp>
        <p:nvCxnSpPr>
          <p:cNvPr id="8" name="Lige pilforbindelse 7"/>
          <p:cNvCxnSpPr/>
          <p:nvPr/>
        </p:nvCxnSpPr>
        <p:spPr>
          <a:xfrm>
            <a:off x="855066" y="5821486"/>
            <a:ext cx="6381624" cy="0"/>
          </a:xfrm>
          <a:prstGeom prst="straightConnector1">
            <a:avLst/>
          </a:prstGeom>
          <a:ln w="57150">
            <a:solidFill>
              <a:schemeClr val="accent3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Lige pilforbindelse 8"/>
          <p:cNvCxnSpPr>
            <a:stCxn id="4" idx="0"/>
            <a:endCxn id="5" idx="1"/>
          </p:cNvCxnSpPr>
          <p:nvPr/>
        </p:nvCxnSpPr>
        <p:spPr>
          <a:xfrm flipV="1">
            <a:off x="656133" y="4172733"/>
            <a:ext cx="2853685" cy="1584098"/>
          </a:xfrm>
          <a:prstGeom prst="straightConnector1">
            <a:avLst/>
          </a:prstGeom>
          <a:ln w="57150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Lige pilforbindelse 11"/>
          <p:cNvCxnSpPr>
            <a:stCxn id="5" idx="3"/>
            <a:endCxn id="6" idx="0"/>
          </p:cNvCxnSpPr>
          <p:nvPr/>
        </p:nvCxnSpPr>
        <p:spPr>
          <a:xfrm>
            <a:off x="4813380" y="4172733"/>
            <a:ext cx="2949705" cy="1584098"/>
          </a:xfrm>
          <a:prstGeom prst="straightConnector1">
            <a:avLst/>
          </a:prstGeom>
          <a:ln w="57150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Lige pilforbindelse 14"/>
          <p:cNvCxnSpPr/>
          <p:nvPr/>
        </p:nvCxnSpPr>
        <p:spPr>
          <a:xfrm>
            <a:off x="855066" y="6038541"/>
            <a:ext cx="6381624" cy="0"/>
          </a:xfrm>
          <a:prstGeom prst="straightConnector1">
            <a:avLst/>
          </a:prstGeom>
          <a:ln w="57150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kstfelt 15"/>
          <p:cNvSpPr txBox="1"/>
          <p:nvPr/>
        </p:nvSpPr>
        <p:spPr>
          <a:xfrm>
            <a:off x="2372679" y="6118473"/>
            <a:ext cx="35778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da-DK" dirty="0"/>
              <a:t>Samlet effekt: </a:t>
            </a:r>
            <a:r>
              <a:rPr lang="da-DK" dirty="0" err="1"/>
              <a:t>coef</a:t>
            </a:r>
            <a:r>
              <a:rPr lang="da-DK" dirty="0"/>
              <a:t>: 0.14 (OR: 1.74)</a:t>
            </a:r>
          </a:p>
        </p:txBody>
      </p:sp>
      <p:sp>
        <p:nvSpPr>
          <p:cNvPr id="17" name="Tekstfelt 16"/>
          <p:cNvSpPr txBox="1"/>
          <p:nvPr/>
        </p:nvSpPr>
        <p:spPr>
          <a:xfrm>
            <a:off x="2413075" y="5360873"/>
            <a:ext cx="34970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da-DK" dirty="0">
                <a:solidFill>
                  <a:schemeClr val="accent3">
                    <a:lumMod val="50000"/>
                  </a:schemeClr>
                </a:solidFill>
              </a:rPr>
              <a:t>Direkte effekt: </a:t>
            </a:r>
            <a:r>
              <a:rPr lang="da-DK" dirty="0" err="1">
                <a:solidFill>
                  <a:schemeClr val="accent3">
                    <a:lumMod val="50000"/>
                  </a:schemeClr>
                </a:solidFill>
              </a:rPr>
              <a:t>coef</a:t>
            </a:r>
            <a:r>
              <a:rPr lang="da-DK" dirty="0">
                <a:solidFill>
                  <a:schemeClr val="accent3">
                    <a:lumMod val="50000"/>
                  </a:schemeClr>
                </a:solidFill>
              </a:rPr>
              <a:t>: 0.02 (OR: 1.10)</a:t>
            </a:r>
          </a:p>
        </p:txBody>
      </p:sp>
      <p:sp>
        <p:nvSpPr>
          <p:cNvPr id="18" name="Tekstfelt 17"/>
          <p:cNvSpPr txBox="1"/>
          <p:nvPr/>
        </p:nvSpPr>
        <p:spPr>
          <a:xfrm>
            <a:off x="2293331" y="3678515"/>
            <a:ext cx="36557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da-DK" dirty="0">
                <a:solidFill>
                  <a:schemeClr val="accent6">
                    <a:lumMod val="75000"/>
                  </a:schemeClr>
                </a:solidFill>
              </a:rPr>
              <a:t>Indirekte effekt: </a:t>
            </a:r>
            <a:r>
              <a:rPr lang="da-DK" dirty="0" err="1">
                <a:solidFill>
                  <a:schemeClr val="accent6">
                    <a:lumMod val="75000"/>
                  </a:schemeClr>
                </a:solidFill>
              </a:rPr>
              <a:t>coef</a:t>
            </a:r>
            <a:r>
              <a:rPr lang="da-DK" dirty="0">
                <a:solidFill>
                  <a:schemeClr val="accent6">
                    <a:lumMod val="75000"/>
                  </a:schemeClr>
                </a:solidFill>
              </a:rPr>
              <a:t>: 0.12 (OR: 1.58)</a:t>
            </a:r>
          </a:p>
        </p:txBody>
      </p:sp>
      <p:sp>
        <p:nvSpPr>
          <p:cNvPr id="7" name="Pladsholder til slidenumm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05979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  <p:bldP spid="16" grpId="0"/>
      <p:bldP spid="17" grpId="0"/>
      <p:bldP spid="18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0561BB-DB10-319D-3B09-6D7205D566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3">
            <a:extLst>
              <a:ext uri="{FF2B5EF4-FFF2-40B4-BE49-F238E27FC236}">
                <a16:creationId xmlns:a16="http://schemas.microsoft.com/office/drawing/2014/main" id="{82992A56-6C5E-019D-E091-E72BE52D30A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2407199"/>
          </a:xfrm>
        </p:spPr>
        <p:txBody>
          <a:bodyPr>
            <a:normAutofit/>
          </a:bodyPr>
          <a:lstStyle/>
          <a:p>
            <a:r>
              <a:rPr lang="da-DK" dirty="0"/>
              <a:t>Hvad er en </a:t>
            </a:r>
            <a:r>
              <a:rPr lang="da-DK" dirty="0" err="1"/>
              <a:t>collider</a:t>
            </a:r>
            <a:r>
              <a:rPr lang="da-DK" dirty="0"/>
              <a:t>?</a:t>
            </a:r>
            <a:br>
              <a:rPr lang="da-DK" dirty="0"/>
            </a:br>
            <a:endParaRPr lang="da-DK" dirty="0"/>
          </a:p>
        </p:txBody>
      </p:sp>
      <p:sp>
        <p:nvSpPr>
          <p:cNvPr id="2" name="Pladsholder til slidenummer 1">
            <a:extLst>
              <a:ext uri="{FF2B5EF4-FFF2-40B4-BE49-F238E27FC236}">
                <a16:creationId xmlns:a16="http://schemas.microsoft.com/office/drawing/2014/main" id="{72C505F4-DA58-2629-6F2E-58E7F5D825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20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1216538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3D5D6C-E554-0533-4914-6E918261E3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249A13-9268-EB48-2C3A-81937F4712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 err="1"/>
              <a:t>Collider</a:t>
            </a:r>
            <a:endParaRPr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3A9A71-F9C7-20E4-958F-07BCBABDC91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600"/>
              </a:spcAft>
              <a:defRPr sz="1400"/>
            </a:pPr>
            <a:r>
              <a:rPr lang="da-DK" dirty="0"/>
              <a:t>I epidemiologi er en </a:t>
            </a:r>
            <a:r>
              <a:rPr lang="da-DK" i="1" dirty="0" err="1"/>
              <a:t>collider</a:t>
            </a:r>
            <a:r>
              <a:rPr lang="da-DK" dirty="0"/>
              <a:t> en variabel, som er kausalt påvirket af to eller flere andre variable, f.eks.</a:t>
            </a:r>
          </a:p>
          <a:p>
            <a:pPr lvl="1">
              <a:spcAft>
                <a:spcPts val="600"/>
              </a:spcAft>
              <a:defRPr sz="1400"/>
            </a:pPr>
            <a:r>
              <a:rPr lang="da-DK" dirty="0"/>
              <a:t>eksponeringen og udfaldet</a:t>
            </a:r>
          </a:p>
          <a:p>
            <a:pPr lvl="1">
              <a:spcAft>
                <a:spcPts val="600"/>
              </a:spcAft>
              <a:defRPr sz="1400"/>
            </a:pPr>
            <a:r>
              <a:rPr lang="da-DK" dirty="0"/>
              <a:t>variable der er associeret med eksponeringen og udfaldet</a:t>
            </a:r>
          </a:p>
          <a:p>
            <a:pPr lvl="1">
              <a:spcAft>
                <a:spcPts val="600"/>
              </a:spcAft>
              <a:defRPr sz="1400"/>
            </a:pPr>
            <a:endParaRPr lang="da-DK" dirty="0"/>
          </a:p>
          <a:p>
            <a:pPr>
              <a:spcAft>
                <a:spcPts val="600"/>
              </a:spcAft>
              <a:defRPr sz="1400"/>
            </a:pPr>
            <a:r>
              <a:rPr lang="da-DK" sz="1400" dirty="0"/>
              <a:t>Pilene fra disse variable “kolliderer”. </a:t>
            </a:r>
          </a:p>
          <a:p>
            <a:pPr>
              <a:spcAft>
                <a:spcPts val="600"/>
              </a:spcAft>
              <a:defRPr sz="1400"/>
            </a:pPr>
            <a:r>
              <a:rPr lang="da-DK" sz="1400" dirty="0"/>
              <a:t>Hvis man justerer for eller betinger på en </a:t>
            </a:r>
            <a:r>
              <a:rPr lang="da-DK" sz="1400" dirty="0" err="1"/>
              <a:t>collider</a:t>
            </a:r>
            <a:r>
              <a:rPr lang="da-DK" sz="1400" dirty="0"/>
              <a:t>, introduceres en kunstig association mellem eksponering og udfald </a:t>
            </a:r>
          </a:p>
          <a:p>
            <a:pPr lvl="1">
              <a:spcAft>
                <a:spcPts val="600"/>
              </a:spcAft>
              <a:defRPr sz="1400"/>
            </a:pPr>
            <a:r>
              <a:rPr lang="da-DK" sz="1400" dirty="0"/>
              <a:t>Bliver bl.a. omtalt som </a:t>
            </a:r>
            <a:r>
              <a:rPr lang="da-DK" sz="1400" dirty="0" err="1"/>
              <a:t>collider</a:t>
            </a:r>
            <a:r>
              <a:rPr lang="da-DK" sz="1400" dirty="0"/>
              <a:t> bias, </a:t>
            </a:r>
            <a:r>
              <a:rPr lang="da-DK" sz="1400" dirty="0" err="1"/>
              <a:t>collider</a:t>
            </a:r>
            <a:r>
              <a:rPr lang="da-DK" sz="1400" dirty="0"/>
              <a:t> </a:t>
            </a:r>
            <a:r>
              <a:rPr lang="da-DK" sz="1400" dirty="0" err="1"/>
              <a:t>stratification</a:t>
            </a:r>
            <a:r>
              <a:rPr lang="da-DK" sz="1400" dirty="0"/>
              <a:t> bias, </a:t>
            </a:r>
            <a:r>
              <a:rPr lang="da-DK" sz="1400" dirty="0" err="1"/>
              <a:t>collider-conditioning</a:t>
            </a:r>
            <a:r>
              <a:rPr lang="da-DK" sz="1400" dirty="0"/>
              <a:t> bias)</a:t>
            </a:r>
            <a:endParaRPr sz="1400" dirty="0"/>
          </a:p>
        </p:txBody>
      </p:sp>
      <p:sp>
        <p:nvSpPr>
          <p:cNvPr id="4" name="Pladsholder til slidenummer 3">
            <a:extLst>
              <a:ext uri="{FF2B5EF4-FFF2-40B4-BE49-F238E27FC236}">
                <a16:creationId xmlns:a16="http://schemas.microsoft.com/office/drawing/2014/main" id="{00F44871-D9C9-70E6-9B58-7F0219D2F8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72835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8032E2-EAEC-8177-449A-BCB5EA0CF2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524F60-E7F2-AFC8-CC61-3480EE476B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Eksempel på </a:t>
            </a:r>
            <a:r>
              <a:rPr lang="da-DK" dirty="0" err="1"/>
              <a:t>collider</a:t>
            </a:r>
            <a:endParaRPr dirty="0"/>
          </a:p>
        </p:txBody>
      </p:sp>
      <p:sp>
        <p:nvSpPr>
          <p:cNvPr id="4" name="Rektangel 3">
            <a:extLst>
              <a:ext uri="{FF2B5EF4-FFF2-40B4-BE49-F238E27FC236}">
                <a16:creationId xmlns:a16="http://schemas.microsoft.com/office/drawing/2014/main" id="{C047DDC2-E4BA-1506-7A17-0133AB28E9C6}"/>
              </a:ext>
            </a:extLst>
          </p:cNvPr>
          <p:cNvSpPr/>
          <p:nvPr/>
        </p:nvSpPr>
        <p:spPr>
          <a:xfrm>
            <a:off x="1168400" y="2057400"/>
            <a:ext cx="1682750" cy="56515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a-DK" sz="1300" dirty="0">
                <a:solidFill>
                  <a:schemeClr val="tx1"/>
                </a:solidFill>
              </a:rPr>
              <a:t>RYGNING</a:t>
            </a:r>
          </a:p>
        </p:txBody>
      </p:sp>
      <p:sp>
        <p:nvSpPr>
          <p:cNvPr id="5" name="Rektangel 4">
            <a:extLst>
              <a:ext uri="{FF2B5EF4-FFF2-40B4-BE49-F238E27FC236}">
                <a16:creationId xmlns:a16="http://schemas.microsoft.com/office/drawing/2014/main" id="{9CB388EB-F447-E31F-A859-081CB5208723}"/>
              </a:ext>
            </a:extLst>
          </p:cNvPr>
          <p:cNvSpPr/>
          <p:nvPr/>
        </p:nvSpPr>
        <p:spPr>
          <a:xfrm>
            <a:off x="3343274" y="3146425"/>
            <a:ext cx="1682750" cy="56515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a-DK" sz="1300" dirty="0">
                <a:solidFill>
                  <a:schemeClr val="tx1"/>
                </a:solidFill>
              </a:rPr>
              <a:t>LIVSKVALITET</a:t>
            </a:r>
            <a:r>
              <a:rPr kumimoji="0" lang="da-DK" sz="105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(COLLIDER)</a:t>
            </a:r>
            <a:endParaRPr lang="da-DK" sz="1300" dirty="0">
              <a:solidFill>
                <a:schemeClr val="tx1"/>
              </a:solidFill>
            </a:endParaRPr>
          </a:p>
        </p:txBody>
      </p:sp>
      <p:sp>
        <p:nvSpPr>
          <p:cNvPr id="6" name="Rektangel 5">
            <a:extLst>
              <a:ext uri="{FF2B5EF4-FFF2-40B4-BE49-F238E27FC236}">
                <a16:creationId xmlns:a16="http://schemas.microsoft.com/office/drawing/2014/main" id="{D9AC52DC-024D-02C9-A31D-47A9ABCF5B15}"/>
              </a:ext>
            </a:extLst>
          </p:cNvPr>
          <p:cNvSpPr/>
          <p:nvPr/>
        </p:nvSpPr>
        <p:spPr>
          <a:xfrm>
            <a:off x="5518150" y="2057400"/>
            <a:ext cx="1682750" cy="56515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a-DK" sz="1300" dirty="0">
                <a:solidFill>
                  <a:schemeClr val="tx1"/>
                </a:solidFill>
              </a:rPr>
              <a:t>LUNGEKRÆFT</a:t>
            </a:r>
          </a:p>
        </p:txBody>
      </p:sp>
      <p:cxnSp>
        <p:nvCxnSpPr>
          <p:cNvPr id="8" name="Lige pilforbindelse 7">
            <a:extLst>
              <a:ext uri="{FF2B5EF4-FFF2-40B4-BE49-F238E27FC236}">
                <a16:creationId xmlns:a16="http://schemas.microsoft.com/office/drawing/2014/main" id="{544877E0-7133-AEDC-9F4B-7830F7E1B3DD}"/>
              </a:ext>
            </a:extLst>
          </p:cNvPr>
          <p:cNvCxnSpPr>
            <a:cxnSpLocks/>
            <a:stCxn id="6" idx="2"/>
            <a:endCxn id="5" idx="3"/>
          </p:cNvCxnSpPr>
          <p:nvPr/>
        </p:nvCxnSpPr>
        <p:spPr>
          <a:xfrm flipH="1">
            <a:off x="5026024" y="2622550"/>
            <a:ext cx="1333501" cy="806450"/>
          </a:xfrm>
          <a:prstGeom prst="straightConnector1">
            <a:avLst/>
          </a:prstGeom>
          <a:ln w="38100"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10" name="Lige pilforbindelse 9">
            <a:extLst>
              <a:ext uri="{FF2B5EF4-FFF2-40B4-BE49-F238E27FC236}">
                <a16:creationId xmlns:a16="http://schemas.microsoft.com/office/drawing/2014/main" id="{142CD5BF-AD60-2FE3-8BDB-901F01EB064C}"/>
              </a:ext>
            </a:extLst>
          </p:cNvPr>
          <p:cNvCxnSpPr>
            <a:cxnSpLocks/>
            <a:stCxn id="4" idx="2"/>
            <a:endCxn id="5" idx="1"/>
          </p:cNvCxnSpPr>
          <p:nvPr/>
        </p:nvCxnSpPr>
        <p:spPr>
          <a:xfrm>
            <a:off x="2009775" y="2622550"/>
            <a:ext cx="1333499" cy="806450"/>
          </a:xfrm>
          <a:prstGeom prst="straightConnector1">
            <a:avLst/>
          </a:prstGeom>
          <a:ln w="38100"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sp>
        <p:nvSpPr>
          <p:cNvPr id="29" name="Tekstfelt 28">
            <a:extLst>
              <a:ext uri="{FF2B5EF4-FFF2-40B4-BE49-F238E27FC236}">
                <a16:creationId xmlns:a16="http://schemas.microsoft.com/office/drawing/2014/main" id="{A77ECE8D-8D67-96E4-1B0F-DFDD8E0239C3}"/>
              </a:ext>
            </a:extLst>
          </p:cNvPr>
          <p:cNvSpPr txBox="1"/>
          <p:nvPr/>
        </p:nvSpPr>
        <p:spPr>
          <a:xfrm>
            <a:off x="4184649" y="4235449"/>
            <a:ext cx="341052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a-DK" sz="1200" b="1" dirty="0"/>
              <a:t>Livskvalitet påvirkes af både eksponering (rygning) og </a:t>
            </a:r>
            <a:r>
              <a:rPr lang="da-DK" sz="1200" b="1" dirty="0" err="1"/>
              <a:t>outcome</a:t>
            </a:r>
            <a:r>
              <a:rPr lang="da-DK" sz="1200" b="1" dirty="0"/>
              <a:t> (lungekræft) jf. retningen på pilene. Derfor er livskvalitet en </a:t>
            </a:r>
            <a:r>
              <a:rPr lang="da-DK" sz="1200" b="1" dirty="0" err="1"/>
              <a:t>collider</a:t>
            </a:r>
            <a:r>
              <a:rPr lang="da-DK" sz="1200" b="1" dirty="0"/>
              <a:t> her.</a:t>
            </a:r>
          </a:p>
        </p:txBody>
      </p:sp>
      <p:cxnSp>
        <p:nvCxnSpPr>
          <p:cNvPr id="19" name="Lige pilforbindelse 18">
            <a:extLst>
              <a:ext uri="{FF2B5EF4-FFF2-40B4-BE49-F238E27FC236}">
                <a16:creationId xmlns:a16="http://schemas.microsoft.com/office/drawing/2014/main" id="{E7143050-2667-5E20-F4C5-C0F3DD84DB2E}"/>
              </a:ext>
            </a:extLst>
          </p:cNvPr>
          <p:cNvCxnSpPr/>
          <p:nvPr/>
        </p:nvCxnSpPr>
        <p:spPr>
          <a:xfrm>
            <a:off x="2851150" y="2339975"/>
            <a:ext cx="2667000" cy="0"/>
          </a:xfrm>
          <a:prstGeom prst="straightConnector1">
            <a:avLst/>
          </a:prstGeom>
          <a:ln w="38100">
            <a:solidFill>
              <a:schemeClr val="accent5">
                <a:lumMod val="20000"/>
                <a:lumOff val="80000"/>
              </a:schemeClr>
            </a:solidFill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sp>
        <p:nvSpPr>
          <p:cNvPr id="20" name="Tekstfelt 19">
            <a:extLst>
              <a:ext uri="{FF2B5EF4-FFF2-40B4-BE49-F238E27FC236}">
                <a16:creationId xmlns:a16="http://schemas.microsoft.com/office/drawing/2014/main" id="{9329E309-8F87-67E2-6017-246E0A3C79F6}"/>
              </a:ext>
            </a:extLst>
          </p:cNvPr>
          <p:cNvSpPr txBox="1"/>
          <p:nvPr/>
        </p:nvSpPr>
        <p:spPr>
          <a:xfrm>
            <a:off x="3343275" y="2098972"/>
            <a:ext cx="168275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a-DK" sz="1050" i="1" dirty="0"/>
              <a:t>association af interesse</a:t>
            </a:r>
          </a:p>
          <a:p>
            <a:pPr algn="ctr"/>
            <a:endParaRPr lang="da-DK" sz="1050" b="1" dirty="0"/>
          </a:p>
        </p:txBody>
      </p:sp>
      <p:sp>
        <p:nvSpPr>
          <p:cNvPr id="3" name="Pladsholder til slidenummer 2">
            <a:extLst>
              <a:ext uri="{FF2B5EF4-FFF2-40B4-BE49-F238E27FC236}">
                <a16:creationId xmlns:a16="http://schemas.microsoft.com/office/drawing/2014/main" id="{2EDB7DFB-F7A6-EEE1-08AB-C45DD4E28D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93342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3F6DAB-5EF0-7CB5-8E23-021270AA38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68B7BA-266B-2C39-1C2A-131D691D2B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Eksempel på </a:t>
            </a:r>
            <a:r>
              <a:rPr lang="da-DK" dirty="0" err="1"/>
              <a:t>collider</a:t>
            </a:r>
            <a:endParaRPr dirty="0"/>
          </a:p>
        </p:txBody>
      </p:sp>
      <p:sp>
        <p:nvSpPr>
          <p:cNvPr id="4" name="Rektangel 3">
            <a:extLst>
              <a:ext uri="{FF2B5EF4-FFF2-40B4-BE49-F238E27FC236}">
                <a16:creationId xmlns:a16="http://schemas.microsoft.com/office/drawing/2014/main" id="{B15F275F-7C43-58BE-CB5F-D7EA42748368}"/>
              </a:ext>
            </a:extLst>
          </p:cNvPr>
          <p:cNvSpPr/>
          <p:nvPr/>
        </p:nvSpPr>
        <p:spPr>
          <a:xfrm>
            <a:off x="1168400" y="2057400"/>
            <a:ext cx="1682750" cy="56515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a-DK" sz="1300" dirty="0">
                <a:solidFill>
                  <a:schemeClr val="tx1"/>
                </a:solidFill>
              </a:rPr>
              <a:t>RYGNING</a:t>
            </a:r>
          </a:p>
        </p:txBody>
      </p:sp>
      <p:sp>
        <p:nvSpPr>
          <p:cNvPr id="5" name="Rektangel 4">
            <a:extLst>
              <a:ext uri="{FF2B5EF4-FFF2-40B4-BE49-F238E27FC236}">
                <a16:creationId xmlns:a16="http://schemas.microsoft.com/office/drawing/2014/main" id="{0C207AEB-F576-A948-9326-AFB17BFC0E9F}"/>
              </a:ext>
            </a:extLst>
          </p:cNvPr>
          <p:cNvSpPr/>
          <p:nvPr/>
        </p:nvSpPr>
        <p:spPr>
          <a:xfrm>
            <a:off x="3343274" y="3146425"/>
            <a:ext cx="1682750" cy="56515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a-DK" sz="1300" dirty="0">
                <a:solidFill>
                  <a:schemeClr val="tx1"/>
                </a:solidFill>
              </a:rPr>
              <a:t>LAV FØDSELSVÆGT</a:t>
            </a:r>
          </a:p>
          <a:p>
            <a:pPr algn="ctr"/>
            <a:r>
              <a:rPr lang="da-DK" sz="1050" i="1" dirty="0">
                <a:solidFill>
                  <a:schemeClr val="tx1"/>
                </a:solidFill>
              </a:rPr>
              <a:t>(COLLIDER)</a:t>
            </a:r>
            <a:endParaRPr lang="da-DK" sz="1300" i="1" dirty="0">
              <a:solidFill>
                <a:schemeClr val="tx1"/>
              </a:solidFill>
            </a:endParaRPr>
          </a:p>
        </p:txBody>
      </p:sp>
      <p:sp>
        <p:nvSpPr>
          <p:cNvPr id="6" name="Rektangel 5">
            <a:extLst>
              <a:ext uri="{FF2B5EF4-FFF2-40B4-BE49-F238E27FC236}">
                <a16:creationId xmlns:a16="http://schemas.microsoft.com/office/drawing/2014/main" id="{B787C360-5CB7-94C6-D07F-387680ED74BF}"/>
              </a:ext>
            </a:extLst>
          </p:cNvPr>
          <p:cNvSpPr/>
          <p:nvPr/>
        </p:nvSpPr>
        <p:spPr>
          <a:xfrm>
            <a:off x="5518150" y="2057400"/>
            <a:ext cx="1682750" cy="56515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a-DK" sz="1300" dirty="0">
                <a:solidFill>
                  <a:schemeClr val="tx1"/>
                </a:solidFill>
              </a:rPr>
              <a:t>MORTALITET (BARN)</a:t>
            </a:r>
          </a:p>
        </p:txBody>
      </p:sp>
      <p:cxnSp>
        <p:nvCxnSpPr>
          <p:cNvPr id="8" name="Lige pilforbindelse 7">
            <a:extLst>
              <a:ext uri="{FF2B5EF4-FFF2-40B4-BE49-F238E27FC236}">
                <a16:creationId xmlns:a16="http://schemas.microsoft.com/office/drawing/2014/main" id="{DCDDE644-DF5E-6A35-715E-3FCBADC92253}"/>
              </a:ext>
            </a:extLst>
          </p:cNvPr>
          <p:cNvCxnSpPr>
            <a:stCxn id="5" idx="3"/>
            <a:endCxn id="6" idx="2"/>
          </p:cNvCxnSpPr>
          <p:nvPr/>
        </p:nvCxnSpPr>
        <p:spPr>
          <a:xfrm flipV="1">
            <a:off x="5026024" y="2622550"/>
            <a:ext cx="1333501" cy="806450"/>
          </a:xfrm>
          <a:prstGeom prst="straightConnector1">
            <a:avLst/>
          </a:prstGeom>
          <a:ln w="38100"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10" name="Lige pilforbindelse 9">
            <a:extLst>
              <a:ext uri="{FF2B5EF4-FFF2-40B4-BE49-F238E27FC236}">
                <a16:creationId xmlns:a16="http://schemas.microsoft.com/office/drawing/2014/main" id="{FC2A3D85-FB53-AA87-1BB5-90B8F0F0279E}"/>
              </a:ext>
            </a:extLst>
          </p:cNvPr>
          <p:cNvCxnSpPr>
            <a:cxnSpLocks/>
            <a:stCxn id="4" idx="2"/>
            <a:endCxn id="5" idx="1"/>
          </p:cNvCxnSpPr>
          <p:nvPr/>
        </p:nvCxnSpPr>
        <p:spPr>
          <a:xfrm>
            <a:off x="2009775" y="2622550"/>
            <a:ext cx="1333499" cy="806450"/>
          </a:xfrm>
          <a:prstGeom prst="straightConnector1">
            <a:avLst/>
          </a:prstGeom>
          <a:ln w="38100"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sp>
        <p:nvSpPr>
          <p:cNvPr id="29" name="Tekstfelt 28">
            <a:extLst>
              <a:ext uri="{FF2B5EF4-FFF2-40B4-BE49-F238E27FC236}">
                <a16:creationId xmlns:a16="http://schemas.microsoft.com/office/drawing/2014/main" id="{00D1F611-5D41-3014-1B9A-8CE20331A3BC}"/>
              </a:ext>
            </a:extLst>
          </p:cNvPr>
          <p:cNvSpPr txBox="1"/>
          <p:nvPr/>
        </p:nvSpPr>
        <p:spPr>
          <a:xfrm>
            <a:off x="4184649" y="4235449"/>
            <a:ext cx="341052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a-DK" sz="1200" b="1" dirty="0"/>
              <a:t>Lav fødselsvægt er både en mediator og </a:t>
            </a:r>
            <a:r>
              <a:rPr lang="da-DK" sz="1200" b="1" dirty="0" err="1"/>
              <a:t>collider</a:t>
            </a:r>
            <a:r>
              <a:rPr lang="da-DK" sz="1200" b="1" dirty="0"/>
              <a:t> i denne association</a:t>
            </a:r>
          </a:p>
        </p:txBody>
      </p:sp>
      <p:cxnSp>
        <p:nvCxnSpPr>
          <p:cNvPr id="19" name="Lige pilforbindelse 18">
            <a:extLst>
              <a:ext uri="{FF2B5EF4-FFF2-40B4-BE49-F238E27FC236}">
                <a16:creationId xmlns:a16="http://schemas.microsoft.com/office/drawing/2014/main" id="{A321D3B6-9913-4277-96C3-5F7DC6CFD632}"/>
              </a:ext>
            </a:extLst>
          </p:cNvPr>
          <p:cNvCxnSpPr/>
          <p:nvPr/>
        </p:nvCxnSpPr>
        <p:spPr>
          <a:xfrm>
            <a:off x="2851150" y="2339975"/>
            <a:ext cx="2667000" cy="0"/>
          </a:xfrm>
          <a:prstGeom prst="straightConnector1">
            <a:avLst/>
          </a:prstGeom>
          <a:ln w="38100">
            <a:solidFill>
              <a:schemeClr val="accent5">
                <a:lumMod val="20000"/>
                <a:lumOff val="80000"/>
              </a:schemeClr>
            </a:solidFill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sp>
        <p:nvSpPr>
          <p:cNvPr id="20" name="Tekstfelt 19">
            <a:extLst>
              <a:ext uri="{FF2B5EF4-FFF2-40B4-BE49-F238E27FC236}">
                <a16:creationId xmlns:a16="http://schemas.microsoft.com/office/drawing/2014/main" id="{13F2A842-C6EB-D685-F307-F004FAC2D3BB}"/>
              </a:ext>
            </a:extLst>
          </p:cNvPr>
          <p:cNvSpPr txBox="1"/>
          <p:nvPr/>
        </p:nvSpPr>
        <p:spPr>
          <a:xfrm>
            <a:off x="3343275" y="2098972"/>
            <a:ext cx="168275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a-DK" sz="1050" i="1" dirty="0"/>
              <a:t>association af interesse</a:t>
            </a:r>
          </a:p>
          <a:p>
            <a:pPr algn="ctr"/>
            <a:endParaRPr lang="da-DK" sz="1050" b="1" dirty="0"/>
          </a:p>
        </p:txBody>
      </p:sp>
      <p:sp>
        <p:nvSpPr>
          <p:cNvPr id="3" name="Pladsholder til slidenummer 2">
            <a:extLst>
              <a:ext uri="{FF2B5EF4-FFF2-40B4-BE49-F238E27FC236}">
                <a16:creationId xmlns:a16="http://schemas.microsoft.com/office/drawing/2014/main" id="{131A4042-7B3E-1144-5E2A-BABC165398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23</a:t>
            </a:fld>
            <a:endParaRPr lang="en-US"/>
          </a:p>
        </p:txBody>
      </p:sp>
      <p:sp>
        <p:nvSpPr>
          <p:cNvPr id="12" name="Rektangel 11">
            <a:extLst>
              <a:ext uri="{FF2B5EF4-FFF2-40B4-BE49-F238E27FC236}">
                <a16:creationId xmlns:a16="http://schemas.microsoft.com/office/drawing/2014/main" id="{6D9BE918-B46F-6BB6-C929-581F3B31909E}"/>
              </a:ext>
            </a:extLst>
          </p:cNvPr>
          <p:cNvSpPr/>
          <p:nvPr/>
        </p:nvSpPr>
        <p:spPr>
          <a:xfrm>
            <a:off x="1168400" y="4087130"/>
            <a:ext cx="1682750" cy="565150"/>
          </a:xfrm>
          <a:custGeom>
            <a:avLst/>
            <a:gdLst>
              <a:gd name="connsiteX0" fmla="*/ 0 w 1682750"/>
              <a:gd name="connsiteY0" fmla="*/ 0 h 565150"/>
              <a:gd name="connsiteX1" fmla="*/ 1682750 w 1682750"/>
              <a:gd name="connsiteY1" fmla="*/ 0 h 565150"/>
              <a:gd name="connsiteX2" fmla="*/ 1682750 w 1682750"/>
              <a:gd name="connsiteY2" fmla="*/ 565150 h 565150"/>
              <a:gd name="connsiteX3" fmla="*/ 0 w 1682750"/>
              <a:gd name="connsiteY3" fmla="*/ 565150 h 565150"/>
              <a:gd name="connsiteX4" fmla="*/ 0 w 1682750"/>
              <a:gd name="connsiteY4" fmla="*/ 0 h 565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682750" h="565150" fill="none" extrusionOk="0">
                <a:moveTo>
                  <a:pt x="0" y="0"/>
                </a:moveTo>
                <a:cubicBezTo>
                  <a:pt x="319249" y="147812"/>
                  <a:pt x="1030735" y="-88394"/>
                  <a:pt x="1682750" y="0"/>
                </a:cubicBezTo>
                <a:cubicBezTo>
                  <a:pt x="1718074" y="121367"/>
                  <a:pt x="1660319" y="314245"/>
                  <a:pt x="1682750" y="565150"/>
                </a:cubicBezTo>
                <a:cubicBezTo>
                  <a:pt x="1004860" y="467795"/>
                  <a:pt x="407551" y="461013"/>
                  <a:pt x="0" y="565150"/>
                </a:cubicBezTo>
                <a:cubicBezTo>
                  <a:pt x="-31327" y="347951"/>
                  <a:pt x="-12323" y="209324"/>
                  <a:pt x="0" y="0"/>
                </a:cubicBezTo>
                <a:close/>
              </a:path>
              <a:path w="1682750" h="565150" stroke="0" extrusionOk="0">
                <a:moveTo>
                  <a:pt x="0" y="0"/>
                </a:moveTo>
                <a:cubicBezTo>
                  <a:pt x="316998" y="-48154"/>
                  <a:pt x="1238604" y="-116958"/>
                  <a:pt x="1682750" y="0"/>
                </a:cubicBezTo>
                <a:cubicBezTo>
                  <a:pt x="1716479" y="193105"/>
                  <a:pt x="1703348" y="350334"/>
                  <a:pt x="1682750" y="565150"/>
                </a:cubicBezTo>
                <a:cubicBezTo>
                  <a:pt x="1147648" y="515282"/>
                  <a:pt x="662346" y="669701"/>
                  <a:pt x="0" y="565150"/>
                </a:cubicBezTo>
                <a:cubicBezTo>
                  <a:pt x="-47206" y="474614"/>
                  <a:pt x="-7228" y="232522"/>
                  <a:pt x="0" y="0"/>
                </a:cubicBezTo>
                <a:close/>
              </a:path>
            </a:pathLst>
          </a:custGeom>
          <a:solidFill>
            <a:schemeClr val="accent4">
              <a:lumMod val="60000"/>
              <a:lumOff val="40000"/>
            </a:schemeClr>
          </a:solidFill>
          <a:ln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2423819523">
                  <a:prstGeom prst="rect">
                    <a:avLst/>
                  </a:prstGeom>
                  <ask:type>
                    <ask:lineSketchCurved/>
                  </ask:type>
                </ask:lineSketchStyleProps>
              </a:ext>
            </a:extLst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a-DK" sz="1300" dirty="0">
                <a:solidFill>
                  <a:schemeClr val="tx1"/>
                </a:solidFill>
              </a:rPr>
              <a:t>DEFORMITETER</a:t>
            </a:r>
          </a:p>
        </p:txBody>
      </p:sp>
      <p:cxnSp>
        <p:nvCxnSpPr>
          <p:cNvPr id="17" name="Lige pilforbindelse 16">
            <a:extLst>
              <a:ext uri="{FF2B5EF4-FFF2-40B4-BE49-F238E27FC236}">
                <a16:creationId xmlns:a16="http://schemas.microsoft.com/office/drawing/2014/main" id="{D3C09D42-2D63-DBD5-5B3F-E39A60009228}"/>
              </a:ext>
            </a:extLst>
          </p:cNvPr>
          <p:cNvCxnSpPr>
            <a:cxnSpLocks/>
            <a:stCxn id="12" idx="0"/>
            <a:endCxn id="5" idx="1"/>
          </p:cNvCxnSpPr>
          <p:nvPr/>
        </p:nvCxnSpPr>
        <p:spPr>
          <a:xfrm flipV="1">
            <a:off x="2009775" y="3429000"/>
            <a:ext cx="1333499" cy="658130"/>
          </a:xfrm>
          <a:prstGeom prst="straightConnector1">
            <a:avLst/>
          </a:prstGeom>
          <a:ln w="38100"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sp>
        <p:nvSpPr>
          <p:cNvPr id="27" name="Tekstfelt 26">
            <a:extLst>
              <a:ext uri="{FF2B5EF4-FFF2-40B4-BE49-F238E27FC236}">
                <a16:creationId xmlns:a16="http://schemas.microsoft.com/office/drawing/2014/main" id="{7E97F94E-1B9F-8DF7-374E-66C8E61E092A}"/>
              </a:ext>
            </a:extLst>
          </p:cNvPr>
          <p:cNvSpPr txBox="1"/>
          <p:nvPr/>
        </p:nvSpPr>
        <p:spPr>
          <a:xfrm>
            <a:off x="4184649" y="4789447"/>
            <a:ext cx="341052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a-DK" sz="1200" b="1" dirty="0"/>
              <a:t>Stratifikation for lavfødselsvægt vil typisk vise, at børn af rygende mødre vil have </a:t>
            </a:r>
            <a:r>
              <a:rPr lang="da-DK" sz="1200" b="1" u="sng" dirty="0"/>
              <a:t>lavere</a:t>
            </a:r>
            <a:r>
              <a:rPr lang="da-DK" sz="1200" b="1" dirty="0"/>
              <a:t> sandsynlighed for at dø.</a:t>
            </a:r>
          </a:p>
        </p:txBody>
      </p:sp>
      <p:sp>
        <p:nvSpPr>
          <p:cNvPr id="41" name="Tekstfelt 40">
            <a:extLst>
              <a:ext uri="{FF2B5EF4-FFF2-40B4-BE49-F238E27FC236}">
                <a16:creationId xmlns:a16="http://schemas.microsoft.com/office/drawing/2014/main" id="{FB71F127-064B-075A-87CB-374903C0FF5B}"/>
              </a:ext>
            </a:extLst>
          </p:cNvPr>
          <p:cNvSpPr txBox="1"/>
          <p:nvPr/>
        </p:nvSpPr>
        <p:spPr>
          <a:xfrm>
            <a:off x="4184649" y="5434487"/>
            <a:ext cx="3410528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a-DK" sz="1200" b="1" dirty="0"/>
              <a:t>Kort sagt er rygning skadeligt, idet det bidrager til lav fødselsvægt, som har højere dødelighed end normal fødselsvægt, men andre årsager til lav fødselsvægt er generelt mere skadelige end rygning.</a:t>
            </a:r>
          </a:p>
        </p:txBody>
      </p:sp>
    </p:spTree>
    <p:extLst>
      <p:ext uri="{BB962C8B-B14F-4D97-AF65-F5344CB8AC3E}">
        <p14:creationId xmlns:p14="http://schemas.microsoft.com/office/powerpoint/2010/main" val="40453622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/>
      <p:bldP spid="27" grpId="0"/>
      <p:bldP spid="41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0B055B-9E7C-E544-C0C6-0965042264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B9AD58-736E-5ECF-3DB0-A2702E5A14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Eksempel på </a:t>
            </a:r>
            <a:r>
              <a:rPr lang="da-DK" dirty="0" err="1"/>
              <a:t>collider</a:t>
            </a:r>
            <a:endParaRPr dirty="0"/>
          </a:p>
        </p:txBody>
      </p:sp>
      <p:sp>
        <p:nvSpPr>
          <p:cNvPr id="4" name="Rektangel 3">
            <a:extLst>
              <a:ext uri="{FF2B5EF4-FFF2-40B4-BE49-F238E27FC236}">
                <a16:creationId xmlns:a16="http://schemas.microsoft.com/office/drawing/2014/main" id="{0B8293F2-6B50-4234-F8A6-7B29AECE8B50}"/>
              </a:ext>
            </a:extLst>
          </p:cNvPr>
          <p:cNvSpPr/>
          <p:nvPr/>
        </p:nvSpPr>
        <p:spPr>
          <a:xfrm>
            <a:off x="1168400" y="2057400"/>
            <a:ext cx="1682750" cy="56515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a-DK" sz="1300" dirty="0">
                <a:solidFill>
                  <a:schemeClr val="tx1"/>
                </a:solidFill>
              </a:rPr>
              <a:t>HØJT BMI</a:t>
            </a:r>
          </a:p>
        </p:txBody>
      </p:sp>
      <p:sp>
        <p:nvSpPr>
          <p:cNvPr id="5" name="Rektangel 4">
            <a:extLst>
              <a:ext uri="{FF2B5EF4-FFF2-40B4-BE49-F238E27FC236}">
                <a16:creationId xmlns:a16="http://schemas.microsoft.com/office/drawing/2014/main" id="{3585F12A-DC15-68BA-6CFE-DBA9AC1EB6AF}"/>
              </a:ext>
            </a:extLst>
          </p:cNvPr>
          <p:cNvSpPr/>
          <p:nvPr/>
        </p:nvSpPr>
        <p:spPr>
          <a:xfrm>
            <a:off x="3343274" y="3146425"/>
            <a:ext cx="1682750" cy="56515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a-DK" sz="1300" dirty="0">
                <a:solidFill>
                  <a:schemeClr val="tx1"/>
                </a:solidFill>
              </a:rPr>
              <a:t>INDLÆGGELSE</a:t>
            </a:r>
            <a:r>
              <a:rPr kumimoji="0" lang="da-DK" sz="105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(COLLIDER)</a:t>
            </a:r>
            <a:endParaRPr lang="da-DK" sz="1300" dirty="0">
              <a:solidFill>
                <a:schemeClr val="tx1"/>
              </a:solidFill>
            </a:endParaRPr>
          </a:p>
        </p:txBody>
      </p:sp>
      <p:sp>
        <p:nvSpPr>
          <p:cNvPr id="6" name="Rektangel 5">
            <a:extLst>
              <a:ext uri="{FF2B5EF4-FFF2-40B4-BE49-F238E27FC236}">
                <a16:creationId xmlns:a16="http://schemas.microsoft.com/office/drawing/2014/main" id="{11C55A10-9926-144F-AAF1-BBD4E7263C46}"/>
              </a:ext>
            </a:extLst>
          </p:cNvPr>
          <p:cNvSpPr/>
          <p:nvPr/>
        </p:nvSpPr>
        <p:spPr>
          <a:xfrm>
            <a:off x="5518150" y="2057400"/>
            <a:ext cx="1682750" cy="56515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a-DK" sz="1300" dirty="0">
                <a:solidFill>
                  <a:schemeClr val="tx1"/>
                </a:solidFill>
              </a:rPr>
              <a:t>MORTALITET</a:t>
            </a:r>
          </a:p>
        </p:txBody>
      </p:sp>
      <p:cxnSp>
        <p:nvCxnSpPr>
          <p:cNvPr id="8" name="Lige pilforbindelse 7">
            <a:extLst>
              <a:ext uri="{FF2B5EF4-FFF2-40B4-BE49-F238E27FC236}">
                <a16:creationId xmlns:a16="http://schemas.microsoft.com/office/drawing/2014/main" id="{45083C48-FB0C-28C1-8316-0E461375A2FE}"/>
              </a:ext>
            </a:extLst>
          </p:cNvPr>
          <p:cNvCxnSpPr>
            <a:stCxn id="5" idx="3"/>
            <a:endCxn id="6" idx="2"/>
          </p:cNvCxnSpPr>
          <p:nvPr/>
        </p:nvCxnSpPr>
        <p:spPr>
          <a:xfrm flipV="1">
            <a:off x="5026024" y="2622550"/>
            <a:ext cx="1333501" cy="806450"/>
          </a:xfrm>
          <a:prstGeom prst="straightConnector1">
            <a:avLst/>
          </a:prstGeom>
          <a:ln w="38100"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10" name="Lige pilforbindelse 9">
            <a:extLst>
              <a:ext uri="{FF2B5EF4-FFF2-40B4-BE49-F238E27FC236}">
                <a16:creationId xmlns:a16="http://schemas.microsoft.com/office/drawing/2014/main" id="{CF94CC20-09A2-2FDF-3EE3-BF4B4A3DD6D6}"/>
              </a:ext>
            </a:extLst>
          </p:cNvPr>
          <p:cNvCxnSpPr>
            <a:cxnSpLocks/>
            <a:stCxn id="4" idx="2"/>
            <a:endCxn id="5" idx="1"/>
          </p:cNvCxnSpPr>
          <p:nvPr/>
        </p:nvCxnSpPr>
        <p:spPr>
          <a:xfrm>
            <a:off x="2009775" y="2622550"/>
            <a:ext cx="1333499" cy="806450"/>
          </a:xfrm>
          <a:prstGeom prst="straightConnector1">
            <a:avLst/>
          </a:prstGeom>
          <a:ln w="38100"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sp>
        <p:nvSpPr>
          <p:cNvPr id="29" name="Tekstfelt 28">
            <a:extLst>
              <a:ext uri="{FF2B5EF4-FFF2-40B4-BE49-F238E27FC236}">
                <a16:creationId xmlns:a16="http://schemas.microsoft.com/office/drawing/2014/main" id="{E7934ED0-FF40-009A-8E9F-EF858554637E}"/>
              </a:ext>
            </a:extLst>
          </p:cNvPr>
          <p:cNvSpPr txBox="1"/>
          <p:nvPr/>
        </p:nvSpPr>
        <p:spPr>
          <a:xfrm>
            <a:off x="4184649" y="4235449"/>
            <a:ext cx="341052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a-DK" sz="1200" b="1" dirty="0"/>
              <a:t>Indlæggelse er både en mediator og </a:t>
            </a:r>
            <a:r>
              <a:rPr lang="da-DK" sz="1200" b="1" dirty="0" err="1"/>
              <a:t>collider</a:t>
            </a:r>
            <a:r>
              <a:rPr lang="da-DK" sz="1200" b="1" dirty="0"/>
              <a:t> i denne association</a:t>
            </a:r>
          </a:p>
        </p:txBody>
      </p:sp>
      <p:cxnSp>
        <p:nvCxnSpPr>
          <p:cNvPr id="19" name="Lige pilforbindelse 18">
            <a:extLst>
              <a:ext uri="{FF2B5EF4-FFF2-40B4-BE49-F238E27FC236}">
                <a16:creationId xmlns:a16="http://schemas.microsoft.com/office/drawing/2014/main" id="{59FE9E8D-7EDA-3290-05FE-28EB7D5964D9}"/>
              </a:ext>
            </a:extLst>
          </p:cNvPr>
          <p:cNvCxnSpPr/>
          <p:nvPr/>
        </p:nvCxnSpPr>
        <p:spPr>
          <a:xfrm>
            <a:off x="2851150" y="2339975"/>
            <a:ext cx="2667000" cy="0"/>
          </a:xfrm>
          <a:prstGeom prst="straightConnector1">
            <a:avLst/>
          </a:prstGeom>
          <a:ln w="38100">
            <a:solidFill>
              <a:schemeClr val="accent5">
                <a:lumMod val="20000"/>
                <a:lumOff val="80000"/>
              </a:schemeClr>
            </a:solidFill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sp>
        <p:nvSpPr>
          <p:cNvPr id="20" name="Tekstfelt 19">
            <a:extLst>
              <a:ext uri="{FF2B5EF4-FFF2-40B4-BE49-F238E27FC236}">
                <a16:creationId xmlns:a16="http://schemas.microsoft.com/office/drawing/2014/main" id="{2D4FD2C5-3ABB-C968-930A-2A3300051A71}"/>
              </a:ext>
            </a:extLst>
          </p:cNvPr>
          <p:cNvSpPr txBox="1"/>
          <p:nvPr/>
        </p:nvSpPr>
        <p:spPr>
          <a:xfrm>
            <a:off x="3343275" y="2098972"/>
            <a:ext cx="168275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a-DK" sz="1050" i="1" dirty="0"/>
              <a:t>association af interesse</a:t>
            </a:r>
          </a:p>
          <a:p>
            <a:pPr algn="ctr"/>
            <a:endParaRPr lang="da-DK" sz="1050" b="1" dirty="0"/>
          </a:p>
        </p:txBody>
      </p:sp>
      <p:sp>
        <p:nvSpPr>
          <p:cNvPr id="3" name="Pladsholder til slidenummer 2">
            <a:extLst>
              <a:ext uri="{FF2B5EF4-FFF2-40B4-BE49-F238E27FC236}">
                <a16:creationId xmlns:a16="http://schemas.microsoft.com/office/drawing/2014/main" id="{467E7CE8-99B3-4E51-B8E3-E90F44380E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24</a:t>
            </a:fld>
            <a:endParaRPr lang="en-US" dirty="0"/>
          </a:p>
        </p:txBody>
      </p:sp>
      <p:sp>
        <p:nvSpPr>
          <p:cNvPr id="12" name="Rektangel 11">
            <a:extLst>
              <a:ext uri="{FF2B5EF4-FFF2-40B4-BE49-F238E27FC236}">
                <a16:creationId xmlns:a16="http://schemas.microsoft.com/office/drawing/2014/main" id="{2BD08C1D-D402-5204-B1D8-645DDDB4652C}"/>
              </a:ext>
            </a:extLst>
          </p:cNvPr>
          <p:cNvSpPr/>
          <p:nvPr/>
        </p:nvSpPr>
        <p:spPr>
          <a:xfrm>
            <a:off x="1168400" y="4087130"/>
            <a:ext cx="1682750" cy="565150"/>
          </a:xfrm>
          <a:custGeom>
            <a:avLst/>
            <a:gdLst>
              <a:gd name="connsiteX0" fmla="*/ 0 w 1682750"/>
              <a:gd name="connsiteY0" fmla="*/ 0 h 565150"/>
              <a:gd name="connsiteX1" fmla="*/ 1682750 w 1682750"/>
              <a:gd name="connsiteY1" fmla="*/ 0 h 565150"/>
              <a:gd name="connsiteX2" fmla="*/ 1682750 w 1682750"/>
              <a:gd name="connsiteY2" fmla="*/ 565150 h 565150"/>
              <a:gd name="connsiteX3" fmla="*/ 0 w 1682750"/>
              <a:gd name="connsiteY3" fmla="*/ 565150 h 565150"/>
              <a:gd name="connsiteX4" fmla="*/ 0 w 1682750"/>
              <a:gd name="connsiteY4" fmla="*/ 0 h 565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682750" h="565150" fill="none" extrusionOk="0">
                <a:moveTo>
                  <a:pt x="0" y="0"/>
                </a:moveTo>
                <a:cubicBezTo>
                  <a:pt x="223910" y="44750"/>
                  <a:pt x="916089" y="-11723"/>
                  <a:pt x="1682750" y="0"/>
                </a:cubicBezTo>
                <a:cubicBezTo>
                  <a:pt x="1665720" y="180138"/>
                  <a:pt x="1683356" y="418431"/>
                  <a:pt x="1682750" y="565150"/>
                </a:cubicBezTo>
                <a:cubicBezTo>
                  <a:pt x="1161576" y="539082"/>
                  <a:pt x="724490" y="697902"/>
                  <a:pt x="0" y="565150"/>
                </a:cubicBezTo>
                <a:cubicBezTo>
                  <a:pt x="14926" y="425174"/>
                  <a:pt x="49397" y="95786"/>
                  <a:pt x="0" y="0"/>
                </a:cubicBezTo>
                <a:close/>
              </a:path>
              <a:path w="1682750" h="565150" stroke="0" extrusionOk="0">
                <a:moveTo>
                  <a:pt x="0" y="0"/>
                </a:moveTo>
                <a:cubicBezTo>
                  <a:pt x="396784" y="133241"/>
                  <a:pt x="1292827" y="-30348"/>
                  <a:pt x="1682750" y="0"/>
                </a:cubicBezTo>
                <a:cubicBezTo>
                  <a:pt x="1715574" y="178114"/>
                  <a:pt x="1647803" y="464656"/>
                  <a:pt x="1682750" y="565150"/>
                </a:cubicBezTo>
                <a:cubicBezTo>
                  <a:pt x="1296630" y="484154"/>
                  <a:pt x="664728" y="445799"/>
                  <a:pt x="0" y="565150"/>
                </a:cubicBezTo>
                <a:cubicBezTo>
                  <a:pt x="27679" y="389053"/>
                  <a:pt x="-12610" y="138657"/>
                  <a:pt x="0" y="0"/>
                </a:cubicBezTo>
                <a:close/>
              </a:path>
            </a:pathLst>
          </a:custGeom>
          <a:solidFill>
            <a:schemeClr val="accent4">
              <a:lumMod val="60000"/>
              <a:lumOff val="40000"/>
            </a:schemeClr>
          </a:solidFill>
          <a:ln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726973510">
                  <a:prstGeom prst="rect">
                    <a:avLst/>
                  </a:prstGeom>
                  <ask:type>
                    <ask:lineSketchCurved/>
                  </ask:type>
                </ask:lineSketchStyleProps>
              </a:ext>
            </a:extLst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a-DK" sz="1300" dirty="0">
                <a:solidFill>
                  <a:schemeClr val="tx1"/>
                </a:solidFill>
              </a:rPr>
              <a:t>KRONISK SYGDOM</a:t>
            </a:r>
          </a:p>
        </p:txBody>
      </p:sp>
      <p:cxnSp>
        <p:nvCxnSpPr>
          <p:cNvPr id="17" name="Lige pilforbindelse 16">
            <a:extLst>
              <a:ext uri="{FF2B5EF4-FFF2-40B4-BE49-F238E27FC236}">
                <a16:creationId xmlns:a16="http://schemas.microsoft.com/office/drawing/2014/main" id="{69378970-42EF-9EC4-2ED5-5F88CC63E805}"/>
              </a:ext>
            </a:extLst>
          </p:cNvPr>
          <p:cNvCxnSpPr>
            <a:cxnSpLocks/>
            <a:stCxn id="12" idx="0"/>
            <a:endCxn id="5" idx="1"/>
          </p:cNvCxnSpPr>
          <p:nvPr/>
        </p:nvCxnSpPr>
        <p:spPr>
          <a:xfrm flipV="1">
            <a:off x="2009775" y="3429000"/>
            <a:ext cx="1333499" cy="658130"/>
          </a:xfrm>
          <a:prstGeom prst="straightConnector1">
            <a:avLst/>
          </a:prstGeom>
          <a:ln w="38100"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sp>
        <p:nvSpPr>
          <p:cNvPr id="27" name="Tekstfelt 26">
            <a:extLst>
              <a:ext uri="{FF2B5EF4-FFF2-40B4-BE49-F238E27FC236}">
                <a16:creationId xmlns:a16="http://schemas.microsoft.com/office/drawing/2014/main" id="{307C650F-B7BE-2F1F-8176-899A88B4BE7E}"/>
              </a:ext>
            </a:extLst>
          </p:cNvPr>
          <p:cNvSpPr txBox="1"/>
          <p:nvPr/>
        </p:nvSpPr>
        <p:spPr>
          <a:xfrm>
            <a:off x="4184649" y="4783864"/>
            <a:ext cx="341052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a-DK" sz="1200" b="1" dirty="0"/>
              <a:t>Stratifikation for indlæggelse vil typisk vise, at personer med højt BMI vil have </a:t>
            </a:r>
            <a:r>
              <a:rPr lang="da-DK" sz="1200" b="1" u="sng" dirty="0"/>
              <a:t>lavere</a:t>
            </a:r>
            <a:r>
              <a:rPr lang="da-DK" sz="1200" b="1" dirty="0"/>
              <a:t> sandsynlighed for at dø.</a:t>
            </a:r>
          </a:p>
        </p:txBody>
      </p:sp>
      <p:sp>
        <p:nvSpPr>
          <p:cNvPr id="41" name="Tekstfelt 40">
            <a:extLst>
              <a:ext uri="{FF2B5EF4-FFF2-40B4-BE49-F238E27FC236}">
                <a16:creationId xmlns:a16="http://schemas.microsoft.com/office/drawing/2014/main" id="{217F55E4-9673-47D2-125C-BE4AA77A85F2}"/>
              </a:ext>
            </a:extLst>
          </p:cNvPr>
          <p:cNvSpPr txBox="1"/>
          <p:nvPr/>
        </p:nvSpPr>
        <p:spPr>
          <a:xfrm>
            <a:off x="4184649" y="5568049"/>
            <a:ext cx="341052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a-DK" sz="1200" b="1" dirty="0"/>
              <a:t>Kort sagt er højt BMI relateret til mortalitet, men indlæggelse for personer med normalt BMI skyldes måske en (værre) kronisk sygdom, som har højere dødelighed end højt BMI.</a:t>
            </a:r>
          </a:p>
        </p:txBody>
      </p:sp>
    </p:spTree>
    <p:extLst>
      <p:ext uri="{BB962C8B-B14F-4D97-AF65-F5344CB8AC3E}">
        <p14:creationId xmlns:p14="http://schemas.microsoft.com/office/powerpoint/2010/main" val="12963476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/>
      <p:bldP spid="27" grpId="0"/>
      <p:bldP spid="41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025872-3779-9F0E-F8C4-A637B08FCE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AECE97-2986-E6EE-E6C6-81E004F64B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Eksempel på </a:t>
            </a:r>
            <a:r>
              <a:rPr lang="da-DK" dirty="0" err="1"/>
              <a:t>collider</a:t>
            </a:r>
            <a:endParaRPr dirty="0"/>
          </a:p>
        </p:txBody>
      </p:sp>
      <p:sp>
        <p:nvSpPr>
          <p:cNvPr id="3" name="Pladsholder til slidenummer 2">
            <a:extLst>
              <a:ext uri="{FF2B5EF4-FFF2-40B4-BE49-F238E27FC236}">
                <a16:creationId xmlns:a16="http://schemas.microsoft.com/office/drawing/2014/main" id="{0197BDFE-A539-A8ED-55E8-A559BA0734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25</a:t>
            </a:fld>
            <a:endParaRPr lang="en-US"/>
          </a:p>
        </p:txBody>
      </p:sp>
      <p:sp>
        <p:nvSpPr>
          <p:cNvPr id="41" name="Tekstfelt 40">
            <a:extLst>
              <a:ext uri="{FF2B5EF4-FFF2-40B4-BE49-F238E27FC236}">
                <a16:creationId xmlns:a16="http://schemas.microsoft.com/office/drawing/2014/main" id="{993F08D4-E20B-1918-0518-FFB91ADD3CCC}"/>
              </a:ext>
            </a:extLst>
          </p:cNvPr>
          <p:cNvSpPr txBox="1"/>
          <p:nvPr/>
        </p:nvSpPr>
        <p:spPr>
          <a:xfrm>
            <a:off x="3498848" y="6169708"/>
            <a:ext cx="433070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err="1"/>
              <a:t>Digitale</a:t>
            </a:r>
            <a:r>
              <a:rPr lang="en-US" sz="1200" dirty="0"/>
              <a:t> JC, Martin JN, Glidden DV, </a:t>
            </a:r>
            <a:r>
              <a:rPr lang="en-US" sz="1200" dirty="0" err="1"/>
              <a:t>Glymour</a:t>
            </a:r>
            <a:r>
              <a:rPr lang="en-US" sz="1200" dirty="0"/>
              <a:t> MM. Key concepts in clinical epidemiology: collider-conditioning bias. J Clin Epidemiol. 2023;161:152-156. doi:10.1016/j.jclinepi.2023.07.004</a:t>
            </a:r>
            <a:endParaRPr lang="da-DK" sz="1200" b="1" dirty="0"/>
          </a:p>
        </p:txBody>
      </p:sp>
      <p:pic>
        <p:nvPicPr>
          <p:cNvPr id="9" name="Billede 8">
            <a:extLst>
              <a:ext uri="{FF2B5EF4-FFF2-40B4-BE49-F238E27FC236}">
                <a16:creationId xmlns:a16="http://schemas.microsoft.com/office/drawing/2014/main" id="{1851BFFF-ADAD-CB56-5543-727F380AAF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5072" y="1463786"/>
            <a:ext cx="8028710" cy="831404"/>
          </a:xfrm>
          <a:prstGeom prst="rect">
            <a:avLst/>
          </a:prstGeom>
        </p:spPr>
      </p:pic>
      <p:pic>
        <p:nvPicPr>
          <p:cNvPr id="13" name="Billede 12">
            <a:extLst>
              <a:ext uri="{FF2B5EF4-FFF2-40B4-BE49-F238E27FC236}">
                <a16:creationId xmlns:a16="http://schemas.microsoft.com/office/drawing/2014/main" id="{37C45F20-1BEF-3A02-4437-08DFDA0592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5072" y="2830944"/>
            <a:ext cx="8028710" cy="7970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59975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dsholder til slidenummer 3">
            <a:extLst>
              <a:ext uri="{FF2B5EF4-FFF2-40B4-BE49-F238E27FC236}">
                <a16:creationId xmlns:a16="http://schemas.microsoft.com/office/drawing/2014/main" id="{464DE2CE-C051-4FE7-AEA7-092FDEEED1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26</a:t>
            </a:fld>
            <a:endParaRPr lang="en-US"/>
          </a:p>
        </p:txBody>
      </p:sp>
      <p:pic>
        <p:nvPicPr>
          <p:cNvPr id="6" name="Billede 5">
            <a:extLst>
              <a:ext uri="{FF2B5EF4-FFF2-40B4-BE49-F238E27FC236}">
                <a16:creationId xmlns:a16="http://schemas.microsoft.com/office/drawing/2014/main" id="{FDE779A6-0F7F-18CD-9FBA-E8D38BB6E2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2912" y="1227456"/>
            <a:ext cx="8258175" cy="4648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328610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Eksempel på </a:t>
            </a:r>
            <a:r>
              <a:rPr lang="da-DK" dirty="0" err="1"/>
              <a:t>confounding</a:t>
            </a:r>
            <a:endParaRPr dirty="0"/>
          </a:p>
        </p:txBody>
      </p:sp>
      <p:sp>
        <p:nvSpPr>
          <p:cNvPr id="4" name="Rektangel 3"/>
          <p:cNvSpPr/>
          <p:nvPr/>
        </p:nvSpPr>
        <p:spPr>
          <a:xfrm>
            <a:off x="1168400" y="2057400"/>
            <a:ext cx="1682750" cy="56515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a-DK" sz="1600" dirty="0">
                <a:solidFill>
                  <a:schemeClr val="tx1"/>
                </a:solidFill>
              </a:rPr>
              <a:t>ALKOHOLINDTAG</a:t>
            </a:r>
          </a:p>
        </p:txBody>
      </p:sp>
      <p:sp>
        <p:nvSpPr>
          <p:cNvPr id="5" name="Rektangel 4"/>
          <p:cNvSpPr/>
          <p:nvPr/>
        </p:nvSpPr>
        <p:spPr>
          <a:xfrm>
            <a:off x="3343275" y="3330575"/>
            <a:ext cx="1682750" cy="56515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a-DK" sz="1600" dirty="0">
                <a:solidFill>
                  <a:schemeClr val="tx1"/>
                </a:solidFill>
              </a:rPr>
              <a:t>RYGNING</a:t>
            </a:r>
          </a:p>
        </p:txBody>
      </p:sp>
      <p:sp>
        <p:nvSpPr>
          <p:cNvPr id="6" name="Rektangel 5"/>
          <p:cNvSpPr/>
          <p:nvPr/>
        </p:nvSpPr>
        <p:spPr>
          <a:xfrm>
            <a:off x="5518150" y="2057400"/>
            <a:ext cx="1682750" cy="56515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a-DK" sz="1600" dirty="0">
                <a:solidFill>
                  <a:schemeClr val="tx1"/>
                </a:solidFill>
              </a:rPr>
              <a:t>LUNGEKRÆFT</a:t>
            </a:r>
          </a:p>
        </p:txBody>
      </p:sp>
      <p:cxnSp>
        <p:nvCxnSpPr>
          <p:cNvPr id="8" name="Lige pilforbindelse 7"/>
          <p:cNvCxnSpPr>
            <a:stCxn id="5" idx="3"/>
            <a:endCxn id="6" idx="2"/>
          </p:cNvCxnSpPr>
          <p:nvPr/>
        </p:nvCxnSpPr>
        <p:spPr>
          <a:xfrm flipV="1">
            <a:off x="5026025" y="2622550"/>
            <a:ext cx="1333500" cy="990600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10" name="Lige pilforbindelse 9"/>
          <p:cNvCxnSpPr>
            <a:stCxn id="5" idx="1"/>
            <a:endCxn id="4" idx="2"/>
          </p:cNvCxnSpPr>
          <p:nvPr/>
        </p:nvCxnSpPr>
        <p:spPr>
          <a:xfrm flipH="1" flipV="1">
            <a:off x="2009775" y="2622550"/>
            <a:ext cx="1333500" cy="990600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sp>
        <p:nvSpPr>
          <p:cNvPr id="13" name="Rektangel 12"/>
          <p:cNvSpPr/>
          <p:nvPr/>
        </p:nvSpPr>
        <p:spPr>
          <a:xfrm>
            <a:off x="1168400" y="5519737"/>
            <a:ext cx="1682750" cy="56515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a-DK" sz="1600" dirty="0">
                <a:solidFill>
                  <a:schemeClr val="tx1"/>
                </a:solidFill>
              </a:rPr>
              <a:t>ALKOHOLINDTAG</a:t>
            </a:r>
          </a:p>
        </p:txBody>
      </p:sp>
      <p:sp>
        <p:nvSpPr>
          <p:cNvPr id="16" name="Rektangel 15"/>
          <p:cNvSpPr/>
          <p:nvPr/>
        </p:nvSpPr>
        <p:spPr>
          <a:xfrm>
            <a:off x="3343275" y="5519737"/>
            <a:ext cx="1682750" cy="56515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a-DK" sz="1600" dirty="0">
                <a:solidFill>
                  <a:schemeClr val="tx1"/>
                </a:solidFill>
              </a:rPr>
              <a:t>RYGNING</a:t>
            </a:r>
          </a:p>
        </p:txBody>
      </p:sp>
      <p:sp>
        <p:nvSpPr>
          <p:cNvPr id="18" name="Rektangel 17"/>
          <p:cNvSpPr/>
          <p:nvPr/>
        </p:nvSpPr>
        <p:spPr>
          <a:xfrm>
            <a:off x="5518150" y="5519737"/>
            <a:ext cx="1682750" cy="56515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a-DK" sz="1600" dirty="0">
                <a:solidFill>
                  <a:schemeClr val="tx1"/>
                </a:solidFill>
              </a:rPr>
              <a:t>LUNGEKRÆFT</a:t>
            </a:r>
          </a:p>
        </p:txBody>
      </p:sp>
      <p:cxnSp>
        <p:nvCxnSpPr>
          <p:cNvPr id="21" name="Lige pilforbindelse 20"/>
          <p:cNvCxnSpPr>
            <a:stCxn id="13" idx="3"/>
            <a:endCxn id="16" idx="1"/>
          </p:cNvCxnSpPr>
          <p:nvPr/>
        </p:nvCxnSpPr>
        <p:spPr>
          <a:xfrm>
            <a:off x="2851150" y="5802312"/>
            <a:ext cx="492125" cy="0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24" name="Lige pilforbindelse 23"/>
          <p:cNvCxnSpPr>
            <a:stCxn id="16" idx="3"/>
            <a:endCxn id="18" idx="1"/>
          </p:cNvCxnSpPr>
          <p:nvPr/>
        </p:nvCxnSpPr>
        <p:spPr>
          <a:xfrm>
            <a:off x="5026025" y="5802312"/>
            <a:ext cx="492125" cy="0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sp>
        <p:nvSpPr>
          <p:cNvPr id="29" name="Tekstfelt 28"/>
          <p:cNvSpPr txBox="1"/>
          <p:nvPr/>
        </p:nvSpPr>
        <p:spPr>
          <a:xfrm>
            <a:off x="5588000" y="3120231"/>
            <a:ext cx="32258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a-DK" sz="1200" b="1" dirty="0"/>
              <a:t>1) Rygning er en selvstændig risikofaktor for lungekræft</a:t>
            </a:r>
          </a:p>
          <a:p>
            <a:endParaRPr lang="da-DK" sz="1200" b="1" dirty="0"/>
          </a:p>
        </p:txBody>
      </p:sp>
      <p:sp>
        <p:nvSpPr>
          <p:cNvPr id="30" name="Tekstfelt 29"/>
          <p:cNvSpPr txBox="1"/>
          <p:nvPr/>
        </p:nvSpPr>
        <p:spPr>
          <a:xfrm>
            <a:off x="638175" y="3082676"/>
            <a:ext cx="23844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a-DK" sz="1200" b="1" dirty="0"/>
              <a:t>2) Rygning er associeret med alkoholindtag</a:t>
            </a:r>
          </a:p>
        </p:txBody>
      </p:sp>
      <p:sp>
        <p:nvSpPr>
          <p:cNvPr id="31" name="Tekstfelt 30"/>
          <p:cNvSpPr txBox="1"/>
          <p:nvPr/>
        </p:nvSpPr>
        <p:spPr>
          <a:xfrm>
            <a:off x="2654300" y="4981078"/>
            <a:ext cx="30607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a-DK" sz="1200" b="1" dirty="0"/>
              <a:t>3) Alkohol fører ikke til rygning, som efterfølgende fører til lungekræft</a:t>
            </a:r>
          </a:p>
        </p:txBody>
      </p:sp>
      <p:cxnSp>
        <p:nvCxnSpPr>
          <p:cNvPr id="33" name="Lige forbindelse 32"/>
          <p:cNvCxnSpPr/>
          <p:nvPr/>
        </p:nvCxnSpPr>
        <p:spPr>
          <a:xfrm>
            <a:off x="3097212" y="5442743"/>
            <a:ext cx="2174875" cy="742157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5" name="Lige forbindelse 34"/>
          <p:cNvCxnSpPr/>
          <p:nvPr/>
        </p:nvCxnSpPr>
        <p:spPr>
          <a:xfrm flipV="1">
            <a:off x="3097212" y="5442743"/>
            <a:ext cx="2174875" cy="742157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9" name="Lige pilforbindelse 18"/>
          <p:cNvCxnSpPr/>
          <p:nvPr/>
        </p:nvCxnSpPr>
        <p:spPr>
          <a:xfrm>
            <a:off x="2851150" y="2339975"/>
            <a:ext cx="2667000" cy="0"/>
          </a:xfrm>
          <a:prstGeom prst="straightConnector1">
            <a:avLst/>
          </a:prstGeom>
          <a:ln w="38100">
            <a:solidFill>
              <a:schemeClr val="accent1"/>
            </a:solidFill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sp>
        <p:nvSpPr>
          <p:cNvPr id="20" name="Tekstfelt 19"/>
          <p:cNvSpPr txBox="1"/>
          <p:nvPr/>
        </p:nvSpPr>
        <p:spPr>
          <a:xfrm>
            <a:off x="3343275" y="2098972"/>
            <a:ext cx="168275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a-DK" sz="1050" i="1" dirty="0"/>
              <a:t>association af interesse</a:t>
            </a:r>
          </a:p>
          <a:p>
            <a:pPr algn="ctr"/>
            <a:endParaRPr lang="da-DK" sz="1050" b="1" dirty="0"/>
          </a:p>
        </p:txBody>
      </p:sp>
      <p:sp>
        <p:nvSpPr>
          <p:cNvPr id="22" name="Tekstfelt 21"/>
          <p:cNvSpPr txBox="1"/>
          <p:nvPr/>
        </p:nvSpPr>
        <p:spPr>
          <a:xfrm>
            <a:off x="638174" y="3508593"/>
            <a:ext cx="238442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a-DK" sz="1200" b="1" dirty="0"/>
              <a:t>Altså dem der ryger meget, har nok også et større alkoholindtag end dem, der ryger mindre eller slet ikke ryger.</a:t>
            </a:r>
          </a:p>
          <a:p>
            <a:r>
              <a:rPr lang="da-DK" sz="1200" b="1" dirty="0"/>
              <a:t>Pilens retning kan være lidt svær at slå helt fast</a:t>
            </a:r>
          </a:p>
        </p:txBody>
      </p:sp>
      <p:sp>
        <p:nvSpPr>
          <p:cNvPr id="23" name="Tekstfelt 22"/>
          <p:cNvSpPr txBox="1"/>
          <p:nvPr/>
        </p:nvSpPr>
        <p:spPr>
          <a:xfrm>
            <a:off x="2351087" y="6384474"/>
            <a:ext cx="647382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a-DK" sz="1600" b="1" dirty="0"/>
              <a:t>Rygning er en </a:t>
            </a:r>
            <a:r>
              <a:rPr lang="da-DK" sz="1600" b="1" dirty="0" err="1"/>
              <a:t>confounder</a:t>
            </a:r>
            <a:r>
              <a:rPr lang="da-DK" sz="1600" b="1" dirty="0"/>
              <a:t> i ovenstående eksempel</a:t>
            </a:r>
          </a:p>
        </p:txBody>
      </p:sp>
      <p:sp>
        <p:nvSpPr>
          <p:cNvPr id="3" name="Pladsholder til slidenumm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92791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6" grpId="0" animBg="1"/>
      <p:bldP spid="18" grpId="0" animBg="1"/>
      <p:bldP spid="29" grpId="0"/>
      <p:bldP spid="30" grpId="0"/>
      <p:bldP spid="31" grpId="0"/>
      <p:bldP spid="22" grpId="0"/>
      <p:bldP spid="23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A11B43-6559-2616-A9B4-3265DBAACF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8E01EA-1FC0-47B4-C339-3ADCB33584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Eksempel på </a:t>
            </a:r>
            <a:r>
              <a:rPr lang="da-DK" dirty="0" err="1"/>
              <a:t>confounding</a:t>
            </a:r>
            <a:endParaRPr dirty="0"/>
          </a:p>
        </p:txBody>
      </p:sp>
      <p:sp>
        <p:nvSpPr>
          <p:cNvPr id="4" name="Rektangel 3">
            <a:extLst>
              <a:ext uri="{FF2B5EF4-FFF2-40B4-BE49-F238E27FC236}">
                <a16:creationId xmlns:a16="http://schemas.microsoft.com/office/drawing/2014/main" id="{A4CE2DE7-211F-D75E-E7CB-FAD6EB3ACDEA}"/>
              </a:ext>
            </a:extLst>
          </p:cNvPr>
          <p:cNvSpPr/>
          <p:nvPr/>
        </p:nvSpPr>
        <p:spPr>
          <a:xfrm>
            <a:off x="1168400" y="2057400"/>
            <a:ext cx="1682750" cy="56515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a-DK" sz="1300" dirty="0">
                <a:solidFill>
                  <a:schemeClr val="tx1"/>
                </a:solidFill>
              </a:rPr>
              <a:t>FØDSELSRÆKKEFØLGE</a:t>
            </a:r>
          </a:p>
        </p:txBody>
      </p:sp>
      <p:sp>
        <p:nvSpPr>
          <p:cNvPr id="5" name="Rektangel 4">
            <a:extLst>
              <a:ext uri="{FF2B5EF4-FFF2-40B4-BE49-F238E27FC236}">
                <a16:creationId xmlns:a16="http://schemas.microsoft.com/office/drawing/2014/main" id="{484A6ECE-936A-DB9B-5903-C0B36DFF3988}"/>
              </a:ext>
            </a:extLst>
          </p:cNvPr>
          <p:cNvSpPr/>
          <p:nvPr/>
        </p:nvSpPr>
        <p:spPr>
          <a:xfrm>
            <a:off x="3343275" y="3330575"/>
            <a:ext cx="1682750" cy="56515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a-DK" sz="1300" dirty="0">
                <a:solidFill>
                  <a:schemeClr val="tx1"/>
                </a:solidFill>
              </a:rPr>
              <a:t>MODERS ALDER</a:t>
            </a:r>
          </a:p>
        </p:txBody>
      </p:sp>
      <p:sp>
        <p:nvSpPr>
          <p:cNvPr id="6" name="Rektangel 5">
            <a:extLst>
              <a:ext uri="{FF2B5EF4-FFF2-40B4-BE49-F238E27FC236}">
                <a16:creationId xmlns:a16="http://schemas.microsoft.com/office/drawing/2014/main" id="{94E9061C-7CBB-FF8A-D859-236867496D13}"/>
              </a:ext>
            </a:extLst>
          </p:cNvPr>
          <p:cNvSpPr/>
          <p:nvPr/>
        </p:nvSpPr>
        <p:spPr>
          <a:xfrm>
            <a:off x="5518150" y="2057400"/>
            <a:ext cx="1682750" cy="56515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a-DK" sz="1300" dirty="0">
                <a:solidFill>
                  <a:schemeClr val="tx1"/>
                </a:solidFill>
              </a:rPr>
              <a:t>DOWNS SYNDROM</a:t>
            </a:r>
          </a:p>
        </p:txBody>
      </p:sp>
      <p:cxnSp>
        <p:nvCxnSpPr>
          <p:cNvPr id="8" name="Lige pilforbindelse 7">
            <a:extLst>
              <a:ext uri="{FF2B5EF4-FFF2-40B4-BE49-F238E27FC236}">
                <a16:creationId xmlns:a16="http://schemas.microsoft.com/office/drawing/2014/main" id="{32EBFBE9-1BCE-3B27-55F7-AE4AF2234D22}"/>
              </a:ext>
            </a:extLst>
          </p:cNvPr>
          <p:cNvCxnSpPr>
            <a:stCxn id="5" idx="3"/>
            <a:endCxn id="6" idx="2"/>
          </p:cNvCxnSpPr>
          <p:nvPr/>
        </p:nvCxnSpPr>
        <p:spPr>
          <a:xfrm flipV="1">
            <a:off x="5026025" y="2622550"/>
            <a:ext cx="1333500" cy="990600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10" name="Lige pilforbindelse 9">
            <a:extLst>
              <a:ext uri="{FF2B5EF4-FFF2-40B4-BE49-F238E27FC236}">
                <a16:creationId xmlns:a16="http://schemas.microsoft.com/office/drawing/2014/main" id="{434A7186-9913-6E6C-56AF-D09DF1B3ECF8}"/>
              </a:ext>
            </a:extLst>
          </p:cNvPr>
          <p:cNvCxnSpPr>
            <a:stCxn id="5" idx="1"/>
            <a:endCxn id="4" idx="2"/>
          </p:cNvCxnSpPr>
          <p:nvPr/>
        </p:nvCxnSpPr>
        <p:spPr>
          <a:xfrm flipH="1" flipV="1">
            <a:off x="2009775" y="2622550"/>
            <a:ext cx="1333500" cy="990600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sp>
        <p:nvSpPr>
          <p:cNvPr id="13" name="Rektangel 12">
            <a:extLst>
              <a:ext uri="{FF2B5EF4-FFF2-40B4-BE49-F238E27FC236}">
                <a16:creationId xmlns:a16="http://schemas.microsoft.com/office/drawing/2014/main" id="{339D0B78-0DAF-368C-149C-DAC8330C2F86}"/>
              </a:ext>
            </a:extLst>
          </p:cNvPr>
          <p:cNvSpPr/>
          <p:nvPr/>
        </p:nvSpPr>
        <p:spPr>
          <a:xfrm>
            <a:off x="1168400" y="5519737"/>
            <a:ext cx="1682750" cy="56515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a-DK" sz="1300" dirty="0">
                <a:solidFill>
                  <a:prstClr val="black"/>
                </a:solidFill>
              </a:rPr>
              <a:t>FØDSELSRÆKKEFØLGE</a:t>
            </a:r>
            <a:endParaRPr lang="da-DK" sz="1600" dirty="0">
              <a:solidFill>
                <a:schemeClr val="tx1"/>
              </a:solidFill>
            </a:endParaRPr>
          </a:p>
        </p:txBody>
      </p:sp>
      <p:sp>
        <p:nvSpPr>
          <p:cNvPr id="16" name="Rektangel 15">
            <a:extLst>
              <a:ext uri="{FF2B5EF4-FFF2-40B4-BE49-F238E27FC236}">
                <a16:creationId xmlns:a16="http://schemas.microsoft.com/office/drawing/2014/main" id="{9562EA55-0C23-A1C4-08FC-2AB95FBD6550}"/>
              </a:ext>
            </a:extLst>
          </p:cNvPr>
          <p:cNvSpPr/>
          <p:nvPr/>
        </p:nvSpPr>
        <p:spPr>
          <a:xfrm>
            <a:off x="3343275" y="5519737"/>
            <a:ext cx="1682750" cy="56515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da-DK" sz="1300" dirty="0">
                <a:solidFill>
                  <a:prstClr val="black"/>
                </a:solidFill>
              </a:rPr>
              <a:t>MODERS ALDER</a:t>
            </a:r>
          </a:p>
        </p:txBody>
      </p:sp>
      <p:sp>
        <p:nvSpPr>
          <p:cNvPr id="18" name="Rektangel 17">
            <a:extLst>
              <a:ext uri="{FF2B5EF4-FFF2-40B4-BE49-F238E27FC236}">
                <a16:creationId xmlns:a16="http://schemas.microsoft.com/office/drawing/2014/main" id="{1B3B6F78-8A06-A044-F7D6-665FE12804A3}"/>
              </a:ext>
            </a:extLst>
          </p:cNvPr>
          <p:cNvSpPr/>
          <p:nvPr/>
        </p:nvSpPr>
        <p:spPr>
          <a:xfrm>
            <a:off x="5518150" y="5519737"/>
            <a:ext cx="1682750" cy="56515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da-DK" sz="1300" dirty="0">
                <a:solidFill>
                  <a:prstClr val="black"/>
                </a:solidFill>
              </a:rPr>
              <a:t>DOWNS SYNDROM</a:t>
            </a:r>
          </a:p>
        </p:txBody>
      </p:sp>
      <p:cxnSp>
        <p:nvCxnSpPr>
          <p:cNvPr id="21" name="Lige pilforbindelse 20">
            <a:extLst>
              <a:ext uri="{FF2B5EF4-FFF2-40B4-BE49-F238E27FC236}">
                <a16:creationId xmlns:a16="http://schemas.microsoft.com/office/drawing/2014/main" id="{62C09CBC-1BEF-56E0-D76A-1194031BF42D}"/>
              </a:ext>
            </a:extLst>
          </p:cNvPr>
          <p:cNvCxnSpPr>
            <a:stCxn id="13" idx="3"/>
            <a:endCxn id="16" idx="1"/>
          </p:cNvCxnSpPr>
          <p:nvPr/>
        </p:nvCxnSpPr>
        <p:spPr>
          <a:xfrm>
            <a:off x="2851150" y="5802312"/>
            <a:ext cx="492125" cy="0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24" name="Lige pilforbindelse 23">
            <a:extLst>
              <a:ext uri="{FF2B5EF4-FFF2-40B4-BE49-F238E27FC236}">
                <a16:creationId xmlns:a16="http://schemas.microsoft.com/office/drawing/2014/main" id="{9ADAE950-14EA-90C6-EE97-DF8BF8100D75}"/>
              </a:ext>
            </a:extLst>
          </p:cNvPr>
          <p:cNvCxnSpPr>
            <a:stCxn id="16" idx="3"/>
            <a:endCxn id="18" idx="1"/>
          </p:cNvCxnSpPr>
          <p:nvPr/>
        </p:nvCxnSpPr>
        <p:spPr>
          <a:xfrm>
            <a:off x="5026025" y="5802312"/>
            <a:ext cx="492125" cy="0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sp>
        <p:nvSpPr>
          <p:cNvPr id="29" name="Tekstfelt 28">
            <a:extLst>
              <a:ext uri="{FF2B5EF4-FFF2-40B4-BE49-F238E27FC236}">
                <a16:creationId xmlns:a16="http://schemas.microsoft.com/office/drawing/2014/main" id="{148B3124-99FC-F2A9-FF12-F653526E03AC}"/>
              </a:ext>
            </a:extLst>
          </p:cNvPr>
          <p:cNvSpPr txBox="1"/>
          <p:nvPr/>
        </p:nvSpPr>
        <p:spPr>
          <a:xfrm>
            <a:off x="5588000" y="3120231"/>
            <a:ext cx="20574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a-DK" sz="1200" b="1" dirty="0"/>
              <a:t>1) Hvis mødre er ældre øges sandsynligheden for at barnet har Downs syndrom</a:t>
            </a:r>
          </a:p>
        </p:txBody>
      </p:sp>
      <p:sp>
        <p:nvSpPr>
          <p:cNvPr id="30" name="Tekstfelt 29">
            <a:extLst>
              <a:ext uri="{FF2B5EF4-FFF2-40B4-BE49-F238E27FC236}">
                <a16:creationId xmlns:a16="http://schemas.microsoft.com/office/drawing/2014/main" id="{84BD5253-ECD2-4FA9-B5BC-3E513BAD08BC}"/>
              </a:ext>
            </a:extLst>
          </p:cNvPr>
          <p:cNvSpPr txBox="1"/>
          <p:nvPr/>
        </p:nvSpPr>
        <p:spPr>
          <a:xfrm>
            <a:off x="638175" y="3082676"/>
            <a:ext cx="221297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a-DK" sz="1200" b="1" dirty="0"/>
              <a:t>2) Moders alder er associeret med fødselsrækkefølge.</a:t>
            </a:r>
          </a:p>
        </p:txBody>
      </p:sp>
      <p:sp>
        <p:nvSpPr>
          <p:cNvPr id="31" name="Tekstfelt 30">
            <a:extLst>
              <a:ext uri="{FF2B5EF4-FFF2-40B4-BE49-F238E27FC236}">
                <a16:creationId xmlns:a16="http://schemas.microsoft.com/office/drawing/2014/main" id="{06F5AE79-83B4-6FDF-1FDE-D134170A1AD9}"/>
              </a:ext>
            </a:extLst>
          </p:cNvPr>
          <p:cNvSpPr txBox="1"/>
          <p:nvPr/>
        </p:nvSpPr>
        <p:spPr>
          <a:xfrm>
            <a:off x="2654300" y="4832378"/>
            <a:ext cx="30607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a-DK" sz="1200" b="1" dirty="0"/>
              <a:t>3) Moders alder kan ikke påvirkes af fødselsrækkefølge</a:t>
            </a:r>
          </a:p>
        </p:txBody>
      </p:sp>
      <p:cxnSp>
        <p:nvCxnSpPr>
          <p:cNvPr id="33" name="Lige forbindelse 32">
            <a:extLst>
              <a:ext uri="{FF2B5EF4-FFF2-40B4-BE49-F238E27FC236}">
                <a16:creationId xmlns:a16="http://schemas.microsoft.com/office/drawing/2014/main" id="{4DA7D35D-AF16-3C01-872C-346C5014A896}"/>
              </a:ext>
            </a:extLst>
          </p:cNvPr>
          <p:cNvCxnSpPr/>
          <p:nvPr/>
        </p:nvCxnSpPr>
        <p:spPr>
          <a:xfrm>
            <a:off x="3097212" y="5442743"/>
            <a:ext cx="2174875" cy="742157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5" name="Lige forbindelse 34">
            <a:extLst>
              <a:ext uri="{FF2B5EF4-FFF2-40B4-BE49-F238E27FC236}">
                <a16:creationId xmlns:a16="http://schemas.microsoft.com/office/drawing/2014/main" id="{3CD7B961-AE7C-C5FB-E6F7-0E466C7EC87D}"/>
              </a:ext>
            </a:extLst>
          </p:cNvPr>
          <p:cNvCxnSpPr/>
          <p:nvPr/>
        </p:nvCxnSpPr>
        <p:spPr>
          <a:xfrm flipV="1">
            <a:off x="3097212" y="5442743"/>
            <a:ext cx="2174875" cy="742157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9" name="Lige pilforbindelse 18">
            <a:extLst>
              <a:ext uri="{FF2B5EF4-FFF2-40B4-BE49-F238E27FC236}">
                <a16:creationId xmlns:a16="http://schemas.microsoft.com/office/drawing/2014/main" id="{0D09AD7A-A350-2EF7-CD1C-81E0CFBBB887}"/>
              </a:ext>
            </a:extLst>
          </p:cNvPr>
          <p:cNvCxnSpPr/>
          <p:nvPr/>
        </p:nvCxnSpPr>
        <p:spPr>
          <a:xfrm>
            <a:off x="2851150" y="2339975"/>
            <a:ext cx="2667000" cy="0"/>
          </a:xfrm>
          <a:prstGeom prst="straightConnector1">
            <a:avLst/>
          </a:prstGeom>
          <a:ln w="38100">
            <a:solidFill>
              <a:schemeClr val="accent5">
                <a:lumMod val="20000"/>
                <a:lumOff val="80000"/>
              </a:schemeClr>
            </a:solidFill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sp>
        <p:nvSpPr>
          <p:cNvPr id="20" name="Tekstfelt 19">
            <a:extLst>
              <a:ext uri="{FF2B5EF4-FFF2-40B4-BE49-F238E27FC236}">
                <a16:creationId xmlns:a16="http://schemas.microsoft.com/office/drawing/2014/main" id="{1B37BBA7-E950-39AD-56B5-70E7B8761120}"/>
              </a:ext>
            </a:extLst>
          </p:cNvPr>
          <p:cNvSpPr txBox="1"/>
          <p:nvPr/>
        </p:nvSpPr>
        <p:spPr>
          <a:xfrm>
            <a:off x="3343275" y="2098972"/>
            <a:ext cx="168275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a-DK" sz="1050" i="1" dirty="0"/>
              <a:t>association af interesse</a:t>
            </a:r>
          </a:p>
          <a:p>
            <a:pPr algn="ctr"/>
            <a:endParaRPr lang="da-DK" sz="1050" b="1" dirty="0"/>
          </a:p>
        </p:txBody>
      </p:sp>
      <p:sp>
        <p:nvSpPr>
          <p:cNvPr id="22" name="Tekstfelt 21">
            <a:extLst>
              <a:ext uri="{FF2B5EF4-FFF2-40B4-BE49-F238E27FC236}">
                <a16:creationId xmlns:a16="http://schemas.microsoft.com/office/drawing/2014/main" id="{273D432A-2A32-048E-69ED-968B1D3AB2E5}"/>
              </a:ext>
            </a:extLst>
          </p:cNvPr>
          <p:cNvSpPr txBox="1"/>
          <p:nvPr/>
        </p:nvSpPr>
        <p:spPr>
          <a:xfrm>
            <a:off x="638174" y="3508593"/>
            <a:ext cx="23844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a-DK" sz="1200" b="1" dirty="0"/>
              <a:t>Altså kvinder er typisk ældre, når de føder 2., 3., 4. etc. barn.</a:t>
            </a:r>
          </a:p>
        </p:txBody>
      </p:sp>
      <p:sp>
        <p:nvSpPr>
          <p:cNvPr id="23" name="Tekstfelt 22">
            <a:extLst>
              <a:ext uri="{FF2B5EF4-FFF2-40B4-BE49-F238E27FC236}">
                <a16:creationId xmlns:a16="http://schemas.microsoft.com/office/drawing/2014/main" id="{E6506C3B-6335-7F28-6731-6182F57F60F2}"/>
              </a:ext>
            </a:extLst>
          </p:cNvPr>
          <p:cNvSpPr txBox="1"/>
          <p:nvPr/>
        </p:nvSpPr>
        <p:spPr>
          <a:xfrm>
            <a:off x="2351087" y="6375192"/>
            <a:ext cx="647382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a-DK" sz="1400" b="1" dirty="0"/>
              <a:t>Moders alder er en (stærk) </a:t>
            </a:r>
            <a:r>
              <a:rPr lang="da-DK" sz="1400" b="1" dirty="0" err="1"/>
              <a:t>confounder</a:t>
            </a:r>
            <a:r>
              <a:rPr lang="da-DK" sz="1400" b="1" dirty="0"/>
              <a:t> i ovenstående eksempel</a:t>
            </a:r>
          </a:p>
        </p:txBody>
      </p:sp>
      <p:sp>
        <p:nvSpPr>
          <p:cNvPr id="3" name="Pladsholder til slidenummer 2">
            <a:extLst>
              <a:ext uri="{FF2B5EF4-FFF2-40B4-BE49-F238E27FC236}">
                <a16:creationId xmlns:a16="http://schemas.microsoft.com/office/drawing/2014/main" id="{895753DB-A03E-67D8-C833-FF5DB8D031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30098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6" grpId="0" animBg="1"/>
      <p:bldP spid="18" grpId="0" animBg="1"/>
      <p:bldP spid="29" grpId="0"/>
      <p:bldP spid="30" grpId="0"/>
      <p:bldP spid="31" grpId="0"/>
      <p:bldP spid="22" grpId="0"/>
      <p:bldP spid="23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Eksempel på </a:t>
            </a:r>
            <a:r>
              <a:rPr lang="da-DK" dirty="0" err="1"/>
              <a:t>confounding</a:t>
            </a:r>
            <a:endParaRPr dirty="0"/>
          </a:p>
        </p:txBody>
      </p:sp>
      <p:sp>
        <p:nvSpPr>
          <p:cNvPr id="4" name="Rektangel 3"/>
          <p:cNvSpPr/>
          <p:nvPr/>
        </p:nvSpPr>
        <p:spPr>
          <a:xfrm>
            <a:off x="1168400" y="2057400"/>
            <a:ext cx="1682750" cy="56515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a-DK" sz="1400" dirty="0">
                <a:solidFill>
                  <a:schemeClr val="tx1"/>
                </a:solidFill>
              </a:rPr>
              <a:t>RYGNING</a:t>
            </a:r>
          </a:p>
        </p:txBody>
      </p:sp>
      <p:sp>
        <p:nvSpPr>
          <p:cNvPr id="5" name="Rektangel 4"/>
          <p:cNvSpPr/>
          <p:nvPr/>
        </p:nvSpPr>
        <p:spPr>
          <a:xfrm>
            <a:off x="3343275" y="3330575"/>
            <a:ext cx="1682750" cy="56515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a-DK" sz="1400" dirty="0">
                <a:solidFill>
                  <a:schemeClr val="tx1"/>
                </a:solidFill>
              </a:rPr>
              <a:t>ÅREFORKALKNING</a:t>
            </a:r>
          </a:p>
        </p:txBody>
      </p:sp>
      <p:sp>
        <p:nvSpPr>
          <p:cNvPr id="6" name="Rektangel 5"/>
          <p:cNvSpPr/>
          <p:nvPr/>
        </p:nvSpPr>
        <p:spPr>
          <a:xfrm>
            <a:off x="5518150" y="2057400"/>
            <a:ext cx="1682750" cy="56515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a-DK" sz="1400" dirty="0">
                <a:solidFill>
                  <a:schemeClr val="tx1"/>
                </a:solidFill>
              </a:rPr>
              <a:t>MYOKARDIEINFARKT</a:t>
            </a:r>
          </a:p>
        </p:txBody>
      </p:sp>
      <p:cxnSp>
        <p:nvCxnSpPr>
          <p:cNvPr id="8" name="Lige pilforbindelse 7"/>
          <p:cNvCxnSpPr>
            <a:stCxn id="5" idx="3"/>
            <a:endCxn id="6" idx="2"/>
          </p:cNvCxnSpPr>
          <p:nvPr/>
        </p:nvCxnSpPr>
        <p:spPr>
          <a:xfrm flipV="1">
            <a:off x="5026025" y="2622550"/>
            <a:ext cx="1333500" cy="990600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10" name="Lige pilforbindelse 9"/>
          <p:cNvCxnSpPr>
            <a:stCxn id="5" idx="1"/>
            <a:endCxn id="4" idx="2"/>
          </p:cNvCxnSpPr>
          <p:nvPr/>
        </p:nvCxnSpPr>
        <p:spPr>
          <a:xfrm flipH="1" flipV="1">
            <a:off x="2009775" y="2622550"/>
            <a:ext cx="1333500" cy="990600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sp>
        <p:nvSpPr>
          <p:cNvPr id="13" name="Rektangel 12"/>
          <p:cNvSpPr/>
          <p:nvPr/>
        </p:nvSpPr>
        <p:spPr>
          <a:xfrm>
            <a:off x="1168400" y="5519737"/>
            <a:ext cx="1682750" cy="56515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a-DK" sz="1400" dirty="0">
                <a:solidFill>
                  <a:schemeClr val="tx1"/>
                </a:solidFill>
              </a:rPr>
              <a:t>RYGNING</a:t>
            </a:r>
          </a:p>
        </p:txBody>
      </p:sp>
      <p:sp>
        <p:nvSpPr>
          <p:cNvPr id="16" name="Rektangel 15"/>
          <p:cNvSpPr/>
          <p:nvPr/>
        </p:nvSpPr>
        <p:spPr>
          <a:xfrm>
            <a:off x="3343275" y="5519737"/>
            <a:ext cx="1682750" cy="56515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a-DK" sz="1400" dirty="0">
                <a:solidFill>
                  <a:schemeClr val="tx1"/>
                </a:solidFill>
              </a:rPr>
              <a:t>ÅREFORKALKNING</a:t>
            </a:r>
          </a:p>
        </p:txBody>
      </p:sp>
      <p:sp>
        <p:nvSpPr>
          <p:cNvPr id="18" name="Rektangel 17"/>
          <p:cNvSpPr/>
          <p:nvPr/>
        </p:nvSpPr>
        <p:spPr>
          <a:xfrm>
            <a:off x="5518150" y="5519737"/>
            <a:ext cx="1682750" cy="56515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a-DK" sz="1400" dirty="0">
                <a:solidFill>
                  <a:schemeClr val="tx1"/>
                </a:solidFill>
              </a:rPr>
              <a:t>MYOKARDIEINFARKT</a:t>
            </a:r>
          </a:p>
        </p:txBody>
      </p:sp>
      <p:cxnSp>
        <p:nvCxnSpPr>
          <p:cNvPr id="21" name="Lige pilforbindelse 20"/>
          <p:cNvCxnSpPr>
            <a:stCxn id="13" idx="3"/>
            <a:endCxn id="16" idx="1"/>
          </p:cNvCxnSpPr>
          <p:nvPr/>
        </p:nvCxnSpPr>
        <p:spPr>
          <a:xfrm>
            <a:off x="2851150" y="5802312"/>
            <a:ext cx="492125" cy="0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24" name="Lige pilforbindelse 23"/>
          <p:cNvCxnSpPr>
            <a:stCxn id="16" idx="3"/>
            <a:endCxn id="18" idx="1"/>
          </p:cNvCxnSpPr>
          <p:nvPr/>
        </p:nvCxnSpPr>
        <p:spPr>
          <a:xfrm>
            <a:off x="5026025" y="5802312"/>
            <a:ext cx="492125" cy="0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sp>
        <p:nvSpPr>
          <p:cNvPr id="29" name="Tekstfelt 28"/>
          <p:cNvSpPr txBox="1"/>
          <p:nvPr/>
        </p:nvSpPr>
        <p:spPr>
          <a:xfrm>
            <a:off x="5588000" y="3120231"/>
            <a:ext cx="32258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a-DK" sz="1200" b="1" dirty="0"/>
              <a:t>1) Åreforkalkning er en selvstændig risikofaktor for myokardieinfarkt</a:t>
            </a:r>
          </a:p>
          <a:p>
            <a:endParaRPr lang="da-DK" sz="1200" b="1" dirty="0"/>
          </a:p>
          <a:p>
            <a:endParaRPr lang="da-DK" sz="1200" b="1" dirty="0"/>
          </a:p>
        </p:txBody>
      </p:sp>
      <p:sp>
        <p:nvSpPr>
          <p:cNvPr id="30" name="Tekstfelt 29"/>
          <p:cNvSpPr txBox="1"/>
          <p:nvPr/>
        </p:nvSpPr>
        <p:spPr>
          <a:xfrm>
            <a:off x="638175" y="3082676"/>
            <a:ext cx="23844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a-DK" sz="1200" b="1" dirty="0"/>
              <a:t>2) Rygning er associeret med åreforkalkning</a:t>
            </a:r>
          </a:p>
        </p:txBody>
      </p:sp>
      <p:sp>
        <p:nvSpPr>
          <p:cNvPr id="31" name="Tekstfelt 30"/>
          <p:cNvSpPr txBox="1"/>
          <p:nvPr/>
        </p:nvSpPr>
        <p:spPr>
          <a:xfrm>
            <a:off x="2654300" y="4981078"/>
            <a:ext cx="30607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a-DK" sz="1200" b="1" dirty="0"/>
              <a:t>3) Rygning fører (delvist) til åreforkalkning, som efterfølgende fører til myokardieinfarkt</a:t>
            </a:r>
          </a:p>
        </p:txBody>
      </p:sp>
      <p:cxnSp>
        <p:nvCxnSpPr>
          <p:cNvPr id="33" name="Lige forbindelse 32"/>
          <p:cNvCxnSpPr/>
          <p:nvPr/>
        </p:nvCxnSpPr>
        <p:spPr>
          <a:xfrm>
            <a:off x="3097212" y="5442743"/>
            <a:ext cx="2174875" cy="742157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5" name="Lige forbindelse 34"/>
          <p:cNvCxnSpPr/>
          <p:nvPr/>
        </p:nvCxnSpPr>
        <p:spPr>
          <a:xfrm flipV="1">
            <a:off x="3097212" y="5442743"/>
            <a:ext cx="2174875" cy="742157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9" name="Lige pilforbindelse 18"/>
          <p:cNvCxnSpPr/>
          <p:nvPr/>
        </p:nvCxnSpPr>
        <p:spPr>
          <a:xfrm>
            <a:off x="2851150" y="2339975"/>
            <a:ext cx="2667000" cy="0"/>
          </a:xfrm>
          <a:prstGeom prst="straightConnector1">
            <a:avLst/>
          </a:prstGeom>
          <a:ln w="38100">
            <a:solidFill>
              <a:schemeClr val="accent1"/>
            </a:solidFill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sp>
        <p:nvSpPr>
          <p:cNvPr id="20" name="Tekstfelt 19"/>
          <p:cNvSpPr txBox="1"/>
          <p:nvPr/>
        </p:nvSpPr>
        <p:spPr>
          <a:xfrm>
            <a:off x="3343275" y="2098972"/>
            <a:ext cx="168275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a-DK" sz="1050" i="1" dirty="0"/>
              <a:t>association af interesse</a:t>
            </a:r>
          </a:p>
          <a:p>
            <a:pPr algn="ctr"/>
            <a:endParaRPr lang="da-DK" sz="1050" b="1" dirty="0"/>
          </a:p>
        </p:txBody>
      </p:sp>
      <p:sp>
        <p:nvSpPr>
          <p:cNvPr id="22" name="Tekstfelt 21"/>
          <p:cNvSpPr txBox="1"/>
          <p:nvPr/>
        </p:nvSpPr>
        <p:spPr>
          <a:xfrm>
            <a:off x="638174" y="3508593"/>
            <a:ext cx="23844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a-DK" sz="1200" b="1" dirty="0"/>
              <a:t>Altså åreforkalkning forekommer hyppigere hos rygere</a:t>
            </a:r>
          </a:p>
        </p:txBody>
      </p:sp>
      <p:sp>
        <p:nvSpPr>
          <p:cNvPr id="23" name="Tekstfelt 22"/>
          <p:cNvSpPr txBox="1"/>
          <p:nvPr/>
        </p:nvSpPr>
        <p:spPr>
          <a:xfrm>
            <a:off x="2455862" y="6375192"/>
            <a:ext cx="647382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a-DK" sz="1600" b="1" dirty="0"/>
              <a:t>Åreforkalkning er </a:t>
            </a:r>
            <a:r>
              <a:rPr lang="da-DK" sz="1600" b="1" u="sng" dirty="0"/>
              <a:t>ikke</a:t>
            </a:r>
            <a:r>
              <a:rPr lang="da-DK" sz="1600" b="1" dirty="0"/>
              <a:t> en </a:t>
            </a:r>
            <a:r>
              <a:rPr lang="da-DK" sz="1600" b="1" dirty="0" err="1"/>
              <a:t>confounder</a:t>
            </a:r>
            <a:r>
              <a:rPr lang="da-DK" sz="1600" b="1" dirty="0"/>
              <a:t> i ovenstående eksempel</a:t>
            </a:r>
          </a:p>
        </p:txBody>
      </p:sp>
      <p:sp>
        <p:nvSpPr>
          <p:cNvPr id="3" name="Pladsholder til slidenumm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20703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0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6" grpId="0" animBg="1"/>
      <p:bldP spid="18" grpId="0" animBg="1"/>
      <p:bldP spid="29" grpId="0"/>
      <p:bldP spid="30" grpId="0"/>
      <p:bldP spid="31" grpId="0"/>
      <p:bldP spid="22" grpId="0"/>
      <p:bldP spid="23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Eksempel på </a:t>
            </a:r>
            <a:r>
              <a:rPr lang="da-DK" dirty="0" err="1"/>
              <a:t>confounding</a:t>
            </a:r>
            <a:endParaRPr dirty="0"/>
          </a:p>
        </p:txBody>
      </p:sp>
      <p:sp>
        <p:nvSpPr>
          <p:cNvPr id="4" name="Rektangel 3"/>
          <p:cNvSpPr/>
          <p:nvPr/>
        </p:nvSpPr>
        <p:spPr>
          <a:xfrm>
            <a:off x="1168400" y="2057400"/>
            <a:ext cx="1682750" cy="56515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a-DK" sz="1600" dirty="0">
                <a:solidFill>
                  <a:schemeClr val="tx1"/>
                </a:solidFill>
              </a:rPr>
              <a:t>ALDER</a:t>
            </a:r>
          </a:p>
        </p:txBody>
      </p:sp>
      <p:sp>
        <p:nvSpPr>
          <p:cNvPr id="5" name="Rektangel 4"/>
          <p:cNvSpPr/>
          <p:nvPr/>
        </p:nvSpPr>
        <p:spPr>
          <a:xfrm>
            <a:off x="3343275" y="3330575"/>
            <a:ext cx="1682750" cy="56515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a-DK" sz="1600" dirty="0">
                <a:solidFill>
                  <a:schemeClr val="tx1"/>
                </a:solidFill>
              </a:rPr>
              <a:t>MUSKELSTYRKE</a:t>
            </a:r>
          </a:p>
        </p:txBody>
      </p:sp>
      <p:sp>
        <p:nvSpPr>
          <p:cNvPr id="6" name="Rektangel 5"/>
          <p:cNvSpPr/>
          <p:nvPr/>
        </p:nvSpPr>
        <p:spPr>
          <a:xfrm>
            <a:off x="5518150" y="2057400"/>
            <a:ext cx="1682750" cy="56515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a-DK" sz="1600" dirty="0">
                <a:solidFill>
                  <a:schemeClr val="tx1"/>
                </a:solidFill>
              </a:rPr>
              <a:t>FALD</a:t>
            </a:r>
          </a:p>
        </p:txBody>
      </p:sp>
      <p:cxnSp>
        <p:nvCxnSpPr>
          <p:cNvPr id="8" name="Lige pilforbindelse 7"/>
          <p:cNvCxnSpPr>
            <a:stCxn id="5" idx="3"/>
            <a:endCxn id="6" idx="2"/>
          </p:cNvCxnSpPr>
          <p:nvPr/>
        </p:nvCxnSpPr>
        <p:spPr>
          <a:xfrm flipV="1">
            <a:off x="5026025" y="2622550"/>
            <a:ext cx="1333500" cy="990600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10" name="Lige pilforbindelse 9"/>
          <p:cNvCxnSpPr>
            <a:stCxn id="5" idx="1"/>
            <a:endCxn id="4" idx="2"/>
          </p:cNvCxnSpPr>
          <p:nvPr/>
        </p:nvCxnSpPr>
        <p:spPr>
          <a:xfrm flipH="1" flipV="1">
            <a:off x="2009775" y="2622550"/>
            <a:ext cx="1333500" cy="990600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sp>
        <p:nvSpPr>
          <p:cNvPr id="13" name="Rektangel 12"/>
          <p:cNvSpPr/>
          <p:nvPr/>
        </p:nvSpPr>
        <p:spPr>
          <a:xfrm>
            <a:off x="1168400" y="5519737"/>
            <a:ext cx="1682750" cy="56515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a-DK" sz="1600" dirty="0">
                <a:solidFill>
                  <a:schemeClr val="tx1"/>
                </a:solidFill>
              </a:rPr>
              <a:t>ALDER</a:t>
            </a:r>
          </a:p>
        </p:txBody>
      </p:sp>
      <p:sp>
        <p:nvSpPr>
          <p:cNvPr id="16" name="Rektangel 15"/>
          <p:cNvSpPr/>
          <p:nvPr/>
        </p:nvSpPr>
        <p:spPr>
          <a:xfrm>
            <a:off x="3343275" y="5519737"/>
            <a:ext cx="1682750" cy="56515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a-DK" sz="1600" dirty="0">
                <a:solidFill>
                  <a:schemeClr val="tx1"/>
                </a:solidFill>
              </a:rPr>
              <a:t>MUSKELSTYRKE</a:t>
            </a:r>
          </a:p>
        </p:txBody>
      </p:sp>
      <p:sp>
        <p:nvSpPr>
          <p:cNvPr id="18" name="Rektangel 17"/>
          <p:cNvSpPr/>
          <p:nvPr/>
        </p:nvSpPr>
        <p:spPr>
          <a:xfrm>
            <a:off x="5518150" y="5519737"/>
            <a:ext cx="1682750" cy="56515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a-DK" sz="1600" dirty="0">
                <a:solidFill>
                  <a:schemeClr val="tx1"/>
                </a:solidFill>
              </a:rPr>
              <a:t>FALD</a:t>
            </a:r>
          </a:p>
        </p:txBody>
      </p:sp>
      <p:cxnSp>
        <p:nvCxnSpPr>
          <p:cNvPr id="21" name="Lige pilforbindelse 20"/>
          <p:cNvCxnSpPr>
            <a:stCxn id="13" idx="3"/>
            <a:endCxn id="16" idx="1"/>
          </p:cNvCxnSpPr>
          <p:nvPr/>
        </p:nvCxnSpPr>
        <p:spPr>
          <a:xfrm>
            <a:off x="2851150" y="5802312"/>
            <a:ext cx="492125" cy="0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24" name="Lige pilforbindelse 23"/>
          <p:cNvCxnSpPr>
            <a:stCxn id="16" idx="3"/>
            <a:endCxn id="18" idx="1"/>
          </p:cNvCxnSpPr>
          <p:nvPr/>
        </p:nvCxnSpPr>
        <p:spPr>
          <a:xfrm>
            <a:off x="5026025" y="5802312"/>
            <a:ext cx="492125" cy="0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sp>
        <p:nvSpPr>
          <p:cNvPr id="29" name="Tekstfelt 28"/>
          <p:cNvSpPr txBox="1"/>
          <p:nvPr/>
        </p:nvSpPr>
        <p:spPr>
          <a:xfrm>
            <a:off x="5588000" y="3120231"/>
            <a:ext cx="32258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a-DK" sz="1200" b="1" dirty="0"/>
              <a:t>1) Lavere muskelstyrke giver større sandsynlighed for fald</a:t>
            </a:r>
          </a:p>
          <a:p>
            <a:endParaRPr lang="da-DK" sz="1200" b="1" dirty="0"/>
          </a:p>
        </p:txBody>
      </p:sp>
      <p:sp>
        <p:nvSpPr>
          <p:cNvPr id="30" name="Tekstfelt 29"/>
          <p:cNvSpPr txBox="1"/>
          <p:nvPr/>
        </p:nvSpPr>
        <p:spPr>
          <a:xfrm>
            <a:off x="638175" y="3082676"/>
            <a:ext cx="221297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a-DK" sz="1200" b="1" dirty="0"/>
              <a:t>2) Muskelstyrke er associeret med alder</a:t>
            </a:r>
          </a:p>
        </p:txBody>
      </p:sp>
      <p:sp>
        <p:nvSpPr>
          <p:cNvPr id="31" name="Tekstfelt 30"/>
          <p:cNvSpPr txBox="1"/>
          <p:nvPr/>
        </p:nvSpPr>
        <p:spPr>
          <a:xfrm>
            <a:off x="2654300" y="4832378"/>
            <a:ext cx="30607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a-DK" sz="1200" b="1" dirty="0"/>
              <a:t>3) Selvom muskelstyrke ændrer sig på populationsniveau med alderen, kan det påvirkes af f.eks. træning</a:t>
            </a:r>
          </a:p>
        </p:txBody>
      </p:sp>
      <p:cxnSp>
        <p:nvCxnSpPr>
          <p:cNvPr id="33" name="Lige forbindelse 32"/>
          <p:cNvCxnSpPr/>
          <p:nvPr/>
        </p:nvCxnSpPr>
        <p:spPr>
          <a:xfrm>
            <a:off x="3097212" y="5442743"/>
            <a:ext cx="2174875" cy="742157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5" name="Lige forbindelse 34"/>
          <p:cNvCxnSpPr/>
          <p:nvPr/>
        </p:nvCxnSpPr>
        <p:spPr>
          <a:xfrm flipV="1">
            <a:off x="3097212" y="5442743"/>
            <a:ext cx="2174875" cy="742157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9" name="Lige pilforbindelse 18"/>
          <p:cNvCxnSpPr/>
          <p:nvPr/>
        </p:nvCxnSpPr>
        <p:spPr>
          <a:xfrm>
            <a:off x="2851150" y="2339975"/>
            <a:ext cx="2667000" cy="0"/>
          </a:xfrm>
          <a:prstGeom prst="straightConnector1">
            <a:avLst/>
          </a:prstGeom>
          <a:ln w="38100">
            <a:solidFill>
              <a:schemeClr val="accent5">
                <a:lumMod val="20000"/>
                <a:lumOff val="80000"/>
              </a:schemeClr>
            </a:solidFill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sp>
        <p:nvSpPr>
          <p:cNvPr id="20" name="Tekstfelt 19"/>
          <p:cNvSpPr txBox="1"/>
          <p:nvPr/>
        </p:nvSpPr>
        <p:spPr>
          <a:xfrm>
            <a:off x="3343275" y="2098972"/>
            <a:ext cx="168275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a-DK" sz="1050" i="1" dirty="0"/>
              <a:t>association af interesse</a:t>
            </a:r>
          </a:p>
          <a:p>
            <a:pPr algn="ctr"/>
            <a:endParaRPr lang="da-DK" sz="1050" b="1" dirty="0"/>
          </a:p>
        </p:txBody>
      </p:sp>
      <p:sp>
        <p:nvSpPr>
          <p:cNvPr id="22" name="Tekstfelt 21"/>
          <p:cNvSpPr txBox="1"/>
          <p:nvPr/>
        </p:nvSpPr>
        <p:spPr>
          <a:xfrm>
            <a:off x="638174" y="3508593"/>
            <a:ext cx="23844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a-DK" sz="1200" b="1" dirty="0"/>
              <a:t>Altså muskelstyrken ændrer sig gennem livet.</a:t>
            </a:r>
          </a:p>
        </p:txBody>
      </p:sp>
      <p:sp>
        <p:nvSpPr>
          <p:cNvPr id="23" name="Tekstfelt 22"/>
          <p:cNvSpPr txBox="1"/>
          <p:nvPr/>
        </p:nvSpPr>
        <p:spPr>
          <a:xfrm>
            <a:off x="2351087" y="6375192"/>
            <a:ext cx="647382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a-DK" sz="1600" b="1" dirty="0"/>
              <a:t>Muskelstyrke er en </a:t>
            </a:r>
            <a:r>
              <a:rPr lang="da-DK" sz="1600" b="1" dirty="0" err="1"/>
              <a:t>confounder</a:t>
            </a:r>
            <a:r>
              <a:rPr lang="da-DK" sz="1600" b="1" dirty="0"/>
              <a:t> i ovenstående eksempel</a:t>
            </a:r>
          </a:p>
        </p:txBody>
      </p:sp>
      <p:sp>
        <p:nvSpPr>
          <p:cNvPr id="3" name="Pladsholder til slidenumm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70608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6" grpId="0" animBg="1"/>
      <p:bldP spid="18" grpId="0" animBg="1"/>
      <p:bldP spid="29" grpId="0"/>
      <p:bldP spid="30" grpId="0"/>
      <p:bldP spid="31" grpId="0"/>
      <p:bldP spid="22" grpId="0"/>
      <p:bldP spid="23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2BD5208-5017-89B2-70B5-75662C763B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Eksempel fra virkeligheden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4535F276-FB98-C50B-12F7-4CF7DA171F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4" name="Pladsholder til slidenummer 3">
            <a:extLst>
              <a:ext uri="{FF2B5EF4-FFF2-40B4-BE49-F238E27FC236}">
                <a16:creationId xmlns:a16="http://schemas.microsoft.com/office/drawing/2014/main" id="{5DD9DCAF-C6D8-31B2-6443-20769A9F2B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31</a:t>
            </a:fld>
            <a:endParaRPr lang="en-US"/>
          </a:p>
        </p:txBody>
      </p:sp>
      <p:pic>
        <p:nvPicPr>
          <p:cNvPr id="6" name="Billede 5">
            <a:extLst>
              <a:ext uri="{FF2B5EF4-FFF2-40B4-BE49-F238E27FC236}">
                <a16:creationId xmlns:a16="http://schemas.microsoft.com/office/drawing/2014/main" id="{6C5527E6-7D4A-66A0-44CF-9E73536B58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650" y="1825626"/>
            <a:ext cx="5986480" cy="4351338"/>
          </a:xfrm>
          <a:prstGeom prst="rect">
            <a:avLst/>
          </a:prstGeom>
        </p:spPr>
      </p:pic>
      <p:sp>
        <p:nvSpPr>
          <p:cNvPr id="8" name="Tekstfelt 7">
            <a:extLst>
              <a:ext uri="{FF2B5EF4-FFF2-40B4-BE49-F238E27FC236}">
                <a16:creationId xmlns:a16="http://schemas.microsoft.com/office/drawing/2014/main" id="{9CED247B-1326-6AC9-31FB-D02DCC41FB56}"/>
              </a:ext>
            </a:extLst>
          </p:cNvPr>
          <p:cNvSpPr txBox="1"/>
          <p:nvPr/>
        </p:nvSpPr>
        <p:spPr>
          <a:xfrm>
            <a:off x="3375211" y="6361305"/>
            <a:ext cx="495524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900" b="0" i="0" dirty="0">
                <a:solidFill>
                  <a:srgbClr val="1B1B1B"/>
                </a:solidFill>
                <a:effectLst/>
                <a:latin typeface="Roboto Mono Web"/>
              </a:rPr>
              <a:t>Jung SJ. Introduction to Mediation Analysis and Examples of Its Application to Real-world Data. </a:t>
            </a:r>
            <a:r>
              <a:rPr lang="en-US" sz="900" b="0" i="1" dirty="0">
                <a:solidFill>
                  <a:srgbClr val="1B1B1B"/>
                </a:solidFill>
                <a:effectLst/>
                <a:latin typeface="Roboto Mono Web"/>
              </a:rPr>
              <a:t>J Prev Med Public Health</a:t>
            </a:r>
            <a:r>
              <a:rPr lang="en-US" sz="900" b="0" i="0" dirty="0">
                <a:solidFill>
                  <a:srgbClr val="1B1B1B"/>
                </a:solidFill>
                <a:effectLst/>
                <a:latin typeface="Roboto Mono Web"/>
              </a:rPr>
              <a:t>. 2021;54(3):166-172. doi:10.3961/jpmph.21.069</a:t>
            </a:r>
            <a:endParaRPr lang="da-DK" sz="900" dirty="0"/>
          </a:p>
        </p:txBody>
      </p:sp>
    </p:spTree>
    <p:extLst>
      <p:ext uri="{BB962C8B-B14F-4D97-AF65-F5344CB8AC3E}">
        <p14:creationId xmlns:p14="http://schemas.microsoft.com/office/powerpoint/2010/main" val="300636548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8B6528-714C-6914-2C31-1AE54BD640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28467C4-0586-76F0-372A-45AF1CEFA2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Eksempel fra virkeligheden</a:t>
            </a:r>
          </a:p>
        </p:txBody>
      </p:sp>
      <p:pic>
        <p:nvPicPr>
          <p:cNvPr id="6" name="Pladsholder til indhold 5" descr="Et billede, der indeholder tekst, linje/række, skærmbillede, diagram&#10;&#10;Indhold genereret af kunstig intelligens kan være forkert.">
            <a:extLst>
              <a:ext uri="{FF2B5EF4-FFF2-40B4-BE49-F238E27FC236}">
                <a16:creationId xmlns:a16="http://schemas.microsoft.com/office/drawing/2014/main" id="{700A33C0-3D79-3FC3-7F74-409CD6ACD1C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28650" y="2054577"/>
            <a:ext cx="7886700" cy="3893434"/>
          </a:xfrm>
        </p:spPr>
      </p:pic>
      <p:sp>
        <p:nvSpPr>
          <p:cNvPr id="4" name="Pladsholder til slidenummer 3">
            <a:extLst>
              <a:ext uri="{FF2B5EF4-FFF2-40B4-BE49-F238E27FC236}">
                <a16:creationId xmlns:a16="http://schemas.microsoft.com/office/drawing/2014/main" id="{F17EC674-E455-27E1-AA03-9E627B8484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32</a:t>
            </a:fld>
            <a:endParaRPr lang="en-US"/>
          </a:p>
        </p:txBody>
      </p:sp>
      <p:sp>
        <p:nvSpPr>
          <p:cNvPr id="7" name="Tekstfelt 6">
            <a:extLst>
              <a:ext uri="{FF2B5EF4-FFF2-40B4-BE49-F238E27FC236}">
                <a16:creationId xmlns:a16="http://schemas.microsoft.com/office/drawing/2014/main" id="{74B9516E-DEBB-7027-F970-46A6DF48E44E}"/>
              </a:ext>
            </a:extLst>
          </p:cNvPr>
          <p:cNvSpPr txBox="1"/>
          <p:nvPr/>
        </p:nvSpPr>
        <p:spPr>
          <a:xfrm>
            <a:off x="3375211" y="6361305"/>
            <a:ext cx="495524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900" b="0" i="0" dirty="0">
                <a:solidFill>
                  <a:srgbClr val="1B1B1B"/>
                </a:solidFill>
                <a:effectLst/>
                <a:latin typeface="Roboto Mono Web"/>
              </a:rPr>
              <a:t>Jung SJ. Introduction to Mediation Analysis and Examples of Its Application to Real-world Data. </a:t>
            </a:r>
            <a:r>
              <a:rPr lang="en-US" sz="900" b="0" i="1" dirty="0">
                <a:solidFill>
                  <a:srgbClr val="1B1B1B"/>
                </a:solidFill>
                <a:effectLst/>
                <a:latin typeface="Roboto Mono Web"/>
              </a:rPr>
              <a:t>J Prev Med Public Health</a:t>
            </a:r>
            <a:r>
              <a:rPr lang="en-US" sz="900" b="0" i="0" dirty="0">
                <a:solidFill>
                  <a:srgbClr val="1B1B1B"/>
                </a:solidFill>
                <a:effectLst/>
                <a:latin typeface="Roboto Mono Web"/>
              </a:rPr>
              <a:t>. 2021;54(3):166-172. doi:10.3961/jpmph.21.069</a:t>
            </a:r>
            <a:endParaRPr lang="da-DK" sz="900" dirty="0"/>
          </a:p>
        </p:txBody>
      </p:sp>
    </p:spTree>
    <p:extLst>
      <p:ext uri="{BB962C8B-B14F-4D97-AF65-F5344CB8AC3E}">
        <p14:creationId xmlns:p14="http://schemas.microsoft.com/office/powerpoint/2010/main" val="77009724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Residual confounding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spcAft>
                <a:spcPts val="600"/>
              </a:spcAft>
              <a:buNone/>
              <a:defRPr sz="1400"/>
            </a:pPr>
            <a:r>
              <a:rPr lang="da-DK" b="1" dirty="0"/>
              <a:t>Residual </a:t>
            </a:r>
            <a:r>
              <a:rPr lang="da-DK" b="1" dirty="0" err="1"/>
              <a:t>confounding</a:t>
            </a:r>
            <a:r>
              <a:rPr lang="da-DK" b="1" dirty="0"/>
              <a:t> = tilbageværende </a:t>
            </a:r>
            <a:r>
              <a:rPr lang="da-DK" b="1" dirty="0" err="1"/>
              <a:t>confounding</a:t>
            </a:r>
            <a:r>
              <a:rPr lang="da-DK" dirty="0"/>
              <a:t>, selv efter statistisk justering.</a:t>
            </a:r>
          </a:p>
          <a:p>
            <a:pPr>
              <a:spcAft>
                <a:spcPts val="600"/>
              </a:spcAft>
              <a:defRPr sz="1400"/>
            </a:pPr>
            <a:r>
              <a:rPr dirty="0"/>
              <a:t>Kan </a:t>
            </a:r>
            <a:r>
              <a:rPr dirty="0" err="1"/>
              <a:t>skyldes</a:t>
            </a:r>
            <a:r>
              <a:rPr dirty="0"/>
              <a:t> for </a:t>
            </a:r>
            <a:r>
              <a:rPr dirty="0" err="1"/>
              <a:t>simpel</a:t>
            </a:r>
            <a:r>
              <a:rPr dirty="0"/>
              <a:t> </a:t>
            </a:r>
            <a:r>
              <a:rPr dirty="0" err="1"/>
              <a:t>måling</a:t>
            </a:r>
            <a:r>
              <a:rPr dirty="0"/>
              <a:t> (</a:t>
            </a:r>
            <a:r>
              <a:rPr dirty="0" err="1"/>
              <a:t>fx</a:t>
            </a:r>
            <a:r>
              <a:rPr dirty="0"/>
              <a:t> alder </a:t>
            </a:r>
            <a:r>
              <a:rPr dirty="0" err="1"/>
              <a:t>i</a:t>
            </a:r>
            <a:r>
              <a:rPr dirty="0"/>
              <a:t> brede </a:t>
            </a:r>
            <a:r>
              <a:rPr dirty="0" err="1"/>
              <a:t>grupper</a:t>
            </a:r>
            <a:r>
              <a:rPr dirty="0"/>
              <a:t>)</a:t>
            </a:r>
            <a:endParaRPr lang="da-DK" dirty="0"/>
          </a:p>
          <a:p>
            <a:pPr>
              <a:spcAft>
                <a:spcPts val="600"/>
              </a:spcAft>
              <a:defRPr sz="1400"/>
            </a:pPr>
            <a:r>
              <a:rPr lang="da-DK" dirty="0"/>
              <a:t>Kan skyldes misklassifikation</a:t>
            </a:r>
          </a:p>
          <a:p>
            <a:pPr>
              <a:spcAft>
                <a:spcPts val="600"/>
              </a:spcAft>
              <a:defRPr sz="1400"/>
            </a:pPr>
            <a:r>
              <a:rPr lang="da-DK" dirty="0"/>
              <a:t>En </a:t>
            </a:r>
            <a:r>
              <a:rPr lang="da-DK" dirty="0" err="1"/>
              <a:t>confounder</a:t>
            </a:r>
            <a:r>
              <a:rPr lang="da-DK" dirty="0"/>
              <a:t> mangler helt</a:t>
            </a:r>
            <a:endParaRPr dirty="0"/>
          </a:p>
          <a:p>
            <a:pPr>
              <a:spcAft>
                <a:spcPts val="600"/>
              </a:spcAft>
              <a:defRPr sz="1400"/>
            </a:pPr>
            <a:r>
              <a:rPr dirty="0" err="1"/>
              <a:t>Kan</a:t>
            </a:r>
            <a:r>
              <a:rPr dirty="0"/>
              <a:t> </a:t>
            </a:r>
            <a:r>
              <a:rPr dirty="0" err="1"/>
              <a:t>ikke</a:t>
            </a:r>
            <a:r>
              <a:rPr dirty="0"/>
              <a:t> </a:t>
            </a:r>
            <a:r>
              <a:rPr dirty="0" err="1"/>
              <a:t>elimineres</a:t>
            </a:r>
            <a:r>
              <a:rPr dirty="0"/>
              <a:t> </a:t>
            </a:r>
            <a:r>
              <a:rPr dirty="0" err="1"/>
              <a:t>helt</a:t>
            </a:r>
            <a:r>
              <a:rPr dirty="0"/>
              <a:t> </a:t>
            </a:r>
            <a:r>
              <a:rPr dirty="0" err="1"/>
              <a:t>i</a:t>
            </a:r>
            <a:r>
              <a:rPr dirty="0"/>
              <a:t> </a:t>
            </a:r>
            <a:r>
              <a:rPr dirty="0" err="1"/>
              <a:t>observationsstudier</a:t>
            </a:r>
            <a:endParaRPr dirty="0"/>
          </a:p>
        </p:txBody>
      </p:sp>
      <p:sp>
        <p:nvSpPr>
          <p:cNvPr id="4" name="Pladsholder til slidenumm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95584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D591E3-F531-0239-37E3-DA0757BF68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60B88E-038F-E6A8-0047-042241ED15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Residual confounding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044DAF-63A7-6707-C137-740ADC55ED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spcAft>
                <a:spcPts val="600"/>
              </a:spcAft>
              <a:buNone/>
              <a:defRPr sz="1400"/>
            </a:pPr>
            <a:r>
              <a:rPr lang="da-DK" b="1" dirty="0"/>
              <a:t>Eksempel: </a:t>
            </a:r>
            <a:r>
              <a:rPr lang="da-DK" dirty="0"/>
              <a:t>Observationsstudie: Alkoholindtag og iskæmisk hjertesygdom</a:t>
            </a:r>
          </a:p>
          <a:p>
            <a:pPr>
              <a:spcAft>
                <a:spcPts val="600"/>
              </a:spcAft>
              <a:defRPr sz="1400"/>
            </a:pPr>
            <a:r>
              <a:rPr lang="da-DK" dirty="0"/>
              <a:t>Selv efter justering for alder, køn, rygning og BMI kan der være residual </a:t>
            </a:r>
            <a:r>
              <a:rPr lang="da-DK" dirty="0" err="1"/>
              <a:t>confounding</a:t>
            </a:r>
            <a:endParaRPr lang="da-DK" dirty="0"/>
          </a:p>
          <a:p>
            <a:pPr lvl="1">
              <a:spcAft>
                <a:spcPts val="600"/>
              </a:spcAft>
              <a:defRPr sz="1400"/>
            </a:pPr>
            <a:r>
              <a:rPr lang="da-DK" dirty="0"/>
              <a:t>Upræcis måling af rygning (ja/nej)</a:t>
            </a:r>
          </a:p>
          <a:p>
            <a:pPr lvl="1">
              <a:spcAft>
                <a:spcPts val="600"/>
              </a:spcAft>
              <a:defRPr sz="1400"/>
            </a:pPr>
            <a:r>
              <a:rPr lang="da-DK" dirty="0"/>
              <a:t>Manglende justering for socioøkonomisk status, kostmønster, fysisk aktivitet etc.</a:t>
            </a:r>
          </a:p>
          <a:p>
            <a:pPr>
              <a:spcAft>
                <a:spcPts val="600"/>
              </a:spcAft>
              <a:defRPr sz="1400"/>
            </a:pPr>
            <a:endParaRPr dirty="0"/>
          </a:p>
        </p:txBody>
      </p:sp>
      <p:sp>
        <p:nvSpPr>
          <p:cNvPr id="4" name="Pladsholder til slidenummer 3">
            <a:extLst>
              <a:ext uri="{FF2B5EF4-FFF2-40B4-BE49-F238E27FC236}">
                <a16:creationId xmlns:a16="http://schemas.microsoft.com/office/drawing/2014/main" id="{5EC30CE2-2C27-B56B-E6AF-0099AF464D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94417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Umålt confounding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600"/>
              </a:spcAft>
              <a:defRPr sz="1400"/>
            </a:pPr>
            <a:r>
              <a:rPr dirty="0" err="1"/>
              <a:t>Confoundere</a:t>
            </a:r>
            <a:r>
              <a:rPr dirty="0"/>
              <a:t> vi </a:t>
            </a:r>
            <a:r>
              <a:rPr dirty="0" err="1"/>
              <a:t>ikke</a:t>
            </a:r>
            <a:r>
              <a:rPr dirty="0"/>
              <a:t> </a:t>
            </a:r>
            <a:r>
              <a:rPr dirty="0" err="1"/>
              <a:t>har</a:t>
            </a:r>
            <a:r>
              <a:rPr dirty="0"/>
              <a:t> data </a:t>
            </a:r>
            <a:r>
              <a:rPr dirty="0" err="1"/>
              <a:t>på</a:t>
            </a:r>
            <a:endParaRPr dirty="0"/>
          </a:p>
          <a:p>
            <a:pPr>
              <a:spcAft>
                <a:spcPts val="600"/>
              </a:spcAft>
              <a:defRPr sz="1400"/>
            </a:pPr>
            <a:r>
              <a:rPr dirty="0" err="1"/>
              <a:t>Kan</a:t>
            </a:r>
            <a:r>
              <a:rPr dirty="0"/>
              <a:t> </a:t>
            </a:r>
            <a:r>
              <a:rPr dirty="0" err="1"/>
              <a:t>være</a:t>
            </a:r>
            <a:r>
              <a:rPr dirty="0"/>
              <a:t> </a:t>
            </a:r>
            <a:r>
              <a:rPr dirty="0" err="1"/>
              <a:t>ukendte</a:t>
            </a:r>
            <a:r>
              <a:rPr dirty="0"/>
              <a:t> </a:t>
            </a:r>
            <a:r>
              <a:rPr dirty="0" err="1"/>
              <a:t>faktorer</a:t>
            </a:r>
            <a:endParaRPr dirty="0"/>
          </a:p>
          <a:p>
            <a:pPr>
              <a:spcAft>
                <a:spcPts val="600"/>
              </a:spcAft>
              <a:defRPr sz="1400"/>
            </a:pPr>
            <a:r>
              <a:rPr dirty="0" err="1"/>
              <a:t>Ofte</a:t>
            </a:r>
            <a:r>
              <a:rPr dirty="0"/>
              <a:t> </a:t>
            </a:r>
            <a:r>
              <a:rPr dirty="0" err="1"/>
              <a:t>årsagen</a:t>
            </a:r>
            <a:r>
              <a:rPr dirty="0"/>
              <a:t> </a:t>
            </a:r>
            <a:r>
              <a:rPr dirty="0" err="1"/>
              <a:t>til</a:t>
            </a:r>
            <a:r>
              <a:rPr dirty="0"/>
              <a:t> at </a:t>
            </a:r>
            <a:r>
              <a:rPr dirty="0" err="1"/>
              <a:t>randomisering</a:t>
            </a:r>
            <a:r>
              <a:rPr dirty="0"/>
              <a:t> </a:t>
            </a:r>
            <a:r>
              <a:rPr dirty="0" err="1"/>
              <a:t>foretrækkes</a:t>
            </a:r>
            <a:r>
              <a:rPr dirty="0"/>
              <a:t> </a:t>
            </a:r>
            <a:r>
              <a:rPr dirty="0" err="1"/>
              <a:t>i</a:t>
            </a:r>
            <a:r>
              <a:rPr dirty="0"/>
              <a:t> </a:t>
            </a:r>
            <a:r>
              <a:rPr dirty="0" err="1"/>
              <a:t>interventionsstudier</a:t>
            </a:r>
            <a:endParaRPr dirty="0"/>
          </a:p>
        </p:txBody>
      </p:sp>
      <p:sp>
        <p:nvSpPr>
          <p:cNvPr id="4" name="Pladsholder til slidenumm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9778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3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da-DK" dirty="0"/>
              <a:t>Lære at identificere potentielle </a:t>
            </a:r>
            <a:r>
              <a:rPr lang="da-DK" dirty="0" err="1"/>
              <a:t>confoundere</a:t>
            </a:r>
            <a:endParaRPr lang="da-DK" dirty="0"/>
          </a:p>
        </p:txBody>
      </p:sp>
      <p:sp>
        <p:nvSpPr>
          <p:cNvPr id="2" name="Pladsholder til slidenumm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36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6109777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Identifikation af confoundere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600"/>
              </a:spcAft>
              <a:defRPr sz="1400"/>
            </a:pPr>
            <a:r>
              <a:rPr dirty="0" err="1"/>
              <a:t>Teoretisk</a:t>
            </a:r>
            <a:r>
              <a:rPr dirty="0"/>
              <a:t> </a:t>
            </a:r>
            <a:r>
              <a:rPr dirty="0" err="1"/>
              <a:t>viden</a:t>
            </a:r>
            <a:r>
              <a:rPr dirty="0"/>
              <a:t> </a:t>
            </a:r>
            <a:r>
              <a:rPr dirty="0" err="1"/>
              <a:t>og</a:t>
            </a:r>
            <a:r>
              <a:rPr dirty="0"/>
              <a:t> </a:t>
            </a:r>
            <a:r>
              <a:rPr dirty="0" err="1"/>
              <a:t>tidligere</a:t>
            </a:r>
            <a:r>
              <a:rPr dirty="0"/>
              <a:t> </a:t>
            </a:r>
            <a:r>
              <a:rPr dirty="0" err="1"/>
              <a:t>forskning</a:t>
            </a:r>
            <a:endParaRPr dirty="0"/>
          </a:p>
          <a:p>
            <a:pPr>
              <a:spcAft>
                <a:spcPts val="600"/>
              </a:spcAft>
              <a:defRPr sz="1400"/>
            </a:pPr>
            <a:r>
              <a:rPr dirty="0" err="1"/>
              <a:t>Grafiske</a:t>
            </a:r>
            <a:r>
              <a:rPr dirty="0"/>
              <a:t> </a:t>
            </a:r>
            <a:r>
              <a:rPr dirty="0" err="1"/>
              <a:t>metoder</a:t>
            </a:r>
            <a:r>
              <a:rPr dirty="0"/>
              <a:t> </a:t>
            </a:r>
            <a:r>
              <a:rPr dirty="0" err="1"/>
              <a:t>som</a:t>
            </a:r>
            <a:r>
              <a:rPr dirty="0"/>
              <a:t> DAGs</a:t>
            </a:r>
            <a:endParaRPr lang="da-DK" dirty="0"/>
          </a:p>
          <a:p>
            <a:pPr>
              <a:spcAft>
                <a:spcPts val="600"/>
              </a:spcAft>
              <a:defRPr sz="1400"/>
            </a:pPr>
            <a:r>
              <a:rPr lang="da-DK" dirty="0">
                <a:solidFill>
                  <a:schemeClr val="bg1">
                    <a:lumMod val="65000"/>
                  </a:schemeClr>
                </a:solidFill>
              </a:rPr>
              <a:t>Ændring i estimater før og efter justering</a:t>
            </a:r>
            <a:endParaRPr dirty="0">
              <a:solidFill>
                <a:schemeClr val="bg1">
                  <a:lumMod val="65000"/>
                </a:schemeClr>
              </a:solidFill>
            </a:endParaRPr>
          </a:p>
          <a:p>
            <a:pPr>
              <a:spcAft>
                <a:spcPts val="600"/>
              </a:spcAft>
              <a:defRPr sz="1400"/>
            </a:pPr>
            <a:r>
              <a:rPr dirty="0" err="1">
                <a:solidFill>
                  <a:schemeClr val="bg1">
                    <a:lumMod val="65000"/>
                  </a:schemeClr>
                </a:solidFill>
              </a:rPr>
              <a:t>Stratificerede</a:t>
            </a:r>
            <a:r>
              <a:rPr dirty="0">
                <a:solidFill>
                  <a:schemeClr val="bg1">
                    <a:lumMod val="65000"/>
                  </a:schemeClr>
                </a:solidFill>
              </a:rPr>
              <a:t> </a:t>
            </a:r>
            <a:r>
              <a:rPr dirty="0" err="1">
                <a:solidFill>
                  <a:schemeClr val="bg1">
                    <a:lumMod val="65000"/>
                  </a:schemeClr>
                </a:solidFill>
              </a:rPr>
              <a:t>analyser</a:t>
            </a:r>
            <a:r>
              <a:rPr dirty="0">
                <a:solidFill>
                  <a:schemeClr val="bg1">
                    <a:lumMod val="65000"/>
                  </a:schemeClr>
                </a:solidFill>
              </a:rPr>
              <a:t> </a:t>
            </a:r>
            <a:r>
              <a:rPr dirty="0" err="1">
                <a:solidFill>
                  <a:schemeClr val="bg1">
                    <a:lumMod val="65000"/>
                  </a:schemeClr>
                </a:solidFill>
              </a:rPr>
              <a:t>som</a:t>
            </a:r>
            <a:r>
              <a:rPr dirty="0">
                <a:solidFill>
                  <a:schemeClr val="bg1">
                    <a:lumMod val="65000"/>
                  </a:schemeClr>
                </a:solidFill>
              </a:rPr>
              <a:t> test</a:t>
            </a:r>
            <a:endParaRPr lang="da-DK" dirty="0">
              <a:solidFill>
                <a:schemeClr val="bg1">
                  <a:lumMod val="65000"/>
                </a:schemeClr>
              </a:solidFill>
            </a:endParaRPr>
          </a:p>
          <a:p>
            <a:pPr>
              <a:spcAft>
                <a:spcPts val="600"/>
              </a:spcAft>
              <a:defRPr sz="1400"/>
            </a:pPr>
            <a:endParaRPr lang="da-DK" dirty="0"/>
          </a:p>
          <a:p>
            <a:pPr marL="0" indent="0">
              <a:spcAft>
                <a:spcPts val="600"/>
              </a:spcAft>
              <a:buNone/>
              <a:defRPr sz="1400"/>
            </a:pPr>
            <a:r>
              <a:rPr lang="da-DK" b="1" dirty="0"/>
              <a:t>Statistiske test kan ikke stå alene, når trin 3 i </a:t>
            </a:r>
            <a:r>
              <a:rPr lang="da-DK" b="1" dirty="0" err="1"/>
              <a:t>confounder</a:t>
            </a:r>
            <a:r>
              <a:rPr lang="da-DK" b="1" dirty="0"/>
              <a:t>-trekanten skal evalueres. I mange designs vil det kræve en menneskelig, klinisk vurdering.</a:t>
            </a:r>
            <a:endParaRPr b="1" dirty="0"/>
          </a:p>
        </p:txBody>
      </p:sp>
      <p:sp>
        <p:nvSpPr>
          <p:cNvPr id="4" name="Pladsholder til slidenumm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23788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Brug af teoretisk viden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600"/>
              </a:spcAft>
              <a:defRPr sz="1400"/>
            </a:pPr>
            <a:r>
              <a:rPr dirty="0" err="1"/>
              <a:t>Litteraturgennemgang</a:t>
            </a:r>
            <a:endParaRPr dirty="0"/>
          </a:p>
          <a:p>
            <a:pPr>
              <a:spcAft>
                <a:spcPts val="600"/>
              </a:spcAft>
              <a:defRPr sz="1400"/>
            </a:pPr>
            <a:r>
              <a:rPr dirty="0" err="1"/>
              <a:t>Ekspertviden</a:t>
            </a:r>
            <a:endParaRPr dirty="0"/>
          </a:p>
          <a:p>
            <a:pPr>
              <a:spcAft>
                <a:spcPts val="600"/>
              </a:spcAft>
              <a:defRPr sz="1400"/>
            </a:pPr>
            <a:r>
              <a:rPr dirty="0" err="1"/>
              <a:t>Forståelse</a:t>
            </a:r>
            <a:r>
              <a:rPr dirty="0"/>
              <a:t> </a:t>
            </a:r>
            <a:r>
              <a:rPr dirty="0" err="1"/>
              <a:t>af</a:t>
            </a:r>
            <a:r>
              <a:rPr dirty="0"/>
              <a:t> </a:t>
            </a:r>
            <a:r>
              <a:rPr dirty="0" err="1"/>
              <a:t>sygdommens</a:t>
            </a:r>
            <a:r>
              <a:rPr dirty="0"/>
              <a:t> </a:t>
            </a:r>
            <a:r>
              <a:rPr dirty="0" err="1"/>
              <a:t>årsager</a:t>
            </a:r>
            <a:endParaRPr lang="da-DK" dirty="0"/>
          </a:p>
          <a:p>
            <a:pPr>
              <a:spcAft>
                <a:spcPts val="600"/>
              </a:spcAft>
              <a:defRPr sz="1400"/>
            </a:pPr>
            <a:r>
              <a:rPr lang="da-DK" dirty="0"/>
              <a:t>Hvis vi kun baserer os på statistisk association mellem en </a:t>
            </a:r>
            <a:r>
              <a:rPr lang="da-DK" dirty="0" err="1"/>
              <a:t>confounder</a:t>
            </a:r>
            <a:r>
              <a:rPr lang="da-DK" dirty="0"/>
              <a:t> og eksponering, risikerer vi at klassificere </a:t>
            </a:r>
            <a:r>
              <a:rPr lang="da-DK" dirty="0" err="1"/>
              <a:t>colliders</a:t>
            </a:r>
            <a:r>
              <a:rPr lang="da-DK" dirty="0"/>
              <a:t> og mediatorer som </a:t>
            </a:r>
            <a:r>
              <a:rPr lang="da-DK" dirty="0" err="1"/>
              <a:t>confoundere</a:t>
            </a:r>
            <a:r>
              <a:rPr lang="da-DK" dirty="0"/>
              <a:t>.</a:t>
            </a:r>
          </a:p>
          <a:p>
            <a:pPr>
              <a:spcAft>
                <a:spcPts val="600"/>
              </a:spcAft>
              <a:defRPr sz="1400"/>
            </a:pPr>
            <a:endParaRPr dirty="0"/>
          </a:p>
        </p:txBody>
      </p:sp>
      <p:sp>
        <p:nvSpPr>
          <p:cNvPr id="4" name="Pladsholder til slidenumm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67892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Directed Acyclic Graphs (DAGs)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600"/>
              </a:spcAft>
              <a:defRPr sz="1400"/>
            </a:pPr>
            <a:r>
              <a:rPr dirty="0" err="1"/>
              <a:t>Viser</a:t>
            </a:r>
            <a:r>
              <a:rPr dirty="0"/>
              <a:t> </a:t>
            </a:r>
            <a:r>
              <a:rPr dirty="0" err="1"/>
              <a:t>relationer</a:t>
            </a:r>
            <a:r>
              <a:rPr dirty="0"/>
              <a:t> </a:t>
            </a:r>
            <a:r>
              <a:rPr dirty="0" err="1"/>
              <a:t>mellem</a:t>
            </a:r>
            <a:r>
              <a:rPr dirty="0"/>
              <a:t> </a:t>
            </a:r>
            <a:r>
              <a:rPr dirty="0" err="1"/>
              <a:t>variabler</a:t>
            </a:r>
            <a:endParaRPr dirty="0"/>
          </a:p>
          <a:p>
            <a:pPr>
              <a:spcAft>
                <a:spcPts val="600"/>
              </a:spcAft>
              <a:defRPr sz="1400"/>
            </a:pPr>
            <a:r>
              <a:rPr dirty="0" err="1"/>
              <a:t>Hjælper</a:t>
            </a:r>
            <a:r>
              <a:rPr dirty="0"/>
              <a:t> med at </a:t>
            </a:r>
            <a:r>
              <a:rPr dirty="0" err="1"/>
              <a:t>identificere</a:t>
            </a:r>
            <a:r>
              <a:rPr dirty="0"/>
              <a:t> </a:t>
            </a:r>
            <a:r>
              <a:rPr dirty="0" err="1"/>
              <a:t>hvilke</a:t>
            </a:r>
            <a:r>
              <a:rPr dirty="0"/>
              <a:t> </a:t>
            </a:r>
            <a:r>
              <a:rPr dirty="0" err="1"/>
              <a:t>variabler</a:t>
            </a:r>
            <a:r>
              <a:rPr dirty="0"/>
              <a:t> der </a:t>
            </a:r>
            <a:r>
              <a:rPr dirty="0" err="1"/>
              <a:t>bør</a:t>
            </a:r>
            <a:r>
              <a:rPr dirty="0"/>
              <a:t> </a:t>
            </a:r>
            <a:r>
              <a:rPr dirty="0" err="1"/>
              <a:t>justeres</a:t>
            </a:r>
            <a:r>
              <a:rPr dirty="0"/>
              <a:t> for</a:t>
            </a:r>
          </a:p>
          <a:p>
            <a:pPr>
              <a:spcAft>
                <a:spcPts val="600"/>
              </a:spcAft>
              <a:defRPr sz="1400"/>
            </a:pPr>
            <a:r>
              <a:rPr dirty="0" err="1"/>
              <a:t>Undgår</a:t>
            </a:r>
            <a:r>
              <a:rPr dirty="0"/>
              <a:t> </a:t>
            </a:r>
            <a:r>
              <a:rPr dirty="0" err="1"/>
              <a:t>overjustering</a:t>
            </a:r>
            <a:endParaRPr dirty="0"/>
          </a:p>
        </p:txBody>
      </p:sp>
      <p:sp>
        <p:nvSpPr>
          <p:cNvPr id="4" name="Pladsholder til slidenumm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73052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Statistiske indikatorer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600"/>
              </a:spcAft>
              <a:defRPr sz="1400"/>
            </a:pPr>
            <a:r>
              <a:rPr lang="da-DK" dirty="0"/>
              <a:t>Sammenlign </a:t>
            </a:r>
            <a:r>
              <a:rPr lang="da-DK" dirty="0" err="1"/>
              <a:t>ujusteret</a:t>
            </a:r>
            <a:r>
              <a:rPr lang="da-DK" dirty="0"/>
              <a:t> og justeret estimat </a:t>
            </a:r>
          </a:p>
          <a:p>
            <a:pPr lvl="1">
              <a:spcAft>
                <a:spcPts val="600"/>
              </a:spcAft>
              <a:defRPr sz="1400"/>
            </a:pPr>
            <a:r>
              <a:rPr lang="da-DK" dirty="0"/>
              <a:t>Stor forskel tyder på </a:t>
            </a:r>
            <a:r>
              <a:rPr lang="da-DK" dirty="0" err="1"/>
              <a:t>confounding</a:t>
            </a:r>
            <a:endParaRPr lang="da-DK" dirty="0"/>
          </a:p>
          <a:p>
            <a:pPr lvl="1">
              <a:spcAft>
                <a:spcPts val="600"/>
              </a:spcAft>
              <a:defRPr sz="1400"/>
            </a:pPr>
            <a:endParaRPr lang="da-DK" dirty="0"/>
          </a:p>
          <a:p>
            <a:pPr>
              <a:spcAft>
                <a:spcPts val="600"/>
              </a:spcAft>
              <a:defRPr sz="1400"/>
            </a:pPr>
            <a:r>
              <a:rPr lang="da-DK" dirty="0"/>
              <a:t>Sammenlign stratificeret og </a:t>
            </a:r>
            <a:r>
              <a:rPr lang="da-DK" dirty="0" err="1"/>
              <a:t>ustratificeret</a:t>
            </a:r>
            <a:r>
              <a:rPr lang="da-DK" dirty="0"/>
              <a:t> estimat </a:t>
            </a:r>
          </a:p>
          <a:p>
            <a:pPr lvl="1">
              <a:spcAft>
                <a:spcPts val="600"/>
              </a:spcAft>
              <a:defRPr sz="1400"/>
            </a:pPr>
            <a:r>
              <a:rPr lang="da-DK" dirty="0"/>
              <a:t>Stor forskel tyder på </a:t>
            </a:r>
            <a:r>
              <a:rPr lang="da-DK" dirty="0" err="1"/>
              <a:t>confounding</a:t>
            </a:r>
            <a:endParaRPr lang="da-DK" dirty="0"/>
          </a:p>
          <a:p>
            <a:pPr marL="457200" lvl="1" indent="0">
              <a:spcAft>
                <a:spcPts val="600"/>
              </a:spcAft>
              <a:buNone/>
              <a:defRPr sz="1400"/>
            </a:pPr>
            <a:endParaRPr lang="da-DK" dirty="0"/>
          </a:p>
          <a:p>
            <a:pPr lvl="1">
              <a:spcAft>
                <a:spcPts val="600"/>
              </a:spcAft>
              <a:defRPr sz="1400"/>
            </a:pPr>
            <a:endParaRPr dirty="0"/>
          </a:p>
        </p:txBody>
      </p:sp>
      <p:sp>
        <p:nvSpPr>
          <p:cNvPr id="4" name="Pladsholder til slidenumm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40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Eksempel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600"/>
              </a:spcAft>
              <a:defRPr sz="1400"/>
            </a:pPr>
            <a:r>
              <a:rPr lang="da-DK" dirty="0"/>
              <a:t>Formålet er at undersøge sammenhængen mellem sport og skadestuebesøg blandt børn og unge.</a:t>
            </a:r>
          </a:p>
          <a:p>
            <a:pPr>
              <a:spcAft>
                <a:spcPts val="600"/>
              </a:spcAft>
              <a:defRPr sz="1400"/>
            </a:pPr>
            <a:r>
              <a:rPr lang="da-DK" dirty="0"/>
              <a:t>Alle elever på en folkeskole blev spurgt, om de har været på skadestuen indenfor det sidste år, og om de gik til en sport indenfor det sidste år.</a:t>
            </a:r>
            <a:endParaRPr dirty="0"/>
          </a:p>
        </p:txBody>
      </p:sp>
      <p:graphicFrame>
        <p:nvGraphicFramePr>
          <p:cNvPr id="4" name="Tabel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6471746"/>
              </p:ext>
            </p:extLst>
          </p:nvPr>
        </p:nvGraphicFramePr>
        <p:xfrm>
          <a:off x="861060" y="2730500"/>
          <a:ext cx="6096000" cy="11125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3698177320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667208634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111923144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da-DK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a-DK" dirty="0"/>
                        <a:t>Ingen skadestue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a-DK" dirty="0"/>
                        <a:t>Skadestue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9825151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a-DK" dirty="0"/>
                        <a:t>Ingen sport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a-DK" dirty="0"/>
                        <a:t>857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a-DK" dirty="0"/>
                        <a:t>730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2603776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a-DK" dirty="0"/>
                        <a:t>Sport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a-DK" dirty="0"/>
                        <a:t>188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a-DK" dirty="0"/>
                        <a:t>316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87396556"/>
                  </a:ext>
                </a:extLst>
              </a:tr>
            </a:tbl>
          </a:graphicData>
        </a:graphic>
      </p:graphicFrame>
      <p:sp>
        <p:nvSpPr>
          <p:cNvPr id="5" name="Rektangel 4"/>
          <p:cNvSpPr/>
          <p:nvPr/>
        </p:nvSpPr>
        <p:spPr>
          <a:xfrm>
            <a:off x="2903220" y="3489960"/>
            <a:ext cx="2529840" cy="304800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6" name="Tekstfelt 5"/>
          <p:cNvSpPr txBox="1"/>
          <p:nvPr/>
        </p:nvSpPr>
        <p:spPr>
          <a:xfrm>
            <a:off x="5433060" y="3459480"/>
            <a:ext cx="27433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dirty="0">
                <a:solidFill>
                  <a:srgbClr val="FF0000"/>
                </a:solidFill>
              </a:rPr>
              <a:t>63% har et skadestuebesøg</a:t>
            </a:r>
          </a:p>
        </p:txBody>
      </p:sp>
      <p:sp>
        <p:nvSpPr>
          <p:cNvPr id="7" name="Rektangel 6"/>
          <p:cNvSpPr/>
          <p:nvPr/>
        </p:nvSpPr>
        <p:spPr>
          <a:xfrm>
            <a:off x="2903220" y="3139916"/>
            <a:ext cx="2529840" cy="304800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8" name="Tekstfelt 7"/>
          <p:cNvSpPr txBox="1"/>
          <p:nvPr/>
        </p:nvSpPr>
        <p:spPr>
          <a:xfrm>
            <a:off x="5433060" y="3109436"/>
            <a:ext cx="27433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dirty="0">
                <a:solidFill>
                  <a:srgbClr val="FF0000"/>
                </a:solidFill>
              </a:rPr>
              <a:t>46% har et skadestuebesøg</a:t>
            </a:r>
          </a:p>
        </p:txBody>
      </p:sp>
      <p:sp>
        <p:nvSpPr>
          <p:cNvPr id="9" name="Tekstfelt 8"/>
          <p:cNvSpPr txBox="1"/>
          <p:nvPr/>
        </p:nvSpPr>
        <p:spPr>
          <a:xfrm>
            <a:off x="1632445" y="4236561"/>
            <a:ext cx="59631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b="1" dirty="0">
                <a:solidFill>
                  <a:srgbClr val="FF0000"/>
                </a:solidFill>
              </a:rPr>
              <a:t>Odds ratio: 1.97 (95% </a:t>
            </a:r>
            <a:r>
              <a:rPr lang="da-DK" b="1" dirty="0" err="1">
                <a:solidFill>
                  <a:srgbClr val="FF0000"/>
                </a:solidFill>
              </a:rPr>
              <a:t>konfidensinterval</a:t>
            </a:r>
            <a:r>
              <a:rPr lang="da-DK" b="1" dirty="0">
                <a:solidFill>
                  <a:srgbClr val="FF0000"/>
                </a:solidFill>
              </a:rPr>
              <a:t> 1.61-2.42), p &lt; 0.001</a:t>
            </a:r>
          </a:p>
        </p:txBody>
      </p:sp>
      <p:sp>
        <p:nvSpPr>
          <p:cNvPr id="10" name="Pladsholder til slidenumm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41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/>
      <p:bldP spid="7" grpId="0" animBg="1"/>
      <p:bldP spid="8" grpId="0"/>
      <p:bldP spid="9" grpId="0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Eksempel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600"/>
              </a:spcAft>
              <a:defRPr sz="1400"/>
            </a:pPr>
            <a:r>
              <a:rPr lang="da-DK" dirty="0"/>
              <a:t>Kunne køn være en </a:t>
            </a:r>
            <a:r>
              <a:rPr lang="da-DK" dirty="0" err="1"/>
              <a:t>confounder</a:t>
            </a:r>
            <a:r>
              <a:rPr lang="da-DK" dirty="0"/>
              <a:t>?</a:t>
            </a:r>
          </a:p>
          <a:p>
            <a:pPr>
              <a:spcAft>
                <a:spcPts val="600"/>
              </a:spcAft>
              <a:defRPr sz="1400"/>
            </a:pPr>
            <a:endParaRPr dirty="0"/>
          </a:p>
        </p:txBody>
      </p:sp>
      <p:graphicFrame>
        <p:nvGraphicFramePr>
          <p:cNvPr id="4" name="Tabel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74232436"/>
              </p:ext>
            </p:extLst>
          </p:nvPr>
        </p:nvGraphicFramePr>
        <p:xfrm>
          <a:off x="861060" y="2044700"/>
          <a:ext cx="6096000" cy="11125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3698177320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667208634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111923144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da-DK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a-DK" dirty="0"/>
                        <a:t>Drenge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a-DK" dirty="0"/>
                        <a:t>Piger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9825151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a-DK" dirty="0"/>
                        <a:t>Ingen sport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a-DK" dirty="0"/>
                        <a:t>365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a-DK" dirty="0"/>
                        <a:t>1222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2603776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a-DK" dirty="0"/>
                        <a:t>Sport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a-DK" dirty="0"/>
                        <a:t>367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a-DK" dirty="0"/>
                        <a:t>137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87396556"/>
                  </a:ext>
                </a:extLst>
              </a:tr>
            </a:tbl>
          </a:graphicData>
        </a:graphic>
      </p:graphicFrame>
      <p:graphicFrame>
        <p:nvGraphicFramePr>
          <p:cNvPr id="10" name="Tabel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55869337"/>
              </p:ext>
            </p:extLst>
          </p:nvPr>
        </p:nvGraphicFramePr>
        <p:xfrm>
          <a:off x="861060" y="3529171"/>
          <a:ext cx="6096000" cy="11125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3698177320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667208634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111923144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da-DK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a-DK" dirty="0"/>
                        <a:t>Drenge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a-DK" dirty="0"/>
                        <a:t>Piger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9825151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a-DK" dirty="0"/>
                        <a:t>Ingen skadestue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a-DK" dirty="0"/>
                        <a:t>209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a-DK" dirty="0"/>
                        <a:t>836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2603776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a-DK" dirty="0"/>
                        <a:t>Skadestue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a-DK" dirty="0"/>
                        <a:t>523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a-DK" dirty="0"/>
                        <a:t>523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87396556"/>
                  </a:ext>
                </a:extLst>
              </a:tr>
            </a:tbl>
          </a:graphicData>
        </a:graphic>
      </p:graphicFrame>
      <p:sp>
        <p:nvSpPr>
          <p:cNvPr id="11" name="Tekstfelt 10"/>
          <p:cNvSpPr txBox="1"/>
          <p:nvPr/>
        </p:nvSpPr>
        <p:spPr>
          <a:xfrm>
            <a:off x="861060" y="4824253"/>
            <a:ext cx="4710841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da-DK" dirty="0">
                <a:solidFill>
                  <a:srgbClr val="FF0000"/>
                </a:solidFill>
              </a:rPr>
              <a:t>Køn er skævt fordelt i forhold til udfaldet</a:t>
            </a:r>
          </a:p>
          <a:p>
            <a:pPr marL="342900" indent="-342900">
              <a:buFont typeface="+mj-lt"/>
              <a:buAutoNum type="arabicPeriod"/>
            </a:pPr>
            <a:r>
              <a:rPr lang="da-DK" dirty="0">
                <a:solidFill>
                  <a:srgbClr val="FF0000"/>
                </a:solidFill>
              </a:rPr>
              <a:t>Køn er skævt fordelt i forhold til eksponering</a:t>
            </a:r>
          </a:p>
          <a:p>
            <a:pPr marL="342900" indent="-342900">
              <a:buFont typeface="+mj-lt"/>
              <a:buAutoNum type="arabicPeriod"/>
            </a:pPr>
            <a:r>
              <a:rPr lang="da-DK" dirty="0">
                <a:solidFill>
                  <a:srgbClr val="FF0000"/>
                </a:solidFill>
              </a:rPr>
              <a:t>Køn kan ikke være et led i årsagskæden</a:t>
            </a:r>
          </a:p>
          <a:p>
            <a:r>
              <a:rPr lang="da-DK" b="1" dirty="0">
                <a:solidFill>
                  <a:srgbClr val="FF0000"/>
                </a:solidFill>
              </a:rPr>
              <a:t>Vi arbejder videre med eksemplet senere.</a:t>
            </a:r>
          </a:p>
        </p:txBody>
      </p:sp>
      <p:sp>
        <p:nvSpPr>
          <p:cNvPr id="5" name="Pladsholder til slidenumm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93940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dirty="0" err="1"/>
              <a:t>Metoder</a:t>
            </a:r>
            <a:r>
              <a:rPr dirty="0"/>
              <a:t> </a:t>
            </a:r>
            <a:r>
              <a:rPr dirty="0" err="1"/>
              <a:t>til</a:t>
            </a:r>
            <a:r>
              <a:rPr dirty="0"/>
              <a:t> </a:t>
            </a:r>
            <a:r>
              <a:rPr dirty="0" err="1"/>
              <a:t>håndtering</a:t>
            </a:r>
            <a:r>
              <a:rPr dirty="0"/>
              <a:t> </a:t>
            </a:r>
            <a:r>
              <a:rPr dirty="0" err="1"/>
              <a:t>af</a:t>
            </a:r>
            <a:r>
              <a:rPr dirty="0"/>
              <a:t> confounding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92500" lnSpcReduction="10000"/>
          </a:bodyPr>
          <a:lstStyle/>
          <a:p>
            <a:pPr>
              <a:spcAft>
                <a:spcPts val="600"/>
              </a:spcAft>
              <a:defRPr sz="1400"/>
            </a:pPr>
            <a:r>
              <a:rPr lang="da-DK" dirty="0" err="1"/>
              <a:t>Randomisering</a:t>
            </a:r>
            <a:endParaRPr lang="da-DK" dirty="0"/>
          </a:p>
          <a:p>
            <a:pPr>
              <a:spcAft>
                <a:spcPts val="600"/>
              </a:spcAft>
              <a:defRPr sz="1400"/>
            </a:pPr>
            <a:r>
              <a:rPr lang="da-DK" dirty="0"/>
              <a:t>Matchning</a:t>
            </a:r>
          </a:p>
          <a:p>
            <a:pPr>
              <a:spcAft>
                <a:spcPts val="600"/>
              </a:spcAft>
              <a:defRPr sz="1400"/>
            </a:pPr>
            <a:r>
              <a:rPr dirty="0" err="1"/>
              <a:t>Restriktion</a:t>
            </a:r>
            <a:endParaRPr dirty="0"/>
          </a:p>
          <a:p>
            <a:pPr>
              <a:spcAft>
                <a:spcPts val="600"/>
              </a:spcAft>
              <a:defRPr sz="1400"/>
            </a:pPr>
            <a:r>
              <a:rPr dirty="0" err="1"/>
              <a:t>Stratifikation</a:t>
            </a:r>
            <a:endParaRPr dirty="0"/>
          </a:p>
          <a:p>
            <a:pPr>
              <a:spcAft>
                <a:spcPts val="600"/>
              </a:spcAft>
              <a:defRPr sz="1400"/>
            </a:pPr>
            <a:r>
              <a:rPr dirty="0" err="1"/>
              <a:t>Justerede</a:t>
            </a:r>
            <a:r>
              <a:rPr dirty="0"/>
              <a:t> </a:t>
            </a:r>
            <a:r>
              <a:rPr dirty="0" err="1"/>
              <a:t>analyser</a:t>
            </a:r>
            <a:r>
              <a:rPr dirty="0"/>
              <a:t> (regression)</a:t>
            </a:r>
          </a:p>
        </p:txBody>
      </p:sp>
      <p:sp>
        <p:nvSpPr>
          <p:cNvPr id="4" name="Pladsholder til slidenumm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43</a:t>
            </a:fld>
            <a:endParaRPr lang="en-US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t>Metoder til håndtering af confounding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600"/>
              </a:spcAft>
              <a:defRPr sz="1400"/>
            </a:pPr>
            <a:r>
              <a:rPr lang="da-DK" dirty="0" err="1"/>
              <a:t>Randomisering</a:t>
            </a:r>
            <a:endParaRPr lang="da-DK" dirty="0"/>
          </a:p>
          <a:p>
            <a:pPr>
              <a:spcAft>
                <a:spcPts val="600"/>
              </a:spcAft>
              <a:defRPr sz="1400"/>
            </a:pPr>
            <a:r>
              <a:rPr lang="da-DK" dirty="0"/>
              <a:t>Matchning</a:t>
            </a:r>
          </a:p>
          <a:p>
            <a:pPr>
              <a:spcAft>
                <a:spcPts val="600"/>
              </a:spcAft>
              <a:defRPr sz="1400"/>
            </a:pPr>
            <a:r>
              <a:rPr lang="da-DK" dirty="0"/>
              <a:t>Restriktion</a:t>
            </a:r>
          </a:p>
          <a:p>
            <a:pPr>
              <a:spcAft>
                <a:spcPts val="600"/>
              </a:spcAft>
              <a:defRPr sz="1400"/>
            </a:pPr>
            <a:r>
              <a:rPr lang="da-DK" dirty="0"/>
              <a:t>Stratifikation</a:t>
            </a:r>
          </a:p>
          <a:p>
            <a:pPr>
              <a:spcAft>
                <a:spcPts val="600"/>
              </a:spcAft>
              <a:defRPr sz="1400"/>
            </a:pPr>
            <a:r>
              <a:rPr lang="da-DK" dirty="0"/>
              <a:t>Justerede analyser (regression)</a:t>
            </a:r>
          </a:p>
        </p:txBody>
      </p:sp>
      <p:sp>
        <p:nvSpPr>
          <p:cNvPr id="4" name="Pladsholder til slidenumm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23045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 err="1"/>
              <a:t>Randomisering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600"/>
              </a:spcAft>
              <a:defRPr sz="1400"/>
            </a:pPr>
            <a:r>
              <a:rPr lang="da-DK" dirty="0"/>
              <a:t>I et </a:t>
            </a:r>
            <a:r>
              <a:rPr lang="da-DK" dirty="0" err="1"/>
              <a:t>randomiseret</a:t>
            </a:r>
            <a:r>
              <a:rPr lang="da-DK" dirty="0"/>
              <a:t> studie bliver deltagerne tilfældigt fordelt til interventions- eller kontrolgruppen.</a:t>
            </a:r>
          </a:p>
          <a:p>
            <a:pPr>
              <a:spcAft>
                <a:spcPts val="600"/>
              </a:spcAft>
              <a:defRPr sz="1400"/>
            </a:pPr>
            <a:r>
              <a:rPr lang="da-DK" dirty="0"/>
              <a:t>Den tilfældige fordeling gør, at kendte </a:t>
            </a:r>
            <a:r>
              <a:rPr lang="da-DK" u="sng" dirty="0"/>
              <a:t>og ukendte</a:t>
            </a:r>
            <a:r>
              <a:rPr lang="da-DK" dirty="0"/>
              <a:t> </a:t>
            </a:r>
            <a:r>
              <a:rPr lang="da-DK" dirty="0" err="1"/>
              <a:t>confoundere</a:t>
            </a:r>
            <a:r>
              <a:rPr lang="da-DK" dirty="0"/>
              <a:t> vil være ligeligt fordelt mellem grupperne.</a:t>
            </a:r>
          </a:p>
        </p:txBody>
      </p:sp>
      <p:sp>
        <p:nvSpPr>
          <p:cNvPr id="4" name="Pladsholder til slidenumm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45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Ulemper ved </a:t>
            </a:r>
            <a:r>
              <a:rPr lang="da-DK" dirty="0" err="1"/>
              <a:t>randomisering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600"/>
              </a:spcAft>
              <a:defRPr sz="1400"/>
            </a:pPr>
            <a:r>
              <a:rPr lang="da-DK" dirty="0" err="1"/>
              <a:t>Randomisering</a:t>
            </a:r>
            <a:r>
              <a:rPr lang="da-DK" dirty="0"/>
              <a:t> er ikke en mulighed ved alle forskningsspørgsmål</a:t>
            </a:r>
          </a:p>
          <a:p>
            <a:pPr lvl="1">
              <a:spcAft>
                <a:spcPts val="600"/>
              </a:spcAft>
              <a:defRPr sz="1400"/>
            </a:pPr>
            <a:r>
              <a:rPr lang="da-DK" dirty="0"/>
              <a:t>Etik</a:t>
            </a:r>
          </a:p>
          <a:p>
            <a:pPr lvl="1">
              <a:spcAft>
                <a:spcPts val="600"/>
              </a:spcAft>
              <a:defRPr sz="1400"/>
            </a:pPr>
            <a:r>
              <a:rPr lang="da-DK" dirty="0"/>
              <a:t>Lang eksponeringstid/sjældne udfald</a:t>
            </a:r>
          </a:p>
          <a:p>
            <a:pPr>
              <a:spcAft>
                <a:spcPts val="600"/>
              </a:spcAft>
              <a:defRPr sz="1400"/>
            </a:pPr>
            <a:r>
              <a:rPr lang="da-DK" dirty="0" err="1"/>
              <a:t>Randomiseringen</a:t>
            </a:r>
            <a:r>
              <a:rPr lang="da-DK" dirty="0"/>
              <a:t> kan blive brudt ved frafald i et studie</a:t>
            </a:r>
          </a:p>
          <a:p>
            <a:pPr>
              <a:spcAft>
                <a:spcPts val="600"/>
              </a:spcAft>
              <a:defRPr sz="1400"/>
            </a:pPr>
            <a:r>
              <a:rPr lang="da-DK" dirty="0" err="1"/>
              <a:t>Randomiserede</a:t>
            </a:r>
            <a:r>
              <a:rPr lang="da-DK" dirty="0"/>
              <a:t> studier er typisk meget krævende tidsmæssigt og økonomisk</a:t>
            </a:r>
          </a:p>
          <a:p>
            <a:pPr>
              <a:spcAft>
                <a:spcPts val="600"/>
              </a:spcAft>
              <a:defRPr sz="1400"/>
            </a:pPr>
            <a:r>
              <a:rPr lang="da-DK" dirty="0" err="1"/>
              <a:t>Randomisering</a:t>
            </a:r>
            <a:r>
              <a:rPr lang="da-DK" dirty="0"/>
              <a:t> skal ske i starten af et studie</a:t>
            </a:r>
          </a:p>
        </p:txBody>
      </p:sp>
      <p:sp>
        <p:nvSpPr>
          <p:cNvPr id="4" name="Pladsholder til slidenumm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19911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Matchning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600"/>
              </a:spcAft>
              <a:defRPr sz="1400"/>
            </a:pPr>
            <a:r>
              <a:rPr dirty="0" err="1"/>
              <a:t>Hyppigt</a:t>
            </a:r>
            <a:r>
              <a:rPr dirty="0"/>
              <a:t> </a:t>
            </a:r>
            <a:r>
              <a:rPr dirty="0" err="1"/>
              <a:t>i</a:t>
            </a:r>
            <a:r>
              <a:rPr dirty="0"/>
              <a:t> case-control studier</a:t>
            </a:r>
          </a:p>
          <a:p>
            <a:pPr>
              <a:spcAft>
                <a:spcPts val="600"/>
              </a:spcAft>
              <a:defRPr sz="1400"/>
            </a:pPr>
            <a:r>
              <a:rPr lang="da-DK" dirty="0"/>
              <a:t>Typisk findes nogle matchende kontroller til hver case</a:t>
            </a:r>
          </a:p>
          <a:p>
            <a:pPr lvl="1">
              <a:spcAft>
                <a:spcPts val="600"/>
              </a:spcAft>
              <a:defRPr sz="1400"/>
            </a:pPr>
            <a:r>
              <a:rPr lang="da-DK" dirty="0"/>
              <a:t>F.eks. 5 kontroller med samme køn og alder som en case</a:t>
            </a:r>
            <a:endParaRPr dirty="0"/>
          </a:p>
        </p:txBody>
      </p:sp>
      <p:sp>
        <p:nvSpPr>
          <p:cNvPr id="4" name="Pladsholder til slidenumm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13744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Ulemper</a:t>
            </a:r>
            <a:r>
              <a:rPr dirty="0"/>
              <a:t> </a:t>
            </a:r>
            <a:r>
              <a:rPr dirty="0" err="1"/>
              <a:t>ved</a:t>
            </a:r>
            <a:r>
              <a:rPr dirty="0"/>
              <a:t> </a:t>
            </a:r>
            <a:r>
              <a:rPr dirty="0" err="1"/>
              <a:t>matchning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600"/>
              </a:spcAft>
              <a:defRPr sz="1400"/>
            </a:pPr>
            <a:r>
              <a:rPr dirty="0" err="1"/>
              <a:t>Matchning</a:t>
            </a:r>
            <a:r>
              <a:rPr dirty="0"/>
              <a:t> </a:t>
            </a:r>
            <a:r>
              <a:rPr dirty="0" err="1"/>
              <a:t>alene</a:t>
            </a:r>
            <a:r>
              <a:rPr dirty="0"/>
              <a:t> </a:t>
            </a:r>
            <a:r>
              <a:rPr dirty="0" err="1"/>
              <a:t>fjerner</a:t>
            </a:r>
            <a:r>
              <a:rPr dirty="0"/>
              <a:t> </a:t>
            </a:r>
            <a:r>
              <a:rPr dirty="0" err="1"/>
              <a:t>ikke</a:t>
            </a:r>
            <a:r>
              <a:rPr lang="da-DK" dirty="0"/>
              <a:t> al </a:t>
            </a:r>
            <a:r>
              <a:rPr lang="da-DK" dirty="0" err="1"/>
              <a:t>confounding</a:t>
            </a:r>
            <a:endParaRPr lang="da-DK" dirty="0"/>
          </a:p>
          <a:p>
            <a:pPr lvl="1">
              <a:spcAft>
                <a:spcPts val="600"/>
              </a:spcAft>
              <a:defRPr sz="1400"/>
            </a:pPr>
            <a:r>
              <a:rPr lang="da-DK" dirty="0"/>
              <a:t>Matchning kan kun kontrollere for kendte (og målte) </a:t>
            </a:r>
            <a:r>
              <a:rPr lang="da-DK" dirty="0" err="1"/>
              <a:t>confoundere</a:t>
            </a:r>
            <a:r>
              <a:rPr lang="da-DK" dirty="0"/>
              <a:t>.</a:t>
            </a:r>
          </a:p>
          <a:p>
            <a:pPr lvl="1">
              <a:spcAft>
                <a:spcPts val="600"/>
              </a:spcAft>
              <a:defRPr sz="1400"/>
            </a:pPr>
            <a:r>
              <a:rPr lang="da-DK" dirty="0"/>
              <a:t>Ukendte eller </a:t>
            </a:r>
            <a:r>
              <a:rPr lang="da-DK" dirty="0" err="1"/>
              <a:t>umålte</a:t>
            </a:r>
            <a:r>
              <a:rPr lang="da-DK" dirty="0"/>
              <a:t> </a:t>
            </a:r>
            <a:r>
              <a:rPr lang="da-DK" dirty="0" err="1"/>
              <a:t>confoundere</a:t>
            </a:r>
            <a:r>
              <a:rPr lang="da-DK" dirty="0"/>
              <a:t> kan stadig forstyrre resultaterne.</a:t>
            </a:r>
            <a:endParaRPr dirty="0"/>
          </a:p>
          <a:p>
            <a:pPr>
              <a:spcAft>
                <a:spcPts val="600"/>
              </a:spcAft>
              <a:defRPr sz="1400"/>
            </a:pPr>
            <a:r>
              <a:rPr dirty="0" err="1"/>
              <a:t>Risiko</a:t>
            </a:r>
            <a:r>
              <a:rPr dirty="0"/>
              <a:t> for </a:t>
            </a:r>
            <a:r>
              <a:rPr dirty="0" err="1"/>
              <a:t>overmatchning</a:t>
            </a:r>
            <a:r>
              <a:rPr lang="da-DK" dirty="0"/>
              <a:t> ved matchning på ikke-</a:t>
            </a:r>
            <a:r>
              <a:rPr lang="da-DK" dirty="0" err="1"/>
              <a:t>confoundere</a:t>
            </a:r>
            <a:endParaRPr lang="da-DK" dirty="0"/>
          </a:p>
          <a:p>
            <a:pPr lvl="1">
              <a:spcAft>
                <a:spcPts val="600"/>
              </a:spcAft>
              <a:defRPr sz="1400"/>
            </a:pPr>
            <a:r>
              <a:rPr lang="da-DK" dirty="0"/>
              <a:t>Kan introducere bias, hvis der matches på f.eks. mediator eller </a:t>
            </a:r>
            <a:r>
              <a:rPr lang="da-DK" dirty="0" err="1"/>
              <a:t>collider</a:t>
            </a:r>
            <a:endParaRPr lang="da-DK" dirty="0"/>
          </a:p>
        </p:txBody>
      </p:sp>
      <p:sp>
        <p:nvSpPr>
          <p:cNvPr id="5" name="Rectangle 2"/>
          <p:cNvSpPr>
            <a:spLocks noChangeArrowheads="1"/>
          </p:cNvSpPr>
          <p:nvPr/>
        </p:nvSpPr>
        <p:spPr bwMode="auto">
          <a:xfrm>
            <a:off x="0" y="-184666"/>
            <a:ext cx="26481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da-DK" altLang="da-DK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" name="Pladsholder til slidenumm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48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Restriktion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600"/>
              </a:spcAft>
              <a:defRPr sz="1400"/>
            </a:pPr>
            <a:r>
              <a:rPr dirty="0" err="1"/>
              <a:t>Analyser</a:t>
            </a:r>
            <a:r>
              <a:rPr lang="da-DK" dirty="0"/>
              <a:t>e</a:t>
            </a:r>
            <a:r>
              <a:rPr dirty="0"/>
              <a:t> kun </a:t>
            </a:r>
            <a:r>
              <a:rPr dirty="0" err="1"/>
              <a:t>en</a:t>
            </a:r>
            <a:r>
              <a:rPr dirty="0"/>
              <a:t> </a:t>
            </a:r>
            <a:r>
              <a:rPr dirty="0" err="1"/>
              <a:t>subgruppe</a:t>
            </a:r>
            <a:r>
              <a:rPr dirty="0"/>
              <a:t> </a:t>
            </a:r>
            <a:r>
              <a:rPr dirty="0" err="1"/>
              <a:t>uden</a:t>
            </a:r>
            <a:r>
              <a:rPr dirty="0"/>
              <a:t> </a:t>
            </a:r>
            <a:r>
              <a:rPr dirty="0" err="1"/>
              <a:t>confounderen</a:t>
            </a:r>
            <a:endParaRPr dirty="0"/>
          </a:p>
          <a:p>
            <a:pPr>
              <a:spcAft>
                <a:spcPts val="600"/>
              </a:spcAft>
              <a:defRPr sz="1400"/>
            </a:pPr>
            <a:r>
              <a:rPr dirty="0" err="1"/>
              <a:t>Fordel</a:t>
            </a:r>
            <a:r>
              <a:rPr dirty="0"/>
              <a:t>: </a:t>
            </a:r>
            <a:r>
              <a:rPr lang="da-DK" dirty="0"/>
              <a:t>Simpelt og let at forstå</a:t>
            </a:r>
            <a:endParaRPr dirty="0"/>
          </a:p>
          <a:p>
            <a:pPr>
              <a:spcAft>
                <a:spcPts val="600"/>
              </a:spcAft>
              <a:defRPr sz="1400"/>
            </a:pPr>
            <a:r>
              <a:rPr dirty="0" err="1"/>
              <a:t>Ulempe</a:t>
            </a:r>
            <a:r>
              <a:rPr dirty="0"/>
              <a:t>: </a:t>
            </a:r>
            <a:r>
              <a:rPr dirty="0" err="1"/>
              <a:t>Mindre</a:t>
            </a:r>
            <a:r>
              <a:rPr dirty="0"/>
              <a:t> </a:t>
            </a:r>
            <a:r>
              <a:rPr dirty="0" err="1"/>
              <a:t>generaliserbarhed</a:t>
            </a:r>
            <a:r>
              <a:rPr lang="da-DK" dirty="0"/>
              <a:t>, mindre </a:t>
            </a:r>
            <a:r>
              <a:rPr dirty="0"/>
              <a:t>sample size</a:t>
            </a:r>
            <a:r>
              <a:rPr lang="da-DK" dirty="0"/>
              <a:t> og udfordrende med flere eller kontinuerte </a:t>
            </a:r>
            <a:r>
              <a:rPr lang="da-DK" dirty="0" err="1"/>
              <a:t>confoundere</a:t>
            </a:r>
            <a:endParaRPr dirty="0"/>
          </a:p>
        </p:txBody>
      </p:sp>
      <p:sp>
        <p:nvSpPr>
          <p:cNvPr id="4" name="Pladsholder til slidenumm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49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Restriktion – eksempel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600"/>
              </a:spcAft>
              <a:defRPr sz="1400"/>
            </a:pPr>
            <a:r>
              <a:rPr dirty="0" err="1"/>
              <a:t>Studie</a:t>
            </a:r>
            <a:r>
              <a:rPr dirty="0"/>
              <a:t> </a:t>
            </a:r>
            <a:r>
              <a:rPr dirty="0" err="1"/>
              <a:t>af</a:t>
            </a:r>
            <a:r>
              <a:rPr dirty="0"/>
              <a:t> depression </a:t>
            </a:r>
            <a:r>
              <a:rPr dirty="0" err="1"/>
              <a:t>og</a:t>
            </a:r>
            <a:r>
              <a:rPr dirty="0"/>
              <a:t> </a:t>
            </a:r>
            <a:r>
              <a:rPr dirty="0" err="1"/>
              <a:t>hjertesygdom</a:t>
            </a:r>
            <a:endParaRPr dirty="0"/>
          </a:p>
          <a:p>
            <a:pPr>
              <a:spcAft>
                <a:spcPts val="600"/>
              </a:spcAft>
              <a:defRPr sz="1400"/>
            </a:pPr>
            <a:r>
              <a:rPr dirty="0" err="1"/>
              <a:t>Bekymring</a:t>
            </a:r>
            <a:r>
              <a:rPr dirty="0"/>
              <a:t> for </a:t>
            </a:r>
            <a:r>
              <a:rPr dirty="0" err="1"/>
              <a:t>rygning</a:t>
            </a:r>
            <a:r>
              <a:rPr dirty="0"/>
              <a:t> </a:t>
            </a:r>
            <a:r>
              <a:rPr dirty="0" err="1"/>
              <a:t>som</a:t>
            </a:r>
            <a:r>
              <a:rPr dirty="0"/>
              <a:t> confounder</a:t>
            </a:r>
          </a:p>
          <a:p>
            <a:pPr>
              <a:spcAft>
                <a:spcPts val="600"/>
              </a:spcAft>
              <a:defRPr sz="1400"/>
            </a:pPr>
            <a:r>
              <a:rPr dirty="0" err="1"/>
              <a:t>Analys</a:t>
            </a:r>
            <a:r>
              <a:rPr lang="da-DK" dirty="0"/>
              <a:t>e</a:t>
            </a:r>
            <a:r>
              <a:rPr dirty="0"/>
              <a:t>r kun </a:t>
            </a:r>
            <a:r>
              <a:rPr dirty="0" err="1"/>
              <a:t>ikke-rygere</a:t>
            </a:r>
            <a:endParaRPr dirty="0"/>
          </a:p>
        </p:txBody>
      </p:sp>
      <p:sp>
        <p:nvSpPr>
          <p:cNvPr id="4" name="Pladsholder til slidenumm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50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Stratifikation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600"/>
              </a:spcAft>
              <a:defRPr sz="1400"/>
            </a:pPr>
            <a:r>
              <a:rPr dirty="0" err="1"/>
              <a:t>Opdel</a:t>
            </a:r>
            <a:r>
              <a:rPr dirty="0"/>
              <a:t> </a:t>
            </a:r>
            <a:r>
              <a:rPr dirty="0" err="1"/>
              <a:t>analysen</a:t>
            </a:r>
            <a:r>
              <a:rPr dirty="0"/>
              <a:t> </a:t>
            </a:r>
            <a:r>
              <a:rPr dirty="0" err="1"/>
              <a:t>i</a:t>
            </a:r>
            <a:r>
              <a:rPr dirty="0"/>
              <a:t> </a:t>
            </a:r>
            <a:r>
              <a:rPr lang="da-DK" dirty="0"/>
              <a:t>lag (strata)</a:t>
            </a:r>
            <a:r>
              <a:rPr dirty="0"/>
              <a:t> </a:t>
            </a:r>
            <a:r>
              <a:rPr dirty="0" err="1"/>
              <a:t>baseret</a:t>
            </a:r>
            <a:r>
              <a:rPr dirty="0"/>
              <a:t> </a:t>
            </a:r>
            <a:r>
              <a:rPr dirty="0" err="1"/>
              <a:t>på</a:t>
            </a:r>
            <a:r>
              <a:rPr dirty="0"/>
              <a:t> </a:t>
            </a:r>
            <a:r>
              <a:rPr dirty="0" err="1"/>
              <a:t>confounderen</a:t>
            </a:r>
            <a:endParaRPr dirty="0"/>
          </a:p>
          <a:p>
            <a:pPr>
              <a:spcAft>
                <a:spcPts val="600"/>
              </a:spcAft>
              <a:defRPr sz="1400"/>
            </a:pPr>
            <a:r>
              <a:rPr dirty="0" err="1"/>
              <a:t>Eksempel</a:t>
            </a:r>
            <a:r>
              <a:rPr dirty="0"/>
              <a:t>: </a:t>
            </a:r>
            <a:r>
              <a:rPr dirty="0" err="1"/>
              <a:t>Analyser</a:t>
            </a:r>
            <a:r>
              <a:rPr dirty="0"/>
              <a:t> </a:t>
            </a:r>
            <a:r>
              <a:rPr dirty="0" err="1"/>
              <a:t>rygere</a:t>
            </a:r>
            <a:r>
              <a:rPr dirty="0"/>
              <a:t> </a:t>
            </a:r>
            <a:r>
              <a:rPr dirty="0" err="1"/>
              <a:t>og</a:t>
            </a:r>
            <a:r>
              <a:rPr dirty="0"/>
              <a:t> </a:t>
            </a:r>
            <a:r>
              <a:rPr dirty="0" err="1"/>
              <a:t>ikke-rygere</a:t>
            </a:r>
            <a:r>
              <a:rPr dirty="0"/>
              <a:t> </a:t>
            </a:r>
            <a:r>
              <a:rPr dirty="0" err="1"/>
              <a:t>separat</a:t>
            </a:r>
            <a:endParaRPr dirty="0"/>
          </a:p>
          <a:p>
            <a:pPr>
              <a:spcAft>
                <a:spcPts val="600"/>
              </a:spcAft>
              <a:defRPr sz="1400"/>
            </a:pPr>
            <a:r>
              <a:rPr dirty="0" err="1"/>
              <a:t>Fordel</a:t>
            </a:r>
            <a:r>
              <a:rPr dirty="0"/>
              <a:t>: </a:t>
            </a:r>
            <a:r>
              <a:rPr lang="da-DK" dirty="0"/>
              <a:t>Simpelt og l</a:t>
            </a:r>
            <a:r>
              <a:rPr dirty="0"/>
              <a:t>et at </a:t>
            </a:r>
            <a:r>
              <a:rPr dirty="0" err="1"/>
              <a:t>forstå</a:t>
            </a:r>
            <a:endParaRPr dirty="0"/>
          </a:p>
          <a:p>
            <a:pPr>
              <a:spcAft>
                <a:spcPts val="600"/>
              </a:spcAft>
              <a:defRPr sz="1400"/>
            </a:pPr>
            <a:r>
              <a:rPr dirty="0" err="1"/>
              <a:t>Ulempe</a:t>
            </a:r>
            <a:r>
              <a:rPr dirty="0"/>
              <a:t>: </a:t>
            </a:r>
            <a:r>
              <a:rPr lang="da-DK" dirty="0"/>
              <a:t>Mindre generaliserbarhed, mindre sample </a:t>
            </a:r>
            <a:r>
              <a:rPr lang="da-DK" dirty="0" err="1"/>
              <a:t>size</a:t>
            </a:r>
            <a:r>
              <a:rPr lang="da-DK" dirty="0"/>
              <a:t> og udfordrende med flere eller kontinuerte </a:t>
            </a:r>
            <a:r>
              <a:rPr lang="da-DK" dirty="0" err="1"/>
              <a:t>confoundere</a:t>
            </a:r>
            <a:endParaRPr lang="da-DK" dirty="0"/>
          </a:p>
        </p:txBody>
      </p:sp>
      <p:sp>
        <p:nvSpPr>
          <p:cNvPr id="4" name="Pladsholder til slidenumm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51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Eksempel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600"/>
              </a:spcAft>
              <a:defRPr sz="1400"/>
            </a:pPr>
            <a:r>
              <a:rPr lang="da-DK" dirty="0"/>
              <a:t>Kunne køn være en </a:t>
            </a:r>
            <a:r>
              <a:rPr lang="da-DK" dirty="0" err="1"/>
              <a:t>confounder</a:t>
            </a:r>
            <a:r>
              <a:rPr lang="da-DK" dirty="0"/>
              <a:t>?</a:t>
            </a:r>
          </a:p>
          <a:p>
            <a:pPr>
              <a:spcAft>
                <a:spcPts val="600"/>
              </a:spcAft>
              <a:defRPr sz="1400"/>
            </a:pPr>
            <a:endParaRPr dirty="0"/>
          </a:p>
        </p:txBody>
      </p:sp>
      <p:graphicFrame>
        <p:nvGraphicFramePr>
          <p:cNvPr id="4" name="Tabel 3"/>
          <p:cNvGraphicFramePr>
            <a:graphicFrameLocks noGrp="1"/>
          </p:cNvGraphicFramePr>
          <p:nvPr/>
        </p:nvGraphicFramePr>
        <p:xfrm>
          <a:off x="861060" y="2044700"/>
          <a:ext cx="6096000" cy="11125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3698177320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667208634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111923144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da-DK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a-DK" dirty="0"/>
                        <a:t>Drenge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a-DK" dirty="0"/>
                        <a:t>Piger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9825151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a-DK" dirty="0"/>
                        <a:t>Ingen sport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a-DK" dirty="0"/>
                        <a:t>365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a-DK" dirty="0"/>
                        <a:t>1222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2603776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a-DK" dirty="0"/>
                        <a:t>Sport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a-DK" dirty="0"/>
                        <a:t>367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a-DK" dirty="0"/>
                        <a:t>137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87396556"/>
                  </a:ext>
                </a:extLst>
              </a:tr>
            </a:tbl>
          </a:graphicData>
        </a:graphic>
      </p:graphicFrame>
      <p:graphicFrame>
        <p:nvGraphicFramePr>
          <p:cNvPr id="10" name="Tabel 9"/>
          <p:cNvGraphicFramePr>
            <a:graphicFrameLocks noGrp="1"/>
          </p:cNvGraphicFramePr>
          <p:nvPr/>
        </p:nvGraphicFramePr>
        <p:xfrm>
          <a:off x="861060" y="3529171"/>
          <a:ext cx="6096000" cy="11125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3698177320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667208634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111923144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da-DK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a-DK" dirty="0"/>
                        <a:t>Drenge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a-DK" dirty="0"/>
                        <a:t>Piger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9825151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a-DK" dirty="0"/>
                        <a:t>Ingen skadestue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a-DK" dirty="0"/>
                        <a:t>209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a-DK" dirty="0"/>
                        <a:t>836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2603776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a-DK" dirty="0"/>
                        <a:t>Skadestue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a-DK" dirty="0"/>
                        <a:t>523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a-DK" dirty="0"/>
                        <a:t>523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87396556"/>
                  </a:ext>
                </a:extLst>
              </a:tr>
            </a:tbl>
          </a:graphicData>
        </a:graphic>
      </p:graphicFrame>
      <p:sp>
        <p:nvSpPr>
          <p:cNvPr id="11" name="Tekstfelt 10"/>
          <p:cNvSpPr txBox="1"/>
          <p:nvPr/>
        </p:nvSpPr>
        <p:spPr>
          <a:xfrm>
            <a:off x="861060" y="4824253"/>
            <a:ext cx="4710841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da-DK" dirty="0">
                <a:solidFill>
                  <a:srgbClr val="FF0000"/>
                </a:solidFill>
              </a:rPr>
              <a:t>Køn er skævt fordelt i forhold til udfaldet</a:t>
            </a:r>
          </a:p>
          <a:p>
            <a:pPr marL="342900" indent="-342900">
              <a:buFont typeface="+mj-lt"/>
              <a:buAutoNum type="arabicPeriod"/>
            </a:pPr>
            <a:r>
              <a:rPr lang="da-DK" dirty="0">
                <a:solidFill>
                  <a:srgbClr val="FF0000"/>
                </a:solidFill>
              </a:rPr>
              <a:t>Køn er skævt fordelt i forhold til eksponering</a:t>
            </a:r>
          </a:p>
          <a:p>
            <a:pPr marL="342900" indent="-342900">
              <a:buFont typeface="+mj-lt"/>
              <a:buAutoNum type="arabicPeriod"/>
            </a:pPr>
            <a:r>
              <a:rPr lang="da-DK" dirty="0">
                <a:solidFill>
                  <a:srgbClr val="FF0000"/>
                </a:solidFill>
              </a:rPr>
              <a:t>Køn kan ikke være et led i årsagskæden</a:t>
            </a:r>
          </a:p>
        </p:txBody>
      </p:sp>
      <p:sp>
        <p:nvSpPr>
          <p:cNvPr id="5" name="Pladsholder til slidenumm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1357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Eksempel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600"/>
              </a:spcAft>
              <a:defRPr sz="1400"/>
            </a:pPr>
            <a:r>
              <a:rPr lang="da-DK" dirty="0"/>
              <a:t>Kunne køn være en </a:t>
            </a:r>
            <a:r>
              <a:rPr lang="da-DK" dirty="0" err="1"/>
              <a:t>confounder</a:t>
            </a:r>
            <a:r>
              <a:rPr lang="da-DK" dirty="0"/>
              <a:t>?</a:t>
            </a:r>
          </a:p>
          <a:p>
            <a:pPr>
              <a:spcAft>
                <a:spcPts val="600"/>
              </a:spcAft>
              <a:defRPr sz="1400"/>
            </a:pPr>
            <a:endParaRPr dirty="0"/>
          </a:p>
        </p:txBody>
      </p:sp>
      <p:sp>
        <p:nvSpPr>
          <p:cNvPr id="7" name="Tekstfelt 6"/>
          <p:cNvSpPr txBox="1"/>
          <p:nvPr/>
        </p:nvSpPr>
        <p:spPr>
          <a:xfrm>
            <a:off x="457200" y="2316321"/>
            <a:ext cx="70013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b="1" dirty="0">
                <a:solidFill>
                  <a:srgbClr val="FF0000"/>
                </a:solidFill>
              </a:rPr>
              <a:t>Odds ratio for drenge: 0.99 (95% </a:t>
            </a:r>
            <a:r>
              <a:rPr lang="da-DK" b="1" dirty="0" err="1">
                <a:solidFill>
                  <a:srgbClr val="FF0000"/>
                </a:solidFill>
              </a:rPr>
              <a:t>konfidensinterval</a:t>
            </a:r>
            <a:r>
              <a:rPr lang="da-DK" b="1" dirty="0">
                <a:solidFill>
                  <a:srgbClr val="FF0000"/>
                </a:solidFill>
              </a:rPr>
              <a:t> 0.72-1.37), p = 0.972</a:t>
            </a:r>
          </a:p>
        </p:txBody>
      </p:sp>
      <p:sp>
        <p:nvSpPr>
          <p:cNvPr id="8" name="Tekstfelt 7"/>
          <p:cNvSpPr txBox="1"/>
          <p:nvPr/>
        </p:nvSpPr>
        <p:spPr>
          <a:xfrm>
            <a:off x="457200" y="2696686"/>
            <a:ext cx="6821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b="1" dirty="0">
                <a:solidFill>
                  <a:srgbClr val="FF0000"/>
                </a:solidFill>
              </a:rPr>
              <a:t>Odds ratio for piger: 1.04 (95% </a:t>
            </a:r>
            <a:r>
              <a:rPr lang="da-DK" b="1" dirty="0" err="1">
                <a:solidFill>
                  <a:srgbClr val="FF0000"/>
                </a:solidFill>
              </a:rPr>
              <a:t>konfidensinterval</a:t>
            </a:r>
            <a:r>
              <a:rPr lang="da-DK" b="1" dirty="0">
                <a:solidFill>
                  <a:srgbClr val="FF0000"/>
                </a:solidFill>
              </a:rPr>
              <a:t> 0.73-1.50), p = 0.813</a:t>
            </a:r>
          </a:p>
        </p:txBody>
      </p:sp>
      <p:sp>
        <p:nvSpPr>
          <p:cNvPr id="9" name="Tekstfelt 8"/>
          <p:cNvSpPr txBox="1"/>
          <p:nvPr/>
        </p:nvSpPr>
        <p:spPr>
          <a:xfrm>
            <a:off x="457200" y="3401298"/>
            <a:ext cx="75041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b="1" dirty="0">
                <a:solidFill>
                  <a:srgbClr val="FF0000"/>
                </a:solidFill>
              </a:rPr>
              <a:t>Effekten forsvinder ved stratifikation, og dette indikerer køn som </a:t>
            </a:r>
            <a:r>
              <a:rPr lang="da-DK" b="1" dirty="0" err="1">
                <a:solidFill>
                  <a:srgbClr val="FF0000"/>
                </a:solidFill>
              </a:rPr>
              <a:t>confounder</a:t>
            </a:r>
            <a:endParaRPr lang="da-DK" b="1" dirty="0">
              <a:solidFill>
                <a:srgbClr val="FF0000"/>
              </a:solidFill>
            </a:endParaRPr>
          </a:p>
        </p:txBody>
      </p:sp>
      <p:sp>
        <p:nvSpPr>
          <p:cNvPr id="4" name="Pladsholder til slidenumm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55655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9" grpId="0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Justerede analyser – regression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600"/>
              </a:spcAft>
              <a:defRPr sz="1400"/>
            </a:pPr>
            <a:r>
              <a:rPr dirty="0" err="1"/>
              <a:t>Multipel</a:t>
            </a:r>
            <a:r>
              <a:rPr dirty="0"/>
              <a:t> regression: </a:t>
            </a:r>
            <a:r>
              <a:rPr dirty="0" err="1"/>
              <a:t>Inkluder</a:t>
            </a:r>
            <a:r>
              <a:rPr dirty="0"/>
              <a:t> </a:t>
            </a:r>
            <a:r>
              <a:rPr dirty="0" err="1"/>
              <a:t>confoundere</a:t>
            </a:r>
            <a:r>
              <a:rPr dirty="0"/>
              <a:t> </a:t>
            </a:r>
            <a:r>
              <a:rPr dirty="0" err="1"/>
              <a:t>som</a:t>
            </a:r>
            <a:r>
              <a:rPr dirty="0"/>
              <a:t> </a:t>
            </a:r>
            <a:r>
              <a:rPr dirty="0" err="1"/>
              <a:t>kovariater</a:t>
            </a:r>
            <a:endParaRPr dirty="0"/>
          </a:p>
          <a:p>
            <a:pPr>
              <a:spcAft>
                <a:spcPts val="600"/>
              </a:spcAft>
              <a:defRPr sz="1400"/>
            </a:pPr>
            <a:r>
              <a:rPr dirty="0" err="1"/>
              <a:t>Lineær</a:t>
            </a:r>
            <a:r>
              <a:rPr dirty="0"/>
              <a:t>, </a:t>
            </a:r>
            <a:r>
              <a:rPr dirty="0" err="1"/>
              <a:t>logistisk</a:t>
            </a:r>
            <a:r>
              <a:rPr dirty="0"/>
              <a:t> </a:t>
            </a:r>
            <a:r>
              <a:rPr dirty="0" err="1"/>
              <a:t>eller</a:t>
            </a:r>
            <a:r>
              <a:rPr dirty="0"/>
              <a:t> Cox </a:t>
            </a:r>
            <a:r>
              <a:rPr lang="da-DK" dirty="0"/>
              <a:t>regression </a:t>
            </a:r>
            <a:r>
              <a:rPr dirty="0" err="1"/>
              <a:t>afhængigt</a:t>
            </a:r>
            <a:r>
              <a:rPr dirty="0"/>
              <a:t> </a:t>
            </a:r>
            <a:r>
              <a:rPr dirty="0" err="1"/>
              <a:t>af</a:t>
            </a:r>
            <a:r>
              <a:rPr dirty="0"/>
              <a:t> </a:t>
            </a:r>
            <a:r>
              <a:rPr dirty="0" err="1"/>
              <a:t>udfald</a:t>
            </a:r>
            <a:endParaRPr dirty="0"/>
          </a:p>
          <a:p>
            <a:pPr>
              <a:spcAft>
                <a:spcPts val="600"/>
              </a:spcAft>
              <a:defRPr sz="1400"/>
            </a:pPr>
            <a:r>
              <a:rPr dirty="0" err="1"/>
              <a:t>Tolkes</a:t>
            </a:r>
            <a:r>
              <a:rPr dirty="0"/>
              <a:t> </a:t>
            </a:r>
            <a:r>
              <a:rPr dirty="0" err="1"/>
              <a:t>som</a:t>
            </a:r>
            <a:r>
              <a:rPr dirty="0"/>
              <a:t> </a:t>
            </a:r>
            <a:r>
              <a:rPr dirty="0" err="1"/>
              <a:t>effekt</a:t>
            </a:r>
            <a:r>
              <a:rPr dirty="0"/>
              <a:t> </a:t>
            </a:r>
            <a:r>
              <a:rPr dirty="0" err="1"/>
              <a:t>af</a:t>
            </a:r>
            <a:r>
              <a:rPr dirty="0"/>
              <a:t> </a:t>
            </a:r>
            <a:r>
              <a:rPr dirty="0" err="1"/>
              <a:t>eksponering</a:t>
            </a:r>
            <a:r>
              <a:rPr dirty="0"/>
              <a:t> </a:t>
            </a:r>
            <a:r>
              <a:rPr dirty="0" err="1"/>
              <a:t>givet</a:t>
            </a:r>
            <a:r>
              <a:rPr dirty="0"/>
              <a:t> </a:t>
            </a:r>
            <a:r>
              <a:rPr dirty="0" err="1"/>
              <a:t>samme</a:t>
            </a:r>
            <a:r>
              <a:rPr dirty="0"/>
              <a:t> </a:t>
            </a:r>
            <a:r>
              <a:rPr dirty="0" err="1"/>
              <a:t>værdi</a:t>
            </a:r>
            <a:r>
              <a:rPr dirty="0"/>
              <a:t> </a:t>
            </a:r>
            <a:r>
              <a:rPr dirty="0" err="1"/>
              <a:t>på</a:t>
            </a:r>
            <a:r>
              <a:rPr dirty="0"/>
              <a:t> </a:t>
            </a:r>
            <a:r>
              <a:rPr dirty="0" err="1"/>
              <a:t>confoundere</a:t>
            </a:r>
            <a:endParaRPr dirty="0"/>
          </a:p>
        </p:txBody>
      </p:sp>
      <p:sp>
        <p:nvSpPr>
          <p:cNvPr id="4" name="Pladsholder til slidenumm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54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Eksempel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600"/>
              </a:spcAft>
              <a:defRPr sz="1400"/>
            </a:pPr>
            <a:r>
              <a:rPr lang="da-DK" dirty="0"/>
              <a:t>Kunne køn være en </a:t>
            </a:r>
            <a:r>
              <a:rPr lang="da-DK" dirty="0" err="1"/>
              <a:t>confounder</a:t>
            </a:r>
            <a:r>
              <a:rPr lang="da-DK" dirty="0"/>
              <a:t>?</a:t>
            </a:r>
          </a:p>
          <a:p>
            <a:pPr>
              <a:spcAft>
                <a:spcPts val="600"/>
              </a:spcAft>
              <a:defRPr sz="1400"/>
            </a:pPr>
            <a:endParaRPr dirty="0"/>
          </a:p>
        </p:txBody>
      </p:sp>
      <p:graphicFrame>
        <p:nvGraphicFramePr>
          <p:cNvPr id="4" name="Tabel 3"/>
          <p:cNvGraphicFramePr>
            <a:graphicFrameLocks noGrp="1"/>
          </p:cNvGraphicFramePr>
          <p:nvPr/>
        </p:nvGraphicFramePr>
        <p:xfrm>
          <a:off x="861060" y="2044700"/>
          <a:ext cx="6096000" cy="11125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3698177320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667208634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111923144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da-DK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a-DK" dirty="0"/>
                        <a:t>Drenge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a-DK" dirty="0"/>
                        <a:t>Piger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9825151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a-DK" dirty="0"/>
                        <a:t>Ingen sport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a-DK" dirty="0"/>
                        <a:t>365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a-DK" dirty="0"/>
                        <a:t>1222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2603776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a-DK" dirty="0"/>
                        <a:t>Sport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a-DK" dirty="0"/>
                        <a:t>367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a-DK" dirty="0"/>
                        <a:t>137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87396556"/>
                  </a:ext>
                </a:extLst>
              </a:tr>
            </a:tbl>
          </a:graphicData>
        </a:graphic>
      </p:graphicFrame>
      <p:graphicFrame>
        <p:nvGraphicFramePr>
          <p:cNvPr id="10" name="Tabel 9"/>
          <p:cNvGraphicFramePr>
            <a:graphicFrameLocks noGrp="1"/>
          </p:cNvGraphicFramePr>
          <p:nvPr/>
        </p:nvGraphicFramePr>
        <p:xfrm>
          <a:off x="861060" y="3529171"/>
          <a:ext cx="6096000" cy="11125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3698177320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667208634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111923144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da-DK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a-DK" dirty="0"/>
                        <a:t>Drenge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a-DK" dirty="0"/>
                        <a:t>Piger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9825151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a-DK" dirty="0"/>
                        <a:t>Ingen skadestue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a-DK" dirty="0"/>
                        <a:t>209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a-DK" dirty="0"/>
                        <a:t>836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2603776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a-DK" dirty="0"/>
                        <a:t>Skadestue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a-DK" dirty="0"/>
                        <a:t>523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a-DK" dirty="0"/>
                        <a:t>523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87396556"/>
                  </a:ext>
                </a:extLst>
              </a:tr>
            </a:tbl>
          </a:graphicData>
        </a:graphic>
      </p:graphicFrame>
      <p:sp>
        <p:nvSpPr>
          <p:cNvPr id="11" name="Tekstfelt 10"/>
          <p:cNvSpPr txBox="1"/>
          <p:nvPr/>
        </p:nvSpPr>
        <p:spPr>
          <a:xfrm>
            <a:off x="861060" y="4824253"/>
            <a:ext cx="4710841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da-DK" dirty="0">
                <a:solidFill>
                  <a:srgbClr val="FF0000"/>
                </a:solidFill>
              </a:rPr>
              <a:t>Køn er skævt fordelt i forhold til udfaldet</a:t>
            </a:r>
          </a:p>
          <a:p>
            <a:pPr marL="342900" indent="-342900">
              <a:buFont typeface="+mj-lt"/>
              <a:buAutoNum type="arabicPeriod"/>
            </a:pPr>
            <a:r>
              <a:rPr lang="da-DK" dirty="0">
                <a:solidFill>
                  <a:srgbClr val="FF0000"/>
                </a:solidFill>
              </a:rPr>
              <a:t>Køn er skævt fordelt i forhold til eksponering</a:t>
            </a:r>
          </a:p>
          <a:p>
            <a:pPr marL="342900" indent="-342900">
              <a:buFont typeface="+mj-lt"/>
              <a:buAutoNum type="arabicPeriod"/>
            </a:pPr>
            <a:r>
              <a:rPr lang="da-DK" dirty="0">
                <a:solidFill>
                  <a:srgbClr val="FF0000"/>
                </a:solidFill>
              </a:rPr>
              <a:t>Køn kan ikke være et led i årsagskæden</a:t>
            </a:r>
          </a:p>
        </p:txBody>
      </p:sp>
      <p:sp>
        <p:nvSpPr>
          <p:cNvPr id="5" name="Pladsholder til slidenumm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06851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Eksempel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600"/>
              </a:spcAft>
              <a:defRPr sz="1400"/>
            </a:pPr>
            <a:r>
              <a:rPr lang="da-DK" dirty="0"/>
              <a:t>Kunne køn være en </a:t>
            </a:r>
            <a:r>
              <a:rPr lang="da-DK" dirty="0" err="1"/>
              <a:t>confounder</a:t>
            </a:r>
            <a:r>
              <a:rPr lang="da-DK" dirty="0"/>
              <a:t>?</a:t>
            </a:r>
          </a:p>
          <a:p>
            <a:pPr>
              <a:spcAft>
                <a:spcPts val="600"/>
              </a:spcAft>
              <a:defRPr sz="1400"/>
            </a:pPr>
            <a:endParaRPr dirty="0"/>
          </a:p>
        </p:txBody>
      </p:sp>
      <p:sp>
        <p:nvSpPr>
          <p:cNvPr id="6" name="Tekstfelt 5"/>
          <p:cNvSpPr txBox="1"/>
          <p:nvPr/>
        </p:nvSpPr>
        <p:spPr>
          <a:xfrm>
            <a:off x="457200" y="2293302"/>
            <a:ext cx="68656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b="1" dirty="0" err="1">
                <a:solidFill>
                  <a:srgbClr val="FF0000"/>
                </a:solidFill>
              </a:rPr>
              <a:t>Ujusteret</a:t>
            </a:r>
            <a:r>
              <a:rPr lang="da-DK" b="1" dirty="0">
                <a:solidFill>
                  <a:srgbClr val="FF0000"/>
                </a:solidFill>
              </a:rPr>
              <a:t> odds ratio: 1.97 (95% </a:t>
            </a:r>
            <a:r>
              <a:rPr lang="da-DK" b="1" dirty="0" err="1">
                <a:solidFill>
                  <a:srgbClr val="FF0000"/>
                </a:solidFill>
              </a:rPr>
              <a:t>konfidensinterval</a:t>
            </a:r>
            <a:r>
              <a:rPr lang="da-DK" b="1" dirty="0">
                <a:solidFill>
                  <a:srgbClr val="FF0000"/>
                </a:solidFill>
              </a:rPr>
              <a:t> 1.61-2.42), p &lt; 0.001</a:t>
            </a:r>
          </a:p>
        </p:txBody>
      </p:sp>
      <p:sp>
        <p:nvSpPr>
          <p:cNvPr id="9" name="Tekstfelt 8"/>
          <p:cNvSpPr txBox="1"/>
          <p:nvPr/>
        </p:nvSpPr>
        <p:spPr>
          <a:xfrm>
            <a:off x="457200" y="2662634"/>
            <a:ext cx="67326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b="1" dirty="0">
                <a:solidFill>
                  <a:srgbClr val="FF0000"/>
                </a:solidFill>
              </a:rPr>
              <a:t>Justeret odds ratio: 1.02 (95% </a:t>
            </a:r>
            <a:r>
              <a:rPr lang="da-DK" b="1" dirty="0" err="1">
                <a:solidFill>
                  <a:srgbClr val="FF0000"/>
                </a:solidFill>
              </a:rPr>
              <a:t>konfidensinterval</a:t>
            </a:r>
            <a:r>
              <a:rPr lang="da-DK" b="1" dirty="0">
                <a:solidFill>
                  <a:srgbClr val="FF0000"/>
                </a:solidFill>
              </a:rPr>
              <a:t> 0.80-1.29), p = 0.896</a:t>
            </a:r>
          </a:p>
        </p:txBody>
      </p:sp>
      <p:sp>
        <p:nvSpPr>
          <p:cNvPr id="10" name="Tekstfelt 9"/>
          <p:cNvSpPr txBox="1"/>
          <p:nvPr/>
        </p:nvSpPr>
        <p:spPr>
          <a:xfrm>
            <a:off x="457200" y="3401298"/>
            <a:ext cx="71655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b="1" dirty="0">
                <a:solidFill>
                  <a:srgbClr val="FF0000"/>
                </a:solidFill>
              </a:rPr>
              <a:t>Effekten forsvinder ved justering, og dette indikerer køn som </a:t>
            </a:r>
            <a:r>
              <a:rPr lang="da-DK" b="1" dirty="0" err="1">
                <a:solidFill>
                  <a:srgbClr val="FF0000"/>
                </a:solidFill>
              </a:rPr>
              <a:t>confounder</a:t>
            </a:r>
            <a:endParaRPr lang="da-DK" b="1" dirty="0">
              <a:solidFill>
                <a:srgbClr val="FF0000"/>
              </a:solidFill>
            </a:endParaRPr>
          </a:p>
        </p:txBody>
      </p:sp>
      <p:sp>
        <p:nvSpPr>
          <p:cNvPr id="4" name="Pladsholder til slidenumm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38598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9" grpId="0"/>
      <p:bldP spid="10" grpId="0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Almindelige faldgruber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600"/>
              </a:spcAft>
              <a:defRPr sz="1400"/>
            </a:pPr>
            <a:r>
              <a:rPr dirty="0" err="1"/>
              <a:t>Forveksling</a:t>
            </a:r>
            <a:r>
              <a:rPr dirty="0"/>
              <a:t> </a:t>
            </a:r>
            <a:r>
              <a:rPr dirty="0" err="1"/>
              <a:t>af</a:t>
            </a:r>
            <a:r>
              <a:rPr dirty="0"/>
              <a:t> mediator</a:t>
            </a:r>
            <a:r>
              <a:rPr lang="da-DK" dirty="0"/>
              <a:t>, </a:t>
            </a:r>
            <a:r>
              <a:rPr dirty="0"/>
              <a:t>confounder</a:t>
            </a:r>
            <a:r>
              <a:rPr lang="da-DK" dirty="0"/>
              <a:t> og </a:t>
            </a:r>
            <a:r>
              <a:rPr lang="da-DK" dirty="0" err="1"/>
              <a:t>collider</a:t>
            </a:r>
            <a:endParaRPr dirty="0"/>
          </a:p>
          <a:p>
            <a:pPr>
              <a:spcAft>
                <a:spcPts val="600"/>
              </a:spcAft>
              <a:defRPr sz="1400"/>
            </a:pPr>
            <a:r>
              <a:rPr dirty="0" err="1"/>
              <a:t>Ignorering</a:t>
            </a:r>
            <a:r>
              <a:rPr dirty="0"/>
              <a:t> </a:t>
            </a:r>
            <a:r>
              <a:rPr dirty="0" err="1"/>
              <a:t>af</a:t>
            </a:r>
            <a:r>
              <a:rPr dirty="0"/>
              <a:t> residual confounding</a:t>
            </a:r>
          </a:p>
          <a:p>
            <a:pPr>
              <a:spcAft>
                <a:spcPts val="600"/>
              </a:spcAft>
              <a:defRPr sz="1400"/>
            </a:pPr>
            <a:r>
              <a:rPr dirty="0" err="1"/>
              <a:t>Overjustering</a:t>
            </a:r>
            <a:endParaRPr dirty="0"/>
          </a:p>
        </p:txBody>
      </p:sp>
      <p:sp>
        <p:nvSpPr>
          <p:cNvPr id="4" name="Pladsholder til slidenumm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57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3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a-DK" dirty="0" err="1"/>
              <a:t>Take</a:t>
            </a:r>
            <a:r>
              <a:rPr lang="da-DK" dirty="0"/>
              <a:t> </a:t>
            </a:r>
            <a:r>
              <a:rPr lang="da-DK" dirty="0" err="1"/>
              <a:t>home</a:t>
            </a:r>
            <a:r>
              <a:rPr lang="da-DK" dirty="0"/>
              <a:t> </a:t>
            </a:r>
            <a:r>
              <a:rPr lang="da-DK" dirty="0" err="1"/>
              <a:t>messages</a:t>
            </a:r>
            <a:endParaRPr lang="da-DK" dirty="0"/>
          </a:p>
        </p:txBody>
      </p:sp>
      <p:sp>
        <p:nvSpPr>
          <p:cNvPr id="5" name="Undertitel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2" name="Pladsholder til slidenumm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58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75805834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Take-home messages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600"/>
              </a:spcAft>
              <a:defRPr sz="1400"/>
            </a:pPr>
            <a:r>
              <a:rPr dirty="0"/>
              <a:t>Confounding </a:t>
            </a:r>
            <a:r>
              <a:rPr dirty="0" err="1"/>
              <a:t>er</a:t>
            </a:r>
            <a:r>
              <a:rPr dirty="0"/>
              <a:t> </a:t>
            </a:r>
            <a:r>
              <a:rPr dirty="0" err="1"/>
              <a:t>en</a:t>
            </a:r>
            <a:r>
              <a:rPr dirty="0"/>
              <a:t> </a:t>
            </a:r>
            <a:r>
              <a:rPr dirty="0" err="1"/>
              <a:t>af</a:t>
            </a:r>
            <a:r>
              <a:rPr dirty="0"/>
              <a:t> de </a:t>
            </a:r>
            <a:r>
              <a:rPr dirty="0" err="1"/>
              <a:t>største</a:t>
            </a:r>
            <a:r>
              <a:rPr dirty="0"/>
              <a:t> </a:t>
            </a:r>
            <a:r>
              <a:rPr dirty="0" err="1"/>
              <a:t>trusler</a:t>
            </a:r>
            <a:r>
              <a:rPr dirty="0"/>
              <a:t> mod </a:t>
            </a:r>
            <a:r>
              <a:rPr dirty="0" err="1"/>
              <a:t>validitet</a:t>
            </a:r>
            <a:r>
              <a:rPr dirty="0"/>
              <a:t> </a:t>
            </a:r>
            <a:r>
              <a:rPr dirty="0" err="1"/>
              <a:t>i</a:t>
            </a:r>
            <a:r>
              <a:rPr dirty="0"/>
              <a:t> </a:t>
            </a:r>
            <a:r>
              <a:rPr dirty="0" err="1"/>
              <a:t>epidemiologi</a:t>
            </a:r>
            <a:endParaRPr dirty="0"/>
          </a:p>
          <a:p>
            <a:pPr>
              <a:spcAft>
                <a:spcPts val="600"/>
              </a:spcAft>
              <a:defRPr sz="1400"/>
            </a:pPr>
            <a:r>
              <a:rPr dirty="0"/>
              <a:t>Der </a:t>
            </a:r>
            <a:r>
              <a:rPr dirty="0" err="1"/>
              <a:t>findes</a:t>
            </a:r>
            <a:r>
              <a:rPr dirty="0"/>
              <a:t> </a:t>
            </a:r>
            <a:r>
              <a:rPr dirty="0" err="1"/>
              <a:t>flere</a:t>
            </a:r>
            <a:r>
              <a:rPr dirty="0"/>
              <a:t> </a:t>
            </a:r>
            <a:r>
              <a:rPr dirty="0" err="1"/>
              <a:t>metoder</a:t>
            </a:r>
            <a:r>
              <a:rPr dirty="0"/>
              <a:t> </a:t>
            </a:r>
            <a:r>
              <a:rPr dirty="0" err="1"/>
              <a:t>til</a:t>
            </a:r>
            <a:r>
              <a:rPr dirty="0"/>
              <a:t> at </a:t>
            </a:r>
            <a:r>
              <a:rPr dirty="0" err="1"/>
              <a:t>håndtere</a:t>
            </a:r>
            <a:r>
              <a:rPr dirty="0"/>
              <a:t> </a:t>
            </a:r>
            <a:r>
              <a:rPr dirty="0" err="1"/>
              <a:t>det</a:t>
            </a:r>
            <a:r>
              <a:rPr dirty="0"/>
              <a:t> – </a:t>
            </a:r>
            <a:r>
              <a:rPr dirty="0" err="1"/>
              <a:t>ingen</a:t>
            </a:r>
            <a:r>
              <a:rPr dirty="0"/>
              <a:t> </a:t>
            </a:r>
            <a:r>
              <a:rPr dirty="0" err="1"/>
              <a:t>er</a:t>
            </a:r>
            <a:r>
              <a:rPr dirty="0"/>
              <a:t> </a:t>
            </a:r>
            <a:r>
              <a:rPr dirty="0" err="1"/>
              <a:t>perfekte</a:t>
            </a:r>
            <a:endParaRPr dirty="0"/>
          </a:p>
          <a:p>
            <a:pPr>
              <a:spcAft>
                <a:spcPts val="600"/>
              </a:spcAft>
              <a:defRPr sz="1400"/>
            </a:pPr>
            <a:r>
              <a:rPr dirty="0"/>
              <a:t>Teoretisk </a:t>
            </a:r>
            <a:r>
              <a:rPr dirty="0" err="1"/>
              <a:t>viden</a:t>
            </a:r>
            <a:r>
              <a:rPr dirty="0"/>
              <a:t> er </a:t>
            </a:r>
            <a:r>
              <a:rPr dirty="0" err="1"/>
              <a:t>lige</a:t>
            </a:r>
            <a:r>
              <a:rPr dirty="0"/>
              <a:t> </a:t>
            </a:r>
            <a:r>
              <a:rPr dirty="0" err="1"/>
              <a:t>så</a:t>
            </a:r>
            <a:r>
              <a:rPr dirty="0"/>
              <a:t> </a:t>
            </a:r>
            <a:r>
              <a:rPr dirty="0" err="1"/>
              <a:t>vigtig</a:t>
            </a:r>
            <a:r>
              <a:rPr dirty="0"/>
              <a:t> </a:t>
            </a:r>
            <a:r>
              <a:rPr dirty="0" err="1"/>
              <a:t>som</a:t>
            </a:r>
            <a:r>
              <a:rPr dirty="0"/>
              <a:t> </a:t>
            </a:r>
            <a:r>
              <a:rPr dirty="0" err="1"/>
              <a:t>statistik</a:t>
            </a:r>
            <a:endParaRPr lang="da-DK" dirty="0"/>
          </a:p>
          <a:p>
            <a:pPr>
              <a:spcAft>
                <a:spcPts val="600"/>
              </a:spcAft>
              <a:defRPr sz="1400"/>
            </a:pPr>
            <a:r>
              <a:rPr lang="da-DK" dirty="0"/>
              <a:t>En faktor kan ikke være en </a:t>
            </a:r>
            <a:r>
              <a:rPr lang="da-DK" dirty="0" err="1"/>
              <a:t>confounder</a:t>
            </a:r>
            <a:r>
              <a:rPr lang="da-DK" dirty="0"/>
              <a:t> og en </a:t>
            </a:r>
            <a:r>
              <a:rPr lang="da-DK" dirty="0" err="1"/>
              <a:t>mediater</a:t>
            </a:r>
            <a:r>
              <a:rPr lang="da-DK" dirty="0"/>
              <a:t>/</a:t>
            </a:r>
            <a:r>
              <a:rPr lang="da-DK" dirty="0" err="1"/>
              <a:t>collider</a:t>
            </a:r>
            <a:r>
              <a:rPr lang="da-DK" dirty="0"/>
              <a:t> på samme tid i samme association</a:t>
            </a:r>
          </a:p>
          <a:p>
            <a:pPr>
              <a:spcAft>
                <a:spcPts val="600"/>
              </a:spcAft>
              <a:defRPr sz="1400"/>
            </a:pPr>
            <a:r>
              <a:rPr lang="da-DK" dirty="0"/>
              <a:t>En faktor kan godt være en mediator og en </a:t>
            </a:r>
            <a:r>
              <a:rPr lang="da-DK" dirty="0" err="1"/>
              <a:t>collider</a:t>
            </a:r>
            <a:r>
              <a:rPr lang="da-DK" dirty="0"/>
              <a:t> på samme tid i samme association</a:t>
            </a:r>
          </a:p>
          <a:p>
            <a:pPr>
              <a:spcAft>
                <a:spcPts val="600"/>
              </a:spcAft>
              <a:defRPr sz="1400"/>
            </a:pPr>
            <a:r>
              <a:rPr lang="da-DK" dirty="0"/>
              <a:t>Mediatorer og </a:t>
            </a:r>
            <a:r>
              <a:rPr lang="da-DK" dirty="0" err="1"/>
              <a:t>colliders</a:t>
            </a:r>
            <a:r>
              <a:rPr lang="da-DK" dirty="0"/>
              <a:t> håndteres ikke på samme måde som </a:t>
            </a:r>
            <a:r>
              <a:rPr lang="da-DK" dirty="0" err="1"/>
              <a:t>confoundere</a:t>
            </a:r>
            <a:endParaRPr dirty="0"/>
          </a:p>
        </p:txBody>
      </p:sp>
      <p:sp>
        <p:nvSpPr>
          <p:cNvPr id="4" name="Pladsholder til slidenumm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59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Confounder-</a:t>
            </a:r>
            <a:r>
              <a:rPr dirty="0" err="1"/>
              <a:t>trekanten</a:t>
            </a:r>
            <a:r>
              <a:rPr dirty="0"/>
              <a:t> – 3 </a:t>
            </a:r>
            <a:r>
              <a:rPr dirty="0" err="1"/>
              <a:t>kriterier</a:t>
            </a:r>
            <a:endParaRPr dirty="0"/>
          </a:p>
        </p:txBody>
      </p:sp>
      <p:sp>
        <p:nvSpPr>
          <p:cNvPr id="4" name="Rektangel 3"/>
          <p:cNvSpPr/>
          <p:nvPr/>
        </p:nvSpPr>
        <p:spPr>
          <a:xfrm>
            <a:off x="1168400" y="2057400"/>
            <a:ext cx="1682750" cy="56515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a-DK" dirty="0">
                <a:solidFill>
                  <a:schemeClr val="tx1"/>
                </a:solidFill>
              </a:rPr>
              <a:t>EKSPONERING</a:t>
            </a:r>
          </a:p>
        </p:txBody>
      </p:sp>
      <p:sp>
        <p:nvSpPr>
          <p:cNvPr id="5" name="Rektangel 4"/>
          <p:cNvSpPr/>
          <p:nvPr/>
        </p:nvSpPr>
        <p:spPr>
          <a:xfrm>
            <a:off x="3343275" y="3330575"/>
            <a:ext cx="1682750" cy="56515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a-DK" dirty="0">
                <a:solidFill>
                  <a:schemeClr val="tx1"/>
                </a:solidFill>
              </a:rPr>
              <a:t>CONFOUNDER</a:t>
            </a:r>
          </a:p>
        </p:txBody>
      </p:sp>
      <p:sp>
        <p:nvSpPr>
          <p:cNvPr id="6" name="Rektangel 5"/>
          <p:cNvSpPr/>
          <p:nvPr/>
        </p:nvSpPr>
        <p:spPr>
          <a:xfrm>
            <a:off x="5518150" y="2057400"/>
            <a:ext cx="1682750" cy="56515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a-DK" dirty="0">
                <a:solidFill>
                  <a:schemeClr val="tx1"/>
                </a:solidFill>
              </a:rPr>
              <a:t>UDFALD</a:t>
            </a:r>
          </a:p>
        </p:txBody>
      </p:sp>
      <p:cxnSp>
        <p:nvCxnSpPr>
          <p:cNvPr id="8" name="Lige pilforbindelse 7"/>
          <p:cNvCxnSpPr>
            <a:stCxn id="5" idx="3"/>
            <a:endCxn id="6" idx="2"/>
          </p:cNvCxnSpPr>
          <p:nvPr/>
        </p:nvCxnSpPr>
        <p:spPr>
          <a:xfrm flipV="1">
            <a:off x="5026025" y="2622550"/>
            <a:ext cx="1333500" cy="990600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10" name="Lige pilforbindelse 9"/>
          <p:cNvCxnSpPr>
            <a:stCxn id="5" idx="1"/>
            <a:endCxn id="4" idx="2"/>
          </p:cNvCxnSpPr>
          <p:nvPr/>
        </p:nvCxnSpPr>
        <p:spPr>
          <a:xfrm flipH="1" flipV="1">
            <a:off x="2009775" y="2622550"/>
            <a:ext cx="1333500" cy="990600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sp>
        <p:nvSpPr>
          <p:cNvPr id="13" name="Rektangel 12"/>
          <p:cNvSpPr/>
          <p:nvPr/>
        </p:nvSpPr>
        <p:spPr>
          <a:xfrm>
            <a:off x="1168400" y="5519737"/>
            <a:ext cx="1682750" cy="56515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a-DK" dirty="0">
                <a:solidFill>
                  <a:schemeClr val="tx1"/>
                </a:solidFill>
              </a:rPr>
              <a:t>EKSPONERING</a:t>
            </a:r>
          </a:p>
        </p:txBody>
      </p:sp>
      <p:sp>
        <p:nvSpPr>
          <p:cNvPr id="16" name="Rektangel 15"/>
          <p:cNvSpPr/>
          <p:nvPr/>
        </p:nvSpPr>
        <p:spPr>
          <a:xfrm>
            <a:off x="3343275" y="5519737"/>
            <a:ext cx="1682750" cy="56515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a-DK" dirty="0">
                <a:solidFill>
                  <a:schemeClr val="tx1"/>
                </a:solidFill>
              </a:rPr>
              <a:t>CONFOUNDER</a:t>
            </a:r>
          </a:p>
        </p:txBody>
      </p:sp>
      <p:sp>
        <p:nvSpPr>
          <p:cNvPr id="18" name="Rektangel 17"/>
          <p:cNvSpPr/>
          <p:nvPr/>
        </p:nvSpPr>
        <p:spPr>
          <a:xfrm>
            <a:off x="5518150" y="5519737"/>
            <a:ext cx="1682750" cy="56515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a-DK" dirty="0">
                <a:solidFill>
                  <a:schemeClr val="tx1"/>
                </a:solidFill>
              </a:rPr>
              <a:t>UDFALD</a:t>
            </a:r>
          </a:p>
        </p:txBody>
      </p:sp>
      <p:cxnSp>
        <p:nvCxnSpPr>
          <p:cNvPr id="21" name="Lige pilforbindelse 20"/>
          <p:cNvCxnSpPr>
            <a:stCxn id="13" idx="3"/>
            <a:endCxn id="16" idx="1"/>
          </p:cNvCxnSpPr>
          <p:nvPr/>
        </p:nvCxnSpPr>
        <p:spPr>
          <a:xfrm>
            <a:off x="2851150" y="5802312"/>
            <a:ext cx="492125" cy="0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24" name="Lige pilforbindelse 23"/>
          <p:cNvCxnSpPr>
            <a:stCxn id="16" idx="3"/>
            <a:endCxn id="18" idx="1"/>
          </p:cNvCxnSpPr>
          <p:nvPr/>
        </p:nvCxnSpPr>
        <p:spPr>
          <a:xfrm>
            <a:off x="5026025" y="5802312"/>
            <a:ext cx="492125" cy="0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sp>
        <p:nvSpPr>
          <p:cNvPr id="29" name="Tekstfelt 28"/>
          <p:cNvSpPr txBox="1"/>
          <p:nvPr/>
        </p:nvSpPr>
        <p:spPr>
          <a:xfrm>
            <a:off x="5588000" y="3120231"/>
            <a:ext cx="32258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a-DK" sz="1200" b="1" dirty="0"/>
              <a:t>1) </a:t>
            </a:r>
            <a:r>
              <a:rPr lang="da-DK" sz="1200" b="1" dirty="0" err="1"/>
              <a:t>Confounderen</a:t>
            </a:r>
            <a:r>
              <a:rPr lang="da-DK" sz="1200" b="1" dirty="0"/>
              <a:t> er en selvstændig risikofaktor for udfaldet</a:t>
            </a:r>
          </a:p>
          <a:p>
            <a:endParaRPr lang="da-DK" sz="1200" b="1" dirty="0"/>
          </a:p>
        </p:txBody>
      </p:sp>
      <p:sp>
        <p:nvSpPr>
          <p:cNvPr id="30" name="Tekstfelt 29"/>
          <p:cNvSpPr txBox="1"/>
          <p:nvPr/>
        </p:nvSpPr>
        <p:spPr>
          <a:xfrm>
            <a:off x="638175" y="3082676"/>
            <a:ext cx="23844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a-DK" sz="1200" b="1" dirty="0"/>
              <a:t>2) </a:t>
            </a:r>
            <a:r>
              <a:rPr lang="da-DK" sz="1200" b="1" dirty="0" err="1"/>
              <a:t>Confounderen</a:t>
            </a:r>
            <a:r>
              <a:rPr lang="da-DK" sz="1200" b="1" dirty="0"/>
              <a:t> er associeret med eksponeringen</a:t>
            </a:r>
          </a:p>
        </p:txBody>
      </p:sp>
      <p:sp>
        <p:nvSpPr>
          <p:cNvPr id="31" name="Tekstfelt 30"/>
          <p:cNvSpPr txBox="1"/>
          <p:nvPr/>
        </p:nvSpPr>
        <p:spPr>
          <a:xfrm>
            <a:off x="2654300" y="4981078"/>
            <a:ext cx="30607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a-DK" sz="1200" b="1" dirty="0"/>
              <a:t>3) </a:t>
            </a:r>
            <a:r>
              <a:rPr lang="da-DK" sz="1200" b="1" dirty="0" err="1"/>
              <a:t>Confounderen</a:t>
            </a:r>
            <a:r>
              <a:rPr lang="da-DK" sz="1200" b="1" dirty="0"/>
              <a:t> er ikke et led i årsagskæden fra eksponering til udfald (</a:t>
            </a:r>
            <a:r>
              <a:rPr lang="da-DK" sz="1200" b="1" dirty="0" err="1"/>
              <a:t>mediator</a:t>
            </a:r>
            <a:r>
              <a:rPr lang="da-DK" sz="1200" b="1" dirty="0"/>
              <a:t>)</a:t>
            </a:r>
          </a:p>
        </p:txBody>
      </p:sp>
      <p:cxnSp>
        <p:nvCxnSpPr>
          <p:cNvPr id="33" name="Lige forbindelse 32"/>
          <p:cNvCxnSpPr/>
          <p:nvPr/>
        </p:nvCxnSpPr>
        <p:spPr>
          <a:xfrm>
            <a:off x="3097212" y="5442743"/>
            <a:ext cx="2174875" cy="742157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5" name="Lige forbindelse 34"/>
          <p:cNvCxnSpPr/>
          <p:nvPr/>
        </p:nvCxnSpPr>
        <p:spPr>
          <a:xfrm flipV="1">
            <a:off x="3097212" y="5442743"/>
            <a:ext cx="2174875" cy="742157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6" name="Lige pilforbindelse 35"/>
          <p:cNvCxnSpPr>
            <a:stCxn id="4" idx="3"/>
            <a:endCxn id="6" idx="1"/>
          </p:cNvCxnSpPr>
          <p:nvPr/>
        </p:nvCxnSpPr>
        <p:spPr>
          <a:xfrm>
            <a:off x="2851150" y="2339975"/>
            <a:ext cx="2667000" cy="0"/>
          </a:xfrm>
          <a:prstGeom prst="straightConnector1">
            <a:avLst/>
          </a:prstGeom>
          <a:ln w="38100">
            <a:solidFill>
              <a:schemeClr val="accent5">
                <a:lumMod val="20000"/>
                <a:lumOff val="80000"/>
              </a:schemeClr>
            </a:solidFill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sp>
        <p:nvSpPr>
          <p:cNvPr id="39" name="Tekstfelt 38"/>
          <p:cNvSpPr txBox="1"/>
          <p:nvPr/>
        </p:nvSpPr>
        <p:spPr>
          <a:xfrm>
            <a:off x="3343275" y="2098972"/>
            <a:ext cx="168275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a-DK" sz="1050" i="1" dirty="0"/>
              <a:t>association af interesse</a:t>
            </a:r>
          </a:p>
          <a:p>
            <a:pPr algn="ctr"/>
            <a:endParaRPr lang="da-DK" sz="1050" b="1" dirty="0"/>
          </a:p>
        </p:txBody>
      </p:sp>
      <p:sp>
        <p:nvSpPr>
          <p:cNvPr id="3" name="Pladsholder til slidenumm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58068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6" grpId="0" animBg="1"/>
      <p:bldP spid="18" grpId="0" animBg="1"/>
      <p:bldP spid="29" grpId="0"/>
      <p:bldP spid="30" grpId="0"/>
      <p:bldP spid="31" grpId="0"/>
      <p:bldP spid="39" grpId="0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t>Metoder til håndtering af confounding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600"/>
              </a:spcAft>
              <a:defRPr sz="1400"/>
            </a:pPr>
            <a:r>
              <a:rPr lang="da-DK" dirty="0" err="1"/>
              <a:t>Randomisering</a:t>
            </a:r>
            <a:endParaRPr lang="da-DK" dirty="0"/>
          </a:p>
          <a:p>
            <a:pPr>
              <a:spcAft>
                <a:spcPts val="600"/>
              </a:spcAft>
              <a:defRPr sz="1400"/>
            </a:pPr>
            <a:r>
              <a:rPr lang="da-DK" dirty="0">
                <a:solidFill>
                  <a:schemeClr val="bg1">
                    <a:lumMod val="65000"/>
                  </a:schemeClr>
                </a:solidFill>
              </a:rPr>
              <a:t>Matchning</a:t>
            </a:r>
          </a:p>
          <a:p>
            <a:pPr>
              <a:spcAft>
                <a:spcPts val="600"/>
              </a:spcAft>
              <a:defRPr sz="1400"/>
            </a:pPr>
            <a:r>
              <a:rPr lang="da-DK" dirty="0">
                <a:solidFill>
                  <a:schemeClr val="bg1">
                    <a:lumMod val="65000"/>
                  </a:schemeClr>
                </a:solidFill>
              </a:rPr>
              <a:t>Restriktion</a:t>
            </a:r>
          </a:p>
          <a:p>
            <a:pPr>
              <a:spcAft>
                <a:spcPts val="600"/>
              </a:spcAft>
              <a:defRPr sz="1400"/>
            </a:pPr>
            <a:r>
              <a:rPr lang="da-DK" dirty="0">
                <a:solidFill>
                  <a:schemeClr val="bg1">
                    <a:lumMod val="65000"/>
                  </a:schemeClr>
                </a:solidFill>
              </a:rPr>
              <a:t>Stratifikation</a:t>
            </a:r>
          </a:p>
          <a:p>
            <a:pPr>
              <a:spcAft>
                <a:spcPts val="600"/>
              </a:spcAft>
              <a:defRPr sz="1400"/>
            </a:pPr>
            <a:r>
              <a:rPr lang="da-DK" dirty="0"/>
              <a:t>Justerede analyser (regression)</a:t>
            </a:r>
          </a:p>
        </p:txBody>
      </p:sp>
      <p:sp>
        <p:nvSpPr>
          <p:cNvPr id="4" name="Pladsholder til slidenumm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70570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APP_VERSION" val="1.18.0.6804"/>
  <p:tag name="SLIDO_PRESENTATION_ID" val="6f182a59-9509-45f2-90d1-8d7b50cb49cf"/>
  <p:tag name="SLIDO_EVENT_UUID" val="b440f67d-704b-4a08-8544-aa1cf7f7ca22"/>
  <p:tag name="SLIDO_EVENT_SECTION_UUID" val="3580a611-7b02-4ad2-862a-269f94cd6c2c"/>
</p:tagLst>
</file>

<file path=ppt/theme/theme1.xml><?xml version="1.0" encoding="utf-8"?>
<a:theme xmlns:a="http://schemas.openxmlformats.org/drawingml/2006/main" name="Office-tema">
  <a:themeElements>
    <a:clrScheme name="Brugerdefineret 2">
      <a:dk1>
        <a:sysClr val="windowText" lastClr="000000"/>
      </a:dk1>
      <a:lt1>
        <a:srgbClr val="D8D8D8"/>
      </a:lt1>
      <a:dk2>
        <a:srgbClr val="44546A"/>
      </a:dk2>
      <a:lt2>
        <a:srgbClr val="D8D8D8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Kontor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Kontor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-tema">
  <a:themeElements>
    <a:clrScheme name="Kontor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Kontor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Kontor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1729</TotalTime>
  <Words>2498</Words>
  <Application>Microsoft Office PowerPoint</Application>
  <PresentationFormat>Skærmshow (4:3)</PresentationFormat>
  <Paragraphs>461</Paragraphs>
  <Slides>61</Slides>
  <Notes>5</Notes>
  <HiddenSlides>0</HiddenSlides>
  <MMClips>0</MMClips>
  <ScaleCrop>false</ScaleCrop>
  <HeadingPairs>
    <vt:vector size="6" baseType="variant">
      <vt:variant>
        <vt:lpstr>Benyttede skrifttyper</vt:lpstr>
      </vt:variant>
      <vt:variant>
        <vt:i4>5</vt:i4>
      </vt:variant>
      <vt:variant>
        <vt:lpstr>Tema</vt:lpstr>
      </vt:variant>
      <vt:variant>
        <vt:i4>1</vt:i4>
      </vt:variant>
      <vt:variant>
        <vt:lpstr>Slidetitler</vt:lpstr>
      </vt:variant>
      <vt:variant>
        <vt:i4>61</vt:i4>
      </vt:variant>
    </vt:vector>
  </HeadingPairs>
  <TitlesOfParts>
    <vt:vector size="67" baseType="lpstr">
      <vt:lpstr>Arial</vt:lpstr>
      <vt:lpstr>Calibri</vt:lpstr>
      <vt:lpstr>Calibri Light</vt:lpstr>
      <vt:lpstr>Roboto Mono Web</vt:lpstr>
      <vt:lpstr>Wingdings</vt:lpstr>
      <vt:lpstr>Office-tema</vt:lpstr>
      <vt:lpstr>EPI 3 Konfundering</vt:lpstr>
      <vt:lpstr>Erfaring fra sidste semester</vt:lpstr>
      <vt:lpstr>Formål med forelæsningen</vt:lpstr>
      <vt:lpstr>Directed acyclic graph (DAG)</vt:lpstr>
      <vt:lpstr>Directed Acyclic Graphs (DAGs)</vt:lpstr>
      <vt:lpstr>Association ≠ kausalitet</vt:lpstr>
      <vt:lpstr>DAG eksempel</vt:lpstr>
      <vt:lpstr>DAG eksempel</vt:lpstr>
      <vt:lpstr>Forstå hvad confounding er og hvorfor det er vigtigt i epidemiologisk forskning </vt:lpstr>
      <vt:lpstr>Definition af confounding</vt:lpstr>
      <vt:lpstr>Hvorfor er confounding vigtigt?</vt:lpstr>
      <vt:lpstr>Confounder-trekanten – 3 kriterier</vt:lpstr>
      <vt:lpstr>Hvornår er noget ikke en confounder?</vt:lpstr>
      <vt:lpstr>Hvad er en mediator? </vt:lpstr>
      <vt:lpstr>Mediator</vt:lpstr>
      <vt:lpstr>Mediater</vt:lpstr>
      <vt:lpstr>Mediator vs. confounder</vt:lpstr>
      <vt:lpstr>Mediator vs. confounder</vt:lpstr>
      <vt:lpstr>Mediator</vt:lpstr>
      <vt:lpstr>Hvad er en collider? </vt:lpstr>
      <vt:lpstr>Collider</vt:lpstr>
      <vt:lpstr>Eksempel på collider</vt:lpstr>
      <vt:lpstr>Eksempel på collider</vt:lpstr>
      <vt:lpstr>Eksempel på collider</vt:lpstr>
      <vt:lpstr>Eksempel på collider</vt:lpstr>
      <vt:lpstr>PowerPoint-præsentation</vt:lpstr>
      <vt:lpstr>Eksempel på confounding</vt:lpstr>
      <vt:lpstr>Eksempel på confounding</vt:lpstr>
      <vt:lpstr>Eksempel på confounding</vt:lpstr>
      <vt:lpstr>Eksempel på confounding</vt:lpstr>
      <vt:lpstr>Eksempel fra virkeligheden</vt:lpstr>
      <vt:lpstr>Eksempel fra virkeligheden</vt:lpstr>
      <vt:lpstr>Residual confounding</vt:lpstr>
      <vt:lpstr>Residual confounding</vt:lpstr>
      <vt:lpstr>Umålt confounding</vt:lpstr>
      <vt:lpstr>Lære at identificere potentielle confoundere</vt:lpstr>
      <vt:lpstr>Identifikation af confoundere</vt:lpstr>
      <vt:lpstr>Brug af teoretisk viden</vt:lpstr>
      <vt:lpstr>Directed Acyclic Graphs (DAGs)</vt:lpstr>
      <vt:lpstr>Statistiske indikatorer</vt:lpstr>
      <vt:lpstr>Eksempel</vt:lpstr>
      <vt:lpstr>Eksempel</vt:lpstr>
      <vt:lpstr>Metoder til håndtering af confounding</vt:lpstr>
      <vt:lpstr>Metoder til håndtering af confounding</vt:lpstr>
      <vt:lpstr>Randomisering</vt:lpstr>
      <vt:lpstr>Ulemper ved randomisering</vt:lpstr>
      <vt:lpstr>Matchning</vt:lpstr>
      <vt:lpstr>Ulemper ved matchning</vt:lpstr>
      <vt:lpstr>Restriktion</vt:lpstr>
      <vt:lpstr>Restriktion – eksempel</vt:lpstr>
      <vt:lpstr>Stratifikation</vt:lpstr>
      <vt:lpstr>Eksempel</vt:lpstr>
      <vt:lpstr>Eksempel</vt:lpstr>
      <vt:lpstr>Justerede analyser – regression</vt:lpstr>
      <vt:lpstr>Eksempel</vt:lpstr>
      <vt:lpstr>Eksempel</vt:lpstr>
      <vt:lpstr>Almindelige faldgruber</vt:lpstr>
      <vt:lpstr>Take home messages</vt:lpstr>
      <vt:lpstr>Take-home messages</vt:lpstr>
      <vt:lpstr>Confounder-trekanten – 3 kriterier</vt:lpstr>
      <vt:lpstr>Metoder til håndtering af confounding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Confounding i Epidemiologi</dc:title>
  <dc:subject/>
  <dc:creator>Jens-Jakob Kjer Møller</dc:creator>
  <cp:keywords/>
  <dc:description>generated using python-pptx</dc:description>
  <cp:lastModifiedBy>Jens-Jakob Kjer Møller</cp:lastModifiedBy>
  <cp:revision>71</cp:revision>
  <dcterms:created xsi:type="dcterms:W3CDTF">2013-01-27T09:14:16Z</dcterms:created>
  <dcterms:modified xsi:type="dcterms:W3CDTF">2026-02-24T11:10:54Z</dcterms:modified>
  <cp:category/>
</cp:coreProperties>
</file>